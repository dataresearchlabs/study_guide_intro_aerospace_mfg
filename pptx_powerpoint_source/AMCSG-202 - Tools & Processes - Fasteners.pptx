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315" r:id="rId2"/>
    <p:sldId id="282" r:id="rId3"/>
    <p:sldId id="280" r:id="rId4"/>
    <p:sldId id="283" r:id="rId5"/>
    <p:sldId id="286" r:id="rId6"/>
    <p:sldId id="284" r:id="rId7"/>
    <p:sldId id="285" r:id="rId8"/>
    <p:sldId id="287" r:id="rId9"/>
    <p:sldId id="288" r:id="rId10"/>
    <p:sldId id="294" r:id="rId11"/>
    <p:sldId id="295" r:id="rId12"/>
    <p:sldId id="296" r:id="rId13"/>
    <p:sldId id="302" r:id="rId14"/>
    <p:sldId id="303" r:id="rId15"/>
    <p:sldId id="316" r:id="rId16"/>
    <p:sldId id="317" r:id="rId17"/>
    <p:sldId id="318" r:id="rId18"/>
    <p:sldId id="30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61" autoAdjust="0"/>
    <p:restoredTop sz="89691" autoAdjust="0"/>
  </p:normalViewPr>
  <p:slideViewPr>
    <p:cSldViewPr snapToGrid="0">
      <p:cViewPr varScale="1">
        <p:scale>
          <a:sx n="62" d="100"/>
          <a:sy n="62" d="100"/>
        </p:scale>
        <p:origin x="834" y="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C98CB6-2C88-401C-AAD5-2FFED2D64E9F}"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5D55C3-6A65-407E-9BFF-B66438A6525E}" type="slidenum">
              <a:rPr lang="en-US" smtClean="0"/>
              <a:t>‹#›</a:t>
            </a:fld>
            <a:endParaRPr lang="en-US"/>
          </a:p>
        </p:txBody>
      </p:sp>
    </p:spTree>
    <p:extLst>
      <p:ext uri="{BB962C8B-B14F-4D97-AF65-F5344CB8AC3E}">
        <p14:creationId xmlns:p14="http://schemas.microsoft.com/office/powerpoint/2010/main" val="3913187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6C5DC3-924D-4CCC-8AC2-C41F495DFCEC}" type="slidenum">
              <a:rPr lang="en-US" smtClean="0"/>
              <a:t>1</a:t>
            </a:fld>
            <a:endParaRPr lang="en-US"/>
          </a:p>
        </p:txBody>
      </p:sp>
    </p:spTree>
    <p:extLst>
      <p:ext uri="{BB962C8B-B14F-4D97-AF65-F5344CB8AC3E}">
        <p14:creationId xmlns:p14="http://schemas.microsoft.com/office/powerpoint/2010/main" val="2056627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FC065-A379-8504-A2CA-6CF6DC17AF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9900E0-D165-FD15-EAF9-139F99B3DD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B8CC6B-E88E-3CA8-595C-D1EC378ACE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Image Credits: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Google “Cleco fasteners” = (CC4) - https://commons.wikimedia.org/wiki/File:Cleko.jpg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Pan American Tool Corp = (Ad) - https://www.panamericantool.com/cleco-fasteners.html?srsltid=AfmBOopSK4AwtAP1zROrgsU2a5QdbdzeT_PqdszlTBGC_92gi_Lq8wEK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Image of hand installing fastener: ChatGPT: “picture using </a:t>
            </a:r>
            <a:r>
              <a:rPr lang="en-US" dirty="0" err="1"/>
              <a:t>cleco</a:t>
            </a:r>
            <a:r>
              <a:rPr lang="en-US" dirty="0"/>
              <a:t> pliers to place a </a:t>
            </a:r>
            <a:r>
              <a:rPr lang="en-US" dirty="0" err="1"/>
              <a:t>cleco</a:t>
            </a:r>
            <a:r>
              <a:rPr lang="en-US" dirty="0"/>
              <a:t> clamp on aircraft surface” + “make it into a single photo with gloved hand, training-manual style”</a:t>
            </a:r>
            <a:br>
              <a:rPr lang="en-US" dirty="0"/>
            </a:br>
            <a:br>
              <a:rPr lang="en-US" dirty="0"/>
            </a:br>
            <a:endParaRPr lang="en-US" dirty="0"/>
          </a:p>
        </p:txBody>
      </p:sp>
      <p:sp>
        <p:nvSpPr>
          <p:cNvPr id="4" name="Slide Number Placeholder 3">
            <a:extLst>
              <a:ext uri="{FF2B5EF4-FFF2-40B4-BE49-F238E27FC236}">
                <a16:creationId xmlns:a16="http://schemas.microsoft.com/office/drawing/2014/main" id="{FC1EEEB8-2811-4AF4-BB19-4AB5491A64F3}"/>
              </a:ext>
            </a:extLst>
          </p:cNvPr>
          <p:cNvSpPr>
            <a:spLocks noGrp="1"/>
          </p:cNvSpPr>
          <p:nvPr>
            <p:ph type="sldNum" sz="quarter" idx="5"/>
          </p:nvPr>
        </p:nvSpPr>
        <p:spPr/>
        <p:txBody>
          <a:bodyPr/>
          <a:lstStyle/>
          <a:p>
            <a:fld id="{8D6C5DC3-924D-4CCC-8AC2-C41F495DFCEC}" type="slidenum">
              <a:rPr lang="en-US" smtClean="0"/>
              <a:t>3</a:t>
            </a:fld>
            <a:endParaRPr lang="en-US"/>
          </a:p>
        </p:txBody>
      </p:sp>
    </p:spTree>
    <p:extLst>
      <p:ext uri="{BB962C8B-B14F-4D97-AF65-F5344CB8AC3E}">
        <p14:creationId xmlns:p14="http://schemas.microsoft.com/office/powerpoint/2010/main" val="2038000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C8731-0381-0C80-73E1-2512DF470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E39137-7F2C-7B18-5046-67D09A42CC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5C5A8F-3BF0-6011-2665-8B212128BD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Image Credits: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Public domain image of “BACB30Ie12hu27” Boeing Aviation Grade bolt from surplusman.com:  https://surplusman.com/item/bacb30le12hu27-boeing-aviation-grade-bolts/9693/</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for bolt head types: “make a picture show several bolt types: flush head, protruding hex head, protruding drilled head, and eyebolt.  Remove text labels.”</a:t>
            </a:r>
            <a:br>
              <a:rPr lang="en-US" dirty="0"/>
            </a:br>
            <a:endParaRPr lang="en-US" dirty="0"/>
          </a:p>
        </p:txBody>
      </p:sp>
      <p:sp>
        <p:nvSpPr>
          <p:cNvPr id="4" name="Slide Number Placeholder 3">
            <a:extLst>
              <a:ext uri="{FF2B5EF4-FFF2-40B4-BE49-F238E27FC236}">
                <a16:creationId xmlns:a16="http://schemas.microsoft.com/office/drawing/2014/main" id="{85D0D330-538B-4186-EC54-CF694AF71F18}"/>
              </a:ext>
            </a:extLst>
          </p:cNvPr>
          <p:cNvSpPr>
            <a:spLocks noGrp="1"/>
          </p:cNvSpPr>
          <p:nvPr>
            <p:ph type="sldNum" sz="quarter" idx="5"/>
          </p:nvPr>
        </p:nvSpPr>
        <p:spPr/>
        <p:txBody>
          <a:bodyPr/>
          <a:lstStyle/>
          <a:p>
            <a:fld id="{8D6C5DC3-924D-4CCC-8AC2-C41F495DFCEC}" type="slidenum">
              <a:rPr lang="en-US" smtClean="0"/>
              <a:t>4</a:t>
            </a:fld>
            <a:endParaRPr lang="en-US"/>
          </a:p>
        </p:txBody>
      </p:sp>
    </p:spTree>
    <p:extLst>
      <p:ext uri="{BB962C8B-B14F-4D97-AF65-F5344CB8AC3E}">
        <p14:creationId xmlns:p14="http://schemas.microsoft.com/office/powerpoint/2010/main" val="3808984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C46D4-37A6-E571-9B64-28589156B9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885C09-126E-54C3-8EA5-ACF764C6EA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77EFDB-E717-4875-B8CD-D568363C214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Image Credits: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Rivet Picture: From Fisheries Supply (sales website): https://encrypted-tbn3.gstatic.com/shopping?q=tbn:ANd9GcRURf0_XjySokKAN7xOMzD0x5XJtuEGAinThvon0nbvy_u4zXJ2o5RO4dk1SZXg1kgJp1Ixcqc_qJO_bzTu_m8W8mOs4CVh-BBIwz4xJ1uek2RheRYr1SrS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1"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Rivet Process Diagram: ChatGPT: “make a picture showing how a rivet gun works”  </a:t>
            </a:r>
            <a:br>
              <a:rPr lang="en-US" dirty="0"/>
            </a:b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Rivet Types Picture:  ChatGPT: “make a diagram showing how a simple aluminum rivet gun works. Show cross section of two pieces of aluminum. Rivet head on the lower side of two pieces. Rivet body in hole between the two pieces of aluminum. Rivet pin/mandrel above the two pieces. simple red hand held rivet gun attached at the top of the rivet pin/mandrel. show how the rivet pin/mandrel will snap off once the river gun is squeezed.”</a:t>
            </a:r>
            <a:br>
              <a:rPr lang="en-US" dirty="0"/>
            </a:br>
            <a:r>
              <a:rPr lang="en-US" dirty="0"/>
              <a:t>+ “remove labels "upper aluminum piece", "lower aluminum piece". Rename "mandrel" to "pin". Use only one arrow at "rivet body expanded". Only use one label (not two) for "Mandrel breaks off". Remove the yellow flash callout for "Mandrel Snaps Off!" Remove title "How a rivet gun works“</a:t>
            </a:r>
            <a:br>
              <a:rPr lang="en-US" dirty="0"/>
            </a:br>
            <a:r>
              <a:rPr lang="en-US" dirty="0"/>
              <a:t>+ “remove label "Lower Aluminum Piece". Make the broken off "Pin" longer in the after section, and make it horizontal.”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a:extLst>
              <a:ext uri="{FF2B5EF4-FFF2-40B4-BE49-F238E27FC236}">
                <a16:creationId xmlns:a16="http://schemas.microsoft.com/office/drawing/2014/main" id="{B8AFD615-343E-A510-855B-FA7F6DB8197C}"/>
              </a:ext>
            </a:extLst>
          </p:cNvPr>
          <p:cNvSpPr>
            <a:spLocks noGrp="1"/>
          </p:cNvSpPr>
          <p:nvPr>
            <p:ph type="sldNum" sz="quarter" idx="5"/>
          </p:nvPr>
        </p:nvSpPr>
        <p:spPr/>
        <p:txBody>
          <a:bodyPr/>
          <a:lstStyle/>
          <a:p>
            <a:fld id="{8D6C5DC3-924D-4CCC-8AC2-C41F495DFCEC}" type="slidenum">
              <a:rPr lang="en-US" smtClean="0"/>
              <a:t>5</a:t>
            </a:fld>
            <a:endParaRPr lang="en-US"/>
          </a:p>
        </p:txBody>
      </p:sp>
    </p:spTree>
    <p:extLst>
      <p:ext uri="{BB962C8B-B14F-4D97-AF65-F5344CB8AC3E}">
        <p14:creationId xmlns:p14="http://schemas.microsoft.com/office/powerpoint/2010/main" val="1589136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D6E7A-9FEE-11B0-40B9-01B6873F24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330611-A0FB-30B5-A8DF-0086F953D9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F11DBE-D3E7-3C28-79C7-7FDFCBBCCF9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Image Credits: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Sample Hi-</a:t>
            </a:r>
            <a:r>
              <a:rPr lang="en-US" dirty="0" err="1"/>
              <a:t>Loks</a:t>
            </a:r>
            <a:r>
              <a:rPr lang="en-US" dirty="0"/>
              <a:t> (Veri-Lite brand) for sale on “Howmet Aerospace” site:   https://www.google.com/</a:t>
            </a:r>
            <a:r>
              <a:rPr lang="en-US" dirty="0" err="1"/>
              <a:t>imgres?q</a:t>
            </a:r>
            <a:r>
              <a:rPr lang="en-US" dirty="0"/>
              <a:t>=hi-lok%20fastener&amp;imgurl=https%3A%2F%2Fwww.howmet.com%2Fwp-content%2Fuploads%2Fsites%2F3%2F2023%2F05%2FVeri-lite_1.png%3Fw%3D1024&amp;imgrefurl=https%3A%2F%2Fwww.howmet.com%2Fproducts%2Faerospace%2Fpin-systems%2Fveri-lite-pin-fastening-system%2F&amp;docid=7lnd3y8wNJspLM&amp;tbnid=QHe65QBP0_EoLM&amp;vet=12ahUKEwiDyPLQxr6SAxXFEDQIHW5uH-UQM3oECBMQAA..i&amp;w=1023&amp;h=456&amp;hcb=2&amp;ved=2ahUKEwiDyPLQxr6SAxXFEDQIHW5uH-UQM3oECBMQA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Installation picture = ChatGPT = “make a picture showing installation of hi-</a:t>
            </a:r>
            <a:r>
              <a:rPr lang="en-US" dirty="0" err="1"/>
              <a:t>lok</a:t>
            </a:r>
            <a:r>
              <a:rPr lang="en-US" dirty="0"/>
              <a:t> fasteners onto aircraft surface using a universal tool pneumatic tool“</a:t>
            </a:r>
            <a:br>
              <a:rPr lang="en-US" dirty="0"/>
            </a:br>
            <a:r>
              <a:rPr lang="en-US" dirty="0"/>
              <a:t>+ “remove the </a:t>
            </a:r>
            <a:r>
              <a:rPr lang="en-US" dirty="0" err="1"/>
              <a:t>cleco</a:t>
            </a:r>
            <a:r>
              <a:rPr lang="en-US" dirty="0"/>
              <a:t> fasteners. show the hi-</a:t>
            </a:r>
            <a:r>
              <a:rPr lang="en-US" dirty="0" err="1"/>
              <a:t>lok</a:t>
            </a:r>
            <a:r>
              <a:rPr lang="en-US" dirty="0"/>
              <a:t> fasteners half-way in the hole.“</a:t>
            </a:r>
            <a:br>
              <a:rPr lang="en-US" dirty="0"/>
            </a:br>
            <a:r>
              <a:rPr lang="en-US" dirty="0"/>
              <a:t>+ “make the pneumatic tool straight. zoom in on the hi-</a:t>
            </a:r>
            <a:r>
              <a:rPr lang="en-US" dirty="0" err="1"/>
              <a:t>lok</a:t>
            </a:r>
            <a:r>
              <a:rPr lang="en-US" dirty="0"/>
              <a:t> fastener after installation with the tool head removed a few inches”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a:extLst>
              <a:ext uri="{FF2B5EF4-FFF2-40B4-BE49-F238E27FC236}">
                <a16:creationId xmlns:a16="http://schemas.microsoft.com/office/drawing/2014/main" id="{F5A7FAFF-B32A-4941-3142-974F41CEF0B6}"/>
              </a:ext>
            </a:extLst>
          </p:cNvPr>
          <p:cNvSpPr>
            <a:spLocks noGrp="1"/>
          </p:cNvSpPr>
          <p:nvPr>
            <p:ph type="sldNum" sz="quarter" idx="5"/>
          </p:nvPr>
        </p:nvSpPr>
        <p:spPr/>
        <p:txBody>
          <a:bodyPr/>
          <a:lstStyle/>
          <a:p>
            <a:fld id="{8D6C5DC3-924D-4CCC-8AC2-C41F495DFCEC}" type="slidenum">
              <a:rPr lang="en-US" smtClean="0"/>
              <a:t>6</a:t>
            </a:fld>
            <a:endParaRPr lang="en-US"/>
          </a:p>
        </p:txBody>
      </p:sp>
    </p:spTree>
    <p:extLst>
      <p:ext uri="{BB962C8B-B14F-4D97-AF65-F5344CB8AC3E}">
        <p14:creationId xmlns:p14="http://schemas.microsoft.com/office/powerpoint/2010/main" val="4288088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A4C1C-B6E9-2AE4-FB8C-E9EF24AFD9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04451-1826-1300-FDDD-7C54457B1D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A37E70-EAC9-F3B5-503E-7B9BB241C19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Image Credits: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Lockbolt Picture: From Industry Plaza Sales website:  https://www.industry-plaza.com/lockbolts-huck-c50l-p158808.html</a:t>
            </a:r>
            <a:endParaRPr lang="en-US" b="1"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Lockbolt Process Diagram: ChatGPT: “make a diagram showing how lockbolt fasteners work.”  Took the third one from list.  First two sets of diagrams not as good.</a:t>
            </a:r>
          </a:p>
        </p:txBody>
      </p:sp>
      <p:sp>
        <p:nvSpPr>
          <p:cNvPr id="4" name="Slide Number Placeholder 3">
            <a:extLst>
              <a:ext uri="{FF2B5EF4-FFF2-40B4-BE49-F238E27FC236}">
                <a16:creationId xmlns:a16="http://schemas.microsoft.com/office/drawing/2014/main" id="{C6D0162D-AB10-B74E-A0F4-CCF2DA2017A9}"/>
              </a:ext>
            </a:extLst>
          </p:cNvPr>
          <p:cNvSpPr>
            <a:spLocks noGrp="1"/>
          </p:cNvSpPr>
          <p:nvPr>
            <p:ph type="sldNum" sz="quarter" idx="5"/>
          </p:nvPr>
        </p:nvSpPr>
        <p:spPr/>
        <p:txBody>
          <a:bodyPr/>
          <a:lstStyle/>
          <a:p>
            <a:fld id="{8D6C5DC3-924D-4CCC-8AC2-C41F495DFCEC}" type="slidenum">
              <a:rPr lang="en-US" smtClean="0"/>
              <a:t>7</a:t>
            </a:fld>
            <a:endParaRPr lang="en-US"/>
          </a:p>
        </p:txBody>
      </p:sp>
    </p:spTree>
    <p:extLst>
      <p:ext uri="{BB962C8B-B14F-4D97-AF65-F5344CB8AC3E}">
        <p14:creationId xmlns:p14="http://schemas.microsoft.com/office/powerpoint/2010/main" val="3430464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3FB30-4D88-8FC0-AB8D-8978576341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0A5137-BB3F-BEAD-FCCA-4896DE6E50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21F968-30AE-B41B-1FB6-CEA5D795BAE3}"/>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Google AI: “fastener standards in aircraft manufacturing” for general information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Image Credits: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Image via ChatGPT: “make a photo of an aircraft manufacturing fastener with example </a:t>
            </a:r>
            <a:r>
              <a:rPr lang="en-US" dirty="0" err="1"/>
              <a:t>nas</a:t>
            </a:r>
            <a:r>
              <a:rPr lang="en-US" dirty="0"/>
              <a:t> 523 </a:t>
            </a:r>
            <a:r>
              <a:rPr lang="en-US" dirty="0" err="1"/>
              <a:t>quandrant</a:t>
            </a:r>
            <a:r>
              <a:rPr lang="en-US" dirty="0"/>
              <a:t> markings“</a:t>
            </a:r>
            <a:br>
              <a:rPr lang="en-US" dirty="0"/>
            </a:br>
            <a:r>
              <a:rPr lang="en-US" dirty="0"/>
              <a:t>+ “</a:t>
            </a:r>
            <a:r>
              <a:rPr lang="it-IT" dirty="0"/>
              <a:t>rename label "A1" to "NW". rename label "B2" to "NE". rename label "C3" to "SW". rename label "D4" to "SE".</a:t>
            </a:r>
            <a:r>
              <a:rPr lang="en-US" dirty="0"/>
              <a:t>”</a:t>
            </a:r>
          </a:p>
        </p:txBody>
      </p:sp>
      <p:sp>
        <p:nvSpPr>
          <p:cNvPr id="4" name="Slide Number Placeholder 3">
            <a:extLst>
              <a:ext uri="{FF2B5EF4-FFF2-40B4-BE49-F238E27FC236}">
                <a16:creationId xmlns:a16="http://schemas.microsoft.com/office/drawing/2014/main" id="{E91E8C1F-09DE-B4B3-723C-191370C6DDC4}"/>
              </a:ext>
            </a:extLst>
          </p:cNvPr>
          <p:cNvSpPr>
            <a:spLocks noGrp="1"/>
          </p:cNvSpPr>
          <p:nvPr>
            <p:ph type="sldNum" sz="quarter" idx="5"/>
          </p:nvPr>
        </p:nvSpPr>
        <p:spPr/>
        <p:txBody>
          <a:bodyPr/>
          <a:lstStyle/>
          <a:p>
            <a:fld id="{8D6C5DC3-924D-4CCC-8AC2-C41F495DFCEC}" type="slidenum">
              <a:rPr lang="en-US" smtClean="0"/>
              <a:t>8</a:t>
            </a:fld>
            <a:endParaRPr lang="en-US"/>
          </a:p>
        </p:txBody>
      </p:sp>
    </p:spTree>
    <p:extLst>
      <p:ext uri="{BB962C8B-B14F-4D97-AF65-F5344CB8AC3E}">
        <p14:creationId xmlns:p14="http://schemas.microsoft.com/office/powerpoint/2010/main" val="20605176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FF12E-C2BA-2885-7CBC-6EF91BA81C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A01478-620E-25CD-30BA-C3A83ED87F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768A15-5A51-39A6-01D4-F662F51B7E9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Pin Protrusion Inspection:  ChatGPT: “pin protrusion gage thin metal card 1/4“ generates 4 pictures.  Using #2 (photo) and #3 (usage diagram).</a:t>
            </a:r>
            <a:br>
              <a:rPr lang="en-US" dirty="0"/>
            </a:br>
            <a:endParaRPr lang="en-US" dirty="0"/>
          </a:p>
        </p:txBody>
      </p:sp>
      <p:sp>
        <p:nvSpPr>
          <p:cNvPr id="4" name="Slide Number Placeholder 3">
            <a:extLst>
              <a:ext uri="{FF2B5EF4-FFF2-40B4-BE49-F238E27FC236}">
                <a16:creationId xmlns:a16="http://schemas.microsoft.com/office/drawing/2014/main" id="{ACCB3AD6-B438-418B-160F-D65E149441F8}"/>
              </a:ext>
            </a:extLst>
          </p:cNvPr>
          <p:cNvSpPr>
            <a:spLocks noGrp="1"/>
          </p:cNvSpPr>
          <p:nvPr>
            <p:ph type="sldNum" sz="quarter" idx="5"/>
          </p:nvPr>
        </p:nvSpPr>
        <p:spPr/>
        <p:txBody>
          <a:bodyPr/>
          <a:lstStyle/>
          <a:p>
            <a:fld id="{8D6C5DC3-924D-4CCC-8AC2-C41F495DFCEC}" type="slidenum">
              <a:rPr lang="en-US" smtClean="0"/>
              <a:t>9</a:t>
            </a:fld>
            <a:endParaRPr lang="en-US"/>
          </a:p>
        </p:txBody>
      </p:sp>
    </p:spTree>
    <p:extLst>
      <p:ext uri="{BB962C8B-B14F-4D97-AF65-F5344CB8AC3E}">
        <p14:creationId xmlns:p14="http://schemas.microsoft.com/office/powerpoint/2010/main" val="7043887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2AC72-080C-CD34-1A8E-95EAB4E670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ACC5E1-6D54-E83A-9BB1-DBA3D639E9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785069-037C-E2C4-BF20-E83118A3A61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Image Credits: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Picture of Feeler Guage = </a:t>
            </a:r>
            <a:r>
              <a:rPr lang="en-US" dirty="0" err="1"/>
              <a:t>Ebay</a:t>
            </a:r>
            <a:r>
              <a:rPr lang="en-US" dirty="0"/>
              <a:t> for sale picture: “https://www.google.com/</a:t>
            </a:r>
            <a:r>
              <a:rPr lang="en-US" dirty="0" err="1"/>
              <a:t>url?sa</a:t>
            </a:r>
            <a:r>
              <a:rPr lang="en-US" dirty="0"/>
              <a:t>=</a:t>
            </a:r>
            <a:r>
              <a:rPr lang="en-US" dirty="0" err="1"/>
              <a:t>i&amp;url</a:t>
            </a:r>
            <a:r>
              <a:rPr lang="en-US" dirty="0"/>
              <a:t>=https%3A%2F%2Fwww.ebay.com%2Fitm%2F263520840477&amp;psig=AOvVaw0wcBatFQ1RXI_CCPuCQGWl&amp;ust=1770350044353000&amp;source=</a:t>
            </a:r>
            <a:r>
              <a:rPr lang="en-US" dirty="0" err="1"/>
              <a:t>images&amp;cd</a:t>
            </a:r>
            <a:r>
              <a:rPr lang="en-US" dirty="0"/>
              <a:t>=</a:t>
            </a:r>
            <a:r>
              <a:rPr lang="en-US" dirty="0" err="1"/>
              <a:t>vfe&amp;opi</a:t>
            </a:r>
            <a:r>
              <a:rPr lang="en-US" dirty="0"/>
              <a:t>=89978449&amp;ved=0CBYQjRxqFwoTCJD085O2w5IDFQAAAAAdAAAAABAV”</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Inspection Steps: ChatGPT: “diagram showing how to inspect fastener gap using feeler gauge.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AE3BA8C-4D08-F670-2011-2FB2C7D4FC9A}"/>
              </a:ext>
            </a:extLst>
          </p:cNvPr>
          <p:cNvSpPr>
            <a:spLocks noGrp="1"/>
          </p:cNvSpPr>
          <p:nvPr>
            <p:ph type="sldNum" sz="quarter" idx="5"/>
          </p:nvPr>
        </p:nvSpPr>
        <p:spPr/>
        <p:txBody>
          <a:bodyPr/>
          <a:lstStyle/>
          <a:p>
            <a:fld id="{8D6C5DC3-924D-4CCC-8AC2-C41F495DFCEC}" type="slidenum">
              <a:rPr lang="en-US" smtClean="0"/>
              <a:t>10</a:t>
            </a:fld>
            <a:endParaRPr lang="en-US"/>
          </a:p>
        </p:txBody>
      </p:sp>
    </p:spTree>
    <p:extLst>
      <p:ext uri="{BB962C8B-B14F-4D97-AF65-F5344CB8AC3E}">
        <p14:creationId xmlns:p14="http://schemas.microsoft.com/office/powerpoint/2010/main" val="31570165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87DFD-9B8D-5622-1BCA-EBE67B0728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B4BFF0-4431-04AC-B0F3-080E350132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27CEFA-0344-88E0-27EA-2474FFCC92B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Same ChatGPT image as prior slide…just clipped out different pieces for this presentation</a:t>
            </a:r>
          </a:p>
        </p:txBody>
      </p:sp>
      <p:sp>
        <p:nvSpPr>
          <p:cNvPr id="4" name="Slide Number Placeholder 3">
            <a:extLst>
              <a:ext uri="{FF2B5EF4-FFF2-40B4-BE49-F238E27FC236}">
                <a16:creationId xmlns:a16="http://schemas.microsoft.com/office/drawing/2014/main" id="{A0F52BFE-5DA4-71B7-4C1C-68E15F9600A0}"/>
              </a:ext>
            </a:extLst>
          </p:cNvPr>
          <p:cNvSpPr>
            <a:spLocks noGrp="1"/>
          </p:cNvSpPr>
          <p:nvPr>
            <p:ph type="sldNum" sz="quarter" idx="5"/>
          </p:nvPr>
        </p:nvSpPr>
        <p:spPr/>
        <p:txBody>
          <a:bodyPr/>
          <a:lstStyle/>
          <a:p>
            <a:fld id="{8D6C5DC3-924D-4CCC-8AC2-C41F495DFCEC}" type="slidenum">
              <a:rPr lang="en-US" smtClean="0"/>
              <a:t>11</a:t>
            </a:fld>
            <a:endParaRPr lang="en-US"/>
          </a:p>
        </p:txBody>
      </p:sp>
    </p:spTree>
    <p:extLst>
      <p:ext uri="{BB962C8B-B14F-4D97-AF65-F5344CB8AC3E}">
        <p14:creationId xmlns:p14="http://schemas.microsoft.com/office/powerpoint/2010/main" val="178765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103-90B0-7A21-F8D2-84757956D7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1A2B22-5134-5637-3672-8EF2FDB4A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8231B5-F259-064D-E281-A291C651ADF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Image Credits: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Spoon </a:t>
            </a:r>
            <a:r>
              <a:rPr lang="en-US" dirty="0" err="1"/>
              <a:t>guage</a:t>
            </a:r>
            <a:r>
              <a:rPr lang="en-US" dirty="0"/>
              <a:t> picture for sale at Aircraft Spruce and Specialty:  https://encrypted-tbn1.gstatic.com/shopping?q=tbn:ANd9GcRNGHpHs2lFiL8CEYaxgeLJ9edRjc35gAI9kAFvs-HLWRHFw3mFd8HZwz9t5i5axwtov4cXAn8YgN3j-vriDmbtvzWmc2mefg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H-Gauge picture for sale at VB Industrial Supply:  https://encrypted-tbn3.gstatic.com/shopping?q=tbn:ANd9GcSOZm9C-LPr3tfdqzN0fNwIZVm9uctc5rZM0-b0XNONCDIdaaILsY45VJyn4pMXo3Hco9rRI6WiG3amUIu9GI_ktcjArFOv_0ITUeijP4dlGMMWgEP9ve9suv0D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Usage diagram:  ChatGPT:  “photo showing inspect rivet with a shop head rivet gauge set.  Make it inside fuselage / wing bay realistic with several installed solid rivets.  A shop head rivet gauge set (thin metal gauges with full circular cutout).</a:t>
            </a:r>
            <a:br>
              <a:rPr lang="en-US" dirty="0"/>
            </a:br>
            <a:r>
              <a:rPr lang="en-US" dirty="0"/>
              <a:t>A hand holding the gauge flat against the surface, sliding the correct gauge over the shop head</a:t>
            </a:r>
            <a:br>
              <a:rPr lang="en-US" dirty="0"/>
            </a:br>
            <a:r>
              <a:rPr lang="en-US" dirty="0"/>
              <a:t>The gauge clearly demonstrating:</a:t>
            </a:r>
            <a:br>
              <a:rPr lang="en-US" dirty="0"/>
            </a:br>
            <a:r>
              <a:rPr lang="en-US" dirty="0"/>
              <a:t>- 1/4" diameter requirement (shop just fits inside the gauge opening)</a:t>
            </a:r>
            <a:br>
              <a:rPr lang="en-US" dirty="0"/>
            </a:br>
            <a:r>
              <a:rPr lang="en-US" dirty="0"/>
              <a:t>Neutral lighting, realistic materials, no exaggerated colors“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 “Make the gauge laying down flat around the rivet head. Make the gauge 3x longer with the hand further to the right and the hole further to the left”</a:t>
            </a:r>
            <a:br>
              <a:rPr lang="en-US" dirty="0"/>
            </a:br>
            <a:r>
              <a:rPr lang="en-US" dirty="0"/>
              <a:t>+ “Lay the gauge down flat on the surface.”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 “Make the hole smaller and the rivet head snuggly fit.    Make the gauge narrower and longer.  Make the gauge bend up 45 degrees from about its midpoint.  Make the bent part 2x longer.”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H-Gauge:  </a:t>
            </a:r>
          </a:p>
        </p:txBody>
      </p:sp>
      <p:sp>
        <p:nvSpPr>
          <p:cNvPr id="4" name="Slide Number Placeholder 3">
            <a:extLst>
              <a:ext uri="{FF2B5EF4-FFF2-40B4-BE49-F238E27FC236}">
                <a16:creationId xmlns:a16="http://schemas.microsoft.com/office/drawing/2014/main" id="{ED380A68-9302-5A11-BB39-BDA0C76F19AA}"/>
              </a:ext>
            </a:extLst>
          </p:cNvPr>
          <p:cNvSpPr>
            <a:spLocks noGrp="1"/>
          </p:cNvSpPr>
          <p:nvPr>
            <p:ph type="sldNum" sz="quarter" idx="5"/>
          </p:nvPr>
        </p:nvSpPr>
        <p:spPr/>
        <p:txBody>
          <a:bodyPr/>
          <a:lstStyle/>
          <a:p>
            <a:fld id="{8D6C5DC3-924D-4CCC-8AC2-C41F495DFCEC}" type="slidenum">
              <a:rPr lang="en-US" smtClean="0"/>
              <a:t>12</a:t>
            </a:fld>
            <a:endParaRPr lang="en-US"/>
          </a:p>
        </p:txBody>
      </p:sp>
    </p:spTree>
    <p:extLst>
      <p:ext uri="{BB962C8B-B14F-4D97-AF65-F5344CB8AC3E}">
        <p14:creationId xmlns:p14="http://schemas.microsoft.com/office/powerpoint/2010/main" val="846638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EFE57-7CA1-1F08-40B4-7752B89CF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3B1B3-B826-C16C-582D-0AF1300AB1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4EF43A-92BE-B2AD-DE41-70701A517904}"/>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608BB0F8-DF6E-284F-F4D7-5190108C3E1E}"/>
              </a:ext>
            </a:extLst>
          </p:cNvPr>
          <p:cNvSpPr>
            <a:spLocks noGrp="1"/>
          </p:cNvSpPr>
          <p:nvPr>
            <p:ph type="sldNum" sz="quarter" idx="5"/>
          </p:nvPr>
        </p:nvSpPr>
        <p:spPr/>
        <p:txBody>
          <a:bodyPr/>
          <a:lstStyle/>
          <a:p>
            <a:fld id="{8D6C5DC3-924D-4CCC-8AC2-C41F495DFCEC}" type="slidenum">
              <a:rPr lang="en-US" smtClean="0"/>
              <a:t>14</a:t>
            </a:fld>
            <a:endParaRPr lang="en-US"/>
          </a:p>
        </p:txBody>
      </p:sp>
    </p:spTree>
    <p:extLst>
      <p:ext uri="{BB962C8B-B14F-4D97-AF65-F5344CB8AC3E}">
        <p14:creationId xmlns:p14="http://schemas.microsoft.com/office/powerpoint/2010/main" val="3036167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EADF8-56C9-B7AC-88F6-DF9A65A6A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5656B2-47E4-9D84-3B90-FAA0D73348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BDA345-F834-CC2D-DEF0-73573004B121}"/>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185465A6-F137-756D-E64D-CE5BA2165044}"/>
              </a:ext>
            </a:extLst>
          </p:cNvPr>
          <p:cNvSpPr>
            <a:spLocks noGrp="1"/>
          </p:cNvSpPr>
          <p:nvPr>
            <p:ph type="sldNum" sz="quarter" idx="5"/>
          </p:nvPr>
        </p:nvSpPr>
        <p:spPr/>
        <p:txBody>
          <a:bodyPr/>
          <a:lstStyle/>
          <a:p>
            <a:fld id="{8D6C5DC3-924D-4CCC-8AC2-C41F495DFCEC}" type="slidenum">
              <a:rPr lang="en-US" smtClean="0"/>
              <a:t>15</a:t>
            </a:fld>
            <a:endParaRPr lang="en-US"/>
          </a:p>
        </p:txBody>
      </p:sp>
    </p:spTree>
    <p:extLst>
      <p:ext uri="{BB962C8B-B14F-4D97-AF65-F5344CB8AC3E}">
        <p14:creationId xmlns:p14="http://schemas.microsoft.com/office/powerpoint/2010/main" val="35519291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10895-BC0E-BB63-B44C-31DCE0955E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2B19B-68F3-A904-FB3E-B39F695A9D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C7F5B5-DB3A-71F5-718A-C96B0F56348E}"/>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9FFD0F0E-E1D9-2A3E-1821-BD5227E7721A}"/>
              </a:ext>
            </a:extLst>
          </p:cNvPr>
          <p:cNvSpPr>
            <a:spLocks noGrp="1"/>
          </p:cNvSpPr>
          <p:nvPr>
            <p:ph type="sldNum" sz="quarter" idx="5"/>
          </p:nvPr>
        </p:nvSpPr>
        <p:spPr/>
        <p:txBody>
          <a:bodyPr/>
          <a:lstStyle/>
          <a:p>
            <a:fld id="{8D6C5DC3-924D-4CCC-8AC2-C41F495DFCEC}" type="slidenum">
              <a:rPr lang="en-US" smtClean="0"/>
              <a:t>16</a:t>
            </a:fld>
            <a:endParaRPr lang="en-US"/>
          </a:p>
        </p:txBody>
      </p:sp>
    </p:spTree>
    <p:extLst>
      <p:ext uri="{BB962C8B-B14F-4D97-AF65-F5344CB8AC3E}">
        <p14:creationId xmlns:p14="http://schemas.microsoft.com/office/powerpoint/2010/main" val="1127040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A458D-51ED-A748-370A-4B300EF877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727CD-8A61-B531-5597-12A4130C27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33B3E6-B5A8-AA35-7545-0612BB850B0C}"/>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6343373A-8F2E-07FB-CA35-4D1330E0BF52}"/>
              </a:ext>
            </a:extLst>
          </p:cNvPr>
          <p:cNvSpPr>
            <a:spLocks noGrp="1"/>
          </p:cNvSpPr>
          <p:nvPr>
            <p:ph type="sldNum" sz="quarter" idx="5"/>
          </p:nvPr>
        </p:nvSpPr>
        <p:spPr/>
        <p:txBody>
          <a:bodyPr/>
          <a:lstStyle/>
          <a:p>
            <a:fld id="{8D6C5DC3-924D-4CCC-8AC2-C41F495DFCEC}" type="slidenum">
              <a:rPr lang="en-US" smtClean="0"/>
              <a:t>17</a:t>
            </a:fld>
            <a:endParaRPr lang="en-US"/>
          </a:p>
        </p:txBody>
      </p:sp>
    </p:spTree>
    <p:extLst>
      <p:ext uri="{BB962C8B-B14F-4D97-AF65-F5344CB8AC3E}">
        <p14:creationId xmlns:p14="http://schemas.microsoft.com/office/powerpoint/2010/main" val="15964483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96A15-4627-A2B7-B23E-2AC252B872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1D323-39FD-6977-01F7-412F0DE61A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A71F59-B048-3D2A-8AFA-5907E8E6EC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F92962-9A43-C2C2-7107-AD8564EA2217}"/>
              </a:ext>
            </a:extLst>
          </p:cNvPr>
          <p:cNvSpPr>
            <a:spLocks noGrp="1"/>
          </p:cNvSpPr>
          <p:nvPr>
            <p:ph type="sldNum" sz="quarter" idx="5"/>
          </p:nvPr>
        </p:nvSpPr>
        <p:spPr/>
        <p:txBody>
          <a:bodyPr/>
          <a:lstStyle/>
          <a:p>
            <a:fld id="{8D6C5DC3-924D-4CCC-8AC2-C41F495DFCEC}" type="slidenum">
              <a:rPr lang="en-US" smtClean="0"/>
              <a:t>18</a:t>
            </a:fld>
            <a:endParaRPr lang="en-US"/>
          </a:p>
        </p:txBody>
      </p:sp>
    </p:spTree>
    <p:extLst>
      <p:ext uri="{BB962C8B-B14F-4D97-AF65-F5344CB8AC3E}">
        <p14:creationId xmlns:p14="http://schemas.microsoft.com/office/powerpoint/2010/main" val="1906668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38604-8C4F-A976-286B-E17FB7C142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DD2EB9-B6C1-80A3-7C6D-D35E38A03F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95B8A0F-A558-BEB7-6231-6925F33CD57C}"/>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52A1166D-3B41-FC46-B527-118F3460E3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4153BE-7379-C725-CF26-CC6B4582A0B0}"/>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1461967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079D-5F59-ED52-BFF6-108D0B4B7B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9464D4-320F-5BA1-287F-1810736ABE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7F46D3-7E3E-A3F7-278E-3551B22E92BA}"/>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CB8261CB-A869-1544-C0A7-CC8604F47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44C245-FC94-FA83-E5F4-3A9F814E9F64}"/>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3770838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6ABCD-A3C6-53C0-24E3-954C9A8274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45E699-7560-7EDA-7B99-F59CD0C3A3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6B2B8C-062D-E298-1EAA-A52D35FA24BE}"/>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EB0F3F7A-D347-901F-0C3A-87475B6342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C49654-0078-975F-CED4-0DEF4EBA123D}"/>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421614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B5F63-6558-5286-61E4-A549097724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69B79C-BB11-0D88-C0DC-1C491C75A1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FEF498-1470-A152-8DBA-089FF3635D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63EFBD9-D87E-39CB-A355-14D4BB93BB95}"/>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6" name="Footer Placeholder 5">
            <a:extLst>
              <a:ext uri="{FF2B5EF4-FFF2-40B4-BE49-F238E27FC236}">
                <a16:creationId xmlns:a16="http://schemas.microsoft.com/office/drawing/2014/main" id="{678A95F7-406E-D075-8B39-623D2BBE1E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5CC82C-F922-EC87-9017-EF7F35AA4EA8}"/>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3575905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76EFA-DCF2-0F96-3716-78160812E8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A353F8-35CE-B547-928A-196E0C4D5A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A65914-9D20-1CD8-A86D-5F4A2F02EC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B884EB-0E59-5F47-4379-943FF84F97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8FCA68-CFD3-9870-4F97-476B9FC182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FF52665-A037-02EF-95D2-5C9DFE8C36CD}"/>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8" name="Footer Placeholder 7">
            <a:extLst>
              <a:ext uri="{FF2B5EF4-FFF2-40B4-BE49-F238E27FC236}">
                <a16:creationId xmlns:a16="http://schemas.microsoft.com/office/drawing/2014/main" id="{97FB38FF-5536-D966-C235-F1789960DC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F1FCDF-1DBF-2AA3-93C1-61400BA163D6}"/>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2288093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6DE56-0CE0-D5B3-0EDA-8FADF7BAAE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DCBFB5-D851-3D9D-F332-47B4360892B2}"/>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4" name="Footer Placeholder 3">
            <a:extLst>
              <a:ext uri="{FF2B5EF4-FFF2-40B4-BE49-F238E27FC236}">
                <a16:creationId xmlns:a16="http://schemas.microsoft.com/office/drawing/2014/main" id="{1A3273FA-2457-4385-2E37-2A2729051ED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12ED07-57CD-AF06-DD3A-2454B3CDA961}"/>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1796842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96715A-586C-FF87-D16B-76C507D12DEE}"/>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3" name="Footer Placeholder 2">
            <a:extLst>
              <a:ext uri="{FF2B5EF4-FFF2-40B4-BE49-F238E27FC236}">
                <a16:creationId xmlns:a16="http://schemas.microsoft.com/office/drawing/2014/main" id="{6A48C50A-ACA0-E39C-BF1E-1AB606A2ED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8AEB16-9EB9-619F-5C07-329C76637AF4}"/>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3614816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FD819-C7CB-8577-D68F-9DDA148B1F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8950A4-3F7D-2D71-A9D4-740363302C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1A536D9-2523-D955-F38D-FE976F44EB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D2DA0F-A8B3-4CF1-B679-C5B0D39B9294}"/>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6" name="Footer Placeholder 5">
            <a:extLst>
              <a:ext uri="{FF2B5EF4-FFF2-40B4-BE49-F238E27FC236}">
                <a16:creationId xmlns:a16="http://schemas.microsoft.com/office/drawing/2014/main" id="{D8C69CA2-A42A-833D-BC7C-967D1EFF95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00A10A-141E-2590-DD32-0F38164C0254}"/>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383888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D238C-F95A-85C6-EF95-6192D45516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EEBEC10-9D21-E83F-7164-A85385A8D9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A3150E-BFB2-B49D-B13D-37BFAC11E9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422970-B70C-CFBD-3CC4-D601161A0FAF}"/>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6" name="Footer Placeholder 5">
            <a:extLst>
              <a:ext uri="{FF2B5EF4-FFF2-40B4-BE49-F238E27FC236}">
                <a16:creationId xmlns:a16="http://schemas.microsoft.com/office/drawing/2014/main" id="{3B7D507F-6489-85D6-C731-7346630A90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588480-DC24-2467-A79D-746222779170}"/>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735023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3787E-C838-836F-52EE-50D8BB587F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31598B-9911-A386-F7AA-97913A488C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15A08D-38E1-D7DC-F94F-51768EFD81D4}"/>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F4B7829E-AB80-5C6B-0D61-A0DFC10904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BA7A8F-5B78-B4B6-09FE-0993C94C9A2A}"/>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626285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D9024B-25BF-EA72-BD35-65EF808FFF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5796C1-A9AD-51B1-9E18-4C96802598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D1A7B-3E4E-45E3-2613-EBBE7B7AEF88}"/>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CD220DA0-1A51-9958-DA38-0E0EC8FF4E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C7903E-BE2A-59C5-B220-A6582E61665A}"/>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1522567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B8F4C7-2F11-26ED-32BD-E758D1900A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E9DBA8-3E2E-A76B-065E-87B7597762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76856E-F249-64F9-2B63-8358883D77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0DE75684-5E0C-B3A4-431A-05A0108263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EB5A29-6651-182C-206F-17AE0616C4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AF9D7E-22CD-4029-926F-9304E46059D1}" type="slidenum">
              <a:rPr lang="en-US" smtClean="0"/>
              <a:t>‹#›</a:t>
            </a:fld>
            <a:endParaRPr lang="en-US"/>
          </a:p>
        </p:txBody>
      </p:sp>
    </p:spTree>
    <p:extLst>
      <p:ext uri="{BB962C8B-B14F-4D97-AF65-F5344CB8AC3E}">
        <p14:creationId xmlns:p14="http://schemas.microsoft.com/office/powerpoint/2010/main" val="6236540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commons.wikimedia.org/wiki/File:Cleko.jpg" TargetMode="External"/><Relationship Id="rId5" Type="http://schemas.openxmlformats.org/officeDocument/2006/relationships/image" Target="../media/image2.png"/><Relationship Id="rId4" Type="http://schemas.openxmlformats.org/officeDocument/2006/relationships/hyperlink" Target="https://www.panamericantool.com/cleco-fasteners.html?srsltid=AfmBOopSK4AwtAP1zROrgsU2a5QdbdzeT_PqdszlTBGC_92gi_Lq8wEK"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surplusman.com/item/bacb30le12hu27-boeing-aviation-grade-bolts/9693/" TargetMode="Externa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encrypted-tbn3.gstatic.com/shopping?q=tbn:ANd9GcRURf0_XjySokKAN7xOMzD0x5XJtuEGAinThvon0nbvy_u4zXJ2o5RO4dk1SZXg1kgJp1Ixcqc_qJO_bzTu_m8W8mOs4CVh-BBIwz4xJ1uek2RheRYr1SrS"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google.com/imgres?q=hi-lok%20fastener&amp;imgurl=https%3A%2F%2Fwww.howmet.com%2Fwp-content%2Fuploads%2Fsites%2F3%2F2023%2F05%2FVeri-lite_1.png%3Fw%3D1024&amp;imgrefurl=https%3A%2F%2Fwww.howmet.com%2Fproducts%2Faerospace%2Fpin-systems%2Fveri-lite-pin-fastening-system%2F&amp;docid=7lnd3y8wNJspLM&amp;tbnid=QHe65QBP0_EoLM&amp;vet=12ahUKEwiDyPLQxr6SAxXFEDQIHW5uH-UQM3oECBMQAA..i&amp;w=1023&amp;h=456&amp;hcb=2&amp;ved=2ahUKEwiDyPLQxr6SAxXFEDQIHW5uH-UQM3oECBMQAA"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hyperlink" Target="https://www.industry-plaza.com/lockbolts-huck-c50l-p158808.html" TargetMode="External"/><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hyperlink" Target="https://www.google.com/url?sa=i&amp;url=https%3A%2F%2Fwww.ebay.com%2Fitm%2F263520840477&amp;psig=AOvVaw0wcBatFQ1RXI_CCPuCQGWl&amp;ust=1770350044353000&amp;source=images&amp;cd=vfe&amp;opi=89978449&amp;ved=0CBYQjRxqFwoTCJD085O2w5IDFQAAAAAdAAAAABAV" TargetMode="Externa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encrypted-tbn3.gstatic.com/shopping?q=tbn:ANd9GcSOZm9C-LPr3tfdqzN0fNwIZVm9uctc5rZM0-b0XNONCDIdaaILsY45VJyn4pMXo3Hco9rRI6WiG3amUIu9GI_ktcjArFOv_0ITUeijP4dlGMMWgEP9ve9suv0D" TargetMode="External"/><Relationship Id="rId5" Type="http://schemas.openxmlformats.org/officeDocument/2006/relationships/image" Target="../media/image30.png"/><Relationship Id="rId4" Type="http://schemas.openxmlformats.org/officeDocument/2006/relationships/hyperlink" Target="https://encrypted-tbn1.gstatic.com/shopping?q=tbn:ANd9GcRNGHpHs2lFiL8CEYaxgeLJ9edRjc35gAI9kAFvs-HLWRHFw3mFd8HZwz9t5i5axwtov4cXAn8YgN3j-vriDmbtvzWmc2mef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DataResearchLabs/study_guide_intro_aerospace_mfg"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969CFF-BAE7-BF73-632D-A9101B28F0D2}"/>
              </a:ext>
            </a:extLst>
          </p:cNvPr>
          <p:cNvSpPr/>
          <p:nvPr/>
        </p:nvSpPr>
        <p:spPr>
          <a:xfrm>
            <a:off x="3460677" y="2242335"/>
            <a:ext cx="5270642" cy="237333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75E0237A-1769-2D18-56A2-B36906319656}"/>
              </a:ext>
            </a:extLst>
          </p:cNvPr>
          <p:cNvSpPr>
            <a:spLocks noGrp="1"/>
          </p:cNvSpPr>
          <p:nvPr>
            <p:ph type="ctrTitle"/>
          </p:nvPr>
        </p:nvSpPr>
        <p:spPr>
          <a:xfrm>
            <a:off x="0" y="3340599"/>
            <a:ext cx="12192000" cy="1145996"/>
          </a:xfrm>
        </p:spPr>
        <p:txBody>
          <a:bodyPr>
            <a:normAutofit/>
          </a:bodyPr>
          <a:lstStyle/>
          <a:p>
            <a:r>
              <a:rPr lang="en-US" sz="6600" b="1" dirty="0">
                <a:solidFill>
                  <a:schemeClr val="bg1"/>
                </a:solidFill>
              </a:rPr>
              <a:t>Fasteners</a:t>
            </a:r>
            <a:endParaRPr lang="en-US" b="1" dirty="0">
              <a:solidFill>
                <a:schemeClr val="bg1"/>
              </a:solidFill>
            </a:endParaRPr>
          </a:p>
        </p:txBody>
      </p:sp>
      <p:sp>
        <p:nvSpPr>
          <p:cNvPr id="3" name="Subtitle 2">
            <a:extLst>
              <a:ext uri="{FF2B5EF4-FFF2-40B4-BE49-F238E27FC236}">
                <a16:creationId xmlns:a16="http://schemas.microsoft.com/office/drawing/2014/main" id="{88E83414-9557-9971-74AE-0E0F206E6AD9}"/>
              </a:ext>
            </a:extLst>
          </p:cNvPr>
          <p:cNvSpPr>
            <a:spLocks noGrp="1"/>
          </p:cNvSpPr>
          <p:nvPr>
            <p:ph type="subTitle" idx="1"/>
          </p:nvPr>
        </p:nvSpPr>
        <p:spPr>
          <a:xfrm>
            <a:off x="4164882" y="768846"/>
            <a:ext cx="3862232" cy="1090775"/>
          </a:xfrm>
          <a:noFill/>
          <a:effectLst>
            <a:glow rad="228600">
              <a:schemeClr val="accent1">
                <a:satMod val="175000"/>
                <a:alpha val="40000"/>
              </a:schemeClr>
            </a:glow>
          </a:effectLst>
        </p:spPr>
        <p:txBody>
          <a:bodyPr>
            <a:normAutofit/>
          </a:bodyPr>
          <a:lstStyle/>
          <a:p>
            <a:r>
              <a:rPr lang="en-US" sz="2000" dirty="0">
                <a:solidFill>
                  <a:schemeClr val="bg1"/>
                </a:solidFill>
              </a:rPr>
              <a:t>Aerospace Manufacturing Core </a:t>
            </a:r>
            <a:br>
              <a:rPr lang="en-US" sz="2000" dirty="0">
                <a:solidFill>
                  <a:schemeClr val="bg1"/>
                </a:solidFill>
              </a:rPr>
            </a:br>
            <a:r>
              <a:rPr lang="en-US" sz="2000" dirty="0">
                <a:solidFill>
                  <a:schemeClr val="bg1"/>
                </a:solidFill>
              </a:rPr>
              <a:t>Study Guide </a:t>
            </a:r>
          </a:p>
          <a:p>
            <a:r>
              <a:rPr lang="en-US" sz="2000" dirty="0">
                <a:solidFill>
                  <a:schemeClr val="bg1"/>
                </a:solidFill>
              </a:rPr>
              <a:t>“AMCSG-202”</a:t>
            </a:r>
          </a:p>
        </p:txBody>
      </p:sp>
      <p:sp>
        <p:nvSpPr>
          <p:cNvPr id="4" name="Subtitle 2">
            <a:extLst>
              <a:ext uri="{FF2B5EF4-FFF2-40B4-BE49-F238E27FC236}">
                <a16:creationId xmlns:a16="http://schemas.microsoft.com/office/drawing/2014/main" id="{72A361BB-91A4-6234-4565-06CC792AA8FE}"/>
              </a:ext>
            </a:extLst>
          </p:cNvPr>
          <p:cNvSpPr txBox="1">
            <a:spLocks/>
          </p:cNvSpPr>
          <p:nvPr/>
        </p:nvSpPr>
        <p:spPr>
          <a:xfrm>
            <a:off x="-1" y="2592083"/>
            <a:ext cx="12191999" cy="74851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600" dirty="0">
                <a:solidFill>
                  <a:schemeClr val="bg1"/>
                </a:solidFill>
              </a:rPr>
              <a:t>Tools &amp; Processes</a:t>
            </a:r>
          </a:p>
        </p:txBody>
      </p:sp>
    </p:spTree>
    <p:extLst>
      <p:ext uri="{BB962C8B-B14F-4D97-AF65-F5344CB8AC3E}">
        <p14:creationId xmlns:p14="http://schemas.microsoft.com/office/powerpoint/2010/main" val="1241290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a:extLst>
            <a:ext uri="{FF2B5EF4-FFF2-40B4-BE49-F238E27FC236}">
              <a16:creationId xmlns:a16="http://schemas.microsoft.com/office/drawing/2014/main" id="{9261E600-F3C0-DD3D-663E-B6C8AAD5C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796BF-1170-E31F-0EEB-A0A745BB66AD}"/>
              </a:ext>
            </a:extLst>
          </p:cNvPr>
          <p:cNvSpPr>
            <a:spLocks noGrp="1"/>
          </p:cNvSpPr>
          <p:nvPr>
            <p:ph type="ctrTitle"/>
          </p:nvPr>
        </p:nvSpPr>
        <p:spPr>
          <a:xfrm>
            <a:off x="1052512" y="3038186"/>
            <a:ext cx="10086975" cy="781627"/>
          </a:xfrm>
        </p:spPr>
        <p:txBody>
          <a:bodyPr>
            <a:normAutofit/>
          </a:bodyPr>
          <a:lstStyle/>
          <a:p>
            <a:r>
              <a:rPr lang="en-US" sz="4800" b="1" dirty="0">
                <a:solidFill>
                  <a:schemeClr val="bg1"/>
                </a:solidFill>
              </a:rPr>
              <a:t>Fasteners</a:t>
            </a:r>
          </a:p>
        </p:txBody>
      </p:sp>
    </p:spTree>
    <p:extLst>
      <p:ext uri="{BB962C8B-B14F-4D97-AF65-F5344CB8AC3E}">
        <p14:creationId xmlns:p14="http://schemas.microsoft.com/office/powerpoint/2010/main" val="85418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511B57DA-AB53-FBD4-59B8-18C341755C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8AEF36-EA4B-5066-4FDC-E28E36240838}"/>
              </a:ext>
            </a:extLst>
          </p:cNvPr>
          <p:cNvSpPr>
            <a:spLocks noGrp="1"/>
          </p:cNvSpPr>
          <p:nvPr>
            <p:ph type="title"/>
          </p:nvPr>
        </p:nvSpPr>
        <p:spPr>
          <a:xfrm>
            <a:off x="365760" y="365125"/>
            <a:ext cx="10515600" cy="877824"/>
          </a:xfrm>
        </p:spPr>
        <p:txBody>
          <a:bodyPr/>
          <a:lstStyle/>
          <a:p>
            <a:r>
              <a:rPr lang="en-US" dirty="0"/>
              <a:t>Cleco Temporary Fasteners </a:t>
            </a:r>
            <a:endParaRPr lang="en-US" dirty="0">
              <a:solidFill>
                <a:schemeClr val="bg1">
                  <a:lumMod val="65000"/>
                </a:schemeClr>
              </a:solidFill>
            </a:endParaRPr>
          </a:p>
        </p:txBody>
      </p:sp>
      <p:sp>
        <p:nvSpPr>
          <p:cNvPr id="6" name="Content Placeholder 2">
            <a:extLst>
              <a:ext uri="{FF2B5EF4-FFF2-40B4-BE49-F238E27FC236}">
                <a16:creationId xmlns:a16="http://schemas.microsoft.com/office/drawing/2014/main" id="{FF87124C-C76B-546C-38A7-BE54AD44F8EE}"/>
              </a:ext>
            </a:extLst>
          </p:cNvPr>
          <p:cNvSpPr>
            <a:spLocks noGrp="1"/>
          </p:cNvSpPr>
          <p:nvPr>
            <p:ph idx="1"/>
          </p:nvPr>
        </p:nvSpPr>
        <p:spPr>
          <a:xfrm>
            <a:off x="590614" y="1298008"/>
            <a:ext cx="7043085" cy="2410963"/>
          </a:xfrm>
          <a:extLst>
            <a:ext uri="{909E8E84-426E-40DD-AFC4-6F175D3DCCD1}">
              <a14:hiddenFill xmlns:a14="http://schemas.microsoft.com/office/drawing/2010/main">
                <a:solidFill>
                  <a:srgbClr val="FFFFFF"/>
                </a:solidFill>
              </a14:hiddenFill>
            </a:ext>
          </a:extLst>
        </p:spPr>
        <p:txBody>
          <a:bodyPr>
            <a:normAutofit/>
          </a:bodyPr>
          <a:lstStyle/>
          <a:p>
            <a:r>
              <a:rPr lang="en-US" sz="2400" dirty="0"/>
              <a:t>They hold materials during drilling &amp; assembly</a:t>
            </a:r>
          </a:p>
          <a:p>
            <a:r>
              <a:rPr lang="en-US" sz="2400" dirty="0"/>
              <a:t>Types: pin, wing nut, nut-power, nut-less-power</a:t>
            </a:r>
          </a:p>
          <a:p>
            <a:r>
              <a:rPr lang="en-US" sz="2400" dirty="0"/>
              <a:t>Pin Cleco’s are installed with Cleco pliers</a:t>
            </a:r>
          </a:p>
          <a:p>
            <a:r>
              <a:rPr lang="en-US" sz="2400" dirty="0"/>
              <a:t>Wing nut </a:t>
            </a:r>
            <a:r>
              <a:rPr lang="en-US" sz="2400" dirty="0" err="1"/>
              <a:t>Clecos</a:t>
            </a:r>
            <a:r>
              <a:rPr lang="en-US" sz="2400" dirty="0"/>
              <a:t> by hand</a:t>
            </a:r>
          </a:p>
          <a:p>
            <a:r>
              <a:rPr lang="en-US" sz="2400" dirty="0"/>
              <a:t>Power </a:t>
            </a:r>
            <a:r>
              <a:rPr lang="en-US" sz="2400" dirty="0" err="1"/>
              <a:t>Clecos</a:t>
            </a:r>
            <a:r>
              <a:rPr lang="en-US" sz="2400" dirty="0"/>
              <a:t> by power tool</a:t>
            </a:r>
          </a:p>
          <a:p>
            <a:endParaRPr lang="en-US" dirty="0">
              <a:solidFill>
                <a:schemeClr val="bg1">
                  <a:lumMod val="65000"/>
                </a:schemeClr>
              </a:solidFill>
            </a:endParaRPr>
          </a:p>
        </p:txBody>
      </p:sp>
      <p:grpSp>
        <p:nvGrpSpPr>
          <p:cNvPr id="11" name="Group 10">
            <a:extLst>
              <a:ext uri="{FF2B5EF4-FFF2-40B4-BE49-F238E27FC236}">
                <a16:creationId xmlns:a16="http://schemas.microsoft.com/office/drawing/2014/main" id="{BE9E4FBF-0F8B-7A10-D901-1803C73954B0}"/>
              </a:ext>
            </a:extLst>
          </p:cNvPr>
          <p:cNvGrpSpPr/>
          <p:nvPr/>
        </p:nvGrpSpPr>
        <p:grpSpPr>
          <a:xfrm>
            <a:off x="4715837" y="4046156"/>
            <a:ext cx="2460539" cy="2699325"/>
            <a:chOff x="4715837" y="4046156"/>
            <a:chExt cx="2460539" cy="2699325"/>
          </a:xfrm>
        </p:grpSpPr>
        <p:pic>
          <p:nvPicPr>
            <p:cNvPr id="13" name="Picture 12">
              <a:extLst>
                <a:ext uri="{FF2B5EF4-FFF2-40B4-BE49-F238E27FC236}">
                  <a16:creationId xmlns:a16="http://schemas.microsoft.com/office/drawing/2014/main" id="{DF42CF06-215F-1B8C-54FC-24262AA842F1}"/>
                </a:ext>
              </a:extLst>
            </p:cNvPr>
            <p:cNvPicPr>
              <a:picLocks noChangeAspect="1"/>
            </p:cNvPicPr>
            <p:nvPr/>
          </p:nvPicPr>
          <p:blipFill>
            <a:blip r:embed="rId3"/>
            <a:stretch>
              <a:fillRect/>
            </a:stretch>
          </p:blipFill>
          <p:spPr>
            <a:xfrm>
              <a:off x="4715837" y="4046156"/>
              <a:ext cx="2460539" cy="2460539"/>
            </a:xfrm>
            <a:prstGeom prst="rect">
              <a:avLst/>
            </a:prstGeom>
            <a:noFill/>
            <a:effectLst>
              <a:outerShdw blurRad="50800" dist="88900" dir="2700000" algn="tl" rotWithShape="0">
                <a:prstClr val="black">
                  <a:alpha val="40000"/>
                </a:prstClr>
              </a:outerShdw>
            </a:effectLst>
          </p:spPr>
        </p:pic>
        <p:sp>
          <p:nvSpPr>
            <p:cNvPr id="3" name="TextBox 2">
              <a:hlinkClick r:id="rId4"/>
              <a:extLst>
                <a:ext uri="{FF2B5EF4-FFF2-40B4-BE49-F238E27FC236}">
                  <a16:creationId xmlns:a16="http://schemas.microsoft.com/office/drawing/2014/main" id="{4DADA68F-F308-5836-EE15-7668B186F970}"/>
                </a:ext>
              </a:extLst>
            </p:cNvPr>
            <p:cNvSpPr txBox="1"/>
            <p:nvPr/>
          </p:nvSpPr>
          <p:spPr>
            <a:xfrm>
              <a:off x="4934612" y="6514649"/>
              <a:ext cx="2241764" cy="230832"/>
            </a:xfrm>
            <a:prstGeom prst="rect">
              <a:avLst/>
            </a:prstGeom>
            <a:noFill/>
          </p:spPr>
          <p:txBody>
            <a:bodyPr wrap="square" rtlCol="0">
              <a:spAutoFit/>
            </a:bodyPr>
            <a:lstStyle/>
            <a:p>
              <a:pPr algn="r"/>
              <a:r>
                <a:rPr lang="en-US" sz="900" dirty="0"/>
                <a:t>(Ad) Pan American Tool Corp, 2026</a:t>
              </a:r>
            </a:p>
          </p:txBody>
        </p:sp>
      </p:grpSp>
      <p:grpSp>
        <p:nvGrpSpPr>
          <p:cNvPr id="12" name="Group 11">
            <a:extLst>
              <a:ext uri="{FF2B5EF4-FFF2-40B4-BE49-F238E27FC236}">
                <a16:creationId xmlns:a16="http://schemas.microsoft.com/office/drawing/2014/main" id="{30A9FE0A-47FB-0191-A87C-4617884957C0}"/>
              </a:ext>
            </a:extLst>
          </p:cNvPr>
          <p:cNvGrpSpPr/>
          <p:nvPr/>
        </p:nvGrpSpPr>
        <p:grpSpPr>
          <a:xfrm>
            <a:off x="7744283" y="4051516"/>
            <a:ext cx="3658111" cy="2693965"/>
            <a:chOff x="8145938" y="3947987"/>
            <a:chExt cx="3658111" cy="2693965"/>
          </a:xfrm>
        </p:grpSpPr>
        <p:pic>
          <p:nvPicPr>
            <p:cNvPr id="19" name="Picture 18">
              <a:extLst>
                <a:ext uri="{FF2B5EF4-FFF2-40B4-BE49-F238E27FC236}">
                  <a16:creationId xmlns:a16="http://schemas.microsoft.com/office/drawing/2014/main" id="{91EFEB07-A667-1771-91CC-F2F5D0BD5BE6}"/>
                </a:ext>
              </a:extLst>
            </p:cNvPr>
            <p:cNvPicPr>
              <a:picLocks noChangeAspect="1"/>
            </p:cNvPicPr>
            <p:nvPr/>
          </p:nvPicPr>
          <p:blipFill>
            <a:blip r:embed="rId5"/>
            <a:stretch>
              <a:fillRect/>
            </a:stretch>
          </p:blipFill>
          <p:spPr>
            <a:xfrm>
              <a:off x="8145938" y="3947987"/>
              <a:ext cx="3658111" cy="2438740"/>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sp>
          <p:nvSpPr>
            <p:cNvPr id="4" name="TextBox 3">
              <a:extLst>
                <a:ext uri="{FF2B5EF4-FFF2-40B4-BE49-F238E27FC236}">
                  <a16:creationId xmlns:a16="http://schemas.microsoft.com/office/drawing/2014/main" id="{61E31935-BDF8-1F70-F798-84974C55EFDA}"/>
                </a:ext>
              </a:extLst>
            </p:cNvPr>
            <p:cNvSpPr txBox="1"/>
            <p:nvPr/>
          </p:nvSpPr>
          <p:spPr>
            <a:xfrm>
              <a:off x="10172379" y="6411120"/>
              <a:ext cx="1631670"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grpSp>
        <p:nvGrpSpPr>
          <p:cNvPr id="10" name="Group 9">
            <a:extLst>
              <a:ext uri="{FF2B5EF4-FFF2-40B4-BE49-F238E27FC236}">
                <a16:creationId xmlns:a16="http://schemas.microsoft.com/office/drawing/2014/main" id="{885604FA-2D30-11B8-75E5-FA35BA18393A}"/>
              </a:ext>
            </a:extLst>
          </p:cNvPr>
          <p:cNvGrpSpPr/>
          <p:nvPr/>
        </p:nvGrpSpPr>
        <p:grpSpPr>
          <a:xfrm>
            <a:off x="896008" y="4061916"/>
            <a:ext cx="3251922" cy="2683565"/>
            <a:chOff x="3487926" y="4056455"/>
            <a:chExt cx="3251922" cy="2683565"/>
          </a:xfrm>
        </p:grpSpPr>
        <p:sp>
          <p:nvSpPr>
            <p:cNvPr id="7" name="TextBox 6">
              <a:hlinkClick r:id="rId6"/>
              <a:extLst>
                <a:ext uri="{FF2B5EF4-FFF2-40B4-BE49-F238E27FC236}">
                  <a16:creationId xmlns:a16="http://schemas.microsoft.com/office/drawing/2014/main" id="{9F159DFB-C740-0F66-E510-2C1DEFD306B4}"/>
                </a:ext>
              </a:extLst>
            </p:cNvPr>
            <p:cNvSpPr txBox="1"/>
            <p:nvPr/>
          </p:nvSpPr>
          <p:spPr>
            <a:xfrm>
              <a:off x="4498084" y="6509188"/>
              <a:ext cx="2241764" cy="230832"/>
            </a:xfrm>
            <a:prstGeom prst="rect">
              <a:avLst/>
            </a:prstGeom>
            <a:noFill/>
          </p:spPr>
          <p:txBody>
            <a:bodyPr wrap="square" rtlCol="0">
              <a:spAutoFit/>
            </a:bodyPr>
            <a:lstStyle/>
            <a:p>
              <a:pPr algn="r"/>
              <a:r>
                <a:rPr lang="en-US" sz="900" dirty="0"/>
                <a:t>(CC4) Wikimedia Commons, 2015</a:t>
              </a:r>
            </a:p>
          </p:txBody>
        </p:sp>
        <p:pic>
          <p:nvPicPr>
            <p:cNvPr id="9" name="Picture 8">
              <a:extLst>
                <a:ext uri="{FF2B5EF4-FFF2-40B4-BE49-F238E27FC236}">
                  <a16:creationId xmlns:a16="http://schemas.microsoft.com/office/drawing/2014/main" id="{172E2452-9998-3EA1-5233-208984B0C57B}"/>
                </a:ext>
              </a:extLst>
            </p:cNvPr>
            <p:cNvPicPr>
              <a:picLocks noChangeAspect="1"/>
            </p:cNvPicPr>
            <p:nvPr/>
          </p:nvPicPr>
          <p:blipFill>
            <a:blip r:embed="rId7"/>
            <a:stretch>
              <a:fillRect/>
            </a:stretch>
          </p:blipFill>
          <p:spPr>
            <a:xfrm>
              <a:off x="3487926" y="4056455"/>
              <a:ext cx="3251922" cy="2436294"/>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grpSp>
      <p:sp>
        <p:nvSpPr>
          <p:cNvPr id="5" name="TextBox 7">
            <a:extLst>
              <a:ext uri="{FF2B5EF4-FFF2-40B4-BE49-F238E27FC236}">
                <a16:creationId xmlns:a16="http://schemas.microsoft.com/office/drawing/2014/main" id="{AE2F9949-808F-ACBA-DAF9-AF9986266FCF}"/>
              </a:ext>
            </a:extLst>
          </p:cNvPr>
          <p:cNvSpPr txBox="1"/>
          <p:nvPr/>
        </p:nvSpPr>
        <p:spPr>
          <a:xfrm>
            <a:off x="10221075" y="112519"/>
            <a:ext cx="1818524"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dirty="0">
                <a:solidFill>
                  <a:schemeClr val="accent5">
                    <a:lumMod val="60000"/>
                    <a:lumOff val="40000"/>
                  </a:schemeClr>
                </a:solidFill>
              </a:rPr>
              <a:t>Text from Google AI</a:t>
            </a:r>
          </a:p>
        </p:txBody>
      </p:sp>
    </p:spTree>
    <p:extLst>
      <p:ext uri="{BB962C8B-B14F-4D97-AF65-F5344CB8AC3E}">
        <p14:creationId xmlns:p14="http://schemas.microsoft.com/office/powerpoint/2010/main" val="3655194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775CE75-0F41-5546-9017-33D276C28684}"/>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67914FE3-6581-3A9D-9FA3-947B17C5B832}"/>
              </a:ext>
            </a:extLst>
          </p:cNvPr>
          <p:cNvGrpSpPr/>
          <p:nvPr/>
        </p:nvGrpSpPr>
        <p:grpSpPr>
          <a:xfrm>
            <a:off x="7083587" y="3086570"/>
            <a:ext cx="4245392" cy="2676372"/>
            <a:chOff x="7078992" y="2279856"/>
            <a:chExt cx="4245392" cy="2676372"/>
          </a:xfrm>
        </p:grpSpPr>
        <p:pic>
          <p:nvPicPr>
            <p:cNvPr id="64" name="Picture 63">
              <a:extLst>
                <a:ext uri="{FF2B5EF4-FFF2-40B4-BE49-F238E27FC236}">
                  <a16:creationId xmlns:a16="http://schemas.microsoft.com/office/drawing/2014/main" id="{46C3C4BF-94CE-0D3B-35D3-6EB1AD8E80AC}"/>
                </a:ext>
              </a:extLst>
            </p:cNvPr>
            <p:cNvPicPr>
              <a:picLocks noChangeAspect="1"/>
            </p:cNvPicPr>
            <p:nvPr/>
          </p:nvPicPr>
          <p:blipFill>
            <a:blip r:embed="rId3"/>
            <a:stretch>
              <a:fillRect/>
            </a:stretch>
          </p:blipFill>
          <p:spPr>
            <a:xfrm>
              <a:off x="7078992" y="2279856"/>
              <a:ext cx="4014559" cy="2676372"/>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sp>
          <p:nvSpPr>
            <p:cNvPr id="5" name="TextBox 4">
              <a:extLst>
                <a:ext uri="{FF2B5EF4-FFF2-40B4-BE49-F238E27FC236}">
                  <a16:creationId xmlns:a16="http://schemas.microsoft.com/office/drawing/2014/main" id="{82313BD2-1111-B0FB-C609-4C506E07C219}"/>
                </a:ext>
              </a:extLst>
            </p:cNvPr>
            <p:cNvSpPr txBox="1"/>
            <p:nvPr/>
          </p:nvSpPr>
          <p:spPr>
            <a:xfrm rot="16200000">
              <a:off x="10355709" y="3987553"/>
              <a:ext cx="1706517" cy="230832"/>
            </a:xfrm>
            <a:prstGeom prst="rect">
              <a:avLst/>
            </a:prstGeom>
            <a:noFill/>
          </p:spPr>
          <p:txBody>
            <a:bodyPr wrap="square" rtlCol="0">
              <a:spAutoFit/>
            </a:bodyPr>
            <a:lstStyle/>
            <a:p>
              <a:r>
                <a:rPr lang="pl-PL" sz="900" dirty="0"/>
                <a:t>ChatGPT </a:t>
              </a:r>
              <a:r>
                <a:rPr lang="en-US" sz="900" dirty="0"/>
                <a:t>/</a:t>
              </a:r>
              <a:r>
                <a:rPr lang="pl-PL" sz="900" dirty="0"/>
                <a:t> Matt Pierce, 2026</a:t>
              </a:r>
              <a:endParaRPr lang="en-US" sz="900" dirty="0"/>
            </a:p>
          </p:txBody>
        </p:sp>
      </p:grpSp>
      <p:grpSp>
        <p:nvGrpSpPr>
          <p:cNvPr id="16" name="Group 15">
            <a:extLst>
              <a:ext uri="{FF2B5EF4-FFF2-40B4-BE49-F238E27FC236}">
                <a16:creationId xmlns:a16="http://schemas.microsoft.com/office/drawing/2014/main" id="{E878D26F-59FD-7B3E-B2C6-9BC98D51B405}"/>
              </a:ext>
            </a:extLst>
          </p:cNvPr>
          <p:cNvGrpSpPr/>
          <p:nvPr/>
        </p:nvGrpSpPr>
        <p:grpSpPr>
          <a:xfrm>
            <a:off x="2919628" y="2279856"/>
            <a:ext cx="1837793" cy="3671972"/>
            <a:chOff x="2919628" y="2279856"/>
            <a:chExt cx="1837793" cy="3671972"/>
          </a:xfrm>
        </p:grpSpPr>
        <p:pic>
          <p:nvPicPr>
            <p:cNvPr id="4" name="Picture 3">
              <a:extLst>
                <a:ext uri="{FF2B5EF4-FFF2-40B4-BE49-F238E27FC236}">
                  <a16:creationId xmlns:a16="http://schemas.microsoft.com/office/drawing/2014/main" id="{EC246AAC-FAC5-6243-24C4-92EBB7FAD34F}"/>
                </a:ext>
              </a:extLst>
            </p:cNvPr>
            <p:cNvPicPr>
              <a:picLocks noChangeAspect="1"/>
            </p:cNvPicPr>
            <p:nvPr/>
          </p:nvPicPr>
          <p:blipFill>
            <a:blip r:embed="rId4"/>
            <a:stretch>
              <a:fillRect/>
            </a:stretch>
          </p:blipFill>
          <p:spPr>
            <a:xfrm>
              <a:off x="2919628" y="2279856"/>
              <a:ext cx="1607088" cy="3506375"/>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sp>
          <p:nvSpPr>
            <p:cNvPr id="3" name="TextBox 2">
              <a:hlinkClick r:id="rId5"/>
              <a:extLst>
                <a:ext uri="{FF2B5EF4-FFF2-40B4-BE49-F238E27FC236}">
                  <a16:creationId xmlns:a16="http://schemas.microsoft.com/office/drawing/2014/main" id="{9F1530EC-89F7-03E8-D386-B059484B611D}"/>
                </a:ext>
              </a:extLst>
            </p:cNvPr>
            <p:cNvSpPr txBox="1"/>
            <p:nvPr/>
          </p:nvSpPr>
          <p:spPr>
            <a:xfrm rot="16200000">
              <a:off x="3838460" y="5032868"/>
              <a:ext cx="1607089" cy="230832"/>
            </a:xfrm>
            <a:prstGeom prst="rect">
              <a:avLst/>
            </a:prstGeom>
            <a:noFill/>
          </p:spPr>
          <p:txBody>
            <a:bodyPr wrap="square" rtlCol="0">
              <a:spAutoFit/>
            </a:bodyPr>
            <a:lstStyle/>
            <a:p>
              <a:pPr algn="r"/>
              <a:r>
                <a:rPr lang="en-US" sz="900" dirty="0"/>
                <a:t>(Ad) SurplusMan.com, 2026</a:t>
              </a:r>
            </a:p>
          </p:txBody>
        </p:sp>
      </p:grpSp>
      <p:sp>
        <p:nvSpPr>
          <p:cNvPr id="2" name="Title 1">
            <a:extLst>
              <a:ext uri="{FF2B5EF4-FFF2-40B4-BE49-F238E27FC236}">
                <a16:creationId xmlns:a16="http://schemas.microsoft.com/office/drawing/2014/main" id="{9608A236-277E-0D5E-EDD2-8752F9E933E2}"/>
              </a:ext>
            </a:extLst>
          </p:cNvPr>
          <p:cNvSpPr>
            <a:spLocks noGrp="1"/>
          </p:cNvSpPr>
          <p:nvPr>
            <p:ph type="title"/>
          </p:nvPr>
        </p:nvSpPr>
        <p:spPr>
          <a:xfrm>
            <a:off x="365760" y="365125"/>
            <a:ext cx="10515600" cy="877824"/>
          </a:xfrm>
        </p:spPr>
        <p:txBody>
          <a:bodyPr/>
          <a:lstStyle/>
          <a:p>
            <a:r>
              <a:rPr lang="en-US" dirty="0"/>
              <a:t>Bolts</a:t>
            </a:r>
            <a:endParaRPr lang="en-US" dirty="0">
              <a:solidFill>
                <a:schemeClr val="bg1">
                  <a:lumMod val="65000"/>
                </a:schemeClr>
              </a:solidFill>
            </a:endParaRPr>
          </a:p>
        </p:txBody>
      </p:sp>
      <p:sp>
        <p:nvSpPr>
          <p:cNvPr id="6" name="Content Placeholder 2">
            <a:extLst>
              <a:ext uri="{FF2B5EF4-FFF2-40B4-BE49-F238E27FC236}">
                <a16:creationId xmlns:a16="http://schemas.microsoft.com/office/drawing/2014/main" id="{6C611D8F-C79A-6151-03D2-B97BE71ADCCD}"/>
              </a:ext>
            </a:extLst>
          </p:cNvPr>
          <p:cNvSpPr>
            <a:spLocks noGrp="1"/>
          </p:cNvSpPr>
          <p:nvPr>
            <p:ph idx="1"/>
          </p:nvPr>
        </p:nvSpPr>
        <p:spPr>
          <a:xfrm>
            <a:off x="541657" y="1231373"/>
            <a:ext cx="6174409" cy="4854825"/>
          </a:xfrm>
          <a:extLst>
            <a:ext uri="{909E8E84-426E-40DD-AFC4-6F175D3DCCD1}">
              <a14:hiddenFill xmlns:a14="http://schemas.microsoft.com/office/drawing/2010/main">
                <a:solidFill>
                  <a:srgbClr val="FFFFFF"/>
                </a:solidFill>
              </a14:hiddenFill>
            </a:ext>
          </a:extLst>
        </p:spPr>
        <p:txBody>
          <a:bodyPr>
            <a:normAutofit/>
          </a:bodyPr>
          <a:lstStyle/>
          <a:p>
            <a:pPr marL="0" indent="0">
              <a:buNone/>
            </a:pPr>
            <a:r>
              <a:rPr lang="en-US" sz="2400" dirty="0"/>
              <a:t>Threaded fasteners are used for high strength</a:t>
            </a:r>
            <a:endParaRPr lang="en-US" sz="2400" dirty="0">
              <a:solidFill>
                <a:schemeClr val="bg1">
                  <a:lumMod val="65000"/>
                </a:schemeClr>
              </a:solidFill>
            </a:endParaRPr>
          </a:p>
          <a:p>
            <a:r>
              <a:rPr lang="en-US" dirty="0">
                <a:solidFill>
                  <a:srgbClr val="002060"/>
                </a:solidFill>
              </a:rPr>
              <a:t>Components:</a:t>
            </a:r>
          </a:p>
        </p:txBody>
      </p:sp>
      <p:grpSp>
        <p:nvGrpSpPr>
          <p:cNvPr id="7" name="Group 6">
            <a:extLst>
              <a:ext uri="{FF2B5EF4-FFF2-40B4-BE49-F238E27FC236}">
                <a16:creationId xmlns:a16="http://schemas.microsoft.com/office/drawing/2014/main" id="{61658C1E-2FA2-20B5-DF48-EA7744E5DE46}"/>
              </a:ext>
            </a:extLst>
          </p:cNvPr>
          <p:cNvGrpSpPr/>
          <p:nvPr/>
        </p:nvGrpSpPr>
        <p:grpSpPr>
          <a:xfrm>
            <a:off x="1647205" y="3479046"/>
            <a:ext cx="1776819" cy="369332"/>
            <a:chOff x="5768354" y="333303"/>
            <a:chExt cx="1776819" cy="369332"/>
          </a:xfrm>
        </p:grpSpPr>
        <p:sp>
          <p:nvSpPr>
            <p:cNvPr id="8" name="TextBox 7">
              <a:extLst>
                <a:ext uri="{FF2B5EF4-FFF2-40B4-BE49-F238E27FC236}">
                  <a16:creationId xmlns:a16="http://schemas.microsoft.com/office/drawing/2014/main" id="{B3B4F99F-FCAC-A2EE-D54E-B427E76577E5}"/>
                </a:ext>
              </a:extLst>
            </p:cNvPr>
            <p:cNvSpPr txBox="1"/>
            <p:nvPr/>
          </p:nvSpPr>
          <p:spPr>
            <a:xfrm>
              <a:off x="5768354" y="333303"/>
              <a:ext cx="896656" cy="369332"/>
            </a:xfrm>
            <a:prstGeom prst="rect">
              <a:avLst/>
            </a:prstGeom>
            <a:solidFill>
              <a:srgbClr val="0070C0"/>
            </a:solidFill>
          </p:spPr>
          <p:txBody>
            <a:bodyPr wrap="square" rtlCol="0">
              <a:spAutoFit/>
            </a:bodyPr>
            <a:lstStyle/>
            <a:p>
              <a:r>
                <a:rPr lang="en-US" b="1" dirty="0">
                  <a:solidFill>
                    <a:schemeClr val="bg1"/>
                  </a:solidFill>
                </a:rPr>
                <a:t>Shank</a:t>
              </a:r>
            </a:p>
          </p:txBody>
        </p:sp>
        <p:cxnSp>
          <p:nvCxnSpPr>
            <p:cNvPr id="9" name="Straight Arrow Connector 8">
              <a:extLst>
                <a:ext uri="{FF2B5EF4-FFF2-40B4-BE49-F238E27FC236}">
                  <a16:creationId xmlns:a16="http://schemas.microsoft.com/office/drawing/2014/main" id="{800B6AAB-6122-B728-8CAC-2A2C0C5E55C9}"/>
                </a:ext>
              </a:extLst>
            </p:cNvPr>
            <p:cNvCxnSpPr>
              <a:cxnSpLocks/>
              <a:stCxn id="8" idx="3"/>
            </p:cNvCxnSpPr>
            <p:nvPr/>
          </p:nvCxnSpPr>
          <p:spPr>
            <a:xfrm>
              <a:off x="6665010" y="517969"/>
              <a:ext cx="880163" cy="0"/>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12" name="Group 11">
            <a:extLst>
              <a:ext uri="{FF2B5EF4-FFF2-40B4-BE49-F238E27FC236}">
                <a16:creationId xmlns:a16="http://schemas.microsoft.com/office/drawing/2014/main" id="{1DD92ACD-55F3-A6B2-22E0-81C2B3977D2B}"/>
              </a:ext>
            </a:extLst>
          </p:cNvPr>
          <p:cNvGrpSpPr/>
          <p:nvPr/>
        </p:nvGrpSpPr>
        <p:grpSpPr>
          <a:xfrm>
            <a:off x="1498476" y="4742557"/>
            <a:ext cx="1925548" cy="369332"/>
            <a:chOff x="5619625" y="333303"/>
            <a:chExt cx="1925548" cy="369332"/>
          </a:xfrm>
        </p:grpSpPr>
        <p:sp>
          <p:nvSpPr>
            <p:cNvPr id="14" name="TextBox 13">
              <a:extLst>
                <a:ext uri="{FF2B5EF4-FFF2-40B4-BE49-F238E27FC236}">
                  <a16:creationId xmlns:a16="http://schemas.microsoft.com/office/drawing/2014/main" id="{06F3E455-F2CC-1F82-14A1-D91514BCF641}"/>
                </a:ext>
              </a:extLst>
            </p:cNvPr>
            <p:cNvSpPr txBox="1"/>
            <p:nvPr/>
          </p:nvSpPr>
          <p:spPr>
            <a:xfrm>
              <a:off x="5619625" y="333303"/>
              <a:ext cx="1045385" cy="369332"/>
            </a:xfrm>
            <a:prstGeom prst="rect">
              <a:avLst/>
            </a:prstGeom>
            <a:solidFill>
              <a:srgbClr val="0070C0"/>
            </a:solidFill>
          </p:spPr>
          <p:txBody>
            <a:bodyPr wrap="square" rtlCol="0">
              <a:spAutoFit/>
            </a:bodyPr>
            <a:lstStyle/>
            <a:p>
              <a:r>
                <a:rPr lang="en-US" b="1" dirty="0">
                  <a:solidFill>
                    <a:schemeClr val="bg1"/>
                  </a:solidFill>
                </a:rPr>
                <a:t>Thread</a:t>
              </a:r>
            </a:p>
          </p:txBody>
        </p:sp>
        <p:cxnSp>
          <p:nvCxnSpPr>
            <p:cNvPr id="15" name="Straight Arrow Connector 14">
              <a:extLst>
                <a:ext uri="{FF2B5EF4-FFF2-40B4-BE49-F238E27FC236}">
                  <a16:creationId xmlns:a16="http://schemas.microsoft.com/office/drawing/2014/main" id="{5204D80D-246A-5472-6898-6AB2BDD682E0}"/>
                </a:ext>
              </a:extLst>
            </p:cNvPr>
            <p:cNvCxnSpPr>
              <a:cxnSpLocks/>
              <a:stCxn id="14" idx="3"/>
            </p:cNvCxnSpPr>
            <p:nvPr/>
          </p:nvCxnSpPr>
          <p:spPr>
            <a:xfrm>
              <a:off x="6665010" y="517969"/>
              <a:ext cx="880163" cy="0"/>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03A75465-EE40-E8E4-98BE-B63C320636BA}"/>
              </a:ext>
            </a:extLst>
          </p:cNvPr>
          <p:cNvGrpSpPr/>
          <p:nvPr/>
        </p:nvGrpSpPr>
        <p:grpSpPr>
          <a:xfrm>
            <a:off x="1655451" y="2752151"/>
            <a:ext cx="1776819" cy="369332"/>
            <a:chOff x="5768354" y="333303"/>
            <a:chExt cx="1776819" cy="369332"/>
          </a:xfrm>
        </p:grpSpPr>
        <p:sp>
          <p:nvSpPr>
            <p:cNvPr id="18" name="TextBox 17">
              <a:extLst>
                <a:ext uri="{FF2B5EF4-FFF2-40B4-BE49-F238E27FC236}">
                  <a16:creationId xmlns:a16="http://schemas.microsoft.com/office/drawing/2014/main" id="{DECB4649-EC40-7FFB-B33D-FA85A735DC89}"/>
                </a:ext>
              </a:extLst>
            </p:cNvPr>
            <p:cNvSpPr txBox="1"/>
            <p:nvPr/>
          </p:nvSpPr>
          <p:spPr>
            <a:xfrm>
              <a:off x="5768354" y="333303"/>
              <a:ext cx="896656" cy="369332"/>
            </a:xfrm>
            <a:prstGeom prst="rect">
              <a:avLst/>
            </a:prstGeom>
            <a:solidFill>
              <a:srgbClr val="0070C0"/>
            </a:solidFill>
          </p:spPr>
          <p:txBody>
            <a:bodyPr wrap="square" rtlCol="0">
              <a:spAutoFit/>
            </a:bodyPr>
            <a:lstStyle/>
            <a:p>
              <a:r>
                <a:rPr lang="en-US" b="1" dirty="0">
                  <a:solidFill>
                    <a:schemeClr val="bg1"/>
                  </a:solidFill>
                </a:rPr>
                <a:t>Head</a:t>
              </a:r>
            </a:p>
          </p:txBody>
        </p:sp>
        <p:cxnSp>
          <p:nvCxnSpPr>
            <p:cNvPr id="20" name="Straight Arrow Connector 19">
              <a:extLst>
                <a:ext uri="{FF2B5EF4-FFF2-40B4-BE49-F238E27FC236}">
                  <a16:creationId xmlns:a16="http://schemas.microsoft.com/office/drawing/2014/main" id="{913A4185-2633-9AF4-73A7-C4685849D97A}"/>
                </a:ext>
              </a:extLst>
            </p:cNvPr>
            <p:cNvCxnSpPr>
              <a:cxnSpLocks/>
              <a:stCxn id="18" idx="3"/>
            </p:cNvCxnSpPr>
            <p:nvPr/>
          </p:nvCxnSpPr>
          <p:spPr>
            <a:xfrm>
              <a:off x="6665010" y="517969"/>
              <a:ext cx="880163" cy="0"/>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34" name="Group 33">
            <a:extLst>
              <a:ext uri="{FF2B5EF4-FFF2-40B4-BE49-F238E27FC236}">
                <a16:creationId xmlns:a16="http://schemas.microsoft.com/office/drawing/2014/main" id="{90576D37-220C-BAF9-E02D-D2BCCFAA7FCC}"/>
              </a:ext>
            </a:extLst>
          </p:cNvPr>
          <p:cNvGrpSpPr/>
          <p:nvPr/>
        </p:nvGrpSpPr>
        <p:grpSpPr>
          <a:xfrm>
            <a:off x="4036825" y="3210205"/>
            <a:ext cx="1681224" cy="1375025"/>
            <a:chOff x="3376549" y="3210205"/>
            <a:chExt cx="1681224" cy="1375025"/>
          </a:xfrm>
        </p:grpSpPr>
        <p:sp>
          <p:nvSpPr>
            <p:cNvPr id="22" name="TextBox 21">
              <a:extLst>
                <a:ext uri="{FF2B5EF4-FFF2-40B4-BE49-F238E27FC236}">
                  <a16:creationId xmlns:a16="http://schemas.microsoft.com/office/drawing/2014/main" id="{9BCDABF0-2018-F96A-B8FD-92F99BE32D16}"/>
                </a:ext>
              </a:extLst>
            </p:cNvPr>
            <p:cNvSpPr txBox="1"/>
            <p:nvPr/>
          </p:nvSpPr>
          <p:spPr>
            <a:xfrm>
              <a:off x="4411938" y="3294380"/>
              <a:ext cx="645835" cy="369332"/>
            </a:xfrm>
            <a:prstGeom prst="rect">
              <a:avLst/>
            </a:prstGeom>
            <a:solidFill>
              <a:srgbClr val="0070C0"/>
            </a:solidFill>
          </p:spPr>
          <p:txBody>
            <a:bodyPr wrap="square" rtlCol="0">
              <a:spAutoFit/>
            </a:bodyPr>
            <a:lstStyle/>
            <a:p>
              <a:r>
                <a:rPr lang="en-US" b="1" dirty="0">
                  <a:solidFill>
                    <a:schemeClr val="bg1"/>
                  </a:solidFill>
                </a:rPr>
                <a:t>Grip</a:t>
              </a:r>
            </a:p>
          </p:txBody>
        </p:sp>
        <p:cxnSp>
          <p:nvCxnSpPr>
            <p:cNvPr id="23" name="Straight Arrow Connector 22">
              <a:extLst>
                <a:ext uri="{FF2B5EF4-FFF2-40B4-BE49-F238E27FC236}">
                  <a16:creationId xmlns:a16="http://schemas.microsoft.com/office/drawing/2014/main" id="{D871ED15-FDD0-C3A0-F03D-421F5F9D0028}"/>
                </a:ext>
              </a:extLst>
            </p:cNvPr>
            <p:cNvCxnSpPr>
              <a:cxnSpLocks/>
              <a:stCxn id="22" idx="1"/>
            </p:cNvCxnSpPr>
            <p:nvPr/>
          </p:nvCxnSpPr>
          <p:spPr>
            <a:xfrm flipH="1">
              <a:off x="3808821" y="3479046"/>
              <a:ext cx="603117" cy="0"/>
            </a:xfrm>
            <a:prstGeom prst="straightConnector1">
              <a:avLst/>
            </a:prstGeom>
            <a:ln>
              <a:solidFill>
                <a:srgbClr val="FF0000"/>
              </a:solidFill>
              <a:tailEnd type="none" w="lg" len="lg"/>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5878B658-BDF8-3B30-F7A7-EA237B7407EA}"/>
                </a:ext>
              </a:extLst>
            </p:cNvPr>
            <p:cNvCxnSpPr>
              <a:cxnSpLocks/>
            </p:cNvCxnSpPr>
            <p:nvPr/>
          </p:nvCxnSpPr>
          <p:spPr>
            <a:xfrm flipH="1">
              <a:off x="3594987" y="3210205"/>
              <a:ext cx="221378" cy="0"/>
            </a:xfrm>
            <a:prstGeom prst="straightConnector1">
              <a:avLst/>
            </a:prstGeom>
            <a:ln>
              <a:solidFill>
                <a:srgbClr val="FF0000"/>
              </a:solidFill>
              <a:tailEnd type="none" w="lg" len="lg"/>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7BD4B550-8CA0-9F1F-D327-B81965B80484}"/>
                </a:ext>
              </a:extLst>
            </p:cNvPr>
            <p:cNvCxnSpPr>
              <a:cxnSpLocks/>
            </p:cNvCxnSpPr>
            <p:nvPr/>
          </p:nvCxnSpPr>
          <p:spPr>
            <a:xfrm flipH="1">
              <a:off x="3376549" y="4585230"/>
              <a:ext cx="439816" cy="0"/>
            </a:xfrm>
            <a:prstGeom prst="straightConnector1">
              <a:avLst/>
            </a:prstGeom>
            <a:ln>
              <a:solidFill>
                <a:srgbClr val="FF0000"/>
              </a:solidFill>
              <a:tailEnd type="none" w="lg" len="lg"/>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80FA27DB-F475-AA05-1EA3-6358E53929B5}"/>
                </a:ext>
              </a:extLst>
            </p:cNvPr>
            <p:cNvCxnSpPr>
              <a:cxnSpLocks/>
            </p:cNvCxnSpPr>
            <p:nvPr/>
          </p:nvCxnSpPr>
          <p:spPr>
            <a:xfrm>
              <a:off x="3808821" y="3210205"/>
              <a:ext cx="0" cy="1375025"/>
            </a:xfrm>
            <a:prstGeom prst="straightConnector1">
              <a:avLst/>
            </a:prstGeom>
            <a:ln>
              <a:solidFill>
                <a:srgbClr val="FF0000"/>
              </a:solidFill>
              <a:tailEnd type="none" w="lg" len="lg"/>
            </a:ln>
          </p:spPr>
          <p:style>
            <a:lnRef idx="2">
              <a:schemeClr val="accent1"/>
            </a:lnRef>
            <a:fillRef idx="0">
              <a:schemeClr val="accent1"/>
            </a:fillRef>
            <a:effectRef idx="1">
              <a:schemeClr val="accent1"/>
            </a:effectRef>
            <a:fontRef idx="minor">
              <a:schemeClr val="tx1"/>
            </a:fontRef>
          </p:style>
        </p:cxnSp>
      </p:grpSp>
      <p:grpSp>
        <p:nvGrpSpPr>
          <p:cNvPr id="61" name="Group 60">
            <a:extLst>
              <a:ext uri="{FF2B5EF4-FFF2-40B4-BE49-F238E27FC236}">
                <a16:creationId xmlns:a16="http://schemas.microsoft.com/office/drawing/2014/main" id="{1A4BD82B-5948-EAE5-C830-57B3C362754C}"/>
              </a:ext>
            </a:extLst>
          </p:cNvPr>
          <p:cNvGrpSpPr/>
          <p:nvPr/>
        </p:nvGrpSpPr>
        <p:grpSpPr>
          <a:xfrm>
            <a:off x="3011406" y="5512007"/>
            <a:ext cx="1190714" cy="1058825"/>
            <a:chOff x="2351130" y="5512007"/>
            <a:chExt cx="1190714" cy="1058825"/>
          </a:xfrm>
        </p:grpSpPr>
        <p:sp>
          <p:nvSpPr>
            <p:cNvPr id="36" name="TextBox 35">
              <a:extLst>
                <a:ext uri="{FF2B5EF4-FFF2-40B4-BE49-F238E27FC236}">
                  <a16:creationId xmlns:a16="http://schemas.microsoft.com/office/drawing/2014/main" id="{ACB29F0D-0D63-0BCD-F002-F40E8DE6C633}"/>
                </a:ext>
              </a:extLst>
            </p:cNvPr>
            <p:cNvSpPr txBox="1"/>
            <p:nvPr/>
          </p:nvSpPr>
          <p:spPr>
            <a:xfrm>
              <a:off x="2351130" y="6201500"/>
              <a:ext cx="1190714" cy="369332"/>
            </a:xfrm>
            <a:prstGeom prst="rect">
              <a:avLst/>
            </a:prstGeom>
            <a:solidFill>
              <a:srgbClr val="0070C0"/>
            </a:solidFill>
          </p:spPr>
          <p:txBody>
            <a:bodyPr wrap="square" rtlCol="0">
              <a:spAutoFit/>
            </a:bodyPr>
            <a:lstStyle/>
            <a:p>
              <a:r>
                <a:rPr lang="en-US" b="1" dirty="0">
                  <a:solidFill>
                    <a:schemeClr val="bg1"/>
                  </a:solidFill>
                </a:rPr>
                <a:t>Diameter</a:t>
              </a:r>
            </a:p>
          </p:txBody>
        </p:sp>
        <p:cxnSp>
          <p:nvCxnSpPr>
            <p:cNvPr id="37" name="Straight Arrow Connector 36">
              <a:extLst>
                <a:ext uri="{FF2B5EF4-FFF2-40B4-BE49-F238E27FC236}">
                  <a16:creationId xmlns:a16="http://schemas.microsoft.com/office/drawing/2014/main" id="{79786CAE-5C91-8C8B-1A45-E43AED0CC025}"/>
                </a:ext>
              </a:extLst>
            </p:cNvPr>
            <p:cNvCxnSpPr>
              <a:cxnSpLocks/>
              <a:stCxn id="36" idx="0"/>
            </p:cNvCxnSpPr>
            <p:nvPr/>
          </p:nvCxnSpPr>
          <p:spPr>
            <a:xfrm flipV="1">
              <a:off x="2946487" y="5928189"/>
              <a:ext cx="0" cy="273311"/>
            </a:xfrm>
            <a:prstGeom prst="straightConnector1">
              <a:avLst/>
            </a:prstGeom>
            <a:ln>
              <a:solidFill>
                <a:srgbClr val="FF0000"/>
              </a:solidFill>
              <a:tailEnd type="none" w="lg" len="lg"/>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B48F6079-C1E4-B5F5-21A4-46F15817C378}"/>
                </a:ext>
              </a:extLst>
            </p:cNvPr>
            <p:cNvCxnSpPr>
              <a:cxnSpLocks/>
            </p:cNvCxnSpPr>
            <p:nvPr/>
          </p:nvCxnSpPr>
          <p:spPr>
            <a:xfrm>
              <a:off x="2668284" y="5512007"/>
              <a:ext cx="0" cy="416182"/>
            </a:xfrm>
            <a:prstGeom prst="straightConnector1">
              <a:avLst/>
            </a:prstGeom>
            <a:ln>
              <a:solidFill>
                <a:srgbClr val="FF0000"/>
              </a:solidFill>
              <a:tailEnd type="none" w="lg" len="lg"/>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840C8905-A281-7EB3-F1D9-C97DC432CC19}"/>
                </a:ext>
              </a:extLst>
            </p:cNvPr>
            <p:cNvCxnSpPr>
              <a:cxnSpLocks/>
            </p:cNvCxnSpPr>
            <p:nvPr/>
          </p:nvCxnSpPr>
          <p:spPr>
            <a:xfrm flipH="1" flipV="1">
              <a:off x="2668284" y="5928189"/>
              <a:ext cx="599088" cy="4190"/>
            </a:xfrm>
            <a:prstGeom prst="straightConnector1">
              <a:avLst/>
            </a:prstGeom>
            <a:ln>
              <a:solidFill>
                <a:srgbClr val="FF0000"/>
              </a:solidFill>
              <a:tailEnd type="none" w="lg" len="lg"/>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5C7DA77A-4CFD-7E06-AAFC-315136270ADE}"/>
                </a:ext>
              </a:extLst>
            </p:cNvPr>
            <p:cNvCxnSpPr>
              <a:cxnSpLocks/>
            </p:cNvCxnSpPr>
            <p:nvPr/>
          </p:nvCxnSpPr>
          <p:spPr>
            <a:xfrm>
              <a:off x="3267372" y="5543757"/>
              <a:ext cx="0" cy="384432"/>
            </a:xfrm>
            <a:prstGeom prst="straightConnector1">
              <a:avLst/>
            </a:prstGeom>
            <a:ln>
              <a:solidFill>
                <a:srgbClr val="FF0000"/>
              </a:solidFill>
              <a:tailEnd type="none" w="lg" len="lg"/>
            </a:ln>
          </p:spPr>
          <p:style>
            <a:lnRef idx="2">
              <a:schemeClr val="accent1"/>
            </a:lnRef>
            <a:fillRef idx="0">
              <a:schemeClr val="accent1"/>
            </a:fillRef>
            <a:effectRef idx="1">
              <a:schemeClr val="accent1"/>
            </a:effectRef>
            <a:fontRef idx="minor">
              <a:schemeClr val="tx1"/>
            </a:fontRef>
          </p:style>
        </p:cxnSp>
      </p:grpSp>
      <p:grpSp>
        <p:nvGrpSpPr>
          <p:cNvPr id="65" name="Group 64">
            <a:extLst>
              <a:ext uri="{FF2B5EF4-FFF2-40B4-BE49-F238E27FC236}">
                <a16:creationId xmlns:a16="http://schemas.microsoft.com/office/drawing/2014/main" id="{E111EAA7-6A3F-4718-B069-1B049A0C63D4}"/>
              </a:ext>
            </a:extLst>
          </p:cNvPr>
          <p:cNvGrpSpPr/>
          <p:nvPr/>
        </p:nvGrpSpPr>
        <p:grpSpPr>
          <a:xfrm>
            <a:off x="7309873" y="2279856"/>
            <a:ext cx="771447" cy="1383856"/>
            <a:chOff x="5835980" y="-2663326"/>
            <a:chExt cx="771447" cy="1383856"/>
          </a:xfrm>
        </p:grpSpPr>
        <p:sp>
          <p:nvSpPr>
            <p:cNvPr id="66" name="TextBox 65">
              <a:extLst>
                <a:ext uri="{FF2B5EF4-FFF2-40B4-BE49-F238E27FC236}">
                  <a16:creationId xmlns:a16="http://schemas.microsoft.com/office/drawing/2014/main" id="{1E5E04FA-07E6-074A-D8E8-29E1A3051D5A}"/>
                </a:ext>
              </a:extLst>
            </p:cNvPr>
            <p:cNvSpPr txBox="1"/>
            <p:nvPr/>
          </p:nvSpPr>
          <p:spPr>
            <a:xfrm>
              <a:off x="5835980" y="-2663326"/>
              <a:ext cx="771447" cy="646331"/>
            </a:xfrm>
            <a:prstGeom prst="rect">
              <a:avLst/>
            </a:prstGeom>
            <a:solidFill>
              <a:srgbClr val="0070C0"/>
            </a:solidFill>
          </p:spPr>
          <p:txBody>
            <a:bodyPr wrap="square" rtlCol="0">
              <a:spAutoFit/>
            </a:bodyPr>
            <a:lstStyle/>
            <a:p>
              <a:pPr algn="ctr"/>
              <a:r>
                <a:rPr lang="en-US" b="1" dirty="0">
                  <a:solidFill>
                    <a:schemeClr val="bg1"/>
                  </a:solidFill>
                </a:rPr>
                <a:t>Flush Head</a:t>
              </a:r>
            </a:p>
          </p:txBody>
        </p:sp>
        <p:cxnSp>
          <p:nvCxnSpPr>
            <p:cNvPr id="67" name="Straight Arrow Connector 66">
              <a:extLst>
                <a:ext uri="{FF2B5EF4-FFF2-40B4-BE49-F238E27FC236}">
                  <a16:creationId xmlns:a16="http://schemas.microsoft.com/office/drawing/2014/main" id="{C042BE4E-AF4C-D823-57C7-19ECF36A6613}"/>
                </a:ext>
              </a:extLst>
            </p:cNvPr>
            <p:cNvCxnSpPr>
              <a:cxnSpLocks/>
              <a:stCxn id="66" idx="2"/>
            </p:cNvCxnSpPr>
            <p:nvPr/>
          </p:nvCxnSpPr>
          <p:spPr>
            <a:xfrm>
              <a:off x="6221704" y="-2016995"/>
              <a:ext cx="0" cy="737525"/>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72" name="Group 71">
            <a:extLst>
              <a:ext uri="{FF2B5EF4-FFF2-40B4-BE49-F238E27FC236}">
                <a16:creationId xmlns:a16="http://schemas.microsoft.com/office/drawing/2014/main" id="{058BDE7A-C698-3846-D144-67869FFA55DA}"/>
              </a:ext>
            </a:extLst>
          </p:cNvPr>
          <p:cNvGrpSpPr/>
          <p:nvPr/>
        </p:nvGrpSpPr>
        <p:grpSpPr>
          <a:xfrm>
            <a:off x="8150358" y="2279047"/>
            <a:ext cx="771447" cy="1292662"/>
            <a:chOff x="5911229" y="747058"/>
            <a:chExt cx="771447" cy="1292662"/>
          </a:xfrm>
        </p:grpSpPr>
        <p:sp>
          <p:nvSpPr>
            <p:cNvPr id="73" name="TextBox 72">
              <a:extLst>
                <a:ext uri="{FF2B5EF4-FFF2-40B4-BE49-F238E27FC236}">
                  <a16:creationId xmlns:a16="http://schemas.microsoft.com/office/drawing/2014/main" id="{DC91F377-0C8C-D00B-91DA-A493D8397CF8}"/>
                </a:ext>
              </a:extLst>
            </p:cNvPr>
            <p:cNvSpPr txBox="1"/>
            <p:nvPr/>
          </p:nvSpPr>
          <p:spPr>
            <a:xfrm>
              <a:off x="5911229" y="747058"/>
              <a:ext cx="771447" cy="646331"/>
            </a:xfrm>
            <a:prstGeom prst="rect">
              <a:avLst/>
            </a:prstGeom>
            <a:solidFill>
              <a:srgbClr val="0070C0"/>
            </a:solidFill>
          </p:spPr>
          <p:txBody>
            <a:bodyPr wrap="square" rtlCol="0">
              <a:spAutoFit/>
            </a:bodyPr>
            <a:lstStyle/>
            <a:p>
              <a:pPr algn="ctr"/>
              <a:r>
                <a:rPr lang="en-US" b="1" dirty="0">
                  <a:solidFill>
                    <a:schemeClr val="bg1"/>
                  </a:solidFill>
                </a:rPr>
                <a:t>Hex Head</a:t>
              </a:r>
            </a:p>
          </p:txBody>
        </p:sp>
        <p:cxnSp>
          <p:nvCxnSpPr>
            <p:cNvPr id="74" name="Straight Arrow Connector 73">
              <a:extLst>
                <a:ext uri="{FF2B5EF4-FFF2-40B4-BE49-F238E27FC236}">
                  <a16:creationId xmlns:a16="http://schemas.microsoft.com/office/drawing/2014/main" id="{224DE26B-4E16-F062-FEE5-20220B10D9EF}"/>
                </a:ext>
              </a:extLst>
            </p:cNvPr>
            <p:cNvCxnSpPr>
              <a:cxnSpLocks/>
              <a:stCxn id="73" idx="2"/>
            </p:cNvCxnSpPr>
            <p:nvPr/>
          </p:nvCxnSpPr>
          <p:spPr>
            <a:xfrm flipH="1">
              <a:off x="6291245" y="1393389"/>
              <a:ext cx="5708" cy="646331"/>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77" name="Group 76">
            <a:extLst>
              <a:ext uri="{FF2B5EF4-FFF2-40B4-BE49-F238E27FC236}">
                <a16:creationId xmlns:a16="http://schemas.microsoft.com/office/drawing/2014/main" id="{F2750718-993C-89F4-3F0A-CCA200386F94}"/>
              </a:ext>
            </a:extLst>
          </p:cNvPr>
          <p:cNvGrpSpPr/>
          <p:nvPr/>
        </p:nvGrpSpPr>
        <p:grpSpPr>
          <a:xfrm>
            <a:off x="8964468" y="2279047"/>
            <a:ext cx="894757" cy="1292828"/>
            <a:chOff x="5815362" y="-2668691"/>
            <a:chExt cx="894757" cy="1292828"/>
          </a:xfrm>
        </p:grpSpPr>
        <p:sp>
          <p:nvSpPr>
            <p:cNvPr id="78" name="TextBox 77">
              <a:extLst>
                <a:ext uri="{FF2B5EF4-FFF2-40B4-BE49-F238E27FC236}">
                  <a16:creationId xmlns:a16="http://schemas.microsoft.com/office/drawing/2014/main" id="{2D925C6D-4EDF-C23B-4432-6EC91D1CBFEE}"/>
                </a:ext>
              </a:extLst>
            </p:cNvPr>
            <p:cNvSpPr txBox="1"/>
            <p:nvPr/>
          </p:nvSpPr>
          <p:spPr>
            <a:xfrm>
              <a:off x="5815362" y="-2668691"/>
              <a:ext cx="894757" cy="646331"/>
            </a:xfrm>
            <a:prstGeom prst="rect">
              <a:avLst/>
            </a:prstGeom>
            <a:solidFill>
              <a:srgbClr val="0070C0"/>
            </a:solidFill>
          </p:spPr>
          <p:txBody>
            <a:bodyPr wrap="square" rtlCol="0">
              <a:spAutoFit/>
            </a:bodyPr>
            <a:lstStyle/>
            <a:p>
              <a:pPr algn="ctr"/>
              <a:r>
                <a:rPr lang="en-US" b="1" dirty="0">
                  <a:solidFill>
                    <a:schemeClr val="bg1"/>
                  </a:solidFill>
                </a:rPr>
                <a:t>Drilled Head</a:t>
              </a:r>
            </a:p>
          </p:txBody>
        </p:sp>
        <p:cxnSp>
          <p:nvCxnSpPr>
            <p:cNvPr id="79" name="Straight Arrow Connector 78">
              <a:extLst>
                <a:ext uri="{FF2B5EF4-FFF2-40B4-BE49-F238E27FC236}">
                  <a16:creationId xmlns:a16="http://schemas.microsoft.com/office/drawing/2014/main" id="{29C341EF-44FE-400A-D251-20DF93A4FF65}"/>
                </a:ext>
              </a:extLst>
            </p:cNvPr>
            <p:cNvCxnSpPr>
              <a:cxnSpLocks/>
              <a:stCxn id="78" idx="2"/>
            </p:cNvCxnSpPr>
            <p:nvPr/>
          </p:nvCxnSpPr>
          <p:spPr>
            <a:xfrm>
              <a:off x="6262741" y="-2022360"/>
              <a:ext cx="0" cy="646497"/>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82" name="Group 81">
            <a:extLst>
              <a:ext uri="{FF2B5EF4-FFF2-40B4-BE49-F238E27FC236}">
                <a16:creationId xmlns:a16="http://schemas.microsoft.com/office/drawing/2014/main" id="{685FC65F-3D5C-01D9-5CF8-5E71581D3182}"/>
              </a:ext>
            </a:extLst>
          </p:cNvPr>
          <p:cNvGrpSpPr/>
          <p:nvPr/>
        </p:nvGrpSpPr>
        <p:grpSpPr>
          <a:xfrm>
            <a:off x="9893402" y="2554733"/>
            <a:ext cx="1016533" cy="924313"/>
            <a:chOff x="5851438" y="-2710982"/>
            <a:chExt cx="1016533" cy="924313"/>
          </a:xfrm>
        </p:grpSpPr>
        <p:sp>
          <p:nvSpPr>
            <p:cNvPr id="83" name="TextBox 82">
              <a:extLst>
                <a:ext uri="{FF2B5EF4-FFF2-40B4-BE49-F238E27FC236}">
                  <a16:creationId xmlns:a16="http://schemas.microsoft.com/office/drawing/2014/main" id="{BEFE4121-33F6-ECAE-5D63-2661FA685A95}"/>
                </a:ext>
              </a:extLst>
            </p:cNvPr>
            <p:cNvSpPr txBox="1"/>
            <p:nvPr/>
          </p:nvSpPr>
          <p:spPr>
            <a:xfrm>
              <a:off x="5851438" y="-2710982"/>
              <a:ext cx="1016533" cy="369332"/>
            </a:xfrm>
            <a:prstGeom prst="rect">
              <a:avLst/>
            </a:prstGeom>
            <a:solidFill>
              <a:srgbClr val="0070C0"/>
            </a:solidFill>
          </p:spPr>
          <p:txBody>
            <a:bodyPr wrap="square" rtlCol="0">
              <a:spAutoFit/>
            </a:bodyPr>
            <a:lstStyle/>
            <a:p>
              <a:pPr algn="ctr"/>
              <a:r>
                <a:rPr lang="en-US" b="1" dirty="0">
                  <a:solidFill>
                    <a:schemeClr val="bg1"/>
                  </a:solidFill>
                </a:rPr>
                <a:t>Eyebolt</a:t>
              </a:r>
            </a:p>
          </p:txBody>
        </p:sp>
        <p:cxnSp>
          <p:nvCxnSpPr>
            <p:cNvPr id="84" name="Straight Arrow Connector 83">
              <a:extLst>
                <a:ext uri="{FF2B5EF4-FFF2-40B4-BE49-F238E27FC236}">
                  <a16:creationId xmlns:a16="http://schemas.microsoft.com/office/drawing/2014/main" id="{7061112E-312D-1005-0738-228F8D8C491C}"/>
                </a:ext>
              </a:extLst>
            </p:cNvPr>
            <p:cNvCxnSpPr>
              <a:cxnSpLocks/>
              <a:stCxn id="83" idx="2"/>
            </p:cNvCxnSpPr>
            <p:nvPr/>
          </p:nvCxnSpPr>
          <p:spPr>
            <a:xfrm>
              <a:off x="6359705" y="-2341650"/>
              <a:ext cx="0" cy="554981"/>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sp>
        <p:nvSpPr>
          <p:cNvPr id="87" name="Content Placeholder 2">
            <a:extLst>
              <a:ext uri="{FF2B5EF4-FFF2-40B4-BE49-F238E27FC236}">
                <a16:creationId xmlns:a16="http://schemas.microsoft.com/office/drawing/2014/main" id="{C0EA0568-8E70-7B82-F0D4-ADE54E024123}"/>
              </a:ext>
            </a:extLst>
          </p:cNvPr>
          <p:cNvSpPr txBox="1">
            <a:spLocks/>
          </p:cNvSpPr>
          <p:nvPr/>
        </p:nvSpPr>
        <p:spPr>
          <a:xfrm>
            <a:off x="6725498" y="1727973"/>
            <a:ext cx="3670658" cy="514597"/>
          </a:xfrm>
          <a:prstGeom prst="rect">
            <a:avLst/>
          </a:prstGeom>
          <a:extLst>
            <a:ext uri="{909E8E84-426E-40DD-AFC4-6F175D3DCCD1}">
              <a14:hiddenFill xmlns:a14="http://schemas.microsoft.com/office/drawing/2010/main">
                <a:solidFill>
                  <a:srgbClr val="FFFFFF"/>
                </a:solidFill>
              </a14:hiddenFill>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002060"/>
                </a:solidFill>
              </a:rPr>
              <a:t>Types:</a:t>
            </a:r>
          </a:p>
        </p:txBody>
      </p:sp>
      <p:sp>
        <p:nvSpPr>
          <p:cNvPr id="25" name="Freeform: Shape 24">
            <a:extLst>
              <a:ext uri="{FF2B5EF4-FFF2-40B4-BE49-F238E27FC236}">
                <a16:creationId xmlns:a16="http://schemas.microsoft.com/office/drawing/2014/main" id="{E205F4DD-F7A9-56E1-1BA2-EAE2CE8B26C3}"/>
              </a:ext>
            </a:extLst>
          </p:cNvPr>
          <p:cNvSpPr/>
          <p:nvPr/>
        </p:nvSpPr>
        <p:spPr>
          <a:xfrm>
            <a:off x="1202076" y="2182883"/>
            <a:ext cx="4700695" cy="1484991"/>
          </a:xfrm>
          <a:custGeom>
            <a:avLst/>
            <a:gdLst>
              <a:gd name="csX0" fmla="*/ 4171308 w 4181582"/>
              <a:gd name="csY0" fmla="*/ 1130158 h 1489753"/>
              <a:gd name="csX1" fmla="*/ 4181582 w 4181582"/>
              <a:gd name="csY1" fmla="*/ 0 h 1489753"/>
              <a:gd name="csX2" fmla="*/ 20549 w 4181582"/>
              <a:gd name="csY2" fmla="*/ 10275 h 1489753"/>
              <a:gd name="csX3" fmla="*/ 0 w 4181582"/>
              <a:gd name="csY3" fmla="*/ 1489753 h 1489753"/>
              <a:gd name="csX4" fmla="*/ 452063 w 4181582"/>
              <a:gd name="csY4" fmla="*/ 1489753 h 1489753"/>
              <a:gd name="csX0" fmla="*/ 4171308 w 4181582"/>
              <a:gd name="csY0" fmla="*/ 1130158 h 1489753"/>
              <a:gd name="csX1" fmla="*/ 4181582 w 4181582"/>
              <a:gd name="csY1" fmla="*/ 0 h 1489753"/>
              <a:gd name="csX2" fmla="*/ 6261 w 4181582"/>
              <a:gd name="csY2" fmla="*/ 15037 h 1489753"/>
              <a:gd name="csX3" fmla="*/ 0 w 4181582"/>
              <a:gd name="csY3" fmla="*/ 1489753 h 1489753"/>
              <a:gd name="csX4" fmla="*/ 452063 w 4181582"/>
              <a:gd name="csY4" fmla="*/ 1489753 h 1489753"/>
              <a:gd name="csX0" fmla="*/ 4676133 w 4676150"/>
              <a:gd name="csY0" fmla="*/ 1296846 h 1489753"/>
              <a:gd name="csX1" fmla="*/ 4181582 w 4676150"/>
              <a:gd name="csY1" fmla="*/ 0 h 1489753"/>
              <a:gd name="csX2" fmla="*/ 6261 w 4676150"/>
              <a:gd name="csY2" fmla="*/ 15037 h 1489753"/>
              <a:gd name="csX3" fmla="*/ 0 w 4676150"/>
              <a:gd name="csY3" fmla="*/ 1489753 h 1489753"/>
              <a:gd name="csX4" fmla="*/ 452063 w 4676150"/>
              <a:gd name="csY4" fmla="*/ 1489753 h 1489753"/>
              <a:gd name="csX0" fmla="*/ 4676133 w 4700695"/>
              <a:gd name="csY0" fmla="*/ 1292084 h 1484991"/>
              <a:gd name="csX1" fmla="*/ 4700695 w 4700695"/>
              <a:gd name="csY1" fmla="*/ 0 h 1484991"/>
              <a:gd name="csX2" fmla="*/ 6261 w 4700695"/>
              <a:gd name="csY2" fmla="*/ 10275 h 1484991"/>
              <a:gd name="csX3" fmla="*/ 0 w 4700695"/>
              <a:gd name="csY3" fmla="*/ 1484991 h 1484991"/>
              <a:gd name="csX4" fmla="*/ 452063 w 4700695"/>
              <a:gd name="csY4" fmla="*/ 1484991 h 1484991"/>
              <a:gd name="csX0" fmla="*/ 4676133 w 5039279"/>
              <a:gd name="csY0" fmla="*/ 1292084 h 1484991"/>
              <a:gd name="csX1" fmla="*/ 4670087 w 5039279"/>
              <a:gd name="csY1" fmla="*/ 1217542 h 1484991"/>
              <a:gd name="csX2" fmla="*/ 4700695 w 5039279"/>
              <a:gd name="csY2" fmla="*/ 0 h 1484991"/>
              <a:gd name="csX3" fmla="*/ 6261 w 5039279"/>
              <a:gd name="csY3" fmla="*/ 10275 h 1484991"/>
              <a:gd name="csX4" fmla="*/ 0 w 5039279"/>
              <a:gd name="csY4" fmla="*/ 1484991 h 1484991"/>
              <a:gd name="csX5" fmla="*/ 452063 w 5039279"/>
              <a:gd name="csY5" fmla="*/ 1484991 h 1484991"/>
              <a:gd name="csX0" fmla="*/ 4523733 w 5039279"/>
              <a:gd name="csY0" fmla="*/ 1292084 h 1484991"/>
              <a:gd name="csX1" fmla="*/ 4670087 w 5039279"/>
              <a:gd name="csY1" fmla="*/ 1217542 h 1484991"/>
              <a:gd name="csX2" fmla="*/ 4700695 w 5039279"/>
              <a:gd name="csY2" fmla="*/ 0 h 1484991"/>
              <a:gd name="csX3" fmla="*/ 6261 w 5039279"/>
              <a:gd name="csY3" fmla="*/ 10275 h 1484991"/>
              <a:gd name="csX4" fmla="*/ 0 w 5039279"/>
              <a:gd name="csY4" fmla="*/ 1484991 h 1484991"/>
              <a:gd name="csX5" fmla="*/ 452063 w 5039279"/>
              <a:gd name="csY5" fmla="*/ 1484991 h 1484991"/>
              <a:gd name="csX0" fmla="*/ 4523733 w 5039279"/>
              <a:gd name="csY0" fmla="*/ 1292084 h 1484991"/>
              <a:gd name="csX1" fmla="*/ 4670087 w 5039279"/>
              <a:gd name="csY1" fmla="*/ 1217542 h 1484991"/>
              <a:gd name="csX2" fmla="*/ 4700695 w 5039279"/>
              <a:gd name="csY2" fmla="*/ 0 h 1484991"/>
              <a:gd name="csX3" fmla="*/ 6261 w 5039279"/>
              <a:gd name="csY3" fmla="*/ 10275 h 1484991"/>
              <a:gd name="csX4" fmla="*/ 0 w 5039279"/>
              <a:gd name="csY4" fmla="*/ 1484991 h 1484991"/>
              <a:gd name="csX5" fmla="*/ 452063 w 5039279"/>
              <a:gd name="csY5" fmla="*/ 1484991 h 1484991"/>
              <a:gd name="csX0" fmla="*/ 4523733 w 4700695"/>
              <a:gd name="csY0" fmla="*/ 1292084 h 1484991"/>
              <a:gd name="csX1" fmla="*/ 4670087 w 4700695"/>
              <a:gd name="csY1" fmla="*/ 1217542 h 1484991"/>
              <a:gd name="csX2" fmla="*/ 4700695 w 4700695"/>
              <a:gd name="csY2" fmla="*/ 0 h 1484991"/>
              <a:gd name="csX3" fmla="*/ 6261 w 4700695"/>
              <a:gd name="csY3" fmla="*/ 10275 h 1484991"/>
              <a:gd name="csX4" fmla="*/ 0 w 4700695"/>
              <a:gd name="csY4" fmla="*/ 1484991 h 1484991"/>
              <a:gd name="csX5" fmla="*/ 452063 w 4700695"/>
              <a:gd name="csY5" fmla="*/ 1484991 h 1484991"/>
              <a:gd name="csX0" fmla="*/ 4523733 w 4700695"/>
              <a:gd name="csY0" fmla="*/ 1292084 h 1484991"/>
              <a:gd name="csX1" fmla="*/ 4674850 w 4700695"/>
              <a:gd name="csY1" fmla="*/ 1284217 h 1484991"/>
              <a:gd name="csX2" fmla="*/ 4700695 w 4700695"/>
              <a:gd name="csY2" fmla="*/ 0 h 1484991"/>
              <a:gd name="csX3" fmla="*/ 6261 w 4700695"/>
              <a:gd name="csY3" fmla="*/ 10275 h 1484991"/>
              <a:gd name="csX4" fmla="*/ 0 w 4700695"/>
              <a:gd name="csY4" fmla="*/ 1484991 h 1484991"/>
              <a:gd name="csX5" fmla="*/ 452063 w 4700695"/>
              <a:gd name="csY5" fmla="*/ 1484991 h 1484991"/>
              <a:gd name="csX0" fmla="*/ 4523733 w 4700695"/>
              <a:gd name="csY0" fmla="*/ 1292084 h 1484991"/>
              <a:gd name="csX1" fmla="*/ 4693900 w 4700695"/>
              <a:gd name="csY1" fmla="*/ 1284217 h 1484991"/>
              <a:gd name="csX2" fmla="*/ 4700695 w 4700695"/>
              <a:gd name="csY2" fmla="*/ 0 h 1484991"/>
              <a:gd name="csX3" fmla="*/ 6261 w 4700695"/>
              <a:gd name="csY3" fmla="*/ 10275 h 1484991"/>
              <a:gd name="csX4" fmla="*/ 0 w 4700695"/>
              <a:gd name="csY4" fmla="*/ 1484991 h 1484991"/>
              <a:gd name="csX5" fmla="*/ 452063 w 4700695"/>
              <a:gd name="csY5" fmla="*/ 1484991 h 1484991"/>
              <a:gd name="csX0" fmla="*/ 4523733 w 4700695"/>
              <a:gd name="csY0" fmla="*/ 1292084 h 1484991"/>
              <a:gd name="csX1" fmla="*/ 4693900 w 4700695"/>
              <a:gd name="csY1" fmla="*/ 1298505 h 1484991"/>
              <a:gd name="csX2" fmla="*/ 4700695 w 4700695"/>
              <a:gd name="csY2" fmla="*/ 0 h 1484991"/>
              <a:gd name="csX3" fmla="*/ 6261 w 4700695"/>
              <a:gd name="csY3" fmla="*/ 10275 h 1484991"/>
              <a:gd name="csX4" fmla="*/ 0 w 4700695"/>
              <a:gd name="csY4" fmla="*/ 1484991 h 1484991"/>
              <a:gd name="csX5" fmla="*/ 452063 w 4700695"/>
              <a:gd name="csY5" fmla="*/ 1484991 h 1484991"/>
              <a:gd name="csX0" fmla="*/ 4523733 w 4700695"/>
              <a:gd name="csY0" fmla="*/ 1292084 h 1484991"/>
              <a:gd name="csX1" fmla="*/ 4679613 w 4700695"/>
              <a:gd name="csY1" fmla="*/ 1298505 h 1484991"/>
              <a:gd name="csX2" fmla="*/ 4700695 w 4700695"/>
              <a:gd name="csY2" fmla="*/ 0 h 1484991"/>
              <a:gd name="csX3" fmla="*/ 6261 w 4700695"/>
              <a:gd name="csY3" fmla="*/ 10275 h 1484991"/>
              <a:gd name="csX4" fmla="*/ 0 w 4700695"/>
              <a:gd name="csY4" fmla="*/ 1484991 h 1484991"/>
              <a:gd name="csX5" fmla="*/ 452063 w 4700695"/>
              <a:gd name="csY5" fmla="*/ 1484991 h 1484991"/>
              <a:gd name="csX0" fmla="*/ 4523733 w 4700695"/>
              <a:gd name="csY0" fmla="*/ 1292084 h 1484991"/>
              <a:gd name="csX1" fmla="*/ 4693900 w 4700695"/>
              <a:gd name="csY1" fmla="*/ 1298505 h 1484991"/>
              <a:gd name="csX2" fmla="*/ 4700695 w 4700695"/>
              <a:gd name="csY2" fmla="*/ 0 h 1484991"/>
              <a:gd name="csX3" fmla="*/ 6261 w 4700695"/>
              <a:gd name="csY3" fmla="*/ 10275 h 1484991"/>
              <a:gd name="csX4" fmla="*/ 0 w 4700695"/>
              <a:gd name="csY4" fmla="*/ 1484991 h 1484991"/>
              <a:gd name="csX5" fmla="*/ 452063 w 4700695"/>
              <a:gd name="csY5" fmla="*/ 1484991 h 1484991"/>
            </a:gdLst>
            <a:ahLst/>
            <a:cxnLst>
              <a:cxn ang="0">
                <a:pos x="csX0" y="csY0"/>
              </a:cxn>
              <a:cxn ang="0">
                <a:pos x="csX1" y="csY1"/>
              </a:cxn>
              <a:cxn ang="0">
                <a:pos x="csX2" y="csY2"/>
              </a:cxn>
              <a:cxn ang="0">
                <a:pos x="csX3" y="csY3"/>
              </a:cxn>
              <a:cxn ang="0">
                <a:pos x="csX4" y="csY4"/>
              </a:cxn>
              <a:cxn ang="0">
                <a:pos x="csX5" y="csY5"/>
              </a:cxn>
            </a:cxnLst>
            <a:rect l="l" t="t" r="r" b="b"/>
            <a:pathLst>
              <a:path w="4700695" h="1484991">
                <a:moveTo>
                  <a:pt x="4523733" y="1292084"/>
                </a:moveTo>
                <a:lnTo>
                  <a:pt x="4693900" y="1298505"/>
                </a:lnTo>
                <a:lnTo>
                  <a:pt x="4700695" y="0"/>
                </a:lnTo>
                <a:lnTo>
                  <a:pt x="6261" y="10275"/>
                </a:lnTo>
                <a:lnTo>
                  <a:pt x="0" y="1484991"/>
                </a:lnTo>
                <a:lnTo>
                  <a:pt x="452063" y="1484991"/>
                </a:lnTo>
              </a:path>
            </a:pathLst>
          </a:custGeom>
          <a:noFill/>
          <a:ln w="9525">
            <a:solidFill>
              <a:srgbClr val="C00000"/>
            </a:solidFill>
            <a:prstDash val="sysDash"/>
            <a:head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63461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7">
                                            <p:txEl>
                                              <p:pRg st="0" end="0"/>
                                            </p:txEl>
                                          </p:spTgt>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nodeType="afterEffect">
                                  <p:stCondLst>
                                    <p:cond delay="0"/>
                                  </p:stCondLst>
                                  <p:childTnLst>
                                    <p:set>
                                      <p:cBhvr>
                                        <p:cTn id="35" dur="1" fill="hold">
                                          <p:stCondLst>
                                            <p:cond delay="0"/>
                                          </p:stCondLst>
                                        </p:cTn>
                                        <p:tgtEl>
                                          <p:spTgt spid="65"/>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7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77"/>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79BAA195-B998-8711-881F-ABF15DC3955C}"/>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32C91269-66B1-F0EE-655A-76EAF85881B7}"/>
              </a:ext>
            </a:extLst>
          </p:cNvPr>
          <p:cNvGrpSpPr/>
          <p:nvPr/>
        </p:nvGrpSpPr>
        <p:grpSpPr>
          <a:xfrm>
            <a:off x="2081728" y="2725718"/>
            <a:ext cx="884904" cy="3138762"/>
            <a:chOff x="2844211" y="2641748"/>
            <a:chExt cx="884904" cy="3138762"/>
          </a:xfrm>
        </p:grpSpPr>
        <p:pic>
          <p:nvPicPr>
            <p:cNvPr id="5" name="Picture 4">
              <a:extLst>
                <a:ext uri="{FF2B5EF4-FFF2-40B4-BE49-F238E27FC236}">
                  <a16:creationId xmlns:a16="http://schemas.microsoft.com/office/drawing/2014/main" id="{A9E93477-F0A2-16C9-F6BD-E457C4F8B910}"/>
                </a:ext>
              </a:extLst>
            </p:cNvPr>
            <p:cNvPicPr>
              <a:picLocks noChangeAspect="1"/>
            </p:cNvPicPr>
            <p:nvPr/>
          </p:nvPicPr>
          <p:blipFill>
            <a:blip r:embed="rId3"/>
            <a:stretch>
              <a:fillRect/>
            </a:stretch>
          </p:blipFill>
          <p:spPr>
            <a:xfrm>
              <a:off x="2844211" y="2641748"/>
              <a:ext cx="884904" cy="3138762"/>
            </a:xfrm>
            <a:prstGeom prst="rect">
              <a:avLst/>
            </a:prstGeom>
          </p:spPr>
        </p:pic>
        <p:sp>
          <p:nvSpPr>
            <p:cNvPr id="3" name="TextBox 2">
              <a:hlinkClick r:id="rId4"/>
              <a:extLst>
                <a:ext uri="{FF2B5EF4-FFF2-40B4-BE49-F238E27FC236}">
                  <a16:creationId xmlns:a16="http://schemas.microsoft.com/office/drawing/2014/main" id="{9412DB7E-D5E2-8D67-8387-2E38C67D6508}"/>
                </a:ext>
              </a:extLst>
            </p:cNvPr>
            <p:cNvSpPr txBox="1"/>
            <p:nvPr/>
          </p:nvSpPr>
          <p:spPr>
            <a:xfrm rot="16200000">
              <a:off x="2663604" y="4592699"/>
              <a:ext cx="1617650" cy="229413"/>
            </a:xfrm>
            <a:prstGeom prst="rect">
              <a:avLst/>
            </a:prstGeom>
            <a:noFill/>
          </p:spPr>
          <p:txBody>
            <a:bodyPr wrap="square" rtlCol="0">
              <a:spAutoFit/>
            </a:bodyPr>
            <a:lstStyle/>
            <a:p>
              <a:pPr algn="r"/>
              <a:r>
                <a:rPr lang="en-US" sz="900" dirty="0"/>
                <a:t>(Ad) Fisheries Supply, 2026</a:t>
              </a:r>
            </a:p>
          </p:txBody>
        </p:sp>
      </p:grpSp>
      <p:sp>
        <p:nvSpPr>
          <p:cNvPr id="2" name="Title 1">
            <a:extLst>
              <a:ext uri="{FF2B5EF4-FFF2-40B4-BE49-F238E27FC236}">
                <a16:creationId xmlns:a16="http://schemas.microsoft.com/office/drawing/2014/main" id="{E5171495-8F9C-95EC-8FD9-79D65E279A0F}"/>
              </a:ext>
            </a:extLst>
          </p:cNvPr>
          <p:cNvSpPr>
            <a:spLocks noGrp="1"/>
          </p:cNvSpPr>
          <p:nvPr>
            <p:ph type="title"/>
          </p:nvPr>
        </p:nvSpPr>
        <p:spPr>
          <a:xfrm>
            <a:off x="365760" y="365125"/>
            <a:ext cx="4319427" cy="877824"/>
          </a:xfrm>
        </p:spPr>
        <p:txBody>
          <a:bodyPr/>
          <a:lstStyle/>
          <a:p>
            <a:r>
              <a:rPr lang="en-US" dirty="0"/>
              <a:t>Rivets</a:t>
            </a:r>
            <a:endParaRPr lang="en-US" dirty="0">
              <a:solidFill>
                <a:schemeClr val="bg1">
                  <a:lumMod val="65000"/>
                </a:schemeClr>
              </a:solidFill>
            </a:endParaRPr>
          </a:p>
        </p:txBody>
      </p:sp>
      <p:sp>
        <p:nvSpPr>
          <p:cNvPr id="6" name="Content Placeholder 2">
            <a:extLst>
              <a:ext uri="{FF2B5EF4-FFF2-40B4-BE49-F238E27FC236}">
                <a16:creationId xmlns:a16="http://schemas.microsoft.com/office/drawing/2014/main" id="{307436F3-D823-4CC0-281B-76937C2F5F57}"/>
              </a:ext>
            </a:extLst>
          </p:cNvPr>
          <p:cNvSpPr>
            <a:spLocks noGrp="1"/>
          </p:cNvSpPr>
          <p:nvPr>
            <p:ph idx="1"/>
          </p:nvPr>
        </p:nvSpPr>
        <p:spPr>
          <a:xfrm>
            <a:off x="640298" y="1309600"/>
            <a:ext cx="4688396" cy="1253302"/>
          </a:xfrm>
          <a:extLst>
            <a:ext uri="{909E8E84-426E-40DD-AFC4-6F175D3DCCD1}">
              <a14:hiddenFill xmlns:a14="http://schemas.microsoft.com/office/drawing/2010/main">
                <a:solidFill>
                  <a:srgbClr val="FFFFFF"/>
                </a:solidFill>
              </a14:hiddenFill>
            </a:ext>
          </a:extLst>
        </p:spPr>
        <p:txBody>
          <a:bodyPr>
            <a:normAutofit/>
          </a:bodyPr>
          <a:lstStyle/>
          <a:p>
            <a:r>
              <a:rPr lang="en-US" dirty="0"/>
              <a:t>Lighter than a bolt</a:t>
            </a:r>
          </a:p>
          <a:p>
            <a:r>
              <a:rPr lang="en-US" dirty="0"/>
              <a:t>Permanent</a:t>
            </a:r>
          </a:p>
        </p:txBody>
      </p:sp>
      <p:grpSp>
        <p:nvGrpSpPr>
          <p:cNvPr id="8" name="Group 7">
            <a:extLst>
              <a:ext uri="{FF2B5EF4-FFF2-40B4-BE49-F238E27FC236}">
                <a16:creationId xmlns:a16="http://schemas.microsoft.com/office/drawing/2014/main" id="{4B0A7FD9-3C8F-47D1-EC3B-14E1AA27B428}"/>
              </a:ext>
            </a:extLst>
          </p:cNvPr>
          <p:cNvGrpSpPr/>
          <p:nvPr/>
        </p:nvGrpSpPr>
        <p:grpSpPr>
          <a:xfrm>
            <a:off x="894047" y="3325246"/>
            <a:ext cx="1524820" cy="369332"/>
            <a:chOff x="6091411" y="-520618"/>
            <a:chExt cx="1524820" cy="369332"/>
          </a:xfrm>
        </p:grpSpPr>
        <p:sp>
          <p:nvSpPr>
            <p:cNvPr id="9" name="TextBox 8">
              <a:extLst>
                <a:ext uri="{FF2B5EF4-FFF2-40B4-BE49-F238E27FC236}">
                  <a16:creationId xmlns:a16="http://schemas.microsoft.com/office/drawing/2014/main" id="{AD2A3EE3-52C2-4F55-06C2-619A139608C7}"/>
                </a:ext>
              </a:extLst>
            </p:cNvPr>
            <p:cNvSpPr txBox="1"/>
            <p:nvPr/>
          </p:nvSpPr>
          <p:spPr>
            <a:xfrm>
              <a:off x="6091411" y="-520618"/>
              <a:ext cx="896656" cy="369332"/>
            </a:xfrm>
            <a:prstGeom prst="rect">
              <a:avLst/>
            </a:prstGeom>
            <a:solidFill>
              <a:srgbClr val="0070C0"/>
            </a:solidFill>
          </p:spPr>
          <p:txBody>
            <a:bodyPr wrap="square" rtlCol="0">
              <a:spAutoFit/>
            </a:bodyPr>
            <a:lstStyle/>
            <a:p>
              <a:r>
                <a:rPr lang="en-US" b="1" dirty="0">
                  <a:solidFill>
                    <a:schemeClr val="bg1"/>
                  </a:solidFill>
                </a:rPr>
                <a:t>Body</a:t>
              </a:r>
            </a:p>
          </p:txBody>
        </p:sp>
        <p:cxnSp>
          <p:nvCxnSpPr>
            <p:cNvPr id="10" name="Straight Arrow Connector 9">
              <a:extLst>
                <a:ext uri="{FF2B5EF4-FFF2-40B4-BE49-F238E27FC236}">
                  <a16:creationId xmlns:a16="http://schemas.microsoft.com/office/drawing/2014/main" id="{47B32AF8-C239-1833-55B8-3122A34C2C63}"/>
                </a:ext>
              </a:extLst>
            </p:cNvPr>
            <p:cNvCxnSpPr>
              <a:cxnSpLocks/>
              <a:stCxn id="9" idx="3"/>
            </p:cNvCxnSpPr>
            <p:nvPr/>
          </p:nvCxnSpPr>
          <p:spPr>
            <a:xfrm>
              <a:off x="6988067" y="-335952"/>
              <a:ext cx="628164" cy="0"/>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83F40766-735D-E1BC-13AA-4FE5D9E830F9}"/>
              </a:ext>
            </a:extLst>
          </p:cNvPr>
          <p:cNvGrpSpPr/>
          <p:nvPr/>
        </p:nvGrpSpPr>
        <p:grpSpPr>
          <a:xfrm>
            <a:off x="595113" y="2863582"/>
            <a:ext cx="1823754" cy="369332"/>
            <a:chOff x="5798316" y="-247724"/>
            <a:chExt cx="1823754" cy="369332"/>
          </a:xfrm>
        </p:grpSpPr>
        <p:sp>
          <p:nvSpPr>
            <p:cNvPr id="16" name="TextBox 15">
              <a:extLst>
                <a:ext uri="{FF2B5EF4-FFF2-40B4-BE49-F238E27FC236}">
                  <a16:creationId xmlns:a16="http://schemas.microsoft.com/office/drawing/2014/main" id="{3DC8A8C7-85E4-05CF-B638-05D0DCD2BBFE}"/>
                </a:ext>
              </a:extLst>
            </p:cNvPr>
            <p:cNvSpPr txBox="1"/>
            <p:nvPr/>
          </p:nvSpPr>
          <p:spPr>
            <a:xfrm>
              <a:off x="5798316" y="-247724"/>
              <a:ext cx="1195590" cy="369332"/>
            </a:xfrm>
            <a:prstGeom prst="rect">
              <a:avLst/>
            </a:prstGeom>
            <a:solidFill>
              <a:srgbClr val="0070C0"/>
            </a:solidFill>
          </p:spPr>
          <p:txBody>
            <a:bodyPr wrap="square" rtlCol="0">
              <a:spAutoFit/>
            </a:bodyPr>
            <a:lstStyle/>
            <a:p>
              <a:r>
                <a:rPr lang="en-US" b="1" dirty="0">
                  <a:solidFill>
                    <a:schemeClr val="bg1"/>
                  </a:solidFill>
                </a:rPr>
                <a:t>Pin Head</a:t>
              </a:r>
            </a:p>
          </p:txBody>
        </p:sp>
        <p:cxnSp>
          <p:nvCxnSpPr>
            <p:cNvPr id="17" name="Straight Arrow Connector 16">
              <a:extLst>
                <a:ext uri="{FF2B5EF4-FFF2-40B4-BE49-F238E27FC236}">
                  <a16:creationId xmlns:a16="http://schemas.microsoft.com/office/drawing/2014/main" id="{FCD78099-2FB6-43CC-0818-68A1E1358B13}"/>
                </a:ext>
              </a:extLst>
            </p:cNvPr>
            <p:cNvCxnSpPr>
              <a:cxnSpLocks/>
              <a:stCxn id="16" idx="3"/>
            </p:cNvCxnSpPr>
            <p:nvPr/>
          </p:nvCxnSpPr>
          <p:spPr>
            <a:xfrm>
              <a:off x="6993906" y="-63058"/>
              <a:ext cx="628164" cy="0"/>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22" name="Group 21">
            <a:extLst>
              <a:ext uri="{FF2B5EF4-FFF2-40B4-BE49-F238E27FC236}">
                <a16:creationId xmlns:a16="http://schemas.microsoft.com/office/drawing/2014/main" id="{F10C9FD6-6DDC-7FE5-4CE0-031D609B23F7}"/>
              </a:ext>
            </a:extLst>
          </p:cNvPr>
          <p:cNvGrpSpPr/>
          <p:nvPr/>
        </p:nvGrpSpPr>
        <p:grpSpPr>
          <a:xfrm>
            <a:off x="214802" y="3781768"/>
            <a:ext cx="2023782" cy="369332"/>
            <a:chOff x="5412166" y="-520867"/>
            <a:chExt cx="2023782" cy="369332"/>
          </a:xfrm>
        </p:grpSpPr>
        <p:sp>
          <p:nvSpPr>
            <p:cNvPr id="23" name="TextBox 22">
              <a:extLst>
                <a:ext uri="{FF2B5EF4-FFF2-40B4-BE49-F238E27FC236}">
                  <a16:creationId xmlns:a16="http://schemas.microsoft.com/office/drawing/2014/main" id="{B871B4C7-3633-E40C-1E72-104AC6327A34}"/>
                </a:ext>
              </a:extLst>
            </p:cNvPr>
            <p:cNvSpPr txBox="1"/>
            <p:nvPr/>
          </p:nvSpPr>
          <p:spPr>
            <a:xfrm>
              <a:off x="5412166" y="-520867"/>
              <a:ext cx="1571178" cy="369332"/>
            </a:xfrm>
            <a:prstGeom prst="rect">
              <a:avLst/>
            </a:prstGeom>
            <a:solidFill>
              <a:srgbClr val="0070C0"/>
            </a:solidFill>
          </p:spPr>
          <p:txBody>
            <a:bodyPr wrap="square" rtlCol="0">
              <a:spAutoFit/>
            </a:bodyPr>
            <a:lstStyle/>
            <a:p>
              <a:r>
                <a:rPr lang="en-US" b="1" dirty="0">
                  <a:solidFill>
                    <a:schemeClr val="bg1"/>
                  </a:solidFill>
                </a:rPr>
                <a:t>Setting Head</a:t>
              </a:r>
            </a:p>
          </p:txBody>
        </p:sp>
        <p:cxnSp>
          <p:nvCxnSpPr>
            <p:cNvPr id="27" name="Straight Arrow Connector 26">
              <a:extLst>
                <a:ext uri="{FF2B5EF4-FFF2-40B4-BE49-F238E27FC236}">
                  <a16:creationId xmlns:a16="http://schemas.microsoft.com/office/drawing/2014/main" id="{89150970-9BD3-D349-91F4-710514D1DB35}"/>
                </a:ext>
              </a:extLst>
            </p:cNvPr>
            <p:cNvCxnSpPr>
              <a:cxnSpLocks/>
              <a:stCxn id="23" idx="3"/>
            </p:cNvCxnSpPr>
            <p:nvPr/>
          </p:nvCxnSpPr>
          <p:spPr>
            <a:xfrm flipV="1">
              <a:off x="6983344" y="-492883"/>
              <a:ext cx="452604" cy="156682"/>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31" name="Group 30">
            <a:extLst>
              <a:ext uri="{FF2B5EF4-FFF2-40B4-BE49-F238E27FC236}">
                <a16:creationId xmlns:a16="http://schemas.microsoft.com/office/drawing/2014/main" id="{3879B86C-7AEB-8FE5-596B-E221269C3E67}"/>
              </a:ext>
            </a:extLst>
          </p:cNvPr>
          <p:cNvGrpSpPr/>
          <p:nvPr/>
        </p:nvGrpSpPr>
        <p:grpSpPr>
          <a:xfrm>
            <a:off x="214802" y="4274270"/>
            <a:ext cx="2204065" cy="369332"/>
            <a:chOff x="5196881" y="-515724"/>
            <a:chExt cx="2204065" cy="369332"/>
          </a:xfrm>
        </p:grpSpPr>
        <p:sp>
          <p:nvSpPr>
            <p:cNvPr id="38" name="TextBox 37">
              <a:extLst>
                <a:ext uri="{FF2B5EF4-FFF2-40B4-BE49-F238E27FC236}">
                  <a16:creationId xmlns:a16="http://schemas.microsoft.com/office/drawing/2014/main" id="{E9A8C5F0-61CE-9559-A906-7A4EFBA243EC}"/>
                </a:ext>
              </a:extLst>
            </p:cNvPr>
            <p:cNvSpPr txBox="1"/>
            <p:nvPr/>
          </p:nvSpPr>
          <p:spPr>
            <a:xfrm>
              <a:off x="5196881" y="-515724"/>
              <a:ext cx="1571178" cy="369332"/>
            </a:xfrm>
            <a:prstGeom prst="rect">
              <a:avLst/>
            </a:prstGeom>
            <a:solidFill>
              <a:srgbClr val="0070C0"/>
            </a:solidFill>
          </p:spPr>
          <p:txBody>
            <a:bodyPr wrap="square" rtlCol="0">
              <a:spAutoFit/>
            </a:bodyPr>
            <a:lstStyle/>
            <a:p>
              <a:r>
                <a:rPr lang="en-US" b="1" dirty="0">
                  <a:solidFill>
                    <a:schemeClr val="bg1"/>
                  </a:solidFill>
                </a:rPr>
                <a:t>Pin/Mandrel</a:t>
              </a:r>
            </a:p>
          </p:txBody>
        </p:sp>
        <p:cxnSp>
          <p:nvCxnSpPr>
            <p:cNvPr id="39" name="Straight Arrow Connector 38">
              <a:extLst>
                <a:ext uri="{FF2B5EF4-FFF2-40B4-BE49-F238E27FC236}">
                  <a16:creationId xmlns:a16="http://schemas.microsoft.com/office/drawing/2014/main" id="{ACF70A9D-F7B9-2762-F450-B2B88F95D855}"/>
                </a:ext>
              </a:extLst>
            </p:cNvPr>
            <p:cNvCxnSpPr>
              <a:cxnSpLocks/>
              <a:stCxn id="38" idx="3"/>
            </p:cNvCxnSpPr>
            <p:nvPr/>
          </p:nvCxnSpPr>
          <p:spPr>
            <a:xfrm>
              <a:off x="6768059" y="-331058"/>
              <a:ext cx="632887" cy="0"/>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13" name="Group 12">
            <a:extLst>
              <a:ext uri="{FF2B5EF4-FFF2-40B4-BE49-F238E27FC236}">
                <a16:creationId xmlns:a16="http://schemas.microsoft.com/office/drawing/2014/main" id="{954AC522-02F7-2389-2AE1-A8A8C909BD1F}"/>
              </a:ext>
            </a:extLst>
          </p:cNvPr>
          <p:cNvGrpSpPr/>
          <p:nvPr/>
        </p:nvGrpSpPr>
        <p:grpSpPr>
          <a:xfrm>
            <a:off x="3398254" y="2737583"/>
            <a:ext cx="3322146" cy="2144338"/>
            <a:chOff x="6237028" y="4348537"/>
            <a:chExt cx="3322146" cy="2144338"/>
          </a:xfrm>
        </p:grpSpPr>
        <p:pic>
          <p:nvPicPr>
            <p:cNvPr id="46" name="Picture 45">
              <a:extLst>
                <a:ext uri="{FF2B5EF4-FFF2-40B4-BE49-F238E27FC236}">
                  <a16:creationId xmlns:a16="http://schemas.microsoft.com/office/drawing/2014/main" id="{EB553F4A-878C-C536-EBF8-F8117AE17B2A}"/>
                </a:ext>
              </a:extLst>
            </p:cNvPr>
            <p:cNvPicPr>
              <a:picLocks noChangeAspect="1"/>
            </p:cNvPicPr>
            <p:nvPr/>
          </p:nvPicPr>
          <p:blipFill>
            <a:blip r:embed="rId5"/>
            <a:stretch>
              <a:fillRect/>
            </a:stretch>
          </p:blipFill>
          <p:spPr>
            <a:xfrm>
              <a:off x="6237028" y="4348537"/>
              <a:ext cx="3090938" cy="2144338"/>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sp>
          <p:nvSpPr>
            <p:cNvPr id="7" name="TextBox 6">
              <a:extLst>
                <a:ext uri="{FF2B5EF4-FFF2-40B4-BE49-F238E27FC236}">
                  <a16:creationId xmlns:a16="http://schemas.microsoft.com/office/drawing/2014/main" id="{C1C78D54-940D-5625-9DDE-93FF232A05D6}"/>
                </a:ext>
              </a:extLst>
            </p:cNvPr>
            <p:cNvSpPr txBox="1"/>
            <p:nvPr/>
          </p:nvSpPr>
          <p:spPr>
            <a:xfrm rot="16200000">
              <a:off x="8630573" y="5564274"/>
              <a:ext cx="1625993" cy="231208"/>
            </a:xfrm>
            <a:prstGeom prst="rect">
              <a:avLst/>
            </a:prstGeom>
            <a:noFill/>
          </p:spPr>
          <p:txBody>
            <a:bodyPr wrap="square" rtlCol="0">
              <a:spAutoFit/>
            </a:bodyPr>
            <a:lstStyle/>
            <a:p>
              <a:r>
                <a:rPr lang="pl-PL" sz="900" dirty="0"/>
                <a:t>ChatGPT </a:t>
              </a:r>
              <a:r>
                <a:rPr lang="en-US" sz="900" dirty="0"/>
                <a:t>/</a:t>
              </a:r>
              <a:r>
                <a:rPr lang="pl-PL" sz="900" dirty="0"/>
                <a:t> Matt Pierce, 2026</a:t>
              </a:r>
              <a:endParaRPr lang="en-US" sz="900" dirty="0"/>
            </a:p>
          </p:txBody>
        </p:sp>
      </p:grpSp>
      <p:pic>
        <p:nvPicPr>
          <p:cNvPr id="18" name="Picture 17">
            <a:extLst>
              <a:ext uri="{FF2B5EF4-FFF2-40B4-BE49-F238E27FC236}">
                <a16:creationId xmlns:a16="http://schemas.microsoft.com/office/drawing/2014/main" id="{4B173FC3-4AD7-834B-1EA2-80CC89E66393}"/>
              </a:ext>
            </a:extLst>
          </p:cNvPr>
          <p:cNvPicPr>
            <a:picLocks noChangeAspect="1"/>
          </p:cNvPicPr>
          <p:nvPr/>
        </p:nvPicPr>
        <p:blipFill>
          <a:blip r:embed="rId6"/>
          <a:stretch>
            <a:fillRect/>
          </a:stretch>
        </p:blipFill>
        <p:spPr>
          <a:xfrm>
            <a:off x="7055847" y="2755182"/>
            <a:ext cx="4921350" cy="1211252"/>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pic>
        <p:nvPicPr>
          <p:cNvPr id="20" name="Picture 19">
            <a:extLst>
              <a:ext uri="{FF2B5EF4-FFF2-40B4-BE49-F238E27FC236}">
                <a16:creationId xmlns:a16="http://schemas.microsoft.com/office/drawing/2014/main" id="{7E503BBC-D3FD-1B0E-0160-A2893C4D7626}"/>
              </a:ext>
            </a:extLst>
          </p:cNvPr>
          <p:cNvPicPr>
            <a:picLocks noChangeAspect="1"/>
          </p:cNvPicPr>
          <p:nvPr/>
        </p:nvPicPr>
        <p:blipFill>
          <a:blip r:embed="rId7"/>
          <a:stretch>
            <a:fillRect/>
          </a:stretch>
        </p:blipFill>
        <p:spPr>
          <a:xfrm>
            <a:off x="7055847" y="3966434"/>
            <a:ext cx="2371485" cy="2094460"/>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grpSp>
        <p:nvGrpSpPr>
          <p:cNvPr id="26" name="Group 25">
            <a:extLst>
              <a:ext uri="{FF2B5EF4-FFF2-40B4-BE49-F238E27FC236}">
                <a16:creationId xmlns:a16="http://schemas.microsoft.com/office/drawing/2014/main" id="{CBE1FF1C-B5D3-291A-25E0-CB24AAB47008}"/>
              </a:ext>
            </a:extLst>
          </p:cNvPr>
          <p:cNvGrpSpPr/>
          <p:nvPr/>
        </p:nvGrpSpPr>
        <p:grpSpPr>
          <a:xfrm>
            <a:off x="9421530" y="3971577"/>
            <a:ext cx="2770470" cy="2093697"/>
            <a:chOff x="7694377" y="2062027"/>
            <a:chExt cx="2770470" cy="2093697"/>
          </a:xfrm>
        </p:grpSpPr>
        <p:pic>
          <p:nvPicPr>
            <p:cNvPr id="24" name="Picture 23">
              <a:extLst>
                <a:ext uri="{FF2B5EF4-FFF2-40B4-BE49-F238E27FC236}">
                  <a16:creationId xmlns:a16="http://schemas.microsoft.com/office/drawing/2014/main" id="{BA6ACA05-8243-2ECF-BE09-D200838945EF}"/>
                </a:ext>
              </a:extLst>
            </p:cNvPr>
            <p:cNvPicPr>
              <a:picLocks noChangeAspect="1"/>
            </p:cNvPicPr>
            <p:nvPr/>
          </p:nvPicPr>
          <p:blipFill>
            <a:blip r:embed="rId8"/>
            <a:stretch>
              <a:fillRect/>
            </a:stretch>
          </p:blipFill>
          <p:spPr>
            <a:xfrm>
              <a:off x="7694377" y="2062027"/>
              <a:ext cx="2555668" cy="2093697"/>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sp>
          <p:nvSpPr>
            <p:cNvPr id="25" name="TextBox 24">
              <a:extLst>
                <a:ext uri="{FF2B5EF4-FFF2-40B4-BE49-F238E27FC236}">
                  <a16:creationId xmlns:a16="http://schemas.microsoft.com/office/drawing/2014/main" id="{03DEEFFD-17B1-531B-EF50-CC7640D2E1D9}"/>
                </a:ext>
              </a:extLst>
            </p:cNvPr>
            <p:cNvSpPr txBox="1"/>
            <p:nvPr/>
          </p:nvSpPr>
          <p:spPr>
            <a:xfrm rot="16200000">
              <a:off x="9547754" y="3234251"/>
              <a:ext cx="1603353" cy="230832"/>
            </a:xfrm>
            <a:prstGeom prst="rect">
              <a:avLst/>
            </a:prstGeom>
            <a:noFill/>
          </p:spPr>
          <p:txBody>
            <a:bodyPr wrap="square" rtlCol="0">
              <a:spAutoFit/>
            </a:bodyPr>
            <a:lstStyle/>
            <a:p>
              <a:r>
                <a:rPr lang="pl-PL" sz="900" dirty="0"/>
                <a:t>ChatGPT </a:t>
              </a:r>
              <a:r>
                <a:rPr lang="en-US" sz="900" dirty="0"/>
                <a:t>/</a:t>
              </a:r>
              <a:r>
                <a:rPr lang="pl-PL" sz="900" dirty="0"/>
                <a:t> Matt Pierce, 2026</a:t>
              </a:r>
              <a:endParaRPr lang="en-US" sz="900" dirty="0"/>
            </a:p>
          </p:txBody>
        </p:sp>
      </p:grpSp>
    </p:spTree>
    <p:extLst>
      <p:ext uri="{BB962C8B-B14F-4D97-AF65-F5344CB8AC3E}">
        <p14:creationId xmlns:p14="http://schemas.microsoft.com/office/powerpoint/2010/main" val="1351091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B0F83E73-0CA4-61FF-7FFE-60680BAC4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AD8698-63B1-5CED-86C4-2EB80FDE2179}"/>
              </a:ext>
            </a:extLst>
          </p:cNvPr>
          <p:cNvSpPr>
            <a:spLocks noGrp="1"/>
          </p:cNvSpPr>
          <p:nvPr>
            <p:ph type="title"/>
          </p:nvPr>
        </p:nvSpPr>
        <p:spPr>
          <a:xfrm>
            <a:off x="365760" y="365125"/>
            <a:ext cx="10515600" cy="877824"/>
          </a:xfrm>
        </p:spPr>
        <p:txBody>
          <a:bodyPr/>
          <a:lstStyle/>
          <a:p>
            <a:r>
              <a:rPr lang="en-US" dirty="0"/>
              <a:t>Hi-Lok Fasteners</a:t>
            </a:r>
            <a:endParaRPr lang="en-US" dirty="0">
              <a:solidFill>
                <a:schemeClr val="bg1">
                  <a:lumMod val="65000"/>
                </a:schemeClr>
              </a:solidFill>
            </a:endParaRPr>
          </a:p>
        </p:txBody>
      </p:sp>
      <p:sp>
        <p:nvSpPr>
          <p:cNvPr id="6" name="Content Placeholder 2">
            <a:extLst>
              <a:ext uri="{FF2B5EF4-FFF2-40B4-BE49-F238E27FC236}">
                <a16:creationId xmlns:a16="http://schemas.microsoft.com/office/drawing/2014/main" id="{E760ECD2-17E8-B9C6-8F8A-275A8F22BFD5}"/>
              </a:ext>
            </a:extLst>
          </p:cNvPr>
          <p:cNvSpPr>
            <a:spLocks noGrp="1"/>
          </p:cNvSpPr>
          <p:nvPr>
            <p:ph idx="1"/>
          </p:nvPr>
        </p:nvSpPr>
        <p:spPr>
          <a:xfrm>
            <a:off x="611163" y="1520576"/>
            <a:ext cx="4751412" cy="1994150"/>
          </a:xfrm>
          <a:extLst>
            <a:ext uri="{909E8E84-426E-40DD-AFC4-6F175D3DCCD1}">
              <a14:hiddenFill xmlns:a14="http://schemas.microsoft.com/office/drawing/2010/main">
                <a:solidFill>
                  <a:srgbClr val="FFFFFF"/>
                </a:solidFill>
              </a14:hiddenFill>
            </a:ext>
          </a:extLst>
        </p:spPr>
        <p:txBody>
          <a:bodyPr>
            <a:normAutofit/>
          </a:bodyPr>
          <a:lstStyle/>
          <a:p>
            <a:r>
              <a:rPr lang="en-US" b="1" dirty="0"/>
              <a:t>Lighter</a:t>
            </a:r>
            <a:r>
              <a:rPr lang="en-US" dirty="0"/>
              <a:t> than a bolt</a:t>
            </a:r>
          </a:p>
          <a:p>
            <a:r>
              <a:rPr lang="en-US" b="1" dirty="0"/>
              <a:t>Stronger</a:t>
            </a:r>
            <a:r>
              <a:rPr lang="en-US" dirty="0"/>
              <a:t> than a rivet</a:t>
            </a:r>
          </a:p>
          <a:p>
            <a:r>
              <a:rPr lang="en-US" b="1" dirty="0"/>
              <a:t>Best</a:t>
            </a:r>
            <a:r>
              <a:rPr lang="en-US" dirty="0"/>
              <a:t> of both</a:t>
            </a:r>
          </a:p>
        </p:txBody>
      </p:sp>
      <p:sp>
        <p:nvSpPr>
          <p:cNvPr id="3" name="TextBox 2">
            <a:hlinkClick r:id="rId3"/>
            <a:extLst>
              <a:ext uri="{FF2B5EF4-FFF2-40B4-BE49-F238E27FC236}">
                <a16:creationId xmlns:a16="http://schemas.microsoft.com/office/drawing/2014/main" id="{9AE5E793-A7D2-81E0-E0D4-C5FADB924446}"/>
              </a:ext>
            </a:extLst>
          </p:cNvPr>
          <p:cNvSpPr txBox="1"/>
          <p:nvPr/>
        </p:nvSpPr>
        <p:spPr>
          <a:xfrm>
            <a:off x="480623" y="5685004"/>
            <a:ext cx="1695975" cy="230832"/>
          </a:xfrm>
          <a:prstGeom prst="rect">
            <a:avLst/>
          </a:prstGeom>
          <a:noFill/>
        </p:spPr>
        <p:txBody>
          <a:bodyPr wrap="square" rtlCol="0">
            <a:spAutoFit/>
          </a:bodyPr>
          <a:lstStyle/>
          <a:p>
            <a:pPr algn="r"/>
            <a:r>
              <a:rPr lang="en-US" sz="900" dirty="0"/>
              <a:t>(Ad) Howmet Aerospace, 2026</a:t>
            </a:r>
          </a:p>
        </p:txBody>
      </p:sp>
      <p:grpSp>
        <p:nvGrpSpPr>
          <p:cNvPr id="7" name="Group 6">
            <a:extLst>
              <a:ext uri="{FF2B5EF4-FFF2-40B4-BE49-F238E27FC236}">
                <a16:creationId xmlns:a16="http://schemas.microsoft.com/office/drawing/2014/main" id="{7C5A7E04-EF7D-80B7-D1BA-DB865405A297}"/>
              </a:ext>
            </a:extLst>
          </p:cNvPr>
          <p:cNvGrpSpPr/>
          <p:nvPr/>
        </p:nvGrpSpPr>
        <p:grpSpPr>
          <a:xfrm>
            <a:off x="7494956" y="1715785"/>
            <a:ext cx="2835869" cy="4488843"/>
            <a:chOff x="8265518" y="1568200"/>
            <a:chExt cx="2835869" cy="4488843"/>
          </a:xfrm>
        </p:grpSpPr>
        <p:pic>
          <p:nvPicPr>
            <p:cNvPr id="19" name="Picture 18">
              <a:extLst>
                <a:ext uri="{FF2B5EF4-FFF2-40B4-BE49-F238E27FC236}">
                  <a16:creationId xmlns:a16="http://schemas.microsoft.com/office/drawing/2014/main" id="{ABF14211-5733-2985-2D07-A9E938267551}"/>
                </a:ext>
              </a:extLst>
            </p:cNvPr>
            <p:cNvPicPr>
              <a:picLocks noChangeAspect="1"/>
            </p:cNvPicPr>
            <p:nvPr/>
          </p:nvPicPr>
          <p:blipFill>
            <a:blip r:embed="rId4"/>
            <a:stretch>
              <a:fillRect/>
            </a:stretch>
          </p:blipFill>
          <p:spPr>
            <a:xfrm>
              <a:off x="8265518" y="1568200"/>
              <a:ext cx="2835869" cy="4258011"/>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sp>
          <p:nvSpPr>
            <p:cNvPr id="4" name="TextBox 3">
              <a:extLst>
                <a:ext uri="{FF2B5EF4-FFF2-40B4-BE49-F238E27FC236}">
                  <a16:creationId xmlns:a16="http://schemas.microsoft.com/office/drawing/2014/main" id="{528BC13C-A8F9-7770-870B-0A086A6AB5B3}"/>
                </a:ext>
              </a:extLst>
            </p:cNvPr>
            <p:cNvSpPr txBox="1"/>
            <p:nvPr/>
          </p:nvSpPr>
          <p:spPr>
            <a:xfrm>
              <a:off x="9462498" y="5826211"/>
              <a:ext cx="1638889"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pic>
        <p:nvPicPr>
          <p:cNvPr id="9" name="Picture 8">
            <a:extLst>
              <a:ext uri="{FF2B5EF4-FFF2-40B4-BE49-F238E27FC236}">
                <a16:creationId xmlns:a16="http://schemas.microsoft.com/office/drawing/2014/main" id="{2816FA5F-C9DB-08C3-A4C2-B093F03BFDF8}"/>
              </a:ext>
            </a:extLst>
          </p:cNvPr>
          <p:cNvPicPr>
            <a:picLocks noChangeAspect="1"/>
          </p:cNvPicPr>
          <p:nvPr/>
        </p:nvPicPr>
        <p:blipFill>
          <a:blip r:embed="rId5"/>
          <a:stretch>
            <a:fillRect/>
          </a:stretch>
        </p:blipFill>
        <p:spPr>
          <a:xfrm rot="3533771">
            <a:off x="1356536" y="3448909"/>
            <a:ext cx="1657581" cy="1314633"/>
          </a:xfrm>
          <a:prstGeom prst="rect">
            <a:avLst/>
          </a:prstGeom>
        </p:spPr>
      </p:pic>
      <p:pic>
        <p:nvPicPr>
          <p:cNvPr id="12" name="Picture 11">
            <a:extLst>
              <a:ext uri="{FF2B5EF4-FFF2-40B4-BE49-F238E27FC236}">
                <a16:creationId xmlns:a16="http://schemas.microsoft.com/office/drawing/2014/main" id="{1AD0CF50-E3DE-87E7-7F1B-4536217E1A90}"/>
              </a:ext>
            </a:extLst>
          </p:cNvPr>
          <p:cNvPicPr>
            <a:picLocks noChangeAspect="1"/>
          </p:cNvPicPr>
          <p:nvPr/>
        </p:nvPicPr>
        <p:blipFill>
          <a:blip r:embed="rId6"/>
          <a:stretch>
            <a:fillRect/>
          </a:stretch>
        </p:blipFill>
        <p:spPr>
          <a:xfrm rot="11011944">
            <a:off x="1713940" y="4874691"/>
            <a:ext cx="838317" cy="990738"/>
          </a:xfrm>
          <a:prstGeom prst="rect">
            <a:avLst/>
          </a:prstGeom>
        </p:spPr>
      </p:pic>
      <p:grpSp>
        <p:nvGrpSpPr>
          <p:cNvPr id="13" name="Group 12">
            <a:extLst>
              <a:ext uri="{FF2B5EF4-FFF2-40B4-BE49-F238E27FC236}">
                <a16:creationId xmlns:a16="http://schemas.microsoft.com/office/drawing/2014/main" id="{0534446A-1FFD-29F3-6BEF-754B549EB7D4}"/>
              </a:ext>
            </a:extLst>
          </p:cNvPr>
          <p:cNvGrpSpPr/>
          <p:nvPr/>
        </p:nvGrpSpPr>
        <p:grpSpPr>
          <a:xfrm>
            <a:off x="431955" y="5127020"/>
            <a:ext cx="1477195" cy="369332"/>
            <a:chOff x="6091411" y="225160"/>
            <a:chExt cx="1477195" cy="369332"/>
          </a:xfrm>
        </p:grpSpPr>
        <p:sp>
          <p:nvSpPr>
            <p:cNvPr id="14" name="TextBox 13">
              <a:extLst>
                <a:ext uri="{FF2B5EF4-FFF2-40B4-BE49-F238E27FC236}">
                  <a16:creationId xmlns:a16="http://schemas.microsoft.com/office/drawing/2014/main" id="{96B56261-D4F6-6360-8BFF-4FBE1D2FEB06}"/>
                </a:ext>
              </a:extLst>
            </p:cNvPr>
            <p:cNvSpPr txBox="1"/>
            <p:nvPr/>
          </p:nvSpPr>
          <p:spPr>
            <a:xfrm>
              <a:off x="6091411" y="225160"/>
              <a:ext cx="896656" cy="369332"/>
            </a:xfrm>
            <a:prstGeom prst="rect">
              <a:avLst/>
            </a:prstGeom>
            <a:solidFill>
              <a:srgbClr val="0070C0"/>
            </a:solidFill>
          </p:spPr>
          <p:txBody>
            <a:bodyPr wrap="square" rtlCol="0">
              <a:spAutoFit/>
            </a:bodyPr>
            <a:lstStyle/>
            <a:p>
              <a:pPr algn="r"/>
              <a:r>
                <a:rPr lang="en-US" b="1" dirty="0">
                  <a:solidFill>
                    <a:schemeClr val="bg1"/>
                  </a:solidFill>
                </a:rPr>
                <a:t>Collar</a:t>
              </a:r>
            </a:p>
          </p:txBody>
        </p:sp>
        <p:cxnSp>
          <p:nvCxnSpPr>
            <p:cNvPr id="15" name="Straight Arrow Connector 14">
              <a:extLst>
                <a:ext uri="{FF2B5EF4-FFF2-40B4-BE49-F238E27FC236}">
                  <a16:creationId xmlns:a16="http://schemas.microsoft.com/office/drawing/2014/main" id="{1CE6D319-795B-2175-2F63-270E49B321B7}"/>
                </a:ext>
              </a:extLst>
            </p:cNvPr>
            <p:cNvCxnSpPr>
              <a:cxnSpLocks/>
              <a:stCxn id="14" idx="3"/>
            </p:cNvCxnSpPr>
            <p:nvPr/>
          </p:nvCxnSpPr>
          <p:spPr>
            <a:xfrm>
              <a:off x="6988067" y="409826"/>
              <a:ext cx="580539" cy="0"/>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16" name="Group 15">
            <a:extLst>
              <a:ext uri="{FF2B5EF4-FFF2-40B4-BE49-F238E27FC236}">
                <a16:creationId xmlns:a16="http://schemas.microsoft.com/office/drawing/2014/main" id="{267FD337-8AEA-7FB0-FF21-90AE42354799}"/>
              </a:ext>
            </a:extLst>
          </p:cNvPr>
          <p:cNvGrpSpPr/>
          <p:nvPr/>
        </p:nvGrpSpPr>
        <p:grpSpPr>
          <a:xfrm>
            <a:off x="733425" y="3919578"/>
            <a:ext cx="1223350" cy="369332"/>
            <a:chOff x="6398720" y="-247724"/>
            <a:chExt cx="1223350" cy="369332"/>
          </a:xfrm>
        </p:grpSpPr>
        <p:sp>
          <p:nvSpPr>
            <p:cNvPr id="17" name="TextBox 16">
              <a:extLst>
                <a:ext uri="{FF2B5EF4-FFF2-40B4-BE49-F238E27FC236}">
                  <a16:creationId xmlns:a16="http://schemas.microsoft.com/office/drawing/2014/main" id="{E99064C9-DA0B-7605-A220-9A7DCA03AE4F}"/>
                </a:ext>
              </a:extLst>
            </p:cNvPr>
            <p:cNvSpPr txBox="1"/>
            <p:nvPr/>
          </p:nvSpPr>
          <p:spPr>
            <a:xfrm>
              <a:off x="6398720" y="-247724"/>
              <a:ext cx="595186" cy="369332"/>
            </a:xfrm>
            <a:prstGeom prst="rect">
              <a:avLst/>
            </a:prstGeom>
            <a:solidFill>
              <a:srgbClr val="0070C0"/>
            </a:solidFill>
          </p:spPr>
          <p:txBody>
            <a:bodyPr wrap="square" rtlCol="0">
              <a:spAutoFit/>
            </a:bodyPr>
            <a:lstStyle/>
            <a:p>
              <a:pPr algn="r"/>
              <a:r>
                <a:rPr lang="en-US" b="1" dirty="0">
                  <a:solidFill>
                    <a:schemeClr val="bg1"/>
                  </a:solidFill>
                </a:rPr>
                <a:t>Pin</a:t>
              </a:r>
            </a:p>
          </p:txBody>
        </p:sp>
        <p:cxnSp>
          <p:nvCxnSpPr>
            <p:cNvPr id="18" name="Straight Arrow Connector 17">
              <a:extLst>
                <a:ext uri="{FF2B5EF4-FFF2-40B4-BE49-F238E27FC236}">
                  <a16:creationId xmlns:a16="http://schemas.microsoft.com/office/drawing/2014/main" id="{3FD12DD6-7D66-828A-02F4-963AA9E27CFC}"/>
                </a:ext>
              </a:extLst>
            </p:cNvPr>
            <p:cNvCxnSpPr>
              <a:cxnSpLocks/>
              <a:stCxn id="17" idx="3"/>
            </p:cNvCxnSpPr>
            <p:nvPr/>
          </p:nvCxnSpPr>
          <p:spPr>
            <a:xfrm>
              <a:off x="6993906" y="-63058"/>
              <a:ext cx="628164" cy="0"/>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21" name="Group 20">
            <a:extLst>
              <a:ext uri="{FF2B5EF4-FFF2-40B4-BE49-F238E27FC236}">
                <a16:creationId xmlns:a16="http://schemas.microsoft.com/office/drawing/2014/main" id="{4708F93C-D567-D59B-37C7-0D348A66FD97}"/>
              </a:ext>
            </a:extLst>
          </p:cNvPr>
          <p:cNvGrpSpPr/>
          <p:nvPr/>
        </p:nvGrpSpPr>
        <p:grpSpPr>
          <a:xfrm>
            <a:off x="2419350" y="3408190"/>
            <a:ext cx="1419226" cy="369332"/>
            <a:chOff x="5784758" y="-247724"/>
            <a:chExt cx="1419226" cy="369332"/>
          </a:xfrm>
        </p:grpSpPr>
        <p:sp>
          <p:nvSpPr>
            <p:cNvPr id="22" name="TextBox 21">
              <a:extLst>
                <a:ext uri="{FF2B5EF4-FFF2-40B4-BE49-F238E27FC236}">
                  <a16:creationId xmlns:a16="http://schemas.microsoft.com/office/drawing/2014/main" id="{8A21A33A-74D2-9C35-2023-5DD5FFF2E6BB}"/>
                </a:ext>
              </a:extLst>
            </p:cNvPr>
            <p:cNvSpPr txBox="1"/>
            <p:nvPr/>
          </p:nvSpPr>
          <p:spPr>
            <a:xfrm>
              <a:off x="6398720" y="-247724"/>
              <a:ext cx="805264" cy="369332"/>
            </a:xfrm>
            <a:prstGeom prst="rect">
              <a:avLst/>
            </a:prstGeom>
            <a:solidFill>
              <a:srgbClr val="0070C0"/>
            </a:solidFill>
          </p:spPr>
          <p:txBody>
            <a:bodyPr wrap="square" rtlCol="0">
              <a:spAutoFit/>
            </a:bodyPr>
            <a:lstStyle/>
            <a:p>
              <a:r>
                <a:rPr lang="en-US" b="1" dirty="0">
                  <a:solidFill>
                    <a:schemeClr val="bg1"/>
                  </a:solidFill>
                </a:rPr>
                <a:t>Head</a:t>
              </a:r>
            </a:p>
          </p:txBody>
        </p:sp>
        <p:cxnSp>
          <p:nvCxnSpPr>
            <p:cNvPr id="23" name="Straight Arrow Connector 22">
              <a:extLst>
                <a:ext uri="{FF2B5EF4-FFF2-40B4-BE49-F238E27FC236}">
                  <a16:creationId xmlns:a16="http://schemas.microsoft.com/office/drawing/2014/main" id="{08E06B87-E7CD-4124-0C92-2A536593BBCD}"/>
                </a:ext>
              </a:extLst>
            </p:cNvPr>
            <p:cNvCxnSpPr>
              <a:cxnSpLocks/>
              <a:stCxn id="22" idx="1"/>
            </p:cNvCxnSpPr>
            <p:nvPr/>
          </p:nvCxnSpPr>
          <p:spPr>
            <a:xfrm flipH="1">
              <a:off x="5784758" y="-63058"/>
              <a:ext cx="613962" cy="0"/>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28" name="Group 27">
            <a:extLst>
              <a:ext uri="{FF2B5EF4-FFF2-40B4-BE49-F238E27FC236}">
                <a16:creationId xmlns:a16="http://schemas.microsoft.com/office/drawing/2014/main" id="{2E8DE14B-4518-172C-4755-B1E0D7BB7EC3}"/>
              </a:ext>
            </a:extLst>
          </p:cNvPr>
          <p:cNvGrpSpPr/>
          <p:nvPr/>
        </p:nvGrpSpPr>
        <p:grpSpPr>
          <a:xfrm>
            <a:off x="2324102" y="3865892"/>
            <a:ext cx="1614593" cy="369332"/>
            <a:chOff x="5784758" y="-247724"/>
            <a:chExt cx="1521922" cy="369332"/>
          </a:xfrm>
        </p:grpSpPr>
        <p:sp>
          <p:nvSpPr>
            <p:cNvPr id="29" name="TextBox 28">
              <a:extLst>
                <a:ext uri="{FF2B5EF4-FFF2-40B4-BE49-F238E27FC236}">
                  <a16:creationId xmlns:a16="http://schemas.microsoft.com/office/drawing/2014/main" id="{22ED8755-E5F5-B447-DD5F-329FA5FC7FEB}"/>
                </a:ext>
              </a:extLst>
            </p:cNvPr>
            <p:cNvSpPr txBox="1"/>
            <p:nvPr/>
          </p:nvSpPr>
          <p:spPr>
            <a:xfrm>
              <a:off x="6450684" y="-247724"/>
              <a:ext cx="855996" cy="369332"/>
            </a:xfrm>
            <a:prstGeom prst="rect">
              <a:avLst/>
            </a:prstGeom>
            <a:solidFill>
              <a:srgbClr val="0070C0"/>
            </a:solidFill>
          </p:spPr>
          <p:txBody>
            <a:bodyPr wrap="square" rtlCol="0">
              <a:spAutoFit/>
            </a:bodyPr>
            <a:lstStyle/>
            <a:p>
              <a:r>
                <a:rPr lang="en-US" b="1" dirty="0">
                  <a:solidFill>
                    <a:schemeClr val="bg1"/>
                  </a:solidFill>
                </a:rPr>
                <a:t>Shank</a:t>
              </a:r>
            </a:p>
          </p:txBody>
        </p:sp>
        <p:cxnSp>
          <p:nvCxnSpPr>
            <p:cNvPr id="30" name="Straight Arrow Connector 29">
              <a:extLst>
                <a:ext uri="{FF2B5EF4-FFF2-40B4-BE49-F238E27FC236}">
                  <a16:creationId xmlns:a16="http://schemas.microsoft.com/office/drawing/2014/main" id="{06CF4196-501F-097A-BC34-41333C74403C}"/>
                </a:ext>
              </a:extLst>
            </p:cNvPr>
            <p:cNvCxnSpPr>
              <a:cxnSpLocks/>
              <a:stCxn id="29" idx="1"/>
            </p:cNvCxnSpPr>
            <p:nvPr/>
          </p:nvCxnSpPr>
          <p:spPr>
            <a:xfrm flipH="1">
              <a:off x="5784758" y="-63058"/>
              <a:ext cx="665926" cy="0"/>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36" name="Group 35">
            <a:extLst>
              <a:ext uri="{FF2B5EF4-FFF2-40B4-BE49-F238E27FC236}">
                <a16:creationId xmlns:a16="http://schemas.microsoft.com/office/drawing/2014/main" id="{43CEF841-D7CF-53C3-91FF-121C04D8CCC2}"/>
              </a:ext>
            </a:extLst>
          </p:cNvPr>
          <p:cNvGrpSpPr/>
          <p:nvPr/>
        </p:nvGrpSpPr>
        <p:grpSpPr>
          <a:xfrm>
            <a:off x="2209797" y="4480475"/>
            <a:ext cx="3771903" cy="369332"/>
            <a:chOff x="5587236" y="-247724"/>
            <a:chExt cx="3555413" cy="369332"/>
          </a:xfrm>
        </p:grpSpPr>
        <p:sp>
          <p:nvSpPr>
            <p:cNvPr id="37" name="TextBox 36">
              <a:extLst>
                <a:ext uri="{FF2B5EF4-FFF2-40B4-BE49-F238E27FC236}">
                  <a16:creationId xmlns:a16="http://schemas.microsoft.com/office/drawing/2014/main" id="{323EF177-2ED8-C6B4-54F9-B499ABD8FA20}"/>
                </a:ext>
              </a:extLst>
            </p:cNvPr>
            <p:cNvSpPr txBox="1"/>
            <p:nvPr/>
          </p:nvSpPr>
          <p:spPr>
            <a:xfrm>
              <a:off x="6371708" y="-247724"/>
              <a:ext cx="2770941" cy="369332"/>
            </a:xfrm>
            <a:prstGeom prst="rect">
              <a:avLst/>
            </a:prstGeom>
            <a:solidFill>
              <a:srgbClr val="0070C0"/>
            </a:solidFill>
          </p:spPr>
          <p:txBody>
            <a:bodyPr wrap="square" rtlCol="0">
              <a:spAutoFit/>
            </a:bodyPr>
            <a:lstStyle/>
            <a:p>
              <a:r>
                <a:rPr lang="en-US" b="1" dirty="0">
                  <a:solidFill>
                    <a:schemeClr val="bg1"/>
                  </a:solidFill>
                </a:rPr>
                <a:t>Hex Socket </a:t>
              </a:r>
              <a:r>
                <a:rPr lang="en-US" dirty="0">
                  <a:solidFill>
                    <a:schemeClr val="accent1">
                      <a:lumMod val="40000"/>
                      <a:lumOff val="60000"/>
                    </a:schemeClr>
                  </a:solidFill>
                </a:rPr>
                <a:t>(Allen Wrench)</a:t>
              </a:r>
            </a:p>
          </p:txBody>
        </p:sp>
        <p:cxnSp>
          <p:nvCxnSpPr>
            <p:cNvPr id="38" name="Straight Arrow Connector 37">
              <a:extLst>
                <a:ext uri="{FF2B5EF4-FFF2-40B4-BE49-F238E27FC236}">
                  <a16:creationId xmlns:a16="http://schemas.microsoft.com/office/drawing/2014/main" id="{D2437036-7C5D-BC2D-DA7C-1A165E71B1E7}"/>
                </a:ext>
              </a:extLst>
            </p:cNvPr>
            <p:cNvCxnSpPr>
              <a:cxnSpLocks/>
              <a:stCxn id="37" idx="1"/>
            </p:cNvCxnSpPr>
            <p:nvPr/>
          </p:nvCxnSpPr>
          <p:spPr>
            <a:xfrm flipH="1">
              <a:off x="5587236" y="-63058"/>
              <a:ext cx="784472" cy="46242"/>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46" name="Group 45">
            <a:extLst>
              <a:ext uri="{FF2B5EF4-FFF2-40B4-BE49-F238E27FC236}">
                <a16:creationId xmlns:a16="http://schemas.microsoft.com/office/drawing/2014/main" id="{8B8DA3DD-0DC2-5AE8-B645-E1E46ADBECCA}"/>
              </a:ext>
            </a:extLst>
          </p:cNvPr>
          <p:cNvGrpSpPr/>
          <p:nvPr/>
        </p:nvGrpSpPr>
        <p:grpSpPr>
          <a:xfrm>
            <a:off x="2324102" y="4922613"/>
            <a:ext cx="2660890" cy="369332"/>
            <a:chOff x="5694980" y="-247724"/>
            <a:chExt cx="2508167" cy="369332"/>
          </a:xfrm>
        </p:grpSpPr>
        <p:sp>
          <p:nvSpPr>
            <p:cNvPr id="47" name="TextBox 46">
              <a:extLst>
                <a:ext uri="{FF2B5EF4-FFF2-40B4-BE49-F238E27FC236}">
                  <a16:creationId xmlns:a16="http://schemas.microsoft.com/office/drawing/2014/main" id="{BDCEFD37-FBCC-6140-2E0E-510F6C49ADF6}"/>
                </a:ext>
              </a:extLst>
            </p:cNvPr>
            <p:cNvSpPr txBox="1"/>
            <p:nvPr/>
          </p:nvSpPr>
          <p:spPr>
            <a:xfrm>
              <a:off x="6371708" y="-247724"/>
              <a:ext cx="1831439" cy="369332"/>
            </a:xfrm>
            <a:prstGeom prst="rect">
              <a:avLst/>
            </a:prstGeom>
            <a:solidFill>
              <a:srgbClr val="0070C0"/>
            </a:solidFill>
          </p:spPr>
          <p:txBody>
            <a:bodyPr wrap="square" rtlCol="0">
              <a:spAutoFit/>
            </a:bodyPr>
            <a:lstStyle/>
            <a:p>
              <a:r>
                <a:rPr lang="en-US" b="1" dirty="0">
                  <a:solidFill>
                    <a:schemeClr val="bg1"/>
                  </a:solidFill>
                </a:rPr>
                <a:t>Internal Threads</a:t>
              </a:r>
              <a:endParaRPr lang="en-US" dirty="0">
                <a:solidFill>
                  <a:schemeClr val="accent1">
                    <a:lumMod val="40000"/>
                    <a:lumOff val="60000"/>
                  </a:schemeClr>
                </a:solidFill>
              </a:endParaRPr>
            </a:p>
          </p:txBody>
        </p:sp>
        <p:cxnSp>
          <p:nvCxnSpPr>
            <p:cNvPr id="48" name="Straight Arrow Connector 47">
              <a:extLst>
                <a:ext uri="{FF2B5EF4-FFF2-40B4-BE49-F238E27FC236}">
                  <a16:creationId xmlns:a16="http://schemas.microsoft.com/office/drawing/2014/main" id="{80EFE3D7-E17D-E507-AACB-C6A95E004DFD}"/>
                </a:ext>
              </a:extLst>
            </p:cNvPr>
            <p:cNvCxnSpPr>
              <a:cxnSpLocks/>
              <a:stCxn id="47" idx="1"/>
            </p:cNvCxnSpPr>
            <p:nvPr/>
          </p:nvCxnSpPr>
          <p:spPr>
            <a:xfrm flipH="1" flipV="1">
              <a:off x="5694980" y="-75279"/>
              <a:ext cx="676728" cy="12221"/>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60" name="Group 59">
            <a:extLst>
              <a:ext uri="{FF2B5EF4-FFF2-40B4-BE49-F238E27FC236}">
                <a16:creationId xmlns:a16="http://schemas.microsoft.com/office/drawing/2014/main" id="{41C78D7B-CF51-651F-84A2-8D61B0B65FA8}"/>
              </a:ext>
            </a:extLst>
          </p:cNvPr>
          <p:cNvGrpSpPr/>
          <p:nvPr/>
        </p:nvGrpSpPr>
        <p:grpSpPr>
          <a:xfrm>
            <a:off x="2419350" y="5311686"/>
            <a:ext cx="3819012" cy="395070"/>
            <a:chOff x="2419350" y="5311686"/>
            <a:chExt cx="3819012" cy="395070"/>
          </a:xfrm>
        </p:grpSpPr>
        <p:sp>
          <p:nvSpPr>
            <p:cNvPr id="51" name="TextBox 50">
              <a:extLst>
                <a:ext uri="{FF2B5EF4-FFF2-40B4-BE49-F238E27FC236}">
                  <a16:creationId xmlns:a16="http://schemas.microsoft.com/office/drawing/2014/main" id="{09428704-9ACE-6FCE-19DB-1C79EBE156F3}"/>
                </a:ext>
              </a:extLst>
            </p:cNvPr>
            <p:cNvSpPr txBox="1"/>
            <p:nvPr/>
          </p:nvSpPr>
          <p:spPr>
            <a:xfrm>
              <a:off x="3042035" y="5337424"/>
              <a:ext cx="3196327" cy="369332"/>
            </a:xfrm>
            <a:prstGeom prst="rect">
              <a:avLst/>
            </a:prstGeom>
            <a:solidFill>
              <a:srgbClr val="0070C0"/>
            </a:solidFill>
          </p:spPr>
          <p:txBody>
            <a:bodyPr wrap="square" rtlCol="0">
              <a:spAutoFit/>
            </a:bodyPr>
            <a:lstStyle/>
            <a:p>
              <a:r>
                <a:rPr lang="en-US" b="1" dirty="0">
                  <a:solidFill>
                    <a:schemeClr val="bg1"/>
                  </a:solidFill>
                </a:rPr>
                <a:t>Internal Self-Locking Feature </a:t>
              </a:r>
              <a:endParaRPr lang="en-US" dirty="0">
                <a:solidFill>
                  <a:schemeClr val="accent1">
                    <a:lumMod val="40000"/>
                    <a:lumOff val="60000"/>
                  </a:schemeClr>
                </a:solidFill>
              </a:endParaRPr>
            </a:p>
          </p:txBody>
        </p:sp>
        <p:cxnSp>
          <p:nvCxnSpPr>
            <p:cNvPr id="52" name="Straight Arrow Connector 51">
              <a:extLst>
                <a:ext uri="{FF2B5EF4-FFF2-40B4-BE49-F238E27FC236}">
                  <a16:creationId xmlns:a16="http://schemas.microsoft.com/office/drawing/2014/main" id="{FB885783-C5B2-C5FA-BF4A-FF0281E08064}"/>
                </a:ext>
              </a:extLst>
            </p:cNvPr>
            <p:cNvCxnSpPr>
              <a:cxnSpLocks/>
              <a:stCxn id="51" idx="1"/>
            </p:cNvCxnSpPr>
            <p:nvPr/>
          </p:nvCxnSpPr>
          <p:spPr>
            <a:xfrm flipH="1" flipV="1">
              <a:off x="2419350" y="5311686"/>
              <a:ext cx="622685" cy="210404"/>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61" name="Group 60">
            <a:extLst>
              <a:ext uri="{FF2B5EF4-FFF2-40B4-BE49-F238E27FC236}">
                <a16:creationId xmlns:a16="http://schemas.microsoft.com/office/drawing/2014/main" id="{ED12A98A-FE95-41CC-6AF4-062DBD6690CD}"/>
              </a:ext>
            </a:extLst>
          </p:cNvPr>
          <p:cNvGrpSpPr/>
          <p:nvPr/>
        </p:nvGrpSpPr>
        <p:grpSpPr>
          <a:xfrm>
            <a:off x="2374174" y="5643044"/>
            <a:ext cx="3864188" cy="478132"/>
            <a:chOff x="2374174" y="5643044"/>
            <a:chExt cx="3864188" cy="478132"/>
          </a:xfrm>
        </p:grpSpPr>
        <p:sp>
          <p:nvSpPr>
            <p:cNvPr id="55" name="TextBox 54">
              <a:extLst>
                <a:ext uri="{FF2B5EF4-FFF2-40B4-BE49-F238E27FC236}">
                  <a16:creationId xmlns:a16="http://schemas.microsoft.com/office/drawing/2014/main" id="{732F29BC-3E58-C8D8-C7D2-34AD5CD8A1EB}"/>
                </a:ext>
              </a:extLst>
            </p:cNvPr>
            <p:cNvSpPr txBox="1"/>
            <p:nvPr/>
          </p:nvSpPr>
          <p:spPr>
            <a:xfrm>
              <a:off x="3042035" y="5751844"/>
              <a:ext cx="3196327" cy="369332"/>
            </a:xfrm>
            <a:prstGeom prst="rect">
              <a:avLst/>
            </a:prstGeom>
            <a:solidFill>
              <a:srgbClr val="0070C0"/>
            </a:solidFill>
          </p:spPr>
          <p:txBody>
            <a:bodyPr wrap="square" rtlCol="0">
              <a:spAutoFit/>
            </a:bodyPr>
            <a:lstStyle/>
            <a:p>
              <a:r>
                <a:rPr lang="en-US" b="1" dirty="0">
                  <a:solidFill>
                    <a:schemeClr val="bg1"/>
                  </a:solidFill>
                </a:rPr>
                <a:t>Break-off/Wrenching Head</a:t>
              </a:r>
              <a:endParaRPr lang="en-US" dirty="0">
                <a:solidFill>
                  <a:schemeClr val="accent1">
                    <a:lumMod val="40000"/>
                    <a:lumOff val="60000"/>
                  </a:schemeClr>
                </a:solidFill>
              </a:endParaRPr>
            </a:p>
          </p:txBody>
        </p:sp>
        <p:cxnSp>
          <p:nvCxnSpPr>
            <p:cNvPr id="57" name="Straight Arrow Connector 56">
              <a:extLst>
                <a:ext uri="{FF2B5EF4-FFF2-40B4-BE49-F238E27FC236}">
                  <a16:creationId xmlns:a16="http://schemas.microsoft.com/office/drawing/2014/main" id="{7D8215C5-BC13-DC5D-53D6-B581C8C8B429}"/>
                </a:ext>
              </a:extLst>
            </p:cNvPr>
            <p:cNvCxnSpPr>
              <a:cxnSpLocks/>
              <a:stCxn id="55" idx="1"/>
            </p:cNvCxnSpPr>
            <p:nvPr/>
          </p:nvCxnSpPr>
          <p:spPr>
            <a:xfrm flipH="1" flipV="1">
              <a:off x="2374174" y="5643044"/>
              <a:ext cx="667861" cy="293466"/>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762449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BF469CD-312D-E4F5-414D-1B2AC093324A}"/>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38BD347E-8341-7B85-DA0B-87EDF18417D3}"/>
              </a:ext>
            </a:extLst>
          </p:cNvPr>
          <p:cNvPicPr>
            <a:picLocks noChangeAspect="1"/>
          </p:cNvPicPr>
          <p:nvPr/>
        </p:nvPicPr>
        <p:blipFill>
          <a:blip r:embed="rId3"/>
          <a:stretch>
            <a:fillRect/>
          </a:stretch>
        </p:blipFill>
        <p:spPr>
          <a:xfrm rot="16500874">
            <a:off x="1585008" y="4097080"/>
            <a:ext cx="3341899" cy="1141677"/>
          </a:xfrm>
          <a:prstGeom prst="rect">
            <a:avLst/>
          </a:prstGeom>
        </p:spPr>
      </p:pic>
      <p:sp>
        <p:nvSpPr>
          <p:cNvPr id="2" name="Title 1">
            <a:extLst>
              <a:ext uri="{FF2B5EF4-FFF2-40B4-BE49-F238E27FC236}">
                <a16:creationId xmlns:a16="http://schemas.microsoft.com/office/drawing/2014/main" id="{04E198F6-74D8-12B9-6445-7B8983844394}"/>
              </a:ext>
            </a:extLst>
          </p:cNvPr>
          <p:cNvSpPr>
            <a:spLocks noGrp="1"/>
          </p:cNvSpPr>
          <p:nvPr>
            <p:ph type="title"/>
          </p:nvPr>
        </p:nvSpPr>
        <p:spPr>
          <a:xfrm>
            <a:off x="365760" y="365125"/>
            <a:ext cx="10515600" cy="877824"/>
          </a:xfrm>
        </p:spPr>
        <p:txBody>
          <a:bodyPr/>
          <a:lstStyle/>
          <a:p>
            <a:r>
              <a:rPr lang="en-US" dirty="0"/>
              <a:t>Lockbolt Fasteners</a:t>
            </a:r>
            <a:endParaRPr lang="en-US" dirty="0">
              <a:solidFill>
                <a:schemeClr val="bg1">
                  <a:lumMod val="65000"/>
                </a:schemeClr>
              </a:solidFill>
            </a:endParaRPr>
          </a:p>
        </p:txBody>
      </p:sp>
      <p:sp>
        <p:nvSpPr>
          <p:cNvPr id="6" name="Content Placeholder 2">
            <a:extLst>
              <a:ext uri="{FF2B5EF4-FFF2-40B4-BE49-F238E27FC236}">
                <a16:creationId xmlns:a16="http://schemas.microsoft.com/office/drawing/2014/main" id="{6FBAC1AD-9CEB-D5CB-9D60-65B31557F143}"/>
              </a:ext>
            </a:extLst>
          </p:cNvPr>
          <p:cNvSpPr>
            <a:spLocks noGrp="1"/>
          </p:cNvSpPr>
          <p:nvPr>
            <p:ph idx="1"/>
          </p:nvPr>
        </p:nvSpPr>
        <p:spPr>
          <a:xfrm>
            <a:off x="626554" y="1543325"/>
            <a:ext cx="4688396" cy="1253302"/>
          </a:xfrm>
          <a:extLst>
            <a:ext uri="{909E8E84-426E-40DD-AFC4-6F175D3DCCD1}">
              <a14:hiddenFill xmlns:a14="http://schemas.microsoft.com/office/drawing/2010/main">
                <a:solidFill>
                  <a:srgbClr val="FFFFFF"/>
                </a:solidFill>
              </a14:hiddenFill>
            </a:ext>
          </a:extLst>
        </p:spPr>
        <p:txBody>
          <a:bodyPr>
            <a:normAutofit/>
          </a:bodyPr>
          <a:lstStyle/>
          <a:p>
            <a:r>
              <a:rPr lang="en-US" dirty="0"/>
              <a:t>Stronger than a bolt &amp; nut</a:t>
            </a:r>
          </a:p>
          <a:p>
            <a:r>
              <a:rPr lang="en-US" dirty="0"/>
              <a:t>Like a rivet</a:t>
            </a:r>
          </a:p>
        </p:txBody>
      </p:sp>
      <p:grpSp>
        <p:nvGrpSpPr>
          <p:cNvPr id="8" name="Group 7">
            <a:extLst>
              <a:ext uri="{FF2B5EF4-FFF2-40B4-BE49-F238E27FC236}">
                <a16:creationId xmlns:a16="http://schemas.microsoft.com/office/drawing/2014/main" id="{553CA413-C31F-B38B-AF9B-499BC14B919F}"/>
              </a:ext>
            </a:extLst>
          </p:cNvPr>
          <p:cNvGrpSpPr/>
          <p:nvPr/>
        </p:nvGrpSpPr>
        <p:grpSpPr>
          <a:xfrm>
            <a:off x="1341719" y="3514480"/>
            <a:ext cx="1762734" cy="466250"/>
            <a:chOff x="5776600" y="-11112"/>
            <a:chExt cx="1762734" cy="466250"/>
          </a:xfrm>
        </p:grpSpPr>
        <p:sp>
          <p:nvSpPr>
            <p:cNvPr id="9" name="TextBox 8">
              <a:extLst>
                <a:ext uri="{FF2B5EF4-FFF2-40B4-BE49-F238E27FC236}">
                  <a16:creationId xmlns:a16="http://schemas.microsoft.com/office/drawing/2014/main" id="{00005822-4432-4DD5-D284-94E21D696483}"/>
                </a:ext>
              </a:extLst>
            </p:cNvPr>
            <p:cNvSpPr txBox="1"/>
            <p:nvPr/>
          </p:nvSpPr>
          <p:spPr>
            <a:xfrm>
              <a:off x="5776600" y="85806"/>
              <a:ext cx="896656" cy="369332"/>
            </a:xfrm>
            <a:prstGeom prst="rect">
              <a:avLst/>
            </a:prstGeom>
            <a:solidFill>
              <a:srgbClr val="0070C0"/>
            </a:solidFill>
          </p:spPr>
          <p:txBody>
            <a:bodyPr wrap="square" rtlCol="0">
              <a:spAutoFit/>
            </a:bodyPr>
            <a:lstStyle/>
            <a:p>
              <a:r>
                <a:rPr lang="en-US" b="1" dirty="0">
                  <a:solidFill>
                    <a:schemeClr val="bg1"/>
                  </a:solidFill>
                </a:rPr>
                <a:t>Shank</a:t>
              </a:r>
            </a:p>
          </p:txBody>
        </p:sp>
        <p:cxnSp>
          <p:nvCxnSpPr>
            <p:cNvPr id="10" name="Straight Arrow Connector 9">
              <a:extLst>
                <a:ext uri="{FF2B5EF4-FFF2-40B4-BE49-F238E27FC236}">
                  <a16:creationId xmlns:a16="http://schemas.microsoft.com/office/drawing/2014/main" id="{A92FEB52-FBA7-880D-46F5-6DCDBDF081F0}"/>
                </a:ext>
              </a:extLst>
            </p:cNvPr>
            <p:cNvCxnSpPr>
              <a:cxnSpLocks/>
              <a:stCxn id="9" idx="3"/>
            </p:cNvCxnSpPr>
            <p:nvPr/>
          </p:nvCxnSpPr>
          <p:spPr>
            <a:xfrm flipV="1">
              <a:off x="6673256" y="-11112"/>
              <a:ext cx="866078" cy="281584"/>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12" name="Group 11">
            <a:extLst>
              <a:ext uri="{FF2B5EF4-FFF2-40B4-BE49-F238E27FC236}">
                <a16:creationId xmlns:a16="http://schemas.microsoft.com/office/drawing/2014/main" id="{4E68DEEF-D6DD-7CF4-8168-B89735768139}"/>
              </a:ext>
            </a:extLst>
          </p:cNvPr>
          <p:cNvGrpSpPr/>
          <p:nvPr/>
        </p:nvGrpSpPr>
        <p:grpSpPr>
          <a:xfrm>
            <a:off x="336656" y="3976337"/>
            <a:ext cx="2787544" cy="493781"/>
            <a:chOff x="4785622" y="-805103"/>
            <a:chExt cx="2787544" cy="493781"/>
          </a:xfrm>
        </p:grpSpPr>
        <p:sp>
          <p:nvSpPr>
            <p:cNvPr id="13" name="TextBox 12">
              <a:extLst>
                <a:ext uri="{FF2B5EF4-FFF2-40B4-BE49-F238E27FC236}">
                  <a16:creationId xmlns:a16="http://schemas.microsoft.com/office/drawing/2014/main" id="{D05CAD67-AF8E-0B51-89DC-90AD70E87A23}"/>
                </a:ext>
              </a:extLst>
            </p:cNvPr>
            <p:cNvSpPr txBox="1"/>
            <p:nvPr/>
          </p:nvSpPr>
          <p:spPr>
            <a:xfrm>
              <a:off x="4785622" y="-680654"/>
              <a:ext cx="1901719" cy="369332"/>
            </a:xfrm>
            <a:prstGeom prst="rect">
              <a:avLst/>
            </a:prstGeom>
            <a:solidFill>
              <a:srgbClr val="0070C0"/>
            </a:solidFill>
          </p:spPr>
          <p:txBody>
            <a:bodyPr wrap="square" rtlCol="0">
              <a:spAutoFit/>
            </a:bodyPr>
            <a:lstStyle/>
            <a:p>
              <a:r>
                <a:rPr lang="en-US" b="1" dirty="0">
                  <a:solidFill>
                    <a:schemeClr val="bg1"/>
                  </a:solidFill>
                </a:rPr>
                <a:t>Locking Grooves</a:t>
              </a:r>
            </a:p>
          </p:txBody>
        </p:sp>
        <p:cxnSp>
          <p:nvCxnSpPr>
            <p:cNvPr id="14" name="Straight Arrow Connector 13">
              <a:extLst>
                <a:ext uri="{FF2B5EF4-FFF2-40B4-BE49-F238E27FC236}">
                  <a16:creationId xmlns:a16="http://schemas.microsoft.com/office/drawing/2014/main" id="{F444551C-7E91-8606-2826-7AF5CE7DB848}"/>
                </a:ext>
              </a:extLst>
            </p:cNvPr>
            <p:cNvCxnSpPr>
              <a:cxnSpLocks/>
              <a:stCxn id="13" idx="3"/>
            </p:cNvCxnSpPr>
            <p:nvPr/>
          </p:nvCxnSpPr>
          <p:spPr>
            <a:xfrm flipV="1">
              <a:off x="6687341" y="-805103"/>
              <a:ext cx="885825" cy="309115"/>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C7A02EEA-D61E-4DD4-305C-8A2F8CE889FD}"/>
              </a:ext>
            </a:extLst>
          </p:cNvPr>
          <p:cNvGrpSpPr/>
          <p:nvPr/>
        </p:nvGrpSpPr>
        <p:grpSpPr>
          <a:xfrm>
            <a:off x="1327634" y="3124337"/>
            <a:ext cx="1776819" cy="369332"/>
            <a:chOff x="5768354" y="333303"/>
            <a:chExt cx="1776819" cy="369332"/>
          </a:xfrm>
        </p:grpSpPr>
        <p:sp>
          <p:nvSpPr>
            <p:cNvPr id="16" name="TextBox 15">
              <a:extLst>
                <a:ext uri="{FF2B5EF4-FFF2-40B4-BE49-F238E27FC236}">
                  <a16:creationId xmlns:a16="http://schemas.microsoft.com/office/drawing/2014/main" id="{B6AB985F-1CC9-A398-8D63-282EC5569E48}"/>
                </a:ext>
              </a:extLst>
            </p:cNvPr>
            <p:cNvSpPr txBox="1"/>
            <p:nvPr/>
          </p:nvSpPr>
          <p:spPr>
            <a:xfrm>
              <a:off x="5768354" y="333303"/>
              <a:ext cx="896656" cy="369332"/>
            </a:xfrm>
            <a:prstGeom prst="rect">
              <a:avLst/>
            </a:prstGeom>
            <a:solidFill>
              <a:srgbClr val="0070C0"/>
            </a:solidFill>
          </p:spPr>
          <p:txBody>
            <a:bodyPr wrap="square" rtlCol="0">
              <a:spAutoFit/>
            </a:bodyPr>
            <a:lstStyle/>
            <a:p>
              <a:r>
                <a:rPr lang="en-US" b="1" dirty="0">
                  <a:solidFill>
                    <a:schemeClr val="bg1"/>
                  </a:solidFill>
                </a:rPr>
                <a:t>Head</a:t>
              </a:r>
            </a:p>
          </p:txBody>
        </p:sp>
        <p:cxnSp>
          <p:nvCxnSpPr>
            <p:cNvPr id="17" name="Straight Arrow Connector 16">
              <a:extLst>
                <a:ext uri="{FF2B5EF4-FFF2-40B4-BE49-F238E27FC236}">
                  <a16:creationId xmlns:a16="http://schemas.microsoft.com/office/drawing/2014/main" id="{A400C4EC-ADD9-85F8-F45C-A56E8976D550}"/>
                </a:ext>
              </a:extLst>
            </p:cNvPr>
            <p:cNvCxnSpPr>
              <a:cxnSpLocks/>
              <a:stCxn id="16" idx="3"/>
            </p:cNvCxnSpPr>
            <p:nvPr/>
          </p:nvCxnSpPr>
          <p:spPr>
            <a:xfrm>
              <a:off x="6665010" y="517969"/>
              <a:ext cx="880163" cy="0"/>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id="{EBA7695B-FD40-705F-CA6F-4FBE58F462D6}"/>
              </a:ext>
            </a:extLst>
          </p:cNvPr>
          <p:cNvGrpSpPr/>
          <p:nvPr/>
        </p:nvGrpSpPr>
        <p:grpSpPr>
          <a:xfrm>
            <a:off x="106338" y="4613163"/>
            <a:ext cx="3149619" cy="369332"/>
            <a:chOff x="4679129" y="-672991"/>
            <a:chExt cx="3149619" cy="369332"/>
          </a:xfrm>
        </p:grpSpPr>
        <p:sp>
          <p:nvSpPr>
            <p:cNvPr id="25" name="TextBox 24">
              <a:extLst>
                <a:ext uri="{FF2B5EF4-FFF2-40B4-BE49-F238E27FC236}">
                  <a16:creationId xmlns:a16="http://schemas.microsoft.com/office/drawing/2014/main" id="{944021E9-4220-BBA6-3500-5293C94ADFD2}"/>
                </a:ext>
              </a:extLst>
            </p:cNvPr>
            <p:cNvSpPr txBox="1"/>
            <p:nvPr/>
          </p:nvSpPr>
          <p:spPr>
            <a:xfrm>
              <a:off x="4679129" y="-672991"/>
              <a:ext cx="2132037" cy="369332"/>
            </a:xfrm>
            <a:prstGeom prst="rect">
              <a:avLst/>
            </a:prstGeom>
            <a:solidFill>
              <a:srgbClr val="0070C0"/>
            </a:solidFill>
          </p:spPr>
          <p:txBody>
            <a:bodyPr wrap="square" rtlCol="0">
              <a:spAutoFit/>
            </a:bodyPr>
            <a:lstStyle/>
            <a:p>
              <a:r>
                <a:rPr lang="en-US" b="1" dirty="0">
                  <a:solidFill>
                    <a:schemeClr val="bg1"/>
                  </a:solidFill>
                </a:rPr>
                <a:t>Breakneck Groove</a:t>
              </a:r>
            </a:p>
          </p:txBody>
        </p:sp>
        <p:cxnSp>
          <p:nvCxnSpPr>
            <p:cNvPr id="26" name="Straight Arrow Connector 25">
              <a:extLst>
                <a:ext uri="{FF2B5EF4-FFF2-40B4-BE49-F238E27FC236}">
                  <a16:creationId xmlns:a16="http://schemas.microsoft.com/office/drawing/2014/main" id="{FBF0B794-DC5E-8CF2-0CFA-A0FB53C1827C}"/>
                </a:ext>
              </a:extLst>
            </p:cNvPr>
            <p:cNvCxnSpPr>
              <a:cxnSpLocks/>
              <a:stCxn id="25" idx="3"/>
            </p:cNvCxnSpPr>
            <p:nvPr/>
          </p:nvCxnSpPr>
          <p:spPr>
            <a:xfrm flipV="1">
              <a:off x="6811166" y="-643755"/>
              <a:ext cx="1017582" cy="155430"/>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32" name="Group 31">
            <a:extLst>
              <a:ext uri="{FF2B5EF4-FFF2-40B4-BE49-F238E27FC236}">
                <a16:creationId xmlns:a16="http://schemas.microsoft.com/office/drawing/2014/main" id="{55DE7CE0-5E0B-284B-24CC-AF248E842C08}"/>
              </a:ext>
            </a:extLst>
          </p:cNvPr>
          <p:cNvGrpSpPr/>
          <p:nvPr/>
        </p:nvGrpSpPr>
        <p:grpSpPr>
          <a:xfrm>
            <a:off x="336656" y="4947121"/>
            <a:ext cx="2787544" cy="770780"/>
            <a:chOff x="4785622" y="-805103"/>
            <a:chExt cx="2787544" cy="770780"/>
          </a:xfrm>
        </p:grpSpPr>
        <p:sp>
          <p:nvSpPr>
            <p:cNvPr id="33" name="TextBox 32">
              <a:extLst>
                <a:ext uri="{FF2B5EF4-FFF2-40B4-BE49-F238E27FC236}">
                  <a16:creationId xmlns:a16="http://schemas.microsoft.com/office/drawing/2014/main" id="{35ED4BEA-99DA-75A4-3544-1A60B5CD06FC}"/>
                </a:ext>
              </a:extLst>
            </p:cNvPr>
            <p:cNvSpPr txBox="1"/>
            <p:nvPr/>
          </p:nvSpPr>
          <p:spPr>
            <a:xfrm>
              <a:off x="4785622" y="-680654"/>
              <a:ext cx="1901719" cy="646331"/>
            </a:xfrm>
            <a:prstGeom prst="rect">
              <a:avLst/>
            </a:prstGeom>
            <a:solidFill>
              <a:srgbClr val="0070C0"/>
            </a:solidFill>
          </p:spPr>
          <p:txBody>
            <a:bodyPr wrap="square" rtlCol="0">
              <a:spAutoFit/>
            </a:bodyPr>
            <a:lstStyle/>
            <a:p>
              <a:r>
                <a:rPr lang="en-US" b="1" dirty="0">
                  <a:solidFill>
                    <a:schemeClr val="bg1"/>
                  </a:solidFill>
                </a:rPr>
                <a:t>Pintail with</a:t>
              </a:r>
            </a:p>
            <a:p>
              <a:r>
                <a:rPr lang="en-US" b="1" dirty="0">
                  <a:solidFill>
                    <a:schemeClr val="bg1"/>
                  </a:solidFill>
                </a:rPr>
                <a:t>Pulling Grooves</a:t>
              </a:r>
            </a:p>
          </p:txBody>
        </p:sp>
        <p:cxnSp>
          <p:nvCxnSpPr>
            <p:cNvPr id="34" name="Straight Arrow Connector 33">
              <a:extLst>
                <a:ext uri="{FF2B5EF4-FFF2-40B4-BE49-F238E27FC236}">
                  <a16:creationId xmlns:a16="http://schemas.microsoft.com/office/drawing/2014/main" id="{CF01530B-7BAA-FD7A-0DA8-1AAE0F2304A6}"/>
                </a:ext>
              </a:extLst>
            </p:cNvPr>
            <p:cNvCxnSpPr>
              <a:cxnSpLocks/>
              <a:stCxn id="33" idx="3"/>
            </p:cNvCxnSpPr>
            <p:nvPr/>
          </p:nvCxnSpPr>
          <p:spPr>
            <a:xfrm flipV="1">
              <a:off x="6687341" y="-805103"/>
              <a:ext cx="885825" cy="447615"/>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35" name="Group 34">
            <a:extLst>
              <a:ext uri="{FF2B5EF4-FFF2-40B4-BE49-F238E27FC236}">
                <a16:creationId xmlns:a16="http://schemas.microsoft.com/office/drawing/2014/main" id="{400A0699-9F15-9564-779C-2D315385476C}"/>
              </a:ext>
            </a:extLst>
          </p:cNvPr>
          <p:cNvGrpSpPr/>
          <p:nvPr/>
        </p:nvGrpSpPr>
        <p:grpSpPr>
          <a:xfrm>
            <a:off x="533400" y="5520512"/>
            <a:ext cx="2428875" cy="692497"/>
            <a:chOff x="5106191" y="-996156"/>
            <a:chExt cx="2428875" cy="692497"/>
          </a:xfrm>
        </p:grpSpPr>
        <p:sp>
          <p:nvSpPr>
            <p:cNvPr id="36" name="TextBox 35">
              <a:extLst>
                <a:ext uri="{FF2B5EF4-FFF2-40B4-BE49-F238E27FC236}">
                  <a16:creationId xmlns:a16="http://schemas.microsoft.com/office/drawing/2014/main" id="{24445D05-8B7F-B3E1-6847-56A7CA9D2F0D}"/>
                </a:ext>
              </a:extLst>
            </p:cNvPr>
            <p:cNvSpPr txBox="1"/>
            <p:nvPr/>
          </p:nvSpPr>
          <p:spPr>
            <a:xfrm>
              <a:off x="5106191" y="-672991"/>
              <a:ext cx="1704975" cy="369332"/>
            </a:xfrm>
            <a:prstGeom prst="rect">
              <a:avLst/>
            </a:prstGeom>
            <a:solidFill>
              <a:srgbClr val="0070C0"/>
            </a:solidFill>
          </p:spPr>
          <p:txBody>
            <a:bodyPr wrap="square" rtlCol="0">
              <a:spAutoFit/>
            </a:bodyPr>
            <a:lstStyle/>
            <a:p>
              <a:r>
                <a:rPr lang="en-US" b="1" dirty="0">
                  <a:solidFill>
                    <a:schemeClr val="bg1"/>
                  </a:solidFill>
                </a:rPr>
                <a:t>Locking Collar</a:t>
              </a:r>
            </a:p>
          </p:txBody>
        </p:sp>
        <p:cxnSp>
          <p:nvCxnSpPr>
            <p:cNvPr id="37" name="Straight Arrow Connector 36">
              <a:extLst>
                <a:ext uri="{FF2B5EF4-FFF2-40B4-BE49-F238E27FC236}">
                  <a16:creationId xmlns:a16="http://schemas.microsoft.com/office/drawing/2014/main" id="{85895FDE-4B15-9E90-AB20-F2CE98E91E2A}"/>
                </a:ext>
              </a:extLst>
            </p:cNvPr>
            <p:cNvCxnSpPr>
              <a:cxnSpLocks/>
              <a:stCxn id="36" idx="3"/>
            </p:cNvCxnSpPr>
            <p:nvPr/>
          </p:nvCxnSpPr>
          <p:spPr>
            <a:xfrm flipV="1">
              <a:off x="6811166" y="-996156"/>
              <a:ext cx="723900" cy="507831"/>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pic>
        <p:nvPicPr>
          <p:cNvPr id="45" name="Picture 44">
            <a:extLst>
              <a:ext uri="{FF2B5EF4-FFF2-40B4-BE49-F238E27FC236}">
                <a16:creationId xmlns:a16="http://schemas.microsoft.com/office/drawing/2014/main" id="{EB56EEF1-EB6D-B184-6002-465DC8D6FB51}"/>
              </a:ext>
            </a:extLst>
          </p:cNvPr>
          <p:cNvPicPr>
            <a:picLocks noChangeAspect="1"/>
          </p:cNvPicPr>
          <p:nvPr/>
        </p:nvPicPr>
        <p:blipFill>
          <a:blip r:embed="rId4"/>
          <a:stretch>
            <a:fillRect/>
          </a:stretch>
        </p:blipFill>
        <p:spPr>
          <a:xfrm>
            <a:off x="5211949" y="2867703"/>
            <a:ext cx="1637049" cy="3160638"/>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pic>
        <p:nvPicPr>
          <p:cNvPr id="47" name="Picture 46">
            <a:extLst>
              <a:ext uri="{FF2B5EF4-FFF2-40B4-BE49-F238E27FC236}">
                <a16:creationId xmlns:a16="http://schemas.microsoft.com/office/drawing/2014/main" id="{8047328E-8F11-89BB-C7C2-106BA1577716}"/>
              </a:ext>
            </a:extLst>
          </p:cNvPr>
          <p:cNvPicPr>
            <a:picLocks noChangeAspect="1"/>
          </p:cNvPicPr>
          <p:nvPr/>
        </p:nvPicPr>
        <p:blipFill>
          <a:blip r:embed="rId5"/>
          <a:stretch>
            <a:fillRect/>
          </a:stretch>
        </p:blipFill>
        <p:spPr>
          <a:xfrm>
            <a:off x="6777034" y="2867703"/>
            <a:ext cx="1547903" cy="3160638"/>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pic>
        <p:nvPicPr>
          <p:cNvPr id="49" name="Picture 48">
            <a:extLst>
              <a:ext uri="{FF2B5EF4-FFF2-40B4-BE49-F238E27FC236}">
                <a16:creationId xmlns:a16="http://schemas.microsoft.com/office/drawing/2014/main" id="{A69B1625-66C8-AAA3-5C48-0DDA9F69C9BC}"/>
              </a:ext>
            </a:extLst>
          </p:cNvPr>
          <p:cNvPicPr>
            <a:picLocks noChangeAspect="1"/>
          </p:cNvPicPr>
          <p:nvPr/>
        </p:nvPicPr>
        <p:blipFill>
          <a:blip r:embed="rId6"/>
          <a:stretch>
            <a:fillRect/>
          </a:stretch>
        </p:blipFill>
        <p:spPr>
          <a:xfrm>
            <a:off x="8290627" y="2867703"/>
            <a:ext cx="1523590" cy="3160638"/>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pic>
        <p:nvPicPr>
          <p:cNvPr id="51" name="Picture 50">
            <a:extLst>
              <a:ext uri="{FF2B5EF4-FFF2-40B4-BE49-F238E27FC236}">
                <a16:creationId xmlns:a16="http://schemas.microsoft.com/office/drawing/2014/main" id="{634938D3-C452-1691-3FAF-7EB671F0CDA5}"/>
              </a:ext>
            </a:extLst>
          </p:cNvPr>
          <p:cNvPicPr>
            <a:picLocks noChangeAspect="1"/>
          </p:cNvPicPr>
          <p:nvPr/>
        </p:nvPicPr>
        <p:blipFill>
          <a:blip r:embed="rId7"/>
          <a:stretch>
            <a:fillRect/>
          </a:stretch>
        </p:blipFill>
        <p:spPr>
          <a:xfrm>
            <a:off x="9797679" y="2867704"/>
            <a:ext cx="1588424" cy="3160638"/>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sp>
        <p:nvSpPr>
          <p:cNvPr id="3" name="TextBox 2">
            <a:hlinkClick r:id="rId8"/>
            <a:extLst>
              <a:ext uri="{FF2B5EF4-FFF2-40B4-BE49-F238E27FC236}">
                <a16:creationId xmlns:a16="http://schemas.microsoft.com/office/drawing/2014/main" id="{D6795E64-D807-4128-9DD2-5A15CD464016}"/>
              </a:ext>
            </a:extLst>
          </p:cNvPr>
          <p:cNvSpPr txBox="1"/>
          <p:nvPr/>
        </p:nvSpPr>
        <p:spPr>
          <a:xfrm rot="16200000">
            <a:off x="2828972" y="5279318"/>
            <a:ext cx="1790641" cy="230832"/>
          </a:xfrm>
          <a:prstGeom prst="rect">
            <a:avLst/>
          </a:prstGeom>
          <a:noFill/>
        </p:spPr>
        <p:txBody>
          <a:bodyPr wrap="square" rtlCol="0">
            <a:spAutoFit/>
          </a:bodyPr>
          <a:lstStyle/>
          <a:p>
            <a:r>
              <a:rPr lang="en-US" sz="900" dirty="0"/>
              <a:t>(Ad) Industry Plaza Sales, 2026</a:t>
            </a:r>
          </a:p>
        </p:txBody>
      </p:sp>
      <p:sp>
        <p:nvSpPr>
          <p:cNvPr id="4" name="TextBox 3">
            <a:extLst>
              <a:ext uri="{FF2B5EF4-FFF2-40B4-BE49-F238E27FC236}">
                <a16:creationId xmlns:a16="http://schemas.microsoft.com/office/drawing/2014/main" id="{5B32949E-2F8E-C8CC-5D73-3C6A2B8B0D95}"/>
              </a:ext>
            </a:extLst>
          </p:cNvPr>
          <p:cNvSpPr txBox="1"/>
          <p:nvPr/>
        </p:nvSpPr>
        <p:spPr>
          <a:xfrm rot="16200000">
            <a:off x="10701713" y="5092286"/>
            <a:ext cx="1641276" cy="230832"/>
          </a:xfrm>
          <a:prstGeom prst="rect">
            <a:avLst/>
          </a:prstGeom>
          <a:noFill/>
        </p:spPr>
        <p:txBody>
          <a:bodyPr wrap="square" rtlCol="0">
            <a:spAutoFit/>
          </a:bodyPr>
          <a:lstStyle/>
          <a:p>
            <a:r>
              <a:rPr lang="pl-PL" sz="900" dirty="0"/>
              <a:t>ChatGPT </a:t>
            </a:r>
            <a:r>
              <a:rPr lang="en-US" sz="900" dirty="0"/>
              <a:t>/</a:t>
            </a:r>
            <a:r>
              <a:rPr lang="pl-PL" sz="900" dirty="0"/>
              <a:t> Matt Pierce, 2026</a:t>
            </a:r>
            <a:endParaRPr lang="en-US" sz="900" dirty="0"/>
          </a:p>
        </p:txBody>
      </p:sp>
    </p:spTree>
    <p:extLst>
      <p:ext uri="{BB962C8B-B14F-4D97-AF65-F5344CB8AC3E}">
        <p14:creationId xmlns:p14="http://schemas.microsoft.com/office/powerpoint/2010/main" val="470098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20BD555-DD42-98DD-2950-4F9282212A91}"/>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F853CA03-26C7-443C-898D-C0581267D3AC}"/>
              </a:ext>
            </a:extLst>
          </p:cNvPr>
          <p:cNvGrpSpPr/>
          <p:nvPr/>
        </p:nvGrpSpPr>
        <p:grpSpPr>
          <a:xfrm>
            <a:off x="4808367" y="2952887"/>
            <a:ext cx="2510042" cy="3058141"/>
            <a:chOff x="4633709" y="2324237"/>
            <a:chExt cx="2510042" cy="3058141"/>
          </a:xfrm>
        </p:grpSpPr>
        <p:pic>
          <p:nvPicPr>
            <p:cNvPr id="4" name="Picture 3">
              <a:extLst>
                <a:ext uri="{FF2B5EF4-FFF2-40B4-BE49-F238E27FC236}">
                  <a16:creationId xmlns:a16="http://schemas.microsoft.com/office/drawing/2014/main" id="{B0983EB7-6192-DB20-FFE3-55F192C3EE79}"/>
                </a:ext>
              </a:extLst>
            </p:cNvPr>
            <p:cNvPicPr>
              <a:picLocks noChangeAspect="1"/>
            </p:cNvPicPr>
            <p:nvPr/>
          </p:nvPicPr>
          <p:blipFill>
            <a:blip r:embed="rId3"/>
            <a:stretch>
              <a:fillRect/>
            </a:stretch>
          </p:blipFill>
          <p:spPr>
            <a:xfrm>
              <a:off x="4633709" y="2324237"/>
              <a:ext cx="2510042" cy="2796204"/>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sp>
          <p:nvSpPr>
            <p:cNvPr id="3" name="TextBox 2">
              <a:extLst>
                <a:ext uri="{FF2B5EF4-FFF2-40B4-BE49-F238E27FC236}">
                  <a16:creationId xmlns:a16="http://schemas.microsoft.com/office/drawing/2014/main" id="{CF2994E9-6A77-C5CB-839C-C8B1B0CB04AD}"/>
                </a:ext>
              </a:extLst>
            </p:cNvPr>
            <p:cNvSpPr txBox="1"/>
            <p:nvPr/>
          </p:nvSpPr>
          <p:spPr>
            <a:xfrm>
              <a:off x="4886650" y="5151546"/>
              <a:ext cx="2241764"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sp>
        <p:nvSpPr>
          <p:cNvPr id="2" name="Title 1">
            <a:extLst>
              <a:ext uri="{FF2B5EF4-FFF2-40B4-BE49-F238E27FC236}">
                <a16:creationId xmlns:a16="http://schemas.microsoft.com/office/drawing/2014/main" id="{D0AB41A4-5C75-B0E8-2D18-022C5AA9B092}"/>
              </a:ext>
            </a:extLst>
          </p:cNvPr>
          <p:cNvSpPr>
            <a:spLocks noGrp="1"/>
          </p:cNvSpPr>
          <p:nvPr>
            <p:ph type="title"/>
          </p:nvPr>
        </p:nvSpPr>
        <p:spPr>
          <a:xfrm>
            <a:off x="365760" y="365125"/>
            <a:ext cx="10515600" cy="877824"/>
          </a:xfrm>
        </p:spPr>
        <p:txBody>
          <a:bodyPr/>
          <a:lstStyle/>
          <a:p>
            <a:r>
              <a:rPr lang="en-US" dirty="0"/>
              <a:t>“NAS 523” Fastener Standards</a:t>
            </a:r>
            <a:endParaRPr lang="en-US" dirty="0">
              <a:solidFill>
                <a:schemeClr val="bg1">
                  <a:lumMod val="65000"/>
                </a:schemeClr>
              </a:solidFill>
            </a:endParaRPr>
          </a:p>
        </p:txBody>
      </p:sp>
      <p:sp>
        <p:nvSpPr>
          <p:cNvPr id="6" name="Content Placeholder 2">
            <a:extLst>
              <a:ext uri="{FF2B5EF4-FFF2-40B4-BE49-F238E27FC236}">
                <a16:creationId xmlns:a16="http://schemas.microsoft.com/office/drawing/2014/main" id="{DABD3B0B-7B24-9EAC-5818-4752A324A564}"/>
              </a:ext>
            </a:extLst>
          </p:cNvPr>
          <p:cNvSpPr>
            <a:spLocks noGrp="1"/>
          </p:cNvSpPr>
          <p:nvPr>
            <p:ph idx="1"/>
          </p:nvPr>
        </p:nvSpPr>
        <p:spPr>
          <a:xfrm>
            <a:off x="386672" y="1543325"/>
            <a:ext cx="3852292" cy="1561825"/>
          </a:xfrm>
          <a:solidFill>
            <a:srgbClr val="0070C0"/>
          </a:solidFill>
        </p:spPr>
        <p:txBody>
          <a:bodyPr>
            <a:normAutofit/>
          </a:bodyPr>
          <a:lstStyle/>
          <a:p>
            <a:pPr marL="0" indent="0">
              <a:buNone/>
            </a:pPr>
            <a:r>
              <a:rPr lang="en-US" sz="2400" u="sng" dirty="0">
                <a:solidFill>
                  <a:schemeClr val="bg1"/>
                </a:solidFill>
              </a:rPr>
              <a:t>NW Quadrant</a:t>
            </a:r>
            <a:r>
              <a:rPr lang="en-US" sz="2400" dirty="0">
                <a:solidFill>
                  <a:schemeClr val="bg1"/>
                </a:solidFill>
              </a:rPr>
              <a:t>:</a:t>
            </a:r>
          </a:p>
          <a:p>
            <a:r>
              <a:rPr lang="en-US" sz="2400" dirty="0">
                <a:solidFill>
                  <a:schemeClr val="bg1"/>
                </a:solidFill>
              </a:rPr>
              <a:t>Engineering Code</a:t>
            </a:r>
          </a:p>
          <a:p>
            <a:r>
              <a:rPr lang="en-US" sz="2400" dirty="0">
                <a:solidFill>
                  <a:schemeClr val="bg1"/>
                </a:solidFill>
              </a:rPr>
              <a:t>Type/Material</a:t>
            </a:r>
          </a:p>
        </p:txBody>
      </p:sp>
      <p:cxnSp>
        <p:nvCxnSpPr>
          <p:cNvPr id="21" name="Straight Arrow Connector 20">
            <a:extLst>
              <a:ext uri="{FF2B5EF4-FFF2-40B4-BE49-F238E27FC236}">
                <a16:creationId xmlns:a16="http://schemas.microsoft.com/office/drawing/2014/main" id="{65416CAB-20DF-1BB6-950C-A8DF20DAC0B7}"/>
              </a:ext>
            </a:extLst>
          </p:cNvPr>
          <p:cNvCxnSpPr>
            <a:cxnSpLocks/>
            <a:stCxn id="6" idx="3"/>
          </p:cNvCxnSpPr>
          <p:nvPr/>
        </p:nvCxnSpPr>
        <p:spPr>
          <a:xfrm>
            <a:off x="4238964" y="2324238"/>
            <a:ext cx="1455046" cy="1024690"/>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nvGrpSpPr>
          <p:cNvPr id="42" name="Group 41">
            <a:extLst>
              <a:ext uri="{FF2B5EF4-FFF2-40B4-BE49-F238E27FC236}">
                <a16:creationId xmlns:a16="http://schemas.microsoft.com/office/drawing/2014/main" id="{4BD92E0F-BA0F-336F-1071-18A41ED046E9}"/>
              </a:ext>
            </a:extLst>
          </p:cNvPr>
          <p:cNvGrpSpPr/>
          <p:nvPr/>
        </p:nvGrpSpPr>
        <p:grpSpPr>
          <a:xfrm>
            <a:off x="386672" y="3977578"/>
            <a:ext cx="5307338" cy="1923775"/>
            <a:chOff x="212014" y="3977578"/>
            <a:chExt cx="5307338" cy="1923775"/>
          </a:xfrm>
        </p:grpSpPr>
        <p:sp>
          <p:nvSpPr>
            <p:cNvPr id="11" name="Content Placeholder 2">
              <a:extLst>
                <a:ext uri="{FF2B5EF4-FFF2-40B4-BE49-F238E27FC236}">
                  <a16:creationId xmlns:a16="http://schemas.microsoft.com/office/drawing/2014/main" id="{C43D075A-5329-539E-58F2-9921AE764EFA}"/>
                </a:ext>
              </a:extLst>
            </p:cNvPr>
            <p:cNvSpPr txBox="1">
              <a:spLocks/>
            </p:cNvSpPr>
            <p:nvPr/>
          </p:nvSpPr>
          <p:spPr>
            <a:xfrm>
              <a:off x="212014" y="4339528"/>
              <a:ext cx="3852292" cy="1561825"/>
            </a:xfrm>
            <a:prstGeom prst="rect">
              <a:avLst/>
            </a:prstGeom>
            <a:solidFill>
              <a:srgbClr val="C00000"/>
            </a:solid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u="sng" dirty="0">
                  <a:solidFill>
                    <a:schemeClr val="bg1"/>
                  </a:solidFill>
                </a:rPr>
                <a:t>SW Quadrant</a:t>
              </a:r>
              <a:r>
                <a:rPr lang="en-US" sz="2400" dirty="0">
                  <a:solidFill>
                    <a:schemeClr val="bg1"/>
                  </a:solidFill>
                </a:rPr>
                <a:t>:</a:t>
              </a:r>
            </a:p>
            <a:p>
              <a:r>
                <a:rPr lang="en-US" sz="2400" dirty="0">
                  <a:solidFill>
                    <a:schemeClr val="bg1"/>
                  </a:solidFill>
                </a:rPr>
                <a:t>D = Dimple</a:t>
              </a:r>
            </a:p>
            <a:p>
              <a:r>
                <a:rPr lang="en-US" sz="2400" dirty="0">
                  <a:solidFill>
                    <a:schemeClr val="bg1"/>
                  </a:solidFill>
                </a:rPr>
                <a:t>X = # Sheets to dimple</a:t>
              </a:r>
            </a:p>
            <a:p>
              <a:r>
                <a:rPr lang="en-US" sz="2400" dirty="0">
                  <a:solidFill>
                    <a:schemeClr val="bg1"/>
                  </a:solidFill>
                </a:rPr>
                <a:t>C = Countersink</a:t>
              </a:r>
            </a:p>
          </p:txBody>
        </p:sp>
        <p:cxnSp>
          <p:nvCxnSpPr>
            <p:cNvPr id="27" name="Straight Arrow Connector 26">
              <a:extLst>
                <a:ext uri="{FF2B5EF4-FFF2-40B4-BE49-F238E27FC236}">
                  <a16:creationId xmlns:a16="http://schemas.microsoft.com/office/drawing/2014/main" id="{0E658682-E39E-13A5-C171-F99AA8E6A5BA}"/>
                </a:ext>
              </a:extLst>
            </p:cNvPr>
            <p:cNvCxnSpPr>
              <a:cxnSpLocks/>
              <a:stCxn id="11" idx="3"/>
            </p:cNvCxnSpPr>
            <p:nvPr/>
          </p:nvCxnSpPr>
          <p:spPr>
            <a:xfrm flipV="1">
              <a:off x="4064306" y="3977578"/>
              <a:ext cx="1455046" cy="1142863"/>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F3C08678-67D8-05D3-E6A3-1743375275C4}"/>
              </a:ext>
            </a:extLst>
          </p:cNvPr>
          <p:cNvGrpSpPr/>
          <p:nvPr/>
        </p:nvGrpSpPr>
        <p:grpSpPr>
          <a:xfrm>
            <a:off x="6651658" y="3977578"/>
            <a:ext cx="5088446" cy="1929290"/>
            <a:chOff x="6477000" y="3977578"/>
            <a:chExt cx="5088446" cy="1929290"/>
          </a:xfrm>
        </p:grpSpPr>
        <p:sp>
          <p:nvSpPr>
            <p:cNvPr id="18" name="Content Placeholder 2">
              <a:extLst>
                <a:ext uri="{FF2B5EF4-FFF2-40B4-BE49-F238E27FC236}">
                  <a16:creationId xmlns:a16="http://schemas.microsoft.com/office/drawing/2014/main" id="{93A6B1C3-9CEC-EAD1-7E54-1BB10560C183}"/>
                </a:ext>
              </a:extLst>
            </p:cNvPr>
            <p:cNvSpPr txBox="1">
              <a:spLocks/>
            </p:cNvSpPr>
            <p:nvPr/>
          </p:nvSpPr>
          <p:spPr>
            <a:xfrm>
              <a:off x="7713154" y="4345043"/>
              <a:ext cx="3852292" cy="1561825"/>
            </a:xfrm>
            <a:prstGeom prst="rect">
              <a:avLst/>
            </a:prstGeom>
            <a:solidFill>
              <a:schemeClr val="tx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u="sng" dirty="0">
                  <a:solidFill>
                    <a:schemeClr val="bg1"/>
                  </a:solidFill>
                </a:rPr>
                <a:t>SE Quadrant</a:t>
              </a:r>
              <a:r>
                <a:rPr lang="en-US" sz="2400" dirty="0">
                  <a:solidFill>
                    <a:schemeClr val="bg1"/>
                  </a:solidFill>
                </a:rPr>
                <a:t>:</a:t>
              </a:r>
            </a:p>
            <a:p>
              <a:r>
                <a:rPr lang="en-US" sz="2400" dirty="0">
                  <a:solidFill>
                    <a:schemeClr val="bg1"/>
                  </a:solidFill>
                </a:rPr>
                <a:t>X = Rivet Length 1/16”</a:t>
              </a:r>
            </a:p>
            <a:p>
              <a:r>
                <a:rPr lang="en-US" sz="2400" dirty="0">
                  <a:solidFill>
                    <a:schemeClr val="bg1"/>
                  </a:solidFill>
                </a:rPr>
                <a:t>W = Spot Weld</a:t>
              </a:r>
            </a:p>
          </p:txBody>
        </p:sp>
        <p:cxnSp>
          <p:nvCxnSpPr>
            <p:cNvPr id="30" name="Straight Arrow Connector 29">
              <a:extLst>
                <a:ext uri="{FF2B5EF4-FFF2-40B4-BE49-F238E27FC236}">
                  <a16:creationId xmlns:a16="http://schemas.microsoft.com/office/drawing/2014/main" id="{1D1E21D4-D545-EBCC-8FFC-D5153A00A50B}"/>
                </a:ext>
              </a:extLst>
            </p:cNvPr>
            <p:cNvCxnSpPr>
              <a:cxnSpLocks/>
              <a:stCxn id="18" idx="1"/>
            </p:cNvCxnSpPr>
            <p:nvPr/>
          </p:nvCxnSpPr>
          <p:spPr>
            <a:xfrm flipH="1" flipV="1">
              <a:off x="6477000" y="3977578"/>
              <a:ext cx="1236154" cy="1148378"/>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43" name="Group 42">
            <a:extLst>
              <a:ext uri="{FF2B5EF4-FFF2-40B4-BE49-F238E27FC236}">
                <a16:creationId xmlns:a16="http://schemas.microsoft.com/office/drawing/2014/main" id="{E021DC5D-17F1-644B-BD15-26453098F82B}"/>
              </a:ext>
            </a:extLst>
          </p:cNvPr>
          <p:cNvGrpSpPr/>
          <p:nvPr/>
        </p:nvGrpSpPr>
        <p:grpSpPr>
          <a:xfrm>
            <a:off x="6651658" y="1543325"/>
            <a:ext cx="5088446" cy="1788558"/>
            <a:chOff x="6477000" y="1543325"/>
            <a:chExt cx="5088446" cy="1788558"/>
          </a:xfrm>
        </p:grpSpPr>
        <p:sp>
          <p:nvSpPr>
            <p:cNvPr id="5" name="Content Placeholder 2">
              <a:extLst>
                <a:ext uri="{FF2B5EF4-FFF2-40B4-BE49-F238E27FC236}">
                  <a16:creationId xmlns:a16="http://schemas.microsoft.com/office/drawing/2014/main" id="{712227A7-75B3-7A1B-F32F-E8478CACE487}"/>
                </a:ext>
              </a:extLst>
            </p:cNvPr>
            <p:cNvSpPr txBox="1">
              <a:spLocks/>
            </p:cNvSpPr>
            <p:nvPr/>
          </p:nvSpPr>
          <p:spPr>
            <a:xfrm>
              <a:off x="7713154" y="1543325"/>
              <a:ext cx="3852292" cy="1561825"/>
            </a:xfrm>
            <a:prstGeom prst="rect">
              <a:avLst/>
            </a:prstGeom>
            <a:solidFill>
              <a:srgbClr val="FFFF00"/>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u="sng" dirty="0"/>
                <a:t>NE Quadrant</a:t>
              </a:r>
              <a:r>
                <a:rPr lang="en-US" sz="2400" dirty="0"/>
                <a:t>:</a:t>
              </a:r>
            </a:p>
            <a:p>
              <a:r>
                <a:rPr lang="en-US" sz="2400" dirty="0"/>
                <a:t>X=Diamer in 1/32”</a:t>
              </a:r>
            </a:p>
            <a:p>
              <a:r>
                <a:rPr lang="en-US" sz="2400" dirty="0"/>
                <a:t>N/F = Location </a:t>
              </a:r>
              <a:r>
                <a:rPr lang="en-US" sz="2400" dirty="0" err="1"/>
                <a:t>Mfg</a:t>
              </a:r>
              <a:r>
                <a:rPr lang="en-US" sz="2400" dirty="0"/>
                <a:t> Head</a:t>
              </a:r>
              <a:br>
                <a:rPr lang="en-US" sz="2400" dirty="0"/>
              </a:br>
              <a:r>
                <a:rPr lang="en-US" sz="1800" dirty="0">
                  <a:solidFill>
                    <a:schemeClr val="bg1">
                      <a:lumMod val="50000"/>
                    </a:schemeClr>
                  </a:solidFill>
                </a:rPr>
                <a:t>( Near or Far Side)</a:t>
              </a:r>
              <a:endParaRPr lang="en-US" sz="2400" dirty="0">
                <a:solidFill>
                  <a:schemeClr val="bg1">
                    <a:lumMod val="50000"/>
                  </a:schemeClr>
                </a:solidFill>
              </a:endParaRPr>
            </a:p>
          </p:txBody>
        </p:sp>
        <p:cxnSp>
          <p:nvCxnSpPr>
            <p:cNvPr id="39" name="Straight Arrow Connector 38">
              <a:extLst>
                <a:ext uri="{FF2B5EF4-FFF2-40B4-BE49-F238E27FC236}">
                  <a16:creationId xmlns:a16="http://schemas.microsoft.com/office/drawing/2014/main" id="{A4430287-E7AD-593D-0DC3-39F1AC24FBD5}"/>
                </a:ext>
              </a:extLst>
            </p:cNvPr>
            <p:cNvCxnSpPr>
              <a:cxnSpLocks/>
              <a:stCxn id="5" idx="1"/>
            </p:cNvCxnSpPr>
            <p:nvPr/>
          </p:nvCxnSpPr>
          <p:spPr>
            <a:xfrm flipH="1">
              <a:off x="6477000" y="2324238"/>
              <a:ext cx="1236154" cy="1007645"/>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sp>
        <p:nvSpPr>
          <p:cNvPr id="8" name="TextBox 7">
            <a:extLst>
              <a:ext uri="{FF2B5EF4-FFF2-40B4-BE49-F238E27FC236}">
                <a16:creationId xmlns:a16="http://schemas.microsoft.com/office/drawing/2014/main" id="{AE2F9949-808F-ACBA-DAF9-AF9986266FCF}"/>
              </a:ext>
            </a:extLst>
          </p:cNvPr>
          <p:cNvSpPr txBox="1"/>
          <p:nvPr/>
        </p:nvSpPr>
        <p:spPr>
          <a:xfrm>
            <a:off x="10272445" y="94928"/>
            <a:ext cx="1818524"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dirty="0">
                <a:solidFill>
                  <a:schemeClr val="accent5">
                    <a:lumMod val="60000"/>
                    <a:lumOff val="40000"/>
                  </a:schemeClr>
                </a:solidFill>
              </a:rPr>
              <a:t>Text from Google AI</a:t>
            </a:r>
          </a:p>
        </p:txBody>
      </p:sp>
    </p:spTree>
    <p:extLst>
      <p:ext uri="{BB962C8B-B14F-4D97-AF65-F5344CB8AC3E}">
        <p14:creationId xmlns:p14="http://schemas.microsoft.com/office/powerpoint/2010/main" val="3110601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C18457F2-A1EB-03F9-0CDB-98F798CD055E}"/>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7F231B5B-055A-C99D-F2DD-C664E710B84C}"/>
              </a:ext>
            </a:extLst>
          </p:cNvPr>
          <p:cNvSpPr>
            <a:spLocks noGrp="1"/>
          </p:cNvSpPr>
          <p:nvPr>
            <p:ph idx="1"/>
          </p:nvPr>
        </p:nvSpPr>
        <p:spPr>
          <a:xfrm>
            <a:off x="838200" y="1565134"/>
            <a:ext cx="7165369" cy="1863866"/>
          </a:xfrm>
        </p:spPr>
        <p:txBody>
          <a:bodyPr/>
          <a:lstStyle/>
          <a:p>
            <a:r>
              <a:rPr lang="en-US" dirty="0"/>
              <a:t>Inspecting “Pin Protrusion”</a:t>
            </a:r>
          </a:p>
          <a:p>
            <a:pPr lvl="1"/>
            <a:r>
              <a:rPr lang="en-US" dirty="0"/>
              <a:t>Gauge is thin metal card with two-step cutout</a:t>
            </a:r>
          </a:p>
          <a:p>
            <a:pPr lvl="1"/>
            <a:r>
              <a:rPr lang="en-US" dirty="0" err="1"/>
              <a:t>NoGo</a:t>
            </a:r>
            <a:r>
              <a:rPr lang="en-US" dirty="0"/>
              <a:t> at Min Prot = PASS for too small</a:t>
            </a:r>
          </a:p>
          <a:p>
            <a:pPr lvl="1"/>
            <a:r>
              <a:rPr lang="en-US" dirty="0"/>
              <a:t>Go at Max Prot = PASS for too big</a:t>
            </a:r>
          </a:p>
        </p:txBody>
      </p:sp>
      <p:sp>
        <p:nvSpPr>
          <p:cNvPr id="2" name="Title 1">
            <a:extLst>
              <a:ext uri="{FF2B5EF4-FFF2-40B4-BE49-F238E27FC236}">
                <a16:creationId xmlns:a16="http://schemas.microsoft.com/office/drawing/2014/main" id="{43063824-0B26-3272-4065-27F96534F8B0}"/>
              </a:ext>
            </a:extLst>
          </p:cNvPr>
          <p:cNvSpPr>
            <a:spLocks noGrp="1"/>
          </p:cNvSpPr>
          <p:nvPr>
            <p:ph type="title"/>
          </p:nvPr>
        </p:nvSpPr>
        <p:spPr>
          <a:xfrm>
            <a:off x="365760" y="365125"/>
            <a:ext cx="10515600" cy="877824"/>
          </a:xfrm>
        </p:spPr>
        <p:txBody>
          <a:bodyPr/>
          <a:lstStyle/>
          <a:p>
            <a:r>
              <a:rPr lang="en-US" dirty="0"/>
              <a:t>Inspecting Fasteners: Pin Protrusion (Height) </a:t>
            </a:r>
            <a:endParaRPr lang="en-US" dirty="0">
              <a:solidFill>
                <a:schemeClr val="bg1">
                  <a:lumMod val="65000"/>
                </a:schemeClr>
              </a:solidFill>
            </a:endParaRPr>
          </a:p>
        </p:txBody>
      </p:sp>
      <p:grpSp>
        <p:nvGrpSpPr>
          <p:cNvPr id="9" name="Group 8">
            <a:extLst>
              <a:ext uri="{FF2B5EF4-FFF2-40B4-BE49-F238E27FC236}">
                <a16:creationId xmlns:a16="http://schemas.microsoft.com/office/drawing/2014/main" id="{A5B4E34A-6E39-9F8A-3BDD-A568850F1C31}"/>
              </a:ext>
            </a:extLst>
          </p:cNvPr>
          <p:cNvGrpSpPr/>
          <p:nvPr/>
        </p:nvGrpSpPr>
        <p:grpSpPr>
          <a:xfrm>
            <a:off x="1679457" y="3461772"/>
            <a:ext cx="4811568" cy="2602251"/>
            <a:chOff x="4827732" y="3804907"/>
            <a:chExt cx="4811568" cy="2602251"/>
          </a:xfrm>
        </p:grpSpPr>
        <p:grpSp>
          <p:nvGrpSpPr>
            <p:cNvPr id="13" name="Group 12">
              <a:extLst>
                <a:ext uri="{FF2B5EF4-FFF2-40B4-BE49-F238E27FC236}">
                  <a16:creationId xmlns:a16="http://schemas.microsoft.com/office/drawing/2014/main" id="{A937813D-06CF-E914-E144-6A4FA72CEA9C}"/>
                </a:ext>
              </a:extLst>
            </p:cNvPr>
            <p:cNvGrpSpPr/>
            <p:nvPr/>
          </p:nvGrpSpPr>
          <p:grpSpPr>
            <a:xfrm>
              <a:off x="4827732" y="3804907"/>
              <a:ext cx="4811568" cy="2372056"/>
              <a:chOff x="4827732" y="3804907"/>
              <a:chExt cx="4811568" cy="2372056"/>
            </a:xfrm>
          </p:grpSpPr>
          <p:pic>
            <p:nvPicPr>
              <p:cNvPr id="8" name="Picture 7">
                <a:extLst>
                  <a:ext uri="{FF2B5EF4-FFF2-40B4-BE49-F238E27FC236}">
                    <a16:creationId xmlns:a16="http://schemas.microsoft.com/office/drawing/2014/main" id="{3AD01496-954D-C37C-7FEC-60C42AFAE5B3}"/>
                  </a:ext>
                </a:extLst>
              </p:cNvPr>
              <p:cNvPicPr>
                <a:picLocks noChangeAspect="1"/>
              </p:cNvPicPr>
              <p:nvPr/>
            </p:nvPicPr>
            <p:blipFill>
              <a:blip r:embed="rId3"/>
              <a:stretch>
                <a:fillRect/>
              </a:stretch>
            </p:blipFill>
            <p:spPr>
              <a:xfrm>
                <a:off x="4827732" y="3804907"/>
                <a:ext cx="3810532" cy="2372056"/>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cxnSp>
            <p:nvCxnSpPr>
              <p:cNvPr id="10" name="Straight Connector 9">
                <a:extLst>
                  <a:ext uri="{FF2B5EF4-FFF2-40B4-BE49-F238E27FC236}">
                    <a16:creationId xmlns:a16="http://schemas.microsoft.com/office/drawing/2014/main" id="{C98FB4E2-01FC-F7FE-0673-6EF66D3CC310}"/>
                  </a:ext>
                </a:extLst>
              </p:cNvPr>
              <p:cNvCxnSpPr>
                <a:cxnSpLocks/>
              </p:cNvCxnSpPr>
              <p:nvPr/>
            </p:nvCxnSpPr>
            <p:spPr>
              <a:xfrm flipH="1">
                <a:off x="8003569" y="3960176"/>
                <a:ext cx="1326200" cy="118664"/>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2204CDB-0267-FABE-2BAD-DD0CC7DF08DC}"/>
                  </a:ext>
                </a:extLst>
              </p:cNvPr>
              <p:cNvCxnSpPr>
                <a:cxnSpLocks/>
              </p:cNvCxnSpPr>
              <p:nvPr/>
            </p:nvCxnSpPr>
            <p:spPr>
              <a:xfrm flipH="1">
                <a:off x="8003569" y="4922044"/>
                <a:ext cx="1635731" cy="254236"/>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grpSp>
        <p:sp>
          <p:nvSpPr>
            <p:cNvPr id="3" name="TextBox 2">
              <a:extLst>
                <a:ext uri="{FF2B5EF4-FFF2-40B4-BE49-F238E27FC236}">
                  <a16:creationId xmlns:a16="http://schemas.microsoft.com/office/drawing/2014/main" id="{2EDB96B3-325D-B96F-E9E1-085AF4FE9230}"/>
                </a:ext>
              </a:extLst>
            </p:cNvPr>
            <p:cNvSpPr txBox="1"/>
            <p:nvPr/>
          </p:nvSpPr>
          <p:spPr>
            <a:xfrm>
              <a:off x="6396500" y="6176326"/>
              <a:ext cx="2241764"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grpSp>
        <p:nvGrpSpPr>
          <p:cNvPr id="26" name="Group 25">
            <a:extLst>
              <a:ext uri="{FF2B5EF4-FFF2-40B4-BE49-F238E27FC236}">
                <a16:creationId xmlns:a16="http://schemas.microsoft.com/office/drawing/2014/main" id="{77498043-ACC4-70BC-2C31-598D00483C52}"/>
              </a:ext>
            </a:extLst>
          </p:cNvPr>
          <p:cNvGrpSpPr/>
          <p:nvPr/>
        </p:nvGrpSpPr>
        <p:grpSpPr>
          <a:xfrm>
            <a:off x="6030347" y="3376347"/>
            <a:ext cx="1475592" cy="1744605"/>
            <a:chOff x="6883097" y="4036031"/>
            <a:chExt cx="1475592" cy="1744605"/>
          </a:xfrm>
        </p:grpSpPr>
        <p:sp>
          <p:nvSpPr>
            <p:cNvPr id="4" name="TextBox 3">
              <a:extLst>
                <a:ext uri="{FF2B5EF4-FFF2-40B4-BE49-F238E27FC236}">
                  <a16:creationId xmlns:a16="http://schemas.microsoft.com/office/drawing/2014/main" id="{1ABEA8FF-90F7-B699-DECD-40A7200874AB}"/>
                </a:ext>
              </a:extLst>
            </p:cNvPr>
            <p:cNvSpPr txBox="1"/>
            <p:nvPr/>
          </p:nvSpPr>
          <p:spPr>
            <a:xfrm rot="16696270">
              <a:off x="7370970" y="4792918"/>
              <a:ext cx="1744605"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pic>
          <p:nvPicPr>
            <p:cNvPr id="19" name="Picture 18">
              <a:extLst>
                <a:ext uri="{FF2B5EF4-FFF2-40B4-BE49-F238E27FC236}">
                  <a16:creationId xmlns:a16="http://schemas.microsoft.com/office/drawing/2014/main" id="{2C464B11-6FCD-5F47-FA5A-5C8AAF80F1E2}"/>
                </a:ext>
              </a:extLst>
            </p:cNvPr>
            <p:cNvPicPr>
              <a:picLocks noChangeAspect="1"/>
            </p:cNvPicPr>
            <p:nvPr/>
          </p:nvPicPr>
          <p:blipFill>
            <a:blip r:embed="rId4"/>
            <a:stretch>
              <a:fillRect/>
            </a:stretch>
          </p:blipFill>
          <p:spPr>
            <a:xfrm>
              <a:off x="6883097" y="4197604"/>
              <a:ext cx="1326200" cy="1094385"/>
            </a:xfrm>
            <a:prstGeom prst="rect">
              <a:avLst/>
            </a:prstGeom>
          </p:spPr>
        </p:pic>
      </p:grpSp>
      <p:sp>
        <p:nvSpPr>
          <p:cNvPr id="5" name="TextBox 4">
            <a:extLst>
              <a:ext uri="{FF2B5EF4-FFF2-40B4-BE49-F238E27FC236}">
                <a16:creationId xmlns:a16="http://schemas.microsoft.com/office/drawing/2014/main" id="{0C5E5E13-71A6-0049-F606-6685818131E8}"/>
              </a:ext>
            </a:extLst>
          </p:cNvPr>
          <p:cNvSpPr txBox="1"/>
          <p:nvPr/>
        </p:nvSpPr>
        <p:spPr>
          <a:xfrm>
            <a:off x="10272445" y="94928"/>
            <a:ext cx="1818524"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dirty="0">
                <a:solidFill>
                  <a:schemeClr val="accent5">
                    <a:lumMod val="60000"/>
                    <a:lumOff val="40000"/>
                  </a:schemeClr>
                </a:solidFill>
              </a:rPr>
              <a:t>Text from ChatGPT</a:t>
            </a:r>
          </a:p>
        </p:txBody>
      </p:sp>
    </p:spTree>
    <p:extLst>
      <p:ext uri="{BB962C8B-B14F-4D97-AF65-F5344CB8AC3E}">
        <p14:creationId xmlns:p14="http://schemas.microsoft.com/office/powerpoint/2010/main" val="2009134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EADB5F0C-B73C-D03E-E74B-2E7BC5B1E0C6}"/>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4A1FAE5D-9680-6AAD-FC9D-3466A1728AC9}"/>
              </a:ext>
            </a:extLst>
          </p:cNvPr>
          <p:cNvPicPr>
            <a:picLocks noChangeAspect="1"/>
          </p:cNvPicPr>
          <p:nvPr/>
        </p:nvPicPr>
        <p:blipFill>
          <a:blip r:embed="rId3"/>
          <a:stretch>
            <a:fillRect/>
          </a:stretch>
        </p:blipFill>
        <p:spPr>
          <a:xfrm>
            <a:off x="1103123" y="4206127"/>
            <a:ext cx="4296375" cy="1428949"/>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sp>
        <p:nvSpPr>
          <p:cNvPr id="7" name="Content Placeholder 6">
            <a:extLst>
              <a:ext uri="{FF2B5EF4-FFF2-40B4-BE49-F238E27FC236}">
                <a16:creationId xmlns:a16="http://schemas.microsoft.com/office/drawing/2014/main" id="{2033C50D-16C8-2A17-DE2D-0BF723745142}"/>
              </a:ext>
            </a:extLst>
          </p:cNvPr>
          <p:cNvSpPr>
            <a:spLocks noGrp="1"/>
          </p:cNvSpPr>
          <p:nvPr>
            <p:ph idx="1"/>
          </p:nvPr>
        </p:nvSpPr>
        <p:spPr>
          <a:xfrm>
            <a:off x="838200" y="1545073"/>
            <a:ext cx="6703031" cy="2232667"/>
          </a:xfrm>
        </p:spPr>
        <p:txBody>
          <a:bodyPr>
            <a:normAutofit/>
          </a:bodyPr>
          <a:lstStyle/>
          <a:p>
            <a:r>
              <a:rPr lang="en-US" sz="2400" dirty="0"/>
              <a:t>Starting with smallest feeler gauge…</a:t>
            </a:r>
          </a:p>
          <a:p>
            <a:r>
              <a:rPr lang="en-US" sz="2400" dirty="0"/>
              <a:t>Try one by one until not slide freely in</a:t>
            </a:r>
            <a:br>
              <a:rPr lang="en-US" sz="2400" dirty="0"/>
            </a:br>
            <a:r>
              <a:rPr lang="en-US" sz="2000" dirty="0">
                <a:solidFill>
                  <a:schemeClr val="bg1">
                    <a:lumMod val="65000"/>
                  </a:schemeClr>
                </a:solidFill>
              </a:rPr>
              <a:t>(goal = find which gauge not slide)</a:t>
            </a:r>
          </a:p>
          <a:p>
            <a:r>
              <a:rPr lang="en-US" sz="2400" dirty="0"/>
              <a:t>Gap tolerance is Summative</a:t>
            </a:r>
          </a:p>
          <a:p>
            <a:r>
              <a:rPr lang="en-US" sz="2400" dirty="0"/>
              <a:t>Compare </a:t>
            </a:r>
            <a:r>
              <a:rPr lang="en-US" sz="2400" dirty="0" err="1"/>
              <a:t>NoGo</a:t>
            </a:r>
            <a:r>
              <a:rPr lang="en-US" sz="2400" dirty="0"/>
              <a:t> size to engineering spec</a:t>
            </a:r>
          </a:p>
          <a:p>
            <a:endParaRPr lang="en-US" sz="2400" dirty="0"/>
          </a:p>
          <a:p>
            <a:endParaRPr lang="en-US" sz="2400" dirty="0"/>
          </a:p>
        </p:txBody>
      </p:sp>
      <p:sp>
        <p:nvSpPr>
          <p:cNvPr id="2" name="Title 1">
            <a:extLst>
              <a:ext uri="{FF2B5EF4-FFF2-40B4-BE49-F238E27FC236}">
                <a16:creationId xmlns:a16="http://schemas.microsoft.com/office/drawing/2014/main" id="{4D755AEA-BEE0-3331-857A-32DE532FCF88}"/>
              </a:ext>
            </a:extLst>
          </p:cNvPr>
          <p:cNvSpPr>
            <a:spLocks noGrp="1"/>
          </p:cNvSpPr>
          <p:nvPr>
            <p:ph type="title"/>
          </p:nvPr>
        </p:nvSpPr>
        <p:spPr>
          <a:xfrm>
            <a:off x="365760" y="365125"/>
            <a:ext cx="10515600" cy="877824"/>
          </a:xfrm>
        </p:spPr>
        <p:txBody>
          <a:bodyPr/>
          <a:lstStyle/>
          <a:p>
            <a:r>
              <a:rPr lang="en-US" dirty="0"/>
              <a:t>Inspecting Fasteners: “Gap” Size</a:t>
            </a:r>
            <a:endParaRPr lang="en-US" dirty="0">
              <a:solidFill>
                <a:schemeClr val="bg1">
                  <a:lumMod val="65000"/>
                </a:schemeClr>
              </a:solidFill>
            </a:endParaRPr>
          </a:p>
        </p:txBody>
      </p:sp>
      <p:cxnSp>
        <p:nvCxnSpPr>
          <p:cNvPr id="30" name="Straight Arrow Connector 29">
            <a:extLst>
              <a:ext uri="{FF2B5EF4-FFF2-40B4-BE49-F238E27FC236}">
                <a16:creationId xmlns:a16="http://schemas.microsoft.com/office/drawing/2014/main" id="{847104E9-FDEB-50F3-46B7-08C0F5777487}"/>
              </a:ext>
            </a:extLst>
          </p:cNvPr>
          <p:cNvCxnSpPr>
            <a:cxnSpLocks/>
          </p:cNvCxnSpPr>
          <p:nvPr/>
        </p:nvCxnSpPr>
        <p:spPr>
          <a:xfrm flipV="1">
            <a:off x="5090911" y="4530651"/>
            <a:ext cx="755085" cy="296350"/>
          </a:xfrm>
          <a:prstGeom prst="straightConnector1">
            <a:avLst/>
          </a:prstGeom>
          <a:ln w="34925">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E775ADFF-3FF7-95F7-4D2C-935B7C731AD9}"/>
              </a:ext>
            </a:extLst>
          </p:cNvPr>
          <p:cNvSpPr txBox="1"/>
          <p:nvPr/>
        </p:nvSpPr>
        <p:spPr>
          <a:xfrm>
            <a:off x="3777379" y="5635076"/>
            <a:ext cx="1622119" cy="234644"/>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sp>
        <p:nvSpPr>
          <p:cNvPr id="6" name="TextBox 5">
            <a:extLst>
              <a:ext uri="{FF2B5EF4-FFF2-40B4-BE49-F238E27FC236}">
                <a16:creationId xmlns:a16="http://schemas.microsoft.com/office/drawing/2014/main" id="{F9DE4A45-A4BD-C190-B6A5-E143F13871F3}"/>
              </a:ext>
            </a:extLst>
          </p:cNvPr>
          <p:cNvSpPr txBox="1"/>
          <p:nvPr/>
        </p:nvSpPr>
        <p:spPr>
          <a:xfrm>
            <a:off x="6965878" y="6609442"/>
            <a:ext cx="1605243"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nvGrpSpPr>
          <p:cNvPr id="14" name="Group 13">
            <a:extLst>
              <a:ext uri="{FF2B5EF4-FFF2-40B4-BE49-F238E27FC236}">
                <a16:creationId xmlns:a16="http://schemas.microsoft.com/office/drawing/2014/main" id="{E449EA96-3B52-9E64-2195-3121D0939B7D}"/>
              </a:ext>
            </a:extLst>
          </p:cNvPr>
          <p:cNvGrpSpPr/>
          <p:nvPr/>
        </p:nvGrpSpPr>
        <p:grpSpPr>
          <a:xfrm>
            <a:off x="5939274" y="1363612"/>
            <a:ext cx="4655796" cy="2410978"/>
            <a:chOff x="5939274" y="1363612"/>
            <a:chExt cx="4655796" cy="2410978"/>
          </a:xfrm>
        </p:grpSpPr>
        <p:pic>
          <p:nvPicPr>
            <p:cNvPr id="13" name="Picture 12">
              <a:extLst>
                <a:ext uri="{FF2B5EF4-FFF2-40B4-BE49-F238E27FC236}">
                  <a16:creationId xmlns:a16="http://schemas.microsoft.com/office/drawing/2014/main" id="{69536C7C-6ABD-16F3-AE24-7952FFBFD2F9}"/>
                </a:ext>
              </a:extLst>
            </p:cNvPr>
            <p:cNvPicPr>
              <a:picLocks noChangeAspect="1"/>
            </p:cNvPicPr>
            <p:nvPr/>
          </p:nvPicPr>
          <p:blipFill>
            <a:blip r:embed="rId4"/>
            <a:stretch>
              <a:fillRect/>
            </a:stretch>
          </p:blipFill>
          <p:spPr>
            <a:xfrm>
              <a:off x="8213488" y="1363612"/>
              <a:ext cx="2381582" cy="2381582"/>
            </a:xfrm>
            <a:prstGeom prst="rect">
              <a:avLst/>
            </a:prstGeom>
          </p:spPr>
        </p:pic>
        <p:grpSp>
          <p:nvGrpSpPr>
            <p:cNvPr id="16" name="Group 15">
              <a:extLst>
                <a:ext uri="{FF2B5EF4-FFF2-40B4-BE49-F238E27FC236}">
                  <a16:creationId xmlns:a16="http://schemas.microsoft.com/office/drawing/2014/main" id="{988FDDEE-FD9B-B497-D0A6-0F621146937C}"/>
                </a:ext>
              </a:extLst>
            </p:cNvPr>
            <p:cNvGrpSpPr/>
            <p:nvPr/>
          </p:nvGrpSpPr>
          <p:grpSpPr>
            <a:xfrm>
              <a:off x="5939274" y="1828800"/>
              <a:ext cx="2759007" cy="1684962"/>
              <a:chOff x="5939274" y="1828800"/>
              <a:chExt cx="2759007" cy="1684962"/>
            </a:xfrm>
          </p:grpSpPr>
          <p:cxnSp>
            <p:nvCxnSpPr>
              <p:cNvPr id="9" name="Straight Connector 8">
                <a:extLst>
                  <a:ext uri="{FF2B5EF4-FFF2-40B4-BE49-F238E27FC236}">
                    <a16:creationId xmlns:a16="http://schemas.microsoft.com/office/drawing/2014/main" id="{5034EBF8-370B-FBB8-EAF9-4EE3D2A6F74A}"/>
                  </a:ext>
                </a:extLst>
              </p:cNvPr>
              <p:cNvCxnSpPr>
                <a:cxnSpLocks/>
              </p:cNvCxnSpPr>
              <p:nvPr/>
            </p:nvCxnSpPr>
            <p:spPr>
              <a:xfrm>
                <a:off x="5939274" y="1828800"/>
                <a:ext cx="2506083" cy="168496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926448E-A9FD-DE75-93ED-99680FD11C3A}"/>
                  </a:ext>
                </a:extLst>
              </p:cNvPr>
              <p:cNvCxnSpPr>
                <a:cxnSpLocks/>
              </p:cNvCxnSpPr>
              <p:nvPr/>
            </p:nvCxnSpPr>
            <p:spPr>
              <a:xfrm flipH="1">
                <a:off x="8445357" y="3308279"/>
                <a:ext cx="252924" cy="20548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8" name="TextBox 7">
              <a:hlinkClick r:id="rId5"/>
              <a:extLst>
                <a:ext uri="{FF2B5EF4-FFF2-40B4-BE49-F238E27FC236}">
                  <a16:creationId xmlns:a16="http://schemas.microsoft.com/office/drawing/2014/main" id="{024DEB6C-E4B7-A805-60DB-77C0270B34E2}"/>
                </a:ext>
              </a:extLst>
            </p:cNvPr>
            <p:cNvSpPr txBox="1"/>
            <p:nvPr/>
          </p:nvSpPr>
          <p:spPr>
            <a:xfrm>
              <a:off x="8911525" y="3543758"/>
              <a:ext cx="1447239" cy="230832"/>
            </a:xfrm>
            <a:prstGeom prst="rect">
              <a:avLst/>
            </a:prstGeom>
            <a:noFill/>
          </p:spPr>
          <p:txBody>
            <a:bodyPr wrap="square" rtlCol="0">
              <a:spAutoFit/>
            </a:bodyPr>
            <a:lstStyle/>
            <a:p>
              <a:pPr algn="r"/>
              <a:r>
                <a:rPr lang="en-US" sz="900" dirty="0"/>
                <a:t>(Ad) </a:t>
              </a:r>
              <a:r>
                <a:rPr lang="en-US" sz="900" dirty="0" err="1"/>
                <a:t>Ebay</a:t>
              </a:r>
              <a:r>
                <a:rPr lang="en-US" sz="900" dirty="0"/>
                <a:t> For Sale, 2026</a:t>
              </a:r>
            </a:p>
          </p:txBody>
        </p:sp>
      </p:grpSp>
      <p:pic>
        <p:nvPicPr>
          <p:cNvPr id="20" name="Picture 19">
            <a:extLst>
              <a:ext uri="{FF2B5EF4-FFF2-40B4-BE49-F238E27FC236}">
                <a16:creationId xmlns:a16="http://schemas.microsoft.com/office/drawing/2014/main" id="{C4DFE1F3-4ED1-BCFB-FF49-C83024EE8060}"/>
              </a:ext>
            </a:extLst>
          </p:cNvPr>
          <p:cNvPicPr>
            <a:picLocks noChangeAspect="1"/>
          </p:cNvPicPr>
          <p:nvPr/>
        </p:nvPicPr>
        <p:blipFill>
          <a:blip r:embed="rId6"/>
          <a:stretch>
            <a:fillRect/>
          </a:stretch>
        </p:blipFill>
        <p:spPr>
          <a:xfrm>
            <a:off x="5951135" y="4206127"/>
            <a:ext cx="2620681" cy="828791"/>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pic>
        <p:nvPicPr>
          <p:cNvPr id="24" name="Picture 23">
            <a:extLst>
              <a:ext uri="{FF2B5EF4-FFF2-40B4-BE49-F238E27FC236}">
                <a16:creationId xmlns:a16="http://schemas.microsoft.com/office/drawing/2014/main" id="{CC0E9899-1151-128A-C7D3-FF9C6579D68C}"/>
              </a:ext>
            </a:extLst>
          </p:cNvPr>
          <p:cNvPicPr>
            <a:picLocks noChangeAspect="1"/>
          </p:cNvPicPr>
          <p:nvPr/>
        </p:nvPicPr>
        <p:blipFill>
          <a:blip r:embed="rId7"/>
          <a:stretch>
            <a:fillRect/>
          </a:stretch>
        </p:blipFill>
        <p:spPr>
          <a:xfrm>
            <a:off x="5949743" y="5037598"/>
            <a:ext cx="2622075" cy="800212"/>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pic>
        <p:nvPicPr>
          <p:cNvPr id="28" name="Picture 27">
            <a:extLst>
              <a:ext uri="{FF2B5EF4-FFF2-40B4-BE49-F238E27FC236}">
                <a16:creationId xmlns:a16="http://schemas.microsoft.com/office/drawing/2014/main" id="{52E5AD6B-CD92-92B9-7A56-D53B82A48AD5}"/>
              </a:ext>
            </a:extLst>
          </p:cNvPr>
          <p:cNvPicPr>
            <a:picLocks noChangeAspect="1"/>
          </p:cNvPicPr>
          <p:nvPr/>
        </p:nvPicPr>
        <p:blipFill>
          <a:blip r:embed="rId8"/>
          <a:stretch>
            <a:fillRect/>
          </a:stretch>
        </p:blipFill>
        <p:spPr>
          <a:xfrm>
            <a:off x="5949744" y="5837810"/>
            <a:ext cx="2620681" cy="771633"/>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cxnSp>
        <p:nvCxnSpPr>
          <p:cNvPr id="29" name="Straight Arrow Connector 28">
            <a:extLst>
              <a:ext uri="{FF2B5EF4-FFF2-40B4-BE49-F238E27FC236}">
                <a16:creationId xmlns:a16="http://schemas.microsoft.com/office/drawing/2014/main" id="{A05AA43C-1BA7-623E-6C0B-57F7421ED651}"/>
              </a:ext>
            </a:extLst>
          </p:cNvPr>
          <p:cNvCxnSpPr>
            <a:cxnSpLocks/>
          </p:cNvCxnSpPr>
          <p:nvPr/>
        </p:nvCxnSpPr>
        <p:spPr>
          <a:xfrm>
            <a:off x="5845996" y="4623203"/>
            <a:ext cx="0" cy="1471034"/>
          </a:xfrm>
          <a:prstGeom prst="straightConnector1">
            <a:avLst/>
          </a:prstGeom>
          <a:ln w="34925">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688B4916-0A59-2DF4-4483-E8E388973392}"/>
              </a:ext>
            </a:extLst>
          </p:cNvPr>
          <p:cNvSpPr txBox="1"/>
          <p:nvPr/>
        </p:nvSpPr>
        <p:spPr>
          <a:xfrm>
            <a:off x="10272445" y="94928"/>
            <a:ext cx="1818524"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dirty="0">
                <a:solidFill>
                  <a:schemeClr val="accent5">
                    <a:lumMod val="60000"/>
                    <a:lumOff val="40000"/>
                  </a:schemeClr>
                </a:solidFill>
              </a:rPr>
              <a:t>Text from ChatGPT</a:t>
            </a:r>
          </a:p>
        </p:txBody>
      </p:sp>
    </p:spTree>
    <p:extLst>
      <p:ext uri="{BB962C8B-B14F-4D97-AF65-F5344CB8AC3E}">
        <p14:creationId xmlns:p14="http://schemas.microsoft.com/office/powerpoint/2010/main" val="1599378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B88CDDD4-03F0-4227-61E3-413F688A3BB4}"/>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46A7D51-34FE-D1E8-726D-B389749C9789}"/>
              </a:ext>
            </a:extLst>
          </p:cNvPr>
          <p:cNvSpPr>
            <a:spLocks noGrp="1"/>
          </p:cNvSpPr>
          <p:nvPr>
            <p:ph idx="1"/>
          </p:nvPr>
        </p:nvSpPr>
        <p:spPr>
          <a:xfrm>
            <a:off x="838200" y="1495425"/>
            <a:ext cx="8901701" cy="3417736"/>
          </a:xfrm>
        </p:spPr>
        <p:txBody>
          <a:bodyPr/>
          <a:lstStyle/>
          <a:p>
            <a:r>
              <a:rPr lang="en-US" dirty="0"/>
              <a:t>Inspect Contact between Head, Collar, and Structure</a:t>
            </a:r>
          </a:p>
          <a:p>
            <a:endParaRPr lang="en-US" dirty="0"/>
          </a:p>
          <a:p>
            <a:endParaRPr lang="en-US" dirty="0"/>
          </a:p>
          <a:p>
            <a:endParaRPr lang="en-US" dirty="0"/>
          </a:p>
          <a:p>
            <a:endParaRPr lang="en-US" dirty="0"/>
          </a:p>
          <a:p>
            <a:r>
              <a:rPr lang="en-US" dirty="0"/>
              <a:t>Start from gap found, then test around fastener until hit at least one point of contact</a:t>
            </a:r>
          </a:p>
        </p:txBody>
      </p:sp>
      <p:sp>
        <p:nvSpPr>
          <p:cNvPr id="2" name="Title 1">
            <a:extLst>
              <a:ext uri="{FF2B5EF4-FFF2-40B4-BE49-F238E27FC236}">
                <a16:creationId xmlns:a16="http://schemas.microsoft.com/office/drawing/2014/main" id="{EBC7FD1C-CA24-C6E1-C61A-DDB104D22B50}"/>
              </a:ext>
            </a:extLst>
          </p:cNvPr>
          <p:cNvSpPr>
            <a:spLocks noGrp="1"/>
          </p:cNvSpPr>
          <p:nvPr>
            <p:ph type="title"/>
          </p:nvPr>
        </p:nvSpPr>
        <p:spPr>
          <a:xfrm>
            <a:off x="365760" y="365125"/>
            <a:ext cx="10515600" cy="877824"/>
          </a:xfrm>
        </p:spPr>
        <p:txBody>
          <a:bodyPr/>
          <a:lstStyle/>
          <a:p>
            <a:r>
              <a:rPr lang="en-US" dirty="0"/>
              <a:t>Inspecting Fasteners: 3-way Contact</a:t>
            </a:r>
            <a:endParaRPr lang="en-US" dirty="0">
              <a:solidFill>
                <a:schemeClr val="bg1">
                  <a:lumMod val="65000"/>
                </a:schemeClr>
              </a:solidFill>
            </a:endParaRPr>
          </a:p>
        </p:txBody>
      </p:sp>
      <p:grpSp>
        <p:nvGrpSpPr>
          <p:cNvPr id="5" name="Group 4">
            <a:extLst>
              <a:ext uri="{FF2B5EF4-FFF2-40B4-BE49-F238E27FC236}">
                <a16:creationId xmlns:a16="http://schemas.microsoft.com/office/drawing/2014/main" id="{E4B129E0-FADD-0882-E0FE-4BBE4ACD9ECB}"/>
              </a:ext>
            </a:extLst>
          </p:cNvPr>
          <p:cNvGrpSpPr/>
          <p:nvPr/>
        </p:nvGrpSpPr>
        <p:grpSpPr>
          <a:xfrm>
            <a:off x="1158634" y="1942883"/>
            <a:ext cx="4286848" cy="1783624"/>
            <a:chOff x="1282343" y="1876208"/>
            <a:chExt cx="4286848" cy="1783624"/>
          </a:xfrm>
        </p:grpSpPr>
        <p:pic>
          <p:nvPicPr>
            <p:cNvPr id="6" name="Picture 5">
              <a:extLst>
                <a:ext uri="{FF2B5EF4-FFF2-40B4-BE49-F238E27FC236}">
                  <a16:creationId xmlns:a16="http://schemas.microsoft.com/office/drawing/2014/main" id="{8F9B4562-A4F1-DAC7-D92C-9F37056C44E6}"/>
                </a:ext>
              </a:extLst>
            </p:cNvPr>
            <p:cNvPicPr>
              <a:picLocks noChangeAspect="1"/>
            </p:cNvPicPr>
            <p:nvPr/>
          </p:nvPicPr>
          <p:blipFill>
            <a:blip r:embed="rId3"/>
            <a:stretch>
              <a:fillRect/>
            </a:stretch>
          </p:blipFill>
          <p:spPr>
            <a:xfrm>
              <a:off x="1282343" y="1876208"/>
              <a:ext cx="4286848" cy="1552792"/>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sp>
          <p:nvSpPr>
            <p:cNvPr id="3" name="TextBox 2">
              <a:extLst>
                <a:ext uri="{FF2B5EF4-FFF2-40B4-BE49-F238E27FC236}">
                  <a16:creationId xmlns:a16="http://schemas.microsoft.com/office/drawing/2014/main" id="{0D1ED13A-06A6-A62A-2FD1-1D920AC84EC5}"/>
                </a:ext>
              </a:extLst>
            </p:cNvPr>
            <p:cNvSpPr txBox="1"/>
            <p:nvPr/>
          </p:nvSpPr>
          <p:spPr>
            <a:xfrm>
              <a:off x="3935421" y="3429000"/>
              <a:ext cx="1633770"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grpSp>
        <p:nvGrpSpPr>
          <p:cNvPr id="8" name="Group 7">
            <a:extLst>
              <a:ext uri="{FF2B5EF4-FFF2-40B4-BE49-F238E27FC236}">
                <a16:creationId xmlns:a16="http://schemas.microsoft.com/office/drawing/2014/main" id="{E1C84866-CAC8-547B-C44B-4B8969E7129C}"/>
              </a:ext>
            </a:extLst>
          </p:cNvPr>
          <p:cNvGrpSpPr/>
          <p:nvPr/>
        </p:nvGrpSpPr>
        <p:grpSpPr>
          <a:xfrm>
            <a:off x="1158634" y="4913161"/>
            <a:ext cx="4286848" cy="1690511"/>
            <a:chOff x="1444151" y="5130414"/>
            <a:chExt cx="4286848" cy="1690511"/>
          </a:xfrm>
        </p:grpSpPr>
        <p:pic>
          <p:nvPicPr>
            <p:cNvPr id="9" name="Picture 8">
              <a:extLst>
                <a:ext uri="{FF2B5EF4-FFF2-40B4-BE49-F238E27FC236}">
                  <a16:creationId xmlns:a16="http://schemas.microsoft.com/office/drawing/2014/main" id="{4587D32D-FD6E-D83D-A667-5EC42382B5CF}"/>
                </a:ext>
              </a:extLst>
            </p:cNvPr>
            <p:cNvPicPr>
              <a:picLocks noChangeAspect="1"/>
            </p:cNvPicPr>
            <p:nvPr/>
          </p:nvPicPr>
          <p:blipFill>
            <a:blip r:embed="rId4"/>
            <a:stretch>
              <a:fillRect/>
            </a:stretch>
          </p:blipFill>
          <p:spPr>
            <a:xfrm>
              <a:off x="1444151" y="5130414"/>
              <a:ext cx="4286848" cy="1459679"/>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sp>
          <p:nvSpPr>
            <p:cNvPr id="4" name="TextBox 3">
              <a:extLst>
                <a:ext uri="{FF2B5EF4-FFF2-40B4-BE49-F238E27FC236}">
                  <a16:creationId xmlns:a16="http://schemas.microsoft.com/office/drawing/2014/main" id="{F47A5BF2-8A95-E0B0-2A48-517D9F66F2CC}"/>
                </a:ext>
              </a:extLst>
            </p:cNvPr>
            <p:cNvSpPr txBox="1"/>
            <p:nvPr/>
          </p:nvSpPr>
          <p:spPr>
            <a:xfrm>
              <a:off x="3971780" y="6590093"/>
              <a:ext cx="1759219"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sp>
        <p:nvSpPr>
          <p:cNvPr id="10" name="TextBox 9">
            <a:extLst>
              <a:ext uri="{FF2B5EF4-FFF2-40B4-BE49-F238E27FC236}">
                <a16:creationId xmlns:a16="http://schemas.microsoft.com/office/drawing/2014/main" id="{29D636B2-F496-34D7-FE61-0B250AB5BF81}"/>
              </a:ext>
            </a:extLst>
          </p:cNvPr>
          <p:cNvSpPr txBox="1"/>
          <p:nvPr/>
        </p:nvSpPr>
        <p:spPr>
          <a:xfrm>
            <a:off x="10272445" y="94928"/>
            <a:ext cx="1818524"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dirty="0">
                <a:solidFill>
                  <a:schemeClr val="accent5">
                    <a:lumMod val="60000"/>
                    <a:lumOff val="40000"/>
                  </a:schemeClr>
                </a:solidFill>
              </a:rPr>
              <a:t>Text from ChatGPT</a:t>
            </a:r>
          </a:p>
        </p:txBody>
      </p:sp>
    </p:spTree>
    <p:extLst>
      <p:ext uri="{BB962C8B-B14F-4D97-AF65-F5344CB8AC3E}">
        <p14:creationId xmlns:p14="http://schemas.microsoft.com/office/powerpoint/2010/main" val="1793123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583A0A5-C5A8-DDBD-6EA5-D4452B7AD222}"/>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9A71E7E-7FE8-100D-37D8-037D0C61BADF}"/>
              </a:ext>
            </a:extLst>
          </p:cNvPr>
          <p:cNvSpPr>
            <a:spLocks noGrp="1"/>
          </p:cNvSpPr>
          <p:nvPr>
            <p:ph idx="1"/>
          </p:nvPr>
        </p:nvSpPr>
        <p:spPr>
          <a:xfrm>
            <a:off x="838201" y="1608955"/>
            <a:ext cx="3658111" cy="3558946"/>
          </a:xfrm>
        </p:spPr>
        <p:txBody>
          <a:bodyPr>
            <a:normAutofit/>
          </a:bodyPr>
          <a:lstStyle/>
          <a:p>
            <a:pPr marL="0" indent="0">
              <a:buNone/>
            </a:pPr>
            <a:r>
              <a:rPr lang="en-US" dirty="0"/>
              <a:t>To inspect rivet heads:</a:t>
            </a:r>
          </a:p>
          <a:p>
            <a:pPr marL="0" indent="0">
              <a:buNone/>
            </a:pPr>
            <a:r>
              <a:rPr lang="en-US" dirty="0"/>
              <a:t>Use a “spoon gauge”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…or an “H-gauge”</a:t>
            </a:r>
          </a:p>
          <a:p>
            <a:pPr marL="0" indent="0">
              <a:buNone/>
            </a:pPr>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66D135DC-4CEF-9C00-835C-87A0819745FC}"/>
              </a:ext>
            </a:extLst>
          </p:cNvPr>
          <p:cNvSpPr>
            <a:spLocks noGrp="1"/>
          </p:cNvSpPr>
          <p:nvPr>
            <p:ph type="title"/>
          </p:nvPr>
        </p:nvSpPr>
        <p:spPr>
          <a:xfrm>
            <a:off x="365760" y="365125"/>
            <a:ext cx="10515600" cy="877824"/>
          </a:xfrm>
        </p:spPr>
        <p:txBody>
          <a:bodyPr/>
          <a:lstStyle/>
          <a:p>
            <a:r>
              <a:rPr lang="en-US" dirty="0"/>
              <a:t>Inspecting Rivets: Diameter &amp; Thickness</a:t>
            </a:r>
            <a:endParaRPr lang="en-US" dirty="0">
              <a:solidFill>
                <a:schemeClr val="bg1">
                  <a:lumMod val="65000"/>
                </a:schemeClr>
              </a:solidFill>
            </a:endParaRPr>
          </a:p>
        </p:txBody>
      </p:sp>
      <p:grpSp>
        <p:nvGrpSpPr>
          <p:cNvPr id="12" name="Group 11">
            <a:extLst>
              <a:ext uri="{FF2B5EF4-FFF2-40B4-BE49-F238E27FC236}">
                <a16:creationId xmlns:a16="http://schemas.microsoft.com/office/drawing/2014/main" id="{C18D892D-B411-5694-A97A-7AA427552A3F}"/>
              </a:ext>
            </a:extLst>
          </p:cNvPr>
          <p:cNvGrpSpPr/>
          <p:nvPr/>
        </p:nvGrpSpPr>
        <p:grpSpPr>
          <a:xfrm>
            <a:off x="966140" y="2483426"/>
            <a:ext cx="2530503" cy="1810003"/>
            <a:chOff x="4571591" y="2220411"/>
            <a:chExt cx="2530503" cy="1810003"/>
          </a:xfrm>
        </p:grpSpPr>
        <p:pic>
          <p:nvPicPr>
            <p:cNvPr id="11" name="Picture 10">
              <a:extLst>
                <a:ext uri="{FF2B5EF4-FFF2-40B4-BE49-F238E27FC236}">
                  <a16:creationId xmlns:a16="http://schemas.microsoft.com/office/drawing/2014/main" id="{673AF25D-FE99-5B65-B850-2D7593658533}"/>
                </a:ext>
              </a:extLst>
            </p:cNvPr>
            <p:cNvPicPr>
              <a:picLocks noChangeAspect="1"/>
            </p:cNvPicPr>
            <p:nvPr/>
          </p:nvPicPr>
          <p:blipFill>
            <a:blip r:embed="rId3"/>
            <a:stretch>
              <a:fillRect/>
            </a:stretch>
          </p:blipFill>
          <p:spPr>
            <a:xfrm>
              <a:off x="4571591" y="2220411"/>
              <a:ext cx="2286319" cy="1810003"/>
            </a:xfrm>
            <a:prstGeom prst="rect">
              <a:avLst/>
            </a:prstGeom>
          </p:spPr>
        </p:pic>
        <p:sp>
          <p:nvSpPr>
            <p:cNvPr id="3" name="TextBox 2">
              <a:hlinkClick r:id="rId4"/>
              <a:extLst>
                <a:ext uri="{FF2B5EF4-FFF2-40B4-BE49-F238E27FC236}">
                  <a16:creationId xmlns:a16="http://schemas.microsoft.com/office/drawing/2014/main" id="{F58DE1FC-BCCC-5E13-A07A-96FD65ACEC0D}"/>
                </a:ext>
              </a:extLst>
            </p:cNvPr>
            <p:cNvSpPr txBox="1"/>
            <p:nvPr/>
          </p:nvSpPr>
          <p:spPr>
            <a:xfrm rot="19200855">
              <a:off x="5615088" y="3364422"/>
              <a:ext cx="1487006" cy="230832"/>
            </a:xfrm>
            <a:prstGeom prst="rect">
              <a:avLst/>
            </a:prstGeom>
            <a:noFill/>
          </p:spPr>
          <p:txBody>
            <a:bodyPr wrap="square" rtlCol="0">
              <a:spAutoFit/>
            </a:bodyPr>
            <a:lstStyle/>
            <a:p>
              <a:r>
                <a:rPr lang="en-US" sz="900" dirty="0"/>
                <a:t>(Ad) Aircraft Spruce, 2026</a:t>
              </a:r>
            </a:p>
          </p:txBody>
        </p:sp>
      </p:grpSp>
      <p:grpSp>
        <p:nvGrpSpPr>
          <p:cNvPr id="16" name="Group 15">
            <a:extLst>
              <a:ext uri="{FF2B5EF4-FFF2-40B4-BE49-F238E27FC236}">
                <a16:creationId xmlns:a16="http://schemas.microsoft.com/office/drawing/2014/main" id="{8001625A-AAC6-0C4B-769C-DCF3177D202C}"/>
              </a:ext>
            </a:extLst>
          </p:cNvPr>
          <p:cNvGrpSpPr/>
          <p:nvPr/>
        </p:nvGrpSpPr>
        <p:grpSpPr>
          <a:xfrm>
            <a:off x="838201" y="5085151"/>
            <a:ext cx="1995100" cy="1545970"/>
            <a:chOff x="1124598" y="3126493"/>
            <a:chExt cx="1995100" cy="1545970"/>
          </a:xfrm>
        </p:grpSpPr>
        <p:pic>
          <p:nvPicPr>
            <p:cNvPr id="15" name="Picture 14">
              <a:extLst>
                <a:ext uri="{FF2B5EF4-FFF2-40B4-BE49-F238E27FC236}">
                  <a16:creationId xmlns:a16="http://schemas.microsoft.com/office/drawing/2014/main" id="{7B53B484-2EA7-C51B-0E91-11CAB07C7736}"/>
                </a:ext>
              </a:extLst>
            </p:cNvPr>
            <p:cNvPicPr>
              <a:picLocks noChangeAspect="1"/>
            </p:cNvPicPr>
            <p:nvPr/>
          </p:nvPicPr>
          <p:blipFill>
            <a:blip r:embed="rId5"/>
            <a:stretch>
              <a:fillRect/>
            </a:stretch>
          </p:blipFill>
          <p:spPr>
            <a:xfrm>
              <a:off x="1252537" y="3126493"/>
              <a:ext cx="1867161" cy="1467055"/>
            </a:xfrm>
            <a:prstGeom prst="rect">
              <a:avLst/>
            </a:prstGeom>
          </p:spPr>
        </p:pic>
        <p:sp>
          <p:nvSpPr>
            <p:cNvPr id="6" name="TextBox 5">
              <a:hlinkClick r:id="rId6"/>
              <a:extLst>
                <a:ext uri="{FF2B5EF4-FFF2-40B4-BE49-F238E27FC236}">
                  <a16:creationId xmlns:a16="http://schemas.microsoft.com/office/drawing/2014/main" id="{92B63F27-4A83-7C46-395C-65F04436832D}"/>
                </a:ext>
              </a:extLst>
            </p:cNvPr>
            <p:cNvSpPr txBox="1"/>
            <p:nvPr/>
          </p:nvSpPr>
          <p:spPr>
            <a:xfrm rot="426306">
              <a:off x="1124598" y="4441631"/>
              <a:ext cx="1724648" cy="230832"/>
            </a:xfrm>
            <a:prstGeom prst="rect">
              <a:avLst/>
            </a:prstGeom>
            <a:noFill/>
          </p:spPr>
          <p:txBody>
            <a:bodyPr wrap="square" rtlCol="0">
              <a:spAutoFit/>
            </a:bodyPr>
            <a:lstStyle/>
            <a:p>
              <a:pPr algn="r"/>
              <a:r>
                <a:rPr lang="en-US" sz="900" dirty="0"/>
                <a:t>(Ad) VB Industrial Supply, 2026</a:t>
              </a:r>
            </a:p>
          </p:txBody>
        </p:sp>
      </p:grpSp>
      <p:grpSp>
        <p:nvGrpSpPr>
          <p:cNvPr id="9" name="Group 8">
            <a:extLst>
              <a:ext uri="{FF2B5EF4-FFF2-40B4-BE49-F238E27FC236}">
                <a16:creationId xmlns:a16="http://schemas.microsoft.com/office/drawing/2014/main" id="{C8753EA1-3A87-EBE3-504A-BE429E77FD71}"/>
              </a:ext>
            </a:extLst>
          </p:cNvPr>
          <p:cNvGrpSpPr/>
          <p:nvPr/>
        </p:nvGrpSpPr>
        <p:grpSpPr>
          <a:xfrm>
            <a:off x="4624251" y="2094214"/>
            <a:ext cx="3658111" cy="2669572"/>
            <a:chOff x="7403855" y="2217199"/>
            <a:chExt cx="3658111" cy="2669572"/>
          </a:xfrm>
        </p:grpSpPr>
        <p:pic>
          <p:nvPicPr>
            <p:cNvPr id="13" name="Picture 12">
              <a:extLst>
                <a:ext uri="{FF2B5EF4-FFF2-40B4-BE49-F238E27FC236}">
                  <a16:creationId xmlns:a16="http://schemas.microsoft.com/office/drawing/2014/main" id="{ECB5FCEF-AD32-7155-EDB3-EBB58B9B620A}"/>
                </a:ext>
              </a:extLst>
            </p:cNvPr>
            <p:cNvPicPr>
              <a:picLocks noChangeAspect="1"/>
            </p:cNvPicPr>
            <p:nvPr/>
          </p:nvPicPr>
          <p:blipFill>
            <a:blip r:embed="rId7"/>
            <a:stretch>
              <a:fillRect/>
            </a:stretch>
          </p:blipFill>
          <p:spPr>
            <a:xfrm>
              <a:off x="7403855" y="2217199"/>
              <a:ext cx="3658111" cy="2438740"/>
            </a:xfrm>
            <a:prstGeom prst="rect">
              <a:avLst/>
            </a:prstGeom>
            <a:noFill/>
            <a:ln>
              <a:solidFill>
                <a:schemeClr val="bg1">
                  <a:lumMod val="75000"/>
                </a:schemeClr>
              </a:solidFill>
            </a:ln>
            <a:effectLst>
              <a:outerShdw blurRad="50800" dist="88900" dir="2700000" algn="tl" rotWithShape="0">
                <a:prstClr val="black">
                  <a:alpha val="40000"/>
                </a:prstClr>
              </a:outerShdw>
            </a:effectLst>
          </p:spPr>
        </p:pic>
        <p:sp>
          <p:nvSpPr>
            <p:cNvPr id="8" name="TextBox 7">
              <a:extLst>
                <a:ext uri="{FF2B5EF4-FFF2-40B4-BE49-F238E27FC236}">
                  <a16:creationId xmlns:a16="http://schemas.microsoft.com/office/drawing/2014/main" id="{758C4AA0-7124-B273-DAA8-FA63F3B318C0}"/>
                </a:ext>
              </a:extLst>
            </p:cNvPr>
            <p:cNvSpPr txBox="1"/>
            <p:nvPr/>
          </p:nvSpPr>
          <p:spPr>
            <a:xfrm>
              <a:off x="9366334" y="4655939"/>
              <a:ext cx="1695631"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sp>
        <p:nvSpPr>
          <p:cNvPr id="4" name="TextBox 3">
            <a:extLst>
              <a:ext uri="{FF2B5EF4-FFF2-40B4-BE49-F238E27FC236}">
                <a16:creationId xmlns:a16="http://schemas.microsoft.com/office/drawing/2014/main" id="{D84B2413-021B-7A18-ED26-EB7086D14DFF}"/>
              </a:ext>
            </a:extLst>
          </p:cNvPr>
          <p:cNvSpPr txBox="1"/>
          <p:nvPr/>
        </p:nvSpPr>
        <p:spPr>
          <a:xfrm>
            <a:off x="10272445" y="94928"/>
            <a:ext cx="1818524"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dirty="0">
                <a:solidFill>
                  <a:schemeClr val="accent5">
                    <a:lumMod val="60000"/>
                    <a:lumOff val="40000"/>
                  </a:schemeClr>
                </a:solidFill>
              </a:rPr>
              <a:t>Text from ChatGPT</a:t>
            </a:r>
          </a:p>
        </p:txBody>
      </p:sp>
    </p:spTree>
    <p:extLst>
      <p:ext uri="{BB962C8B-B14F-4D97-AF65-F5344CB8AC3E}">
        <p14:creationId xmlns:p14="http://schemas.microsoft.com/office/powerpoint/2010/main" val="1465375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a:extLst>
            <a:ext uri="{FF2B5EF4-FFF2-40B4-BE49-F238E27FC236}">
              <a16:creationId xmlns:a16="http://schemas.microsoft.com/office/drawing/2014/main" id="{7BB45667-F60C-09F7-1D40-C1DD86832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2089CC-6FFF-1BFA-274F-DAC5F31ED7B2}"/>
              </a:ext>
            </a:extLst>
          </p:cNvPr>
          <p:cNvSpPr>
            <a:spLocks noGrp="1"/>
          </p:cNvSpPr>
          <p:nvPr>
            <p:ph type="ctrTitle"/>
          </p:nvPr>
        </p:nvSpPr>
        <p:spPr>
          <a:xfrm>
            <a:off x="1052512" y="3033049"/>
            <a:ext cx="10086975" cy="791902"/>
          </a:xfrm>
        </p:spPr>
        <p:txBody>
          <a:bodyPr>
            <a:normAutofit/>
          </a:bodyPr>
          <a:lstStyle/>
          <a:p>
            <a:r>
              <a:rPr lang="en-US" sz="4800" b="1" dirty="0">
                <a:solidFill>
                  <a:schemeClr val="bg1"/>
                </a:solidFill>
              </a:rPr>
              <a:t>Q&amp;A</a:t>
            </a:r>
          </a:p>
        </p:txBody>
      </p:sp>
    </p:spTree>
    <p:extLst>
      <p:ext uri="{BB962C8B-B14F-4D97-AF65-F5344CB8AC3E}">
        <p14:creationId xmlns:p14="http://schemas.microsoft.com/office/powerpoint/2010/main" val="1948603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effectLst/>
      </p:bgPr>
    </p:bg>
    <p:spTree>
      <p:nvGrpSpPr>
        <p:cNvPr id="1" name="">
          <a:extLst>
            <a:ext uri="{FF2B5EF4-FFF2-40B4-BE49-F238E27FC236}">
              <a16:creationId xmlns:a16="http://schemas.microsoft.com/office/drawing/2014/main" id="{156839C2-7BF2-36AE-DF8B-9AD9A2AEDA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EF63DA-D582-3FF9-0739-41B56CC4752C}"/>
              </a:ext>
            </a:extLst>
          </p:cNvPr>
          <p:cNvSpPr>
            <a:spLocks noGrp="1"/>
          </p:cNvSpPr>
          <p:nvPr>
            <p:ph type="title"/>
          </p:nvPr>
        </p:nvSpPr>
        <p:spPr>
          <a:xfrm>
            <a:off x="365760" y="365126"/>
            <a:ext cx="5730240" cy="877824"/>
          </a:xfrm>
        </p:spPr>
        <p:txBody>
          <a:bodyPr/>
          <a:lstStyle/>
          <a:p>
            <a:r>
              <a:rPr lang="en-US" dirty="0"/>
              <a:t>Practice Q&amp;A’s  </a:t>
            </a:r>
            <a:r>
              <a:rPr lang="en-US" sz="2800" dirty="0">
                <a:solidFill>
                  <a:schemeClr val="accent2">
                    <a:lumMod val="75000"/>
                  </a:schemeClr>
                </a:solidFill>
              </a:rPr>
              <a:t>(Q1-Q9)</a:t>
            </a:r>
            <a:endParaRPr lang="en-US" dirty="0">
              <a:solidFill>
                <a:schemeClr val="accent2">
                  <a:lumMod val="75000"/>
                </a:schemeClr>
              </a:solidFill>
            </a:endParaRPr>
          </a:p>
        </p:txBody>
      </p:sp>
      <p:sp>
        <p:nvSpPr>
          <p:cNvPr id="3" name="Content Placeholder 2">
            <a:extLst>
              <a:ext uri="{FF2B5EF4-FFF2-40B4-BE49-F238E27FC236}">
                <a16:creationId xmlns:a16="http://schemas.microsoft.com/office/drawing/2014/main" id="{87F5410E-01CE-A881-32E2-EC2E8F0ACA56}"/>
              </a:ext>
            </a:extLst>
          </p:cNvPr>
          <p:cNvSpPr>
            <a:spLocks noGrp="1"/>
          </p:cNvSpPr>
          <p:nvPr>
            <p:ph idx="1"/>
          </p:nvPr>
        </p:nvSpPr>
        <p:spPr>
          <a:xfrm>
            <a:off x="585627" y="1242950"/>
            <a:ext cx="5650786" cy="5353058"/>
          </a:xfrm>
        </p:spPr>
        <p:txBody>
          <a:bodyPr>
            <a:normAutofit fontScale="92500" lnSpcReduction="10000"/>
          </a:bodyPr>
          <a:lstStyle/>
          <a:p>
            <a:pPr marL="0" indent="0">
              <a:buNone/>
              <a:tabLst>
                <a:tab pos="574675" algn="l"/>
              </a:tabLst>
            </a:pPr>
            <a:r>
              <a:rPr lang="en-US" sz="2000" b="1" dirty="0"/>
              <a:t>Q1: What is the most famous brand of temporary fasteners?</a:t>
            </a:r>
          </a:p>
          <a:p>
            <a:pPr marL="0" indent="0">
              <a:buNone/>
              <a:tabLst>
                <a:tab pos="574675" algn="l"/>
              </a:tabLst>
            </a:pPr>
            <a:r>
              <a:rPr lang="en-US" sz="2000" b="1" dirty="0"/>
              <a:t>A: </a:t>
            </a:r>
            <a:r>
              <a:rPr lang="en-US" sz="2000" dirty="0"/>
              <a:t>Cleco</a:t>
            </a:r>
          </a:p>
          <a:p>
            <a:pPr marL="0" indent="0">
              <a:buNone/>
              <a:tabLst>
                <a:tab pos="574675" algn="l"/>
              </a:tabLst>
            </a:pPr>
            <a:endParaRPr lang="en-US" sz="2000" dirty="0"/>
          </a:p>
          <a:p>
            <a:pPr marL="0" indent="0">
              <a:buNone/>
              <a:tabLst>
                <a:tab pos="574675" algn="l"/>
              </a:tabLst>
            </a:pPr>
            <a:r>
              <a:rPr lang="en-US" sz="2000" b="1" dirty="0"/>
              <a:t>Q2:</a:t>
            </a:r>
            <a:r>
              <a:rPr lang="en-US" sz="2000" dirty="0"/>
              <a:t> </a:t>
            </a:r>
            <a:r>
              <a:rPr lang="en-US" sz="2000" b="1" dirty="0"/>
              <a:t>Name of a common threaded fastener used for high strength?</a:t>
            </a:r>
          </a:p>
          <a:p>
            <a:pPr marL="0" indent="0">
              <a:buNone/>
              <a:tabLst>
                <a:tab pos="574675" algn="l"/>
              </a:tabLst>
            </a:pPr>
            <a:r>
              <a:rPr lang="en-US" sz="2000" b="1" dirty="0"/>
              <a:t>A:</a:t>
            </a:r>
            <a:r>
              <a:rPr lang="en-US" sz="2000" dirty="0"/>
              <a:t> Bolt </a:t>
            </a:r>
          </a:p>
          <a:p>
            <a:pPr marL="0" indent="0">
              <a:buNone/>
              <a:tabLst>
                <a:tab pos="574675" algn="l"/>
              </a:tabLst>
            </a:pPr>
            <a:endParaRPr lang="en-US" sz="2000" dirty="0"/>
          </a:p>
          <a:p>
            <a:pPr marL="0" indent="0">
              <a:buNone/>
              <a:tabLst>
                <a:tab pos="574675" algn="l"/>
              </a:tabLst>
            </a:pPr>
            <a:r>
              <a:rPr lang="en-US" sz="2000" b="1" dirty="0"/>
              <a:t>Q3: Name of the thickness two overlapping materials make when fastened together?</a:t>
            </a:r>
          </a:p>
          <a:p>
            <a:pPr marL="0" indent="0">
              <a:buNone/>
              <a:tabLst>
                <a:tab pos="574675" algn="l"/>
              </a:tabLst>
            </a:pPr>
            <a:r>
              <a:rPr lang="en-US" sz="2000" b="1" dirty="0"/>
              <a:t>A:</a:t>
            </a:r>
            <a:r>
              <a:rPr lang="en-US" sz="2000" dirty="0"/>
              <a:t> Grip height</a:t>
            </a:r>
            <a:br>
              <a:rPr lang="en-US" sz="2000" dirty="0"/>
            </a:br>
            <a:endParaRPr lang="en-US" sz="2000" dirty="0"/>
          </a:p>
          <a:p>
            <a:pPr marL="0" indent="0">
              <a:buNone/>
            </a:pPr>
            <a:r>
              <a:rPr lang="en-US" sz="2000" b="1" dirty="0"/>
              <a:t>Q4: How do you measure the grip of a threaded protruding head fastener?</a:t>
            </a:r>
          </a:p>
          <a:p>
            <a:pPr marL="0" indent="0">
              <a:buNone/>
            </a:pPr>
            <a:r>
              <a:rPr lang="en-US" sz="2000" b="1" dirty="0"/>
              <a:t>A:</a:t>
            </a:r>
            <a:r>
              <a:rPr lang="en-US" sz="2000" dirty="0"/>
              <a:t> From the bottom of head to top of threads</a:t>
            </a:r>
            <a:br>
              <a:rPr lang="en-US" sz="2000" dirty="0"/>
            </a:br>
            <a:endParaRPr lang="en-US" sz="2000" dirty="0"/>
          </a:p>
          <a:p>
            <a:pPr marL="0" indent="0">
              <a:buNone/>
            </a:pPr>
            <a:endParaRPr lang="en-US" sz="2000" dirty="0"/>
          </a:p>
          <a:p>
            <a:pPr marL="0" indent="0">
              <a:buNone/>
            </a:pPr>
            <a:endParaRPr lang="en-US" sz="2000" dirty="0"/>
          </a:p>
          <a:p>
            <a:endParaRPr lang="en-US" sz="2000" dirty="0"/>
          </a:p>
        </p:txBody>
      </p:sp>
      <p:sp>
        <p:nvSpPr>
          <p:cNvPr id="12" name="Content Placeholder 2">
            <a:extLst>
              <a:ext uri="{FF2B5EF4-FFF2-40B4-BE49-F238E27FC236}">
                <a16:creationId xmlns:a16="http://schemas.microsoft.com/office/drawing/2014/main" id="{D1DE07E9-686C-16E6-DE07-31A3DC967A79}"/>
              </a:ext>
            </a:extLst>
          </p:cNvPr>
          <p:cNvSpPr txBox="1">
            <a:spLocks/>
          </p:cNvSpPr>
          <p:nvPr/>
        </p:nvSpPr>
        <p:spPr>
          <a:xfrm>
            <a:off x="6236413" y="557176"/>
            <a:ext cx="5650786" cy="613129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574675" algn="l"/>
              </a:tabLst>
            </a:pPr>
            <a:r>
              <a:rPr lang="en-US" sz="2000" b="1" dirty="0"/>
              <a:t>Q5: How do you measure the grip of a threaded flush head fastener?</a:t>
            </a:r>
          </a:p>
          <a:p>
            <a:pPr marL="0" indent="0">
              <a:buNone/>
              <a:tabLst>
                <a:tab pos="574675" algn="l"/>
              </a:tabLst>
            </a:pPr>
            <a:r>
              <a:rPr lang="en-US" sz="2000" b="1" dirty="0"/>
              <a:t>A: </a:t>
            </a:r>
            <a:r>
              <a:rPr lang="en-US" sz="2000" dirty="0"/>
              <a:t>From the top of the head to top of threads</a:t>
            </a:r>
          </a:p>
          <a:p>
            <a:pPr marL="0" indent="0">
              <a:buFont typeface="Arial" panose="020B0604020202020204" pitchFamily="34" charset="0"/>
              <a:buNone/>
              <a:tabLst>
                <a:tab pos="574675" algn="l"/>
              </a:tabLst>
            </a:pPr>
            <a:endParaRPr lang="en-US" sz="2000" b="1" dirty="0"/>
          </a:p>
          <a:p>
            <a:pPr marL="0" indent="0">
              <a:buNone/>
              <a:tabLst>
                <a:tab pos="574675" algn="l"/>
              </a:tabLst>
            </a:pPr>
            <a:r>
              <a:rPr lang="en-US" sz="2000" b="1" dirty="0"/>
              <a:t>Q6: What are bolts comprised of?</a:t>
            </a:r>
          </a:p>
          <a:p>
            <a:pPr marL="0" indent="0">
              <a:buNone/>
              <a:tabLst>
                <a:tab pos="574675" algn="l"/>
              </a:tabLst>
            </a:pPr>
            <a:r>
              <a:rPr lang="en-US" sz="2000" b="1" dirty="0"/>
              <a:t>A:</a:t>
            </a:r>
            <a:r>
              <a:rPr lang="en-US" sz="2000" dirty="0"/>
              <a:t> Bolt and nut</a:t>
            </a:r>
          </a:p>
          <a:p>
            <a:pPr marL="0" indent="0">
              <a:buFont typeface="Arial" panose="020B0604020202020204" pitchFamily="34" charset="0"/>
              <a:buNone/>
              <a:tabLst>
                <a:tab pos="574675" algn="l"/>
              </a:tabLst>
            </a:pPr>
            <a:endParaRPr lang="en-US" sz="2000" dirty="0"/>
          </a:p>
          <a:p>
            <a:pPr marL="0" indent="0">
              <a:buNone/>
              <a:tabLst>
                <a:tab pos="574675" algn="l"/>
              </a:tabLst>
            </a:pPr>
            <a:r>
              <a:rPr lang="en-US" sz="2000" b="1" dirty="0"/>
              <a:t>Q7: Are bolts permanent fasteners?</a:t>
            </a:r>
          </a:p>
          <a:p>
            <a:pPr marL="0" indent="0">
              <a:buNone/>
              <a:tabLst>
                <a:tab pos="574675" algn="l"/>
              </a:tabLst>
            </a:pPr>
            <a:r>
              <a:rPr lang="en-US" sz="2000" b="1" dirty="0"/>
              <a:t>A: </a:t>
            </a:r>
            <a:r>
              <a:rPr lang="en-US" sz="2000" dirty="0"/>
              <a:t>No, they can be removed</a:t>
            </a:r>
          </a:p>
          <a:p>
            <a:pPr marL="0" indent="0">
              <a:buFont typeface="Arial" panose="020B0604020202020204" pitchFamily="34" charset="0"/>
              <a:buNone/>
            </a:pPr>
            <a:endParaRPr lang="en-US" sz="2000" dirty="0"/>
          </a:p>
          <a:p>
            <a:pPr marL="0" indent="0">
              <a:buNone/>
            </a:pPr>
            <a:r>
              <a:rPr lang="en-US" sz="2000" b="1" dirty="0"/>
              <a:t>Q8: What is the most common fastener type in aerospace manufacturing?</a:t>
            </a:r>
          </a:p>
          <a:p>
            <a:pPr marL="0" indent="0">
              <a:buNone/>
            </a:pPr>
            <a:r>
              <a:rPr lang="en-US" sz="2000" b="1" dirty="0"/>
              <a:t>A:</a:t>
            </a:r>
            <a:r>
              <a:rPr lang="en-US" sz="2000" dirty="0"/>
              <a:t> Rivets...look at the side of any plane :)</a:t>
            </a:r>
          </a:p>
          <a:p>
            <a:endParaRPr lang="en-US" sz="2000" dirty="0"/>
          </a:p>
          <a:p>
            <a:pPr marL="0" indent="0">
              <a:buNone/>
            </a:pPr>
            <a:r>
              <a:rPr lang="en-US" sz="2000" b="1" dirty="0"/>
              <a:t>Q9: Are rivets permanent fasteners?</a:t>
            </a:r>
          </a:p>
          <a:p>
            <a:pPr marL="0" indent="0">
              <a:buNone/>
            </a:pPr>
            <a:r>
              <a:rPr lang="en-US" sz="2000" b="1" dirty="0"/>
              <a:t>A:</a:t>
            </a:r>
            <a:r>
              <a:rPr lang="en-US" sz="2000" dirty="0"/>
              <a:t> Yes</a:t>
            </a:r>
          </a:p>
          <a:p>
            <a:endParaRPr lang="en-US" sz="2000" dirty="0"/>
          </a:p>
        </p:txBody>
      </p:sp>
    </p:spTree>
    <p:extLst>
      <p:ext uri="{BB962C8B-B14F-4D97-AF65-F5344CB8AC3E}">
        <p14:creationId xmlns:p14="http://schemas.microsoft.com/office/powerpoint/2010/main" val="1646794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
                                            <p:txEl>
                                              <p:pRg st="12" end="1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effectLst/>
      </p:bgPr>
    </p:bg>
    <p:spTree>
      <p:nvGrpSpPr>
        <p:cNvPr id="1" name="">
          <a:extLst>
            <a:ext uri="{FF2B5EF4-FFF2-40B4-BE49-F238E27FC236}">
              <a16:creationId xmlns:a16="http://schemas.microsoft.com/office/drawing/2014/main" id="{0D51FC91-0A90-629C-03BC-03C8B7A0E0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8FC29F-44A0-5B3D-D309-FEF8ED461BA5}"/>
              </a:ext>
            </a:extLst>
          </p:cNvPr>
          <p:cNvSpPr>
            <a:spLocks noGrp="1"/>
          </p:cNvSpPr>
          <p:nvPr>
            <p:ph type="title"/>
          </p:nvPr>
        </p:nvSpPr>
        <p:spPr>
          <a:xfrm>
            <a:off x="365760" y="365126"/>
            <a:ext cx="5870653" cy="877824"/>
          </a:xfrm>
        </p:spPr>
        <p:txBody>
          <a:bodyPr/>
          <a:lstStyle/>
          <a:p>
            <a:r>
              <a:rPr lang="en-US" dirty="0"/>
              <a:t>Practice Q&amp;A’s  </a:t>
            </a:r>
            <a:r>
              <a:rPr lang="en-US" sz="2800" dirty="0">
                <a:solidFill>
                  <a:schemeClr val="accent2">
                    <a:lumMod val="75000"/>
                  </a:schemeClr>
                </a:solidFill>
              </a:rPr>
              <a:t>(Q10-Q19)</a:t>
            </a:r>
            <a:endParaRPr lang="en-US" dirty="0">
              <a:solidFill>
                <a:schemeClr val="accent2">
                  <a:lumMod val="75000"/>
                </a:schemeClr>
              </a:solidFill>
            </a:endParaRPr>
          </a:p>
        </p:txBody>
      </p:sp>
      <p:sp>
        <p:nvSpPr>
          <p:cNvPr id="3" name="Content Placeholder 2">
            <a:extLst>
              <a:ext uri="{FF2B5EF4-FFF2-40B4-BE49-F238E27FC236}">
                <a16:creationId xmlns:a16="http://schemas.microsoft.com/office/drawing/2014/main" id="{3517150C-7C2A-C5AB-1F9D-1D8CEC7EBB41}"/>
              </a:ext>
            </a:extLst>
          </p:cNvPr>
          <p:cNvSpPr>
            <a:spLocks noGrp="1"/>
          </p:cNvSpPr>
          <p:nvPr>
            <p:ph idx="1"/>
          </p:nvPr>
        </p:nvSpPr>
        <p:spPr>
          <a:xfrm>
            <a:off x="585627" y="1242950"/>
            <a:ext cx="5650786" cy="5615050"/>
          </a:xfrm>
        </p:spPr>
        <p:txBody>
          <a:bodyPr>
            <a:normAutofit/>
          </a:bodyPr>
          <a:lstStyle/>
          <a:p>
            <a:pPr marL="0" indent="0">
              <a:buNone/>
              <a:tabLst>
                <a:tab pos="574675" algn="l"/>
              </a:tabLst>
            </a:pPr>
            <a:r>
              <a:rPr lang="en-US" sz="2000" b="1" dirty="0"/>
              <a:t>Q10: What is an advantage to rivets?</a:t>
            </a:r>
          </a:p>
          <a:p>
            <a:pPr marL="0" indent="0">
              <a:buNone/>
              <a:tabLst>
                <a:tab pos="574675" algn="l"/>
              </a:tabLst>
            </a:pPr>
            <a:r>
              <a:rPr lang="en-US" sz="2000" b="1" dirty="0"/>
              <a:t>A: </a:t>
            </a:r>
            <a:r>
              <a:rPr lang="en-US" sz="2000" dirty="0"/>
              <a:t>Lighter than bolts</a:t>
            </a:r>
          </a:p>
          <a:p>
            <a:pPr marL="0" indent="0">
              <a:buNone/>
              <a:tabLst>
                <a:tab pos="574675" algn="l"/>
              </a:tabLst>
            </a:pPr>
            <a:endParaRPr lang="en-US" sz="2000" dirty="0"/>
          </a:p>
          <a:p>
            <a:pPr marL="0" indent="0">
              <a:buNone/>
              <a:tabLst>
                <a:tab pos="574675" algn="l"/>
              </a:tabLst>
            </a:pPr>
            <a:r>
              <a:rPr lang="en-US" sz="2000" b="1" dirty="0"/>
              <a:t>Q11:</a:t>
            </a:r>
            <a:r>
              <a:rPr lang="en-US" sz="2000" dirty="0"/>
              <a:t> </a:t>
            </a:r>
            <a:r>
              <a:rPr lang="en-US" sz="2000" b="1" dirty="0"/>
              <a:t>What are rivets comprised of?</a:t>
            </a:r>
          </a:p>
          <a:p>
            <a:pPr marL="0" indent="0">
              <a:buNone/>
              <a:tabLst>
                <a:tab pos="574675" algn="l"/>
              </a:tabLst>
            </a:pPr>
            <a:r>
              <a:rPr lang="en-US" sz="2000" b="1" dirty="0"/>
              <a:t>A:</a:t>
            </a:r>
            <a:r>
              <a:rPr lang="en-US" sz="2000" dirty="0"/>
              <a:t> Pin (or mandrel) and Body </a:t>
            </a:r>
          </a:p>
          <a:p>
            <a:pPr marL="0" indent="0">
              <a:buNone/>
              <a:tabLst>
                <a:tab pos="574675" algn="l"/>
              </a:tabLst>
            </a:pPr>
            <a:endParaRPr lang="en-US" sz="2000" dirty="0"/>
          </a:p>
          <a:p>
            <a:pPr marL="0" indent="0">
              <a:buNone/>
              <a:tabLst>
                <a:tab pos="574675" algn="l"/>
              </a:tabLst>
            </a:pPr>
            <a:r>
              <a:rPr lang="en-US" sz="2000" b="1" dirty="0"/>
              <a:t>Q12: Why is a Hi-Lok fastener the best of both a bolt and a rivet?</a:t>
            </a:r>
          </a:p>
          <a:p>
            <a:pPr marL="0" indent="0">
              <a:buNone/>
              <a:tabLst>
                <a:tab pos="574675" algn="l"/>
              </a:tabLst>
            </a:pPr>
            <a:r>
              <a:rPr lang="en-US" sz="2000" b="1" dirty="0"/>
              <a:t>A:</a:t>
            </a:r>
            <a:r>
              <a:rPr lang="en-US" sz="2000" dirty="0"/>
              <a:t> Lighter than a bolt, stronger than a rivets</a:t>
            </a:r>
            <a:br>
              <a:rPr lang="en-US" sz="2000" dirty="0"/>
            </a:br>
            <a:endParaRPr lang="en-US" sz="2000" dirty="0"/>
          </a:p>
          <a:p>
            <a:pPr marL="0" indent="0">
              <a:buNone/>
            </a:pPr>
            <a:r>
              <a:rPr lang="en-US" sz="2000" b="1" dirty="0"/>
              <a:t>Q13: What are Hi-</a:t>
            </a:r>
            <a:r>
              <a:rPr lang="en-US" sz="2000" b="1" dirty="0" err="1"/>
              <a:t>Loks</a:t>
            </a:r>
            <a:r>
              <a:rPr lang="en-US" sz="2000" b="1" dirty="0"/>
              <a:t> comprised of?</a:t>
            </a:r>
          </a:p>
          <a:p>
            <a:pPr marL="0" indent="0">
              <a:buNone/>
            </a:pPr>
            <a:r>
              <a:rPr lang="en-US" sz="2000" b="1" dirty="0"/>
              <a:t>A:</a:t>
            </a:r>
            <a:r>
              <a:rPr lang="en-US" sz="2000" dirty="0"/>
              <a:t> Pin and collar</a:t>
            </a:r>
            <a:br>
              <a:rPr lang="en-US" sz="2000" dirty="0"/>
            </a:br>
            <a:endParaRPr lang="en-US" sz="2000" dirty="0"/>
          </a:p>
          <a:p>
            <a:pPr marL="0" indent="0">
              <a:buNone/>
            </a:pPr>
            <a:r>
              <a:rPr lang="en-US" sz="2000" b="1" dirty="0"/>
              <a:t>Q14: Are Hi-Lok fasteners permanent?</a:t>
            </a:r>
          </a:p>
          <a:p>
            <a:pPr marL="0" indent="0">
              <a:buNone/>
            </a:pPr>
            <a:r>
              <a:rPr lang="en-US" sz="2000" b="1" dirty="0"/>
              <a:t>A:</a:t>
            </a:r>
            <a:r>
              <a:rPr lang="en-US" sz="2000" dirty="0"/>
              <a:t> Yes</a:t>
            </a:r>
          </a:p>
          <a:p>
            <a:pPr marL="0" indent="0">
              <a:buNone/>
            </a:pPr>
            <a:endParaRPr lang="en-US" sz="2000" dirty="0"/>
          </a:p>
          <a:p>
            <a:endParaRPr lang="en-US" sz="2000" dirty="0"/>
          </a:p>
        </p:txBody>
      </p:sp>
      <p:sp>
        <p:nvSpPr>
          <p:cNvPr id="12" name="Content Placeholder 2">
            <a:extLst>
              <a:ext uri="{FF2B5EF4-FFF2-40B4-BE49-F238E27FC236}">
                <a16:creationId xmlns:a16="http://schemas.microsoft.com/office/drawing/2014/main" id="{2D536686-6D9E-A0B9-C499-65C8A7C74F07}"/>
              </a:ext>
            </a:extLst>
          </p:cNvPr>
          <p:cNvSpPr txBox="1">
            <a:spLocks/>
          </p:cNvSpPr>
          <p:nvPr/>
        </p:nvSpPr>
        <p:spPr>
          <a:xfrm>
            <a:off x="6236413" y="557176"/>
            <a:ext cx="5650786" cy="613129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574675" algn="l"/>
              </a:tabLst>
            </a:pPr>
            <a:r>
              <a:rPr lang="en-US" sz="2000" b="1" dirty="0"/>
              <a:t>Q15: What is an advantage of Lockbolts?</a:t>
            </a:r>
          </a:p>
          <a:p>
            <a:pPr marL="0" indent="0">
              <a:buNone/>
              <a:tabLst>
                <a:tab pos="574675" algn="l"/>
              </a:tabLst>
            </a:pPr>
            <a:r>
              <a:rPr lang="en-US" sz="2000" b="1" dirty="0"/>
              <a:t>A: </a:t>
            </a:r>
            <a:r>
              <a:rPr lang="en-US" sz="2000" dirty="0"/>
              <a:t>Stronger than bolt &amp; nut.  Locking collar will not rattle loose.</a:t>
            </a:r>
          </a:p>
          <a:p>
            <a:pPr marL="0" indent="0">
              <a:buFont typeface="Arial" panose="020B0604020202020204" pitchFamily="34" charset="0"/>
              <a:buNone/>
              <a:tabLst>
                <a:tab pos="574675" algn="l"/>
              </a:tabLst>
            </a:pPr>
            <a:endParaRPr lang="en-US" sz="2000" b="1" dirty="0"/>
          </a:p>
          <a:p>
            <a:pPr marL="0" indent="0">
              <a:buNone/>
              <a:tabLst>
                <a:tab pos="574675" algn="l"/>
              </a:tabLst>
            </a:pPr>
            <a:r>
              <a:rPr lang="en-US" sz="2000" b="1" dirty="0"/>
              <a:t>Q16: What are Lockbolts comprised of?</a:t>
            </a:r>
          </a:p>
          <a:p>
            <a:pPr marL="0" indent="0">
              <a:buNone/>
              <a:tabLst>
                <a:tab pos="574675" algn="l"/>
              </a:tabLst>
            </a:pPr>
            <a:r>
              <a:rPr lang="en-US" sz="2000" b="1" dirty="0"/>
              <a:t>A:</a:t>
            </a:r>
            <a:r>
              <a:rPr lang="en-US" sz="2000" dirty="0"/>
              <a:t> Bolt, breakaway pintail, and locking collar</a:t>
            </a:r>
          </a:p>
          <a:p>
            <a:pPr marL="0" indent="0">
              <a:buFont typeface="Arial" panose="020B0604020202020204" pitchFamily="34" charset="0"/>
              <a:buNone/>
              <a:tabLst>
                <a:tab pos="574675" algn="l"/>
              </a:tabLst>
            </a:pPr>
            <a:endParaRPr lang="en-US" sz="2000" dirty="0"/>
          </a:p>
          <a:p>
            <a:pPr marL="0" indent="0">
              <a:buNone/>
              <a:tabLst>
                <a:tab pos="574675" algn="l"/>
              </a:tabLst>
            </a:pPr>
            <a:r>
              <a:rPr lang="en-US" sz="2000" b="1" dirty="0"/>
              <a:t>Q17: Are Lockbolts permanent?</a:t>
            </a:r>
          </a:p>
          <a:p>
            <a:pPr marL="0" indent="0">
              <a:buNone/>
              <a:tabLst>
                <a:tab pos="574675" algn="l"/>
              </a:tabLst>
            </a:pPr>
            <a:r>
              <a:rPr lang="en-US" sz="2000" b="1" dirty="0"/>
              <a:t>A: </a:t>
            </a:r>
            <a:r>
              <a:rPr lang="en-US" sz="2000" dirty="0"/>
              <a:t>Yes, the locking collar is swaged online</a:t>
            </a:r>
          </a:p>
          <a:p>
            <a:pPr marL="0" indent="0">
              <a:buFont typeface="Arial" panose="020B0604020202020204" pitchFamily="34" charset="0"/>
              <a:buNone/>
            </a:pPr>
            <a:endParaRPr lang="en-US" sz="2000" dirty="0"/>
          </a:p>
          <a:p>
            <a:pPr marL="0" indent="0">
              <a:buNone/>
            </a:pPr>
            <a:r>
              <a:rPr lang="en-US" sz="2000" b="1" dirty="0"/>
              <a:t>Q18: What does NAS stand for (of NAS 523)?</a:t>
            </a:r>
          </a:p>
          <a:p>
            <a:pPr marL="0" indent="0">
              <a:buNone/>
            </a:pPr>
            <a:r>
              <a:rPr lang="en-US" sz="2000" b="1" dirty="0"/>
              <a:t>A:</a:t>
            </a:r>
            <a:r>
              <a:rPr lang="en-US" sz="2000" dirty="0"/>
              <a:t> National Aerospace Standard</a:t>
            </a:r>
          </a:p>
          <a:p>
            <a:endParaRPr lang="en-US" sz="2000" dirty="0"/>
          </a:p>
          <a:p>
            <a:pPr marL="0" indent="0">
              <a:buNone/>
            </a:pPr>
            <a:r>
              <a:rPr lang="en-US" sz="2000" b="1" dirty="0"/>
              <a:t>Q19: What does the NW quadrant of NAS contain?</a:t>
            </a:r>
          </a:p>
          <a:p>
            <a:pPr marL="0" indent="0">
              <a:buNone/>
            </a:pPr>
            <a:r>
              <a:rPr lang="en-US" sz="2000" b="1" dirty="0"/>
              <a:t>A:</a:t>
            </a:r>
            <a:r>
              <a:rPr lang="en-US" sz="2000" dirty="0"/>
              <a:t> Fastener Type (engineering code)</a:t>
            </a:r>
          </a:p>
          <a:p>
            <a:endParaRPr lang="en-US" sz="2000" dirty="0"/>
          </a:p>
        </p:txBody>
      </p:sp>
    </p:spTree>
    <p:extLst>
      <p:ext uri="{BB962C8B-B14F-4D97-AF65-F5344CB8AC3E}">
        <p14:creationId xmlns:p14="http://schemas.microsoft.com/office/powerpoint/2010/main" val="1648572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2">
                                            <p:txEl>
                                              <p:pRg st="12" end="12"/>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effectLst/>
      </p:bgPr>
    </p:bg>
    <p:spTree>
      <p:nvGrpSpPr>
        <p:cNvPr id="1" name="">
          <a:extLst>
            <a:ext uri="{FF2B5EF4-FFF2-40B4-BE49-F238E27FC236}">
              <a16:creationId xmlns:a16="http://schemas.microsoft.com/office/drawing/2014/main" id="{75DA0644-1F87-77F4-1C6D-A3B1F739A3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822AB7-5516-C6E9-782A-36F8D0BD5FD3}"/>
              </a:ext>
            </a:extLst>
          </p:cNvPr>
          <p:cNvSpPr>
            <a:spLocks noGrp="1"/>
          </p:cNvSpPr>
          <p:nvPr>
            <p:ph type="title"/>
          </p:nvPr>
        </p:nvSpPr>
        <p:spPr>
          <a:xfrm>
            <a:off x="365760" y="365126"/>
            <a:ext cx="5490510" cy="877824"/>
          </a:xfrm>
        </p:spPr>
        <p:txBody>
          <a:bodyPr/>
          <a:lstStyle/>
          <a:p>
            <a:r>
              <a:rPr lang="en-US" dirty="0"/>
              <a:t>Practice Q&amp;A’s  </a:t>
            </a:r>
            <a:r>
              <a:rPr lang="en-US" sz="2800" dirty="0">
                <a:solidFill>
                  <a:schemeClr val="accent2">
                    <a:lumMod val="75000"/>
                  </a:schemeClr>
                </a:solidFill>
              </a:rPr>
              <a:t>(Q20-Q28)</a:t>
            </a:r>
            <a:endParaRPr lang="en-US" dirty="0">
              <a:solidFill>
                <a:schemeClr val="accent2">
                  <a:lumMod val="75000"/>
                </a:schemeClr>
              </a:solidFill>
            </a:endParaRPr>
          </a:p>
        </p:txBody>
      </p:sp>
      <p:sp>
        <p:nvSpPr>
          <p:cNvPr id="3" name="Content Placeholder 2">
            <a:extLst>
              <a:ext uri="{FF2B5EF4-FFF2-40B4-BE49-F238E27FC236}">
                <a16:creationId xmlns:a16="http://schemas.microsoft.com/office/drawing/2014/main" id="{92810A81-AD80-FD20-CF30-A7681A9A36A2}"/>
              </a:ext>
            </a:extLst>
          </p:cNvPr>
          <p:cNvSpPr>
            <a:spLocks noGrp="1"/>
          </p:cNvSpPr>
          <p:nvPr>
            <p:ph idx="1"/>
          </p:nvPr>
        </p:nvSpPr>
        <p:spPr>
          <a:xfrm>
            <a:off x="585627" y="1242950"/>
            <a:ext cx="5650786" cy="5353058"/>
          </a:xfrm>
        </p:spPr>
        <p:txBody>
          <a:bodyPr>
            <a:normAutofit/>
          </a:bodyPr>
          <a:lstStyle/>
          <a:p>
            <a:pPr marL="0" indent="0">
              <a:buNone/>
              <a:tabLst>
                <a:tab pos="574675" algn="l"/>
              </a:tabLst>
            </a:pPr>
            <a:r>
              <a:rPr lang="en-US" sz="2000" b="1" dirty="0"/>
              <a:t>Q20: What does the SQ quadrant of NAS contain?</a:t>
            </a:r>
          </a:p>
          <a:p>
            <a:pPr marL="0" indent="0">
              <a:buNone/>
              <a:tabLst>
                <a:tab pos="574675" algn="l"/>
              </a:tabLst>
            </a:pPr>
            <a:r>
              <a:rPr lang="en-US" sz="2000" b="1" dirty="0"/>
              <a:t>A: </a:t>
            </a:r>
            <a:r>
              <a:rPr lang="en-US" sz="2000" dirty="0"/>
              <a:t>(D)</a:t>
            </a:r>
            <a:r>
              <a:rPr lang="en-US" sz="2000" dirty="0" err="1"/>
              <a:t>imple</a:t>
            </a:r>
            <a:r>
              <a:rPr lang="en-US" sz="2000" dirty="0"/>
              <a:t> or (C)</a:t>
            </a:r>
            <a:r>
              <a:rPr lang="en-US" sz="2000" dirty="0" err="1"/>
              <a:t>ountersink</a:t>
            </a:r>
            <a:r>
              <a:rPr lang="en-US" sz="2000" dirty="0"/>
              <a:t> or blank</a:t>
            </a:r>
          </a:p>
          <a:p>
            <a:pPr marL="0" indent="0">
              <a:buNone/>
              <a:tabLst>
                <a:tab pos="574675" algn="l"/>
              </a:tabLst>
            </a:pPr>
            <a:endParaRPr lang="en-US" sz="2000" dirty="0"/>
          </a:p>
          <a:p>
            <a:pPr marL="0" indent="0">
              <a:buNone/>
              <a:tabLst>
                <a:tab pos="574675" algn="l"/>
              </a:tabLst>
            </a:pPr>
            <a:r>
              <a:rPr lang="en-US" sz="2000" b="1" dirty="0"/>
              <a:t>Q21:</a:t>
            </a:r>
            <a:r>
              <a:rPr lang="en-US" sz="2000" dirty="0"/>
              <a:t> </a:t>
            </a:r>
            <a:r>
              <a:rPr lang="en-US" sz="2000" b="1" dirty="0"/>
              <a:t>What does the NE quadrant of NAS contain?</a:t>
            </a:r>
          </a:p>
          <a:p>
            <a:pPr marL="0" indent="0">
              <a:buNone/>
              <a:tabLst>
                <a:tab pos="574675" algn="l"/>
              </a:tabLst>
            </a:pPr>
            <a:r>
              <a:rPr lang="en-US" sz="2000" b="1" dirty="0"/>
              <a:t>A:</a:t>
            </a:r>
            <a:r>
              <a:rPr lang="en-US" sz="2000" dirty="0"/>
              <a:t> Diameter in 1/32ths of an inch; Near/Far side </a:t>
            </a:r>
          </a:p>
          <a:p>
            <a:pPr marL="0" indent="0">
              <a:buNone/>
              <a:tabLst>
                <a:tab pos="574675" algn="l"/>
              </a:tabLst>
            </a:pPr>
            <a:endParaRPr lang="en-US" sz="2000" dirty="0"/>
          </a:p>
          <a:p>
            <a:pPr marL="0" indent="0">
              <a:buNone/>
              <a:tabLst>
                <a:tab pos="574675" algn="l"/>
              </a:tabLst>
            </a:pPr>
            <a:r>
              <a:rPr lang="en-US" sz="2000" b="1" dirty="0"/>
              <a:t>Q22: What does the SE quadrant of NAS contain?</a:t>
            </a:r>
          </a:p>
          <a:p>
            <a:pPr marL="0" indent="0">
              <a:buNone/>
              <a:tabLst>
                <a:tab pos="574675" algn="l"/>
              </a:tabLst>
            </a:pPr>
            <a:r>
              <a:rPr lang="en-US" sz="2000" b="1" dirty="0"/>
              <a:t>A:</a:t>
            </a:r>
            <a:r>
              <a:rPr lang="en-US" sz="2000" dirty="0"/>
              <a:t> Length in 1/16ths of an inch; spot weld</a:t>
            </a:r>
            <a:br>
              <a:rPr lang="en-US" sz="2000" dirty="0"/>
            </a:br>
            <a:endParaRPr lang="en-US" sz="2000" dirty="0"/>
          </a:p>
          <a:p>
            <a:pPr marL="0" indent="0">
              <a:buNone/>
            </a:pPr>
            <a:r>
              <a:rPr lang="en-US" sz="2000" b="1" dirty="0"/>
              <a:t>Q23: What is the purpose of a feeler gauge?</a:t>
            </a:r>
          </a:p>
          <a:p>
            <a:pPr marL="0" indent="0">
              <a:buNone/>
            </a:pPr>
            <a:r>
              <a:rPr lang="en-US" sz="2000" b="1" dirty="0"/>
              <a:t>A:</a:t>
            </a:r>
            <a:r>
              <a:rPr lang="en-US" sz="2000" dirty="0"/>
              <a:t> Find first gap size to fail</a:t>
            </a:r>
            <a:br>
              <a:rPr lang="en-US" sz="2000" dirty="0"/>
            </a:br>
            <a:endParaRPr lang="en-US" sz="2000" dirty="0"/>
          </a:p>
          <a:p>
            <a:pPr marL="0" indent="0">
              <a:buNone/>
            </a:pPr>
            <a:endParaRPr lang="en-US" sz="2000" dirty="0"/>
          </a:p>
          <a:p>
            <a:pPr marL="0" indent="0">
              <a:buNone/>
            </a:pPr>
            <a:endParaRPr lang="en-US" sz="2000" dirty="0"/>
          </a:p>
          <a:p>
            <a:endParaRPr lang="en-US" sz="2000" dirty="0"/>
          </a:p>
        </p:txBody>
      </p:sp>
      <p:sp>
        <p:nvSpPr>
          <p:cNvPr id="12" name="Content Placeholder 2">
            <a:extLst>
              <a:ext uri="{FF2B5EF4-FFF2-40B4-BE49-F238E27FC236}">
                <a16:creationId xmlns:a16="http://schemas.microsoft.com/office/drawing/2014/main" id="{70EBBEEB-AD7C-E70B-85B5-C12054E97934}"/>
              </a:ext>
            </a:extLst>
          </p:cNvPr>
          <p:cNvSpPr txBox="1">
            <a:spLocks/>
          </p:cNvSpPr>
          <p:nvPr/>
        </p:nvSpPr>
        <p:spPr>
          <a:xfrm>
            <a:off x="6236413" y="557176"/>
            <a:ext cx="5650786" cy="6131299"/>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574675" algn="l"/>
              </a:tabLst>
            </a:pPr>
            <a:r>
              <a:rPr lang="en-US" sz="2000" b="1" dirty="0"/>
              <a:t>Q24: How do you use a feeler gauge?</a:t>
            </a:r>
          </a:p>
          <a:p>
            <a:pPr marL="0" indent="0">
              <a:buNone/>
              <a:tabLst>
                <a:tab pos="574675" algn="l"/>
              </a:tabLst>
            </a:pPr>
            <a:r>
              <a:rPr lang="en-US" sz="2000" b="1" dirty="0"/>
              <a:t>A: </a:t>
            </a:r>
            <a:r>
              <a:rPr lang="en-US" sz="2000" dirty="0"/>
              <a:t>Start with thinnest, go up until one not fit</a:t>
            </a:r>
          </a:p>
          <a:p>
            <a:pPr marL="0" indent="0">
              <a:buFont typeface="Arial" panose="020B0604020202020204" pitchFamily="34" charset="0"/>
              <a:buNone/>
              <a:tabLst>
                <a:tab pos="574675" algn="l"/>
              </a:tabLst>
            </a:pPr>
            <a:endParaRPr lang="en-US" sz="2000" b="1" dirty="0"/>
          </a:p>
          <a:p>
            <a:pPr marL="0" indent="0">
              <a:buNone/>
              <a:tabLst>
                <a:tab pos="574675" algn="l"/>
              </a:tabLst>
            </a:pPr>
            <a:r>
              <a:rPr lang="en-US" sz="2000" b="1" dirty="0"/>
              <a:t>Q25: Name of the distance across a bolt, side-to-side, thru the middle?</a:t>
            </a:r>
          </a:p>
          <a:p>
            <a:pPr marL="0" indent="0">
              <a:buNone/>
              <a:tabLst>
                <a:tab pos="574675" algn="l"/>
              </a:tabLst>
            </a:pPr>
            <a:r>
              <a:rPr lang="en-US" sz="2000" b="1" dirty="0"/>
              <a:t>A: </a:t>
            </a:r>
            <a:r>
              <a:rPr lang="en-US" sz="2000" dirty="0"/>
              <a:t>Diameter</a:t>
            </a:r>
          </a:p>
          <a:p>
            <a:pPr marL="0" indent="0">
              <a:buFont typeface="Arial" panose="020B0604020202020204" pitchFamily="34" charset="0"/>
              <a:buNone/>
              <a:tabLst>
                <a:tab pos="574675" algn="l"/>
              </a:tabLst>
            </a:pPr>
            <a:endParaRPr lang="en-US" sz="2000" dirty="0"/>
          </a:p>
          <a:p>
            <a:pPr marL="0" indent="0">
              <a:buNone/>
              <a:tabLst>
                <a:tab pos="574675" algn="l"/>
              </a:tabLst>
            </a:pPr>
            <a:r>
              <a:rPr lang="en-US" sz="2000" b="1" dirty="0"/>
              <a:t>Q26: Does the diameter of a fastener dictate its tolerance?</a:t>
            </a:r>
          </a:p>
          <a:p>
            <a:pPr marL="0" indent="0">
              <a:buNone/>
              <a:tabLst>
                <a:tab pos="574675" algn="l"/>
              </a:tabLst>
            </a:pPr>
            <a:r>
              <a:rPr lang="en-US" sz="2000" b="1" dirty="0"/>
              <a:t>A: </a:t>
            </a:r>
            <a:r>
              <a:rPr lang="en-US" sz="2000" dirty="0"/>
              <a:t>Yes.  Larger diameter = larger tolerance</a:t>
            </a:r>
          </a:p>
          <a:p>
            <a:pPr marL="0" indent="0">
              <a:buFont typeface="Arial" panose="020B0604020202020204" pitchFamily="34" charset="0"/>
              <a:buNone/>
            </a:pPr>
            <a:endParaRPr lang="en-US" sz="2000" dirty="0"/>
          </a:p>
          <a:p>
            <a:pPr marL="0" indent="0">
              <a:buNone/>
            </a:pPr>
            <a:r>
              <a:rPr lang="en-US" sz="2000" b="1" dirty="0"/>
              <a:t>Q27: What is the most common cause of rivet defects?</a:t>
            </a:r>
          </a:p>
          <a:p>
            <a:pPr marL="0" indent="0">
              <a:buNone/>
            </a:pPr>
            <a:r>
              <a:rPr lang="en-US" sz="2000" b="1" dirty="0"/>
              <a:t>A:</a:t>
            </a:r>
            <a:r>
              <a:rPr lang="en-US" sz="2000" dirty="0"/>
              <a:t> Human error: improper technique or carelessness</a:t>
            </a:r>
          </a:p>
          <a:p>
            <a:endParaRPr lang="en-US" sz="2000" dirty="0"/>
          </a:p>
          <a:p>
            <a:pPr marL="0" indent="0">
              <a:buNone/>
            </a:pPr>
            <a:r>
              <a:rPr lang="en-US" sz="2000" b="1" dirty="0"/>
              <a:t>Q28: Name both heads of a rivet?</a:t>
            </a:r>
          </a:p>
          <a:p>
            <a:pPr marL="0" indent="0">
              <a:buNone/>
            </a:pPr>
            <a:r>
              <a:rPr lang="en-US" sz="2000" b="1" dirty="0"/>
              <a:t>A:</a:t>
            </a:r>
            <a:r>
              <a:rPr lang="en-US" sz="2000" dirty="0"/>
              <a:t> 1. Manufactured head   2. Bucked (or driven) head</a:t>
            </a:r>
          </a:p>
          <a:p>
            <a:endParaRPr lang="en-US" sz="2000" dirty="0"/>
          </a:p>
        </p:txBody>
      </p:sp>
    </p:spTree>
    <p:extLst>
      <p:ext uri="{BB962C8B-B14F-4D97-AF65-F5344CB8AC3E}">
        <p14:creationId xmlns:p14="http://schemas.microsoft.com/office/powerpoint/2010/main" val="2560621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
                                            <p:txEl>
                                              <p:pRg st="12" end="1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effectLst/>
      </p:bgPr>
    </p:bg>
    <p:spTree>
      <p:nvGrpSpPr>
        <p:cNvPr id="1" name="">
          <a:extLst>
            <a:ext uri="{FF2B5EF4-FFF2-40B4-BE49-F238E27FC236}">
              <a16:creationId xmlns:a16="http://schemas.microsoft.com/office/drawing/2014/main" id="{4C390128-39C5-8539-FF1A-127BEDEE2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6DD3D-F3C4-8780-2DDA-1E8C90FCC451}"/>
              </a:ext>
            </a:extLst>
          </p:cNvPr>
          <p:cNvSpPr>
            <a:spLocks noGrp="1"/>
          </p:cNvSpPr>
          <p:nvPr>
            <p:ph type="title"/>
          </p:nvPr>
        </p:nvSpPr>
        <p:spPr>
          <a:xfrm>
            <a:off x="365760" y="365126"/>
            <a:ext cx="5730240" cy="877824"/>
          </a:xfrm>
        </p:spPr>
        <p:txBody>
          <a:bodyPr/>
          <a:lstStyle/>
          <a:p>
            <a:r>
              <a:rPr lang="en-US" dirty="0"/>
              <a:t>Practice Q&amp;A’s  </a:t>
            </a:r>
            <a:r>
              <a:rPr lang="en-US" sz="2800">
                <a:solidFill>
                  <a:schemeClr val="accent2">
                    <a:lumMod val="75000"/>
                  </a:schemeClr>
                </a:solidFill>
              </a:rPr>
              <a:t>(Q29-Q32)</a:t>
            </a:r>
            <a:endParaRPr lang="en-US" dirty="0">
              <a:solidFill>
                <a:schemeClr val="accent2">
                  <a:lumMod val="75000"/>
                </a:schemeClr>
              </a:solidFill>
            </a:endParaRPr>
          </a:p>
        </p:txBody>
      </p:sp>
      <p:sp>
        <p:nvSpPr>
          <p:cNvPr id="3" name="Content Placeholder 2">
            <a:extLst>
              <a:ext uri="{FF2B5EF4-FFF2-40B4-BE49-F238E27FC236}">
                <a16:creationId xmlns:a16="http://schemas.microsoft.com/office/drawing/2014/main" id="{642C2FC6-54DE-5250-EF88-EF8C9E7E8C99}"/>
              </a:ext>
            </a:extLst>
          </p:cNvPr>
          <p:cNvSpPr>
            <a:spLocks noGrp="1"/>
          </p:cNvSpPr>
          <p:nvPr>
            <p:ph idx="1"/>
          </p:nvPr>
        </p:nvSpPr>
        <p:spPr>
          <a:xfrm>
            <a:off x="585627" y="1242950"/>
            <a:ext cx="5650786" cy="5353058"/>
          </a:xfrm>
        </p:spPr>
        <p:txBody>
          <a:bodyPr>
            <a:normAutofit fontScale="92500" lnSpcReduction="10000"/>
          </a:bodyPr>
          <a:lstStyle/>
          <a:p>
            <a:pPr marL="0" indent="0">
              <a:buNone/>
              <a:tabLst>
                <a:tab pos="574675" algn="l"/>
              </a:tabLst>
            </a:pPr>
            <a:r>
              <a:rPr lang="en-US" sz="2000" b="1" dirty="0"/>
              <a:t>Q29: Using a feeler </a:t>
            </a:r>
            <a:r>
              <a:rPr lang="en-US" sz="2000" b="1" dirty="0" err="1"/>
              <a:t>guage</a:t>
            </a:r>
            <a:r>
              <a:rPr lang="en-US" sz="2000" b="1" dirty="0"/>
              <a:t>, what percent gap around a manufactured flush rivet head is acceptable?</a:t>
            </a:r>
          </a:p>
          <a:p>
            <a:pPr marL="0" indent="0">
              <a:buNone/>
              <a:tabLst>
                <a:tab pos="574675" algn="l"/>
              </a:tabLst>
            </a:pPr>
            <a:r>
              <a:rPr lang="en-US" sz="2000" b="1" dirty="0"/>
              <a:t>A: </a:t>
            </a:r>
            <a:r>
              <a:rPr lang="en-US" sz="2000" dirty="0"/>
              <a:t>No more than 40%</a:t>
            </a:r>
          </a:p>
          <a:p>
            <a:pPr marL="0" indent="0">
              <a:buNone/>
              <a:tabLst>
                <a:tab pos="574675" algn="l"/>
              </a:tabLst>
            </a:pPr>
            <a:endParaRPr lang="en-US" sz="2000" dirty="0"/>
          </a:p>
          <a:p>
            <a:pPr marL="0" indent="0">
              <a:buNone/>
              <a:tabLst>
                <a:tab pos="574675" algn="l"/>
              </a:tabLst>
            </a:pPr>
            <a:r>
              <a:rPr lang="en-US" sz="2000" b="1" dirty="0"/>
              <a:t>Q30:</a:t>
            </a:r>
            <a:r>
              <a:rPr lang="en-US" sz="2000" dirty="0"/>
              <a:t> </a:t>
            </a:r>
            <a:r>
              <a:rPr lang="en-US" sz="2000" b="1" dirty="0"/>
              <a:t>Installed fasteners must meet what guidelines?</a:t>
            </a:r>
          </a:p>
          <a:p>
            <a:pPr marL="0" indent="0">
              <a:buNone/>
              <a:tabLst>
                <a:tab pos="574675" algn="l"/>
              </a:tabLst>
            </a:pPr>
            <a:r>
              <a:rPr lang="en-US" sz="2000" b="1" dirty="0"/>
              <a:t>A:</a:t>
            </a:r>
            <a:r>
              <a:rPr lang="en-US" sz="2000" dirty="0"/>
              <a:t> Engineering Requirements </a:t>
            </a:r>
          </a:p>
          <a:p>
            <a:pPr marL="0" indent="0">
              <a:buNone/>
              <a:tabLst>
                <a:tab pos="574675" algn="l"/>
              </a:tabLst>
            </a:pPr>
            <a:endParaRPr lang="en-US" sz="2000" dirty="0"/>
          </a:p>
          <a:p>
            <a:pPr marL="0" indent="0">
              <a:buNone/>
              <a:tabLst>
                <a:tab pos="574675" algn="l"/>
              </a:tabLst>
            </a:pPr>
            <a:r>
              <a:rPr lang="en-US" sz="2000" b="1" dirty="0"/>
              <a:t>Q31: Name of the </a:t>
            </a:r>
            <a:r>
              <a:rPr lang="en-US" sz="2000" b="1" dirty="0" err="1"/>
              <a:t>guage</a:t>
            </a:r>
            <a:r>
              <a:rPr lang="en-US" sz="2000" b="1" dirty="0"/>
              <a:t> used to inspect diameter of a rivet head?</a:t>
            </a:r>
          </a:p>
          <a:p>
            <a:pPr marL="0" indent="0">
              <a:buNone/>
              <a:tabLst>
                <a:tab pos="574675" algn="l"/>
              </a:tabLst>
            </a:pPr>
            <a:r>
              <a:rPr lang="en-US" sz="2000" b="1" dirty="0"/>
              <a:t>A:</a:t>
            </a:r>
            <a:r>
              <a:rPr lang="en-US" sz="2000" dirty="0"/>
              <a:t> Spoon </a:t>
            </a:r>
            <a:r>
              <a:rPr lang="en-US" sz="2000" dirty="0" err="1"/>
              <a:t>guage</a:t>
            </a:r>
            <a:br>
              <a:rPr lang="en-US" sz="2000" dirty="0"/>
            </a:br>
            <a:endParaRPr lang="en-US" sz="2000" dirty="0"/>
          </a:p>
          <a:p>
            <a:pPr marL="0" indent="0">
              <a:buNone/>
            </a:pPr>
            <a:r>
              <a:rPr lang="en-US" sz="2000" b="1" dirty="0"/>
              <a:t>Q32: What is the typical pressure (pounds per square inch) for aviation pneumatic tools?</a:t>
            </a:r>
          </a:p>
          <a:p>
            <a:pPr marL="0" indent="0">
              <a:buNone/>
            </a:pPr>
            <a:r>
              <a:rPr lang="en-US" sz="2000" b="1" dirty="0"/>
              <a:t>A:</a:t>
            </a:r>
            <a:r>
              <a:rPr lang="en-US" sz="2000" dirty="0"/>
              <a:t> 90 psi</a:t>
            </a:r>
            <a:br>
              <a:rPr lang="en-US" sz="2000" dirty="0"/>
            </a:br>
            <a:endParaRPr lang="en-US" sz="2000" dirty="0"/>
          </a:p>
          <a:p>
            <a:pPr marL="0" indent="0">
              <a:buNone/>
            </a:pPr>
            <a:endParaRPr lang="en-US" sz="2000" dirty="0"/>
          </a:p>
          <a:p>
            <a:pPr marL="0" indent="0">
              <a:buNone/>
            </a:pPr>
            <a:endParaRPr lang="en-US" sz="2000" dirty="0"/>
          </a:p>
          <a:p>
            <a:endParaRPr lang="en-US" sz="2000" dirty="0"/>
          </a:p>
        </p:txBody>
      </p:sp>
    </p:spTree>
    <p:extLst>
      <p:ext uri="{BB962C8B-B14F-4D97-AF65-F5344CB8AC3E}">
        <p14:creationId xmlns:p14="http://schemas.microsoft.com/office/powerpoint/2010/main" val="348322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EC2D309-79B3-0066-BB56-E79235F32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AC3B1-808A-C5C9-BBB6-F06FDC830E2E}"/>
              </a:ext>
            </a:extLst>
          </p:cNvPr>
          <p:cNvSpPr>
            <a:spLocks noGrp="1"/>
          </p:cNvSpPr>
          <p:nvPr>
            <p:ph type="ctrTitle"/>
          </p:nvPr>
        </p:nvSpPr>
        <p:spPr>
          <a:xfrm>
            <a:off x="1612696" y="1893712"/>
            <a:ext cx="8966607" cy="1535288"/>
          </a:xfrm>
        </p:spPr>
        <p:txBody>
          <a:bodyPr>
            <a:noAutofit/>
          </a:bodyPr>
          <a:lstStyle/>
          <a:p>
            <a:r>
              <a:rPr lang="en-US" sz="9600" b="1" dirty="0">
                <a:solidFill>
                  <a:schemeClr val="bg1"/>
                </a:solidFill>
              </a:rPr>
              <a:t>Thank You</a:t>
            </a:r>
          </a:p>
        </p:txBody>
      </p:sp>
      <p:sp>
        <p:nvSpPr>
          <p:cNvPr id="3" name="Subtitle 2">
            <a:extLst>
              <a:ext uri="{FF2B5EF4-FFF2-40B4-BE49-F238E27FC236}">
                <a16:creationId xmlns:a16="http://schemas.microsoft.com/office/drawing/2014/main" id="{49C9C698-DE27-F888-6BAA-48C0C4FED236}"/>
              </a:ext>
            </a:extLst>
          </p:cNvPr>
          <p:cNvSpPr>
            <a:spLocks noGrp="1"/>
          </p:cNvSpPr>
          <p:nvPr>
            <p:ph type="subTitle" idx="1"/>
          </p:nvPr>
        </p:nvSpPr>
        <p:spPr>
          <a:xfrm>
            <a:off x="1490133" y="5258927"/>
            <a:ext cx="8966607" cy="1090775"/>
          </a:xfrm>
          <a:noFill/>
          <a:effectLst>
            <a:glow rad="228600">
              <a:schemeClr val="accent1">
                <a:satMod val="175000"/>
                <a:alpha val="40000"/>
              </a:schemeClr>
            </a:glow>
          </a:effectLst>
        </p:spPr>
        <p:txBody>
          <a:bodyPr>
            <a:normAutofit/>
          </a:bodyPr>
          <a:lstStyle/>
          <a:p>
            <a:pPr algn="l"/>
            <a:r>
              <a:rPr lang="pl-PL" sz="2000" dirty="0">
                <a:solidFill>
                  <a:schemeClr val="bg1"/>
                </a:solidFill>
              </a:rPr>
              <a:t>Matt Pierce  </a:t>
            </a:r>
            <a:r>
              <a:rPr lang="en-US" sz="2000" dirty="0">
                <a:solidFill>
                  <a:schemeClr val="bg1"/>
                </a:solidFill>
              </a:rPr>
              <a:t> - </a:t>
            </a:r>
            <a:r>
              <a:rPr lang="pl-PL" sz="2000" dirty="0">
                <a:solidFill>
                  <a:schemeClr val="bg1"/>
                </a:solidFill>
              </a:rPr>
              <a:t>  mpierce710006@gmail.com  </a:t>
            </a:r>
            <a:r>
              <a:rPr lang="en-US" sz="2000" dirty="0">
                <a:solidFill>
                  <a:schemeClr val="bg1"/>
                </a:solidFill>
              </a:rPr>
              <a:t> - </a:t>
            </a:r>
            <a:r>
              <a:rPr lang="pl-PL" sz="2000" dirty="0">
                <a:solidFill>
                  <a:schemeClr val="bg1"/>
                </a:solidFill>
              </a:rPr>
              <a:t>  linkedin.com/in/mpiercead576/</a:t>
            </a:r>
          </a:p>
          <a:p>
            <a:pPr algn="l"/>
            <a:r>
              <a:rPr lang="pl-PL" sz="2000" dirty="0">
                <a:solidFill>
                  <a:schemeClr val="bg1"/>
                </a:solidFill>
                <a:hlinkClick r:id="rId3"/>
              </a:rPr>
              <a:t>https://github.com/DataResearchLabs/study_guide_intro_aerospace_mfg</a:t>
            </a:r>
            <a:endParaRPr lang="en-US" sz="2000" dirty="0">
              <a:solidFill>
                <a:schemeClr val="bg1"/>
              </a:solidFill>
            </a:endParaRPr>
          </a:p>
          <a:p>
            <a:pPr algn="l"/>
            <a:endParaRPr lang="en-US" sz="2000" dirty="0">
              <a:solidFill>
                <a:schemeClr val="bg1"/>
              </a:solidFill>
            </a:endParaRPr>
          </a:p>
        </p:txBody>
      </p:sp>
      <p:cxnSp>
        <p:nvCxnSpPr>
          <p:cNvPr id="7" name="Straight Connector 6">
            <a:extLst>
              <a:ext uri="{FF2B5EF4-FFF2-40B4-BE49-F238E27FC236}">
                <a16:creationId xmlns:a16="http://schemas.microsoft.com/office/drawing/2014/main" id="{47439251-0FA5-4222-2534-EC4CD92AB89C}"/>
              </a:ext>
            </a:extLst>
          </p:cNvPr>
          <p:cNvCxnSpPr>
            <a:cxnSpLocks/>
          </p:cNvCxnSpPr>
          <p:nvPr/>
        </p:nvCxnSpPr>
        <p:spPr>
          <a:xfrm>
            <a:off x="0" y="4727225"/>
            <a:ext cx="121920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72272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3643</TotalTime>
  <Words>2325</Words>
  <Application>Microsoft Office PowerPoint</Application>
  <PresentationFormat>Widescreen</PresentationFormat>
  <Paragraphs>274</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Fasteners</vt:lpstr>
      <vt:lpstr>Fasteners</vt:lpstr>
      <vt:lpstr>Cleco Temporary Fasteners </vt:lpstr>
      <vt:lpstr>Bolts</vt:lpstr>
      <vt:lpstr>Rivets</vt:lpstr>
      <vt:lpstr>Hi-Lok Fasteners</vt:lpstr>
      <vt:lpstr>Lockbolt Fasteners</vt:lpstr>
      <vt:lpstr>“NAS 523” Fastener Standards</vt:lpstr>
      <vt:lpstr>Inspecting Fasteners: Pin Protrusion (Height) </vt:lpstr>
      <vt:lpstr>Inspecting Fasteners: “Gap” Size</vt:lpstr>
      <vt:lpstr>Inspecting Fasteners: 3-way Contact</vt:lpstr>
      <vt:lpstr>Inspecting Rivets: Diameter &amp; Thickness</vt:lpstr>
      <vt:lpstr>Q&amp;A</vt:lpstr>
      <vt:lpstr>Practice Q&amp;A’s  (Q1-Q9)</vt:lpstr>
      <vt:lpstr>Practice Q&amp;A’s  (Q10-Q19)</vt:lpstr>
      <vt:lpstr>Practice Q&amp;A’s  (Q20-Q28)</vt:lpstr>
      <vt:lpstr>Practice Q&amp;A’s  (Q29-Q32)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 Pierce</dc:creator>
  <cp:lastModifiedBy>Matt Pierce</cp:lastModifiedBy>
  <cp:revision>127</cp:revision>
  <dcterms:created xsi:type="dcterms:W3CDTF">2026-02-02T22:48:01Z</dcterms:created>
  <dcterms:modified xsi:type="dcterms:W3CDTF">2026-02-27T02:48:01Z</dcterms:modified>
</cp:coreProperties>
</file>