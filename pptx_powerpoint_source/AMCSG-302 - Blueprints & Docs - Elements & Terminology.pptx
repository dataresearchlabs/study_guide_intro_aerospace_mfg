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21" r:id="rId2"/>
    <p:sldId id="283" r:id="rId3"/>
    <p:sldId id="282" r:id="rId4"/>
    <p:sldId id="284" r:id="rId5"/>
    <p:sldId id="285" r:id="rId6"/>
    <p:sldId id="286" r:id="rId7"/>
    <p:sldId id="287" r:id="rId8"/>
    <p:sldId id="316" r:id="rId9"/>
    <p:sldId id="288" r:id="rId10"/>
    <p:sldId id="289" r:id="rId11"/>
    <p:sldId id="290" r:id="rId12"/>
    <p:sldId id="291" r:id="rId13"/>
    <p:sldId id="292" r:id="rId14"/>
    <p:sldId id="317" r:id="rId15"/>
    <p:sldId id="318" r:id="rId16"/>
    <p:sldId id="322" r:id="rId17"/>
    <p:sldId id="324" r:id="rId18"/>
    <p:sldId id="323" r:id="rId19"/>
    <p:sldId id="30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1" autoAdjust="0"/>
    <p:restoredTop sz="89003" autoAdjust="0"/>
  </p:normalViewPr>
  <p:slideViewPr>
    <p:cSldViewPr snapToGrid="0">
      <p:cViewPr varScale="1">
        <p:scale>
          <a:sx n="61" d="100"/>
          <a:sy n="61" d="100"/>
        </p:scale>
        <p:origin x="876"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C98CB6-2C88-401C-AAD5-2FFED2D64E9F}" type="datetimeFigureOut">
              <a:rPr lang="en-US" smtClean="0"/>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5D55C3-6A65-407E-9BFF-B66438A6525E}" type="slidenum">
              <a:rPr lang="en-US" smtClean="0"/>
              <a:t>‹#›</a:t>
            </a:fld>
            <a:endParaRPr lang="en-US"/>
          </a:p>
        </p:txBody>
      </p:sp>
    </p:spTree>
    <p:extLst>
      <p:ext uri="{BB962C8B-B14F-4D97-AF65-F5344CB8AC3E}">
        <p14:creationId xmlns:p14="http://schemas.microsoft.com/office/powerpoint/2010/main" val="391318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6C5DC3-924D-4CCC-8AC2-C41F495DFCEC}" type="slidenum">
              <a:rPr lang="en-US" smtClean="0"/>
              <a:t>1</a:t>
            </a:fld>
            <a:endParaRPr lang="en-US"/>
          </a:p>
        </p:txBody>
      </p:sp>
    </p:spTree>
    <p:extLst>
      <p:ext uri="{BB962C8B-B14F-4D97-AF65-F5344CB8AC3E}">
        <p14:creationId xmlns:p14="http://schemas.microsoft.com/office/powerpoint/2010/main" val="205662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17F9-0923-FEB5-4AE9-B81CEC63C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D59CE-AEAC-AC78-D548-A45B76301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6A08E-2DCB-69BA-2FD7-900CA16E0B9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query identified </a:t>
            </a:r>
            <a:r>
              <a:rPr lang="en-US" dirty="0" err="1"/>
              <a:t>USGovernment</a:t>
            </a:r>
            <a:r>
              <a:rPr lang="en-US" dirty="0"/>
              <a:t> public domain document: https://media.defense.gov/2017/Nov/03/2002658619/-1/-1/1/171103-N-ZY182-15347.pdf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6F388A98-F68A-585F-8469-633C6255BFE3}"/>
              </a:ext>
            </a:extLst>
          </p:cNvPr>
          <p:cNvSpPr>
            <a:spLocks noGrp="1"/>
          </p:cNvSpPr>
          <p:nvPr>
            <p:ph type="sldNum" sz="quarter" idx="5"/>
          </p:nvPr>
        </p:nvSpPr>
        <p:spPr/>
        <p:txBody>
          <a:bodyPr/>
          <a:lstStyle/>
          <a:p>
            <a:fld id="{8D6C5DC3-924D-4CCC-8AC2-C41F495DFCEC}" type="slidenum">
              <a:rPr lang="en-US" smtClean="0"/>
              <a:t>3</a:t>
            </a:fld>
            <a:endParaRPr lang="en-US"/>
          </a:p>
        </p:txBody>
      </p:sp>
    </p:spTree>
    <p:extLst>
      <p:ext uri="{BB962C8B-B14F-4D97-AF65-F5344CB8AC3E}">
        <p14:creationId xmlns:p14="http://schemas.microsoft.com/office/powerpoint/2010/main" val="93101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E2C77-9213-8292-00BA-2E740DB01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65BD3-F63B-A9E7-0BCA-3EA18327D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A3B6C-707F-3AC6-8E3E-B464260780B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query identified </a:t>
            </a:r>
            <a:r>
              <a:rPr lang="en-US" dirty="0" err="1"/>
              <a:t>USGovernment</a:t>
            </a:r>
            <a:r>
              <a:rPr lang="en-US" dirty="0"/>
              <a:t> public domain document:  https://media.defense.gov/2017/Nov/03/2002658619/-1/-1/1/171103-N-ZY182-15347.pdf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Modified a lot too by adding in missing elements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38F49720-FE38-FD70-856E-3DDA206BEBA4}"/>
              </a:ext>
            </a:extLst>
          </p:cNvPr>
          <p:cNvSpPr>
            <a:spLocks noGrp="1"/>
          </p:cNvSpPr>
          <p:nvPr>
            <p:ph type="sldNum" sz="quarter" idx="5"/>
          </p:nvPr>
        </p:nvSpPr>
        <p:spPr/>
        <p:txBody>
          <a:bodyPr/>
          <a:lstStyle/>
          <a:p>
            <a:fld id="{8D6C5DC3-924D-4CCC-8AC2-C41F495DFCEC}" type="slidenum">
              <a:rPr lang="en-US" smtClean="0"/>
              <a:t>4</a:t>
            </a:fld>
            <a:endParaRPr lang="en-US"/>
          </a:p>
        </p:txBody>
      </p:sp>
    </p:spTree>
    <p:extLst>
      <p:ext uri="{BB962C8B-B14F-4D97-AF65-F5344CB8AC3E}">
        <p14:creationId xmlns:p14="http://schemas.microsoft.com/office/powerpoint/2010/main" val="664150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CB95D-209C-2991-5B95-BBE1635AD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9EDC7-CFAC-AF29-AE8A-839D9B993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0C5BA-84E1-BA83-67D8-BBF93B5B3AF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query identified </a:t>
            </a:r>
            <a:r>
              <a:rPr lang="en-US" dirty="0" err="1"/>
              <a:t>USGovernment</a:t>
            </a:r>
            <a:r>
              <a:rPr lang="en-US" dirty="0"/>
              <a:t> public domain document: https://media.defense.gov/2017/Nov/03/2002658619/-1/-1/1/171103-N-ZY182-15347.pdf</a:t>
            </a:r>
          </a:p>
        </p:txBody>
      </p:sp>
      <p:sp>
        <p:nvSpPr>
          <p:cNvPr id="4" name="Slide Number Placeholder 3">
            <a:extLst>
              <a:ext uri="{FF2B5EF4-FFF2-40B4-BE49-F238E27FC236}">
                <a16:creationId xmlns:a16="http://schemas.microsoft.com/office/drawing/2014/main" id="{DF6822D5-C5A2-D71E-FF1E-74EC55E88FEB}"/>
              </a:ext>
            </a:extLst>
          </p:cNvPr>
          <p:cNvSpPr>
            <a:spLocks noGrp="1"/>
          </p:cNvSpPr>
          <p:nvPr>
            <p:ph type="sldNum" sz="quarter" idx="5"/>
          </p:nvPr>
        </p:nvSpPr>
        <p:spPr/>
        <p:txBody>
          <a:bodyPr/>
          <a:lstStyle/>
          <a:p>
            <a:fld id="{8D6C5DC3-924D-4CCC-8AC2-C41F495DFCEC}" type="slidenum">
              <a:rPr lang="en-US" smtClean="0"/>
              <a:t>5</a:t>
            </a:fld>
            <a:endParaRPr lang="en-US"/>
          </a:p>
        </p:txBody>
      </p:sp>
    </p:spTree>
    <p:extLst>
      <p:ext uri="{BB962C8B-B14F-4D97-AF65-F5344CB8AC3E}">
        <p14:creationId xmlns:p14="http://schemas.microsoft.com/office/powerpoint/2010/main" val="3169358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B910C-AF3A-5FC3-14D8-9EC6DFB0F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5B37A-D1BF-6E6E-E759-A276B63AFF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07090-6975-284B-3B15-046D3D63FAD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query identified </a:t>
            </a:r>
            <a:r>
              <a:rPr lang="en-US" dirty="0" err="1"/>
              <a:t>USGovernment</a:t>
            </a:r>
            <a:r>
              <a:rPr lang="en-US" dirty="0"/>
              <a:t> public domain document: https://media.defense.gov/2017/Nov/03/2002658619/-1/-1/1/171103-N-ZY182-15347.pdf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YES, THE F18 IS PUBLIC DOMAIN, US GOVT DOCUMENT FROM LINK ABOVE ON PAGE 10 (1-5)</a:t>
            </a:r>
          </a:p>
        </p:txBody>
      </p:sp>
      <p:sp>
        <p:nvSpPr>
          <p:cNvPr id="4" name="Slide Number Placeholder 3">
            <a:extLst>
              <a:ext uri="{FF2B5EF4-FFF2-40B4-BE49-F238E27FC236}">
                <a16:creationId xmlns:a16="http://schemas.microsoft.com/office/drawing/2014/main" id="{67C4605E-055D-6E01-5049-3C96CC0B7409}"/>
              </a:ext>
            </a:extLst>
          </p:cNvPr>
          <p:cNvSpPr>
            <a:spLocks noGrp="1"/>
          </p:cNvSpPr>
          <p:nvPr>
            <p:ph type="sldNum" sz="quarter" idx="5"/>
          </p:nvPr>
        </p:nvSpPr>
        <p:spPr/>
        <p:txBody>
          <a:bodyPr/>
          <a:lstStyle/>
          <a:p>
            <a:fld id="{8D6C5DC3-924D-4CCC-8AC2-C41F495DFCEC}" type="slidenum">
              <a:rPr lang="en-US" smtClean="0"/>
              <a:t>6</a:t>
            </a:fld>
            <a:endParaRPr lang="en-US"/>
          </a:p>
        </p:txBody>
      </p:sp>
    </p:spTree>
    <p:extLst>
      <p:ext uri="{BB962C8B-B14F-4D97-AF65-F5344CB8AC3E}">
        <p14:creationId xmlns:p14="http://schemas.microsoft.com/office/powerpoint/2010/main" val="2829961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46E97-24F1-F996-C4C2-E1D3B448E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4D834-3EB5-416D-A4D0-ED1E0104C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99978-896F-BCE8-1163-62EB151CF61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sample Parts List for an aerospace manufacturing blue print. Include: Part Number, Part Description, Quantity Required, Part Material Note, Part Finish Req.</a:t>
            </a:r>
            <a:br>
              <a:rPr lang="en-US" dirty="0"/>
            </a:br>
            <a:r>
              <a:rPr lang="en-US" dirty="0"/>
              <a:t>+ make it a picture on a blueprint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373B229D-B437-51D4-2C16-E84D875C10C5}"/>
              </a:ext>
            </a:extLst>
          </p:cNvPr>
          <p:cNvSpPr>
            <a:spLocks noGrp="1"/>
          </p:cNvSpPr>
          <p:nvPr>
            <p:ph type="sldNum" sz="quarter" idx="5"/>
          </p:nvPr>
        </p:nvSpPr>
        <p:spPr/>
        <p:txBody>
          <a:bodyPr/>
          <a:lstStyle/>
          <a:p>
            <a:fld id="{8D6C5DC3-924D-4CCC-8AC2-C41F495DFCEC}" type="slidenum">
              <a:rPr lang="en-US" smtClean="0"/>
              <a:t>7</a:t>
            </a:fld>
            <a:endParaRPr lang="en-US"/>
          </a:p>
        </p:txBody>
      </p:sp>
    </p:spTree>
    <p:extLst>
      <p:ext uri="{BB962C8B-B14F-4D97-AF65-F5344CB8AC3E}">
        <p14:creationId xmlns:p14="http://schemas.microsoft.com/office/powerpoint/2010/main" val="1520234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7F54-DE06-F446-5018-EF52D1F7F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CE439-AEF2-10DC-03CE-9EFB536A2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22B01-319E-6C4E-4221-B85CF89C4E8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query identified </a:t>
            </a:r>
            <a:r>
              <a:rPr lang="en-US" dirty="0" err="1"/>
              <a:t>USGovernment</a:t>
            </a:r>
            <a:r>
              <a:rPr lang="en-US" dirty="0"/>
              <a:t> public domain document: https://media.defense.gov/2017/Nov/03/2002658619/-1/-1/1/171103-N-ZY182-15347.pdf</a:t>
            </a:r>
            <a:br>
              <a:rPr lang="en-US" dirty="0"/>
            </a:br>
            <a:r>
              <a:rPr lang="en-US" dirty="0" err="1"/>
              <a:t>pg</a:t>
            </a:r>
            <a:r>
              <a:rPr lang="en-US" dirty="0"/>
              <a:t> 11</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A524CDDA-4280-8B0D-E981-93C5C93CA6FE}"/>
              </a:ext>
            </a:extLst>
          </p:cNvPr>
          <p:cNvSpPr>
            <a:spLocks noGrp="1"/>
          </p:cNvSpPr>
          <p:nvPr>
            <p:ph type="sldNum" sz="quarter" idx="5"/>
          </p:nvPr>
        </p:nvSpPr>
        <p:spPr/>
        <p:txBody>
          <a:bodyPr/>
          <a:lstStyle/>
          <a:p>
            <a:fld id="{8D6C5DC3-924D-4CCC-8AC2-C41F495DFCEC}" type="slidenum">
              <a:rPr lang="en-US" smtClean="0"/>
              <a:t>8</a:t>
            </a:fld>
            <a:endParaRPr lang="en-US"/>
          </a:p>
        </p:txBody>
      </p:sp>
    </p:spTree>
    <p:extLst>
      <p:ext uri="{BB962C8B-B14F-4D97-AF65-F5344CB8AC3E}">
        <p14:creationId xmlns:p14="http://schemas.microsoft.com/office/powerpoint/2010/main" val="20847367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71FE-3C86-AAA3-7E4A-EB7F864E1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A15D9-0E7E-30CF-0B06-CDACAEB3D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9F12F-42A5-4227-6BA6-2E22DAEACB1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a sample revision block from blueprint for aerospace manufacturing</a:t>
            </a:r>
          </a:p>
        </p:txBody>
      </p:sp>
      <p:sp>
        <p:nvSpPr>
          <p:cNvPr id="4" name="Slide Number Placeholder 3">
            <a:extLst>
              <a:ext uri="{FF2B5EF4-FFF2-40B4-BE49-F238E27FC236}">
                <a16:creationId xmlns:a16="http://schemas.microsoft.com/office/drawing/2014/main" id="{AE95C915-8064-D028-2852-F0B6FFD20433}"/>
              </a:ext>
            </a:extLst>
          </p:cNvPr>
          <p:cNvSpPr>
            <a:spLocks noGrp="1"/>
          </p:cNvSpPr>
          <p:nvPr>
            <p:ph type="sldNum" sz="quarter" idx="5"/>
          </p:nvPr>
        </p:nvSpPr>
        <p:spPr/>
        <p:txBody>
          <a:bodyPr/>
          <a:lstStyle/>
          <a:p>
            <a:fld id="{8D6C5DC3-924D-4CCC-8AC2-C41F495DFCEC}" type="slidenum">
              <a:rPr lang="en-US" smtClean="0"/>
              <a:t>10</a:t>
            </a:fld>
            <a:endParaRPr lang="en-US"/>
          </a:p>
        </p:txBody>
      </p:sp>
    </p:spTree>
    <p:extLst>
      <p:ext uri="{BB962C8B-B14F-4D97-AF65-F5344CB8AC3E}">
        <p14:creationId xmlns:p14="http://schemas.microsoft.com/office/powerpoint/2010/main" val="2590647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AD04-3B00-E0C2-C786-1DCBDE22D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1C61B-CB58-88F8-72D3-565E85113E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7832A-D34D-696E-A78C-E4CB3949C42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Show the same aerospace manufacturing drawing in three different formats: 1. perspective drawing, 2. isometric drawing, and 3. orthographic drawing</a:t>
            </a:r>
            <a:br>
              <a:rPr lang="en-US" dirty="0"/>
            </a:br>
            <a:r>
              <a:rPr lang="en-US" dirty="0"/>
              <a:t>+ make the perspective drawing (#1) more pronounced, make the perspective point closer in.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D36EBDC1-5FBC-49C9-794E-F0A95C0C24EB}"/>
              </a:ext>
            </a:extLst>
          </p:cNvPr>
          <p:cNvSpPr>
            <a:spLocks noGrp="1"/>
          </p:cNvSpPr>
          <p:nvPr>
            <p:ph type="sldNum" sz="quarter" idx="5"/>
          </p:nvPr>
        </p:nvSpPr>
        <p:spPr/>
        <p:txBody>
          <a:bodyPr/>
          <a:lstStyle/>
          <a:p>
            <a:fld id="{8D6C5DC3-924D-4CCC-8AC2-C41F495DFCEC}" type="slidenum">
              <a:rPr lang="en-US" smtClean="0"/>
              <a:t>11</a:t>
            </a:fld>
            <a:endParaRPr lang="en-US"/>
          </a:p>
        </p:txBody>
      </p:sp>
    </p:spTree>
    <p:extLst>
      <p:ext uri="{BB962C8B-B14F-4D97-AF65-F5344CB8AC3E}">
        <p14:creationId xmlns:p14="http://schemas.microsoft.com/office/powerpoint/2010/main" val="286486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99DA-8175-5721-C930-3D208AA2C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4AA49-8672-EF89-EFCB-372BD53513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59842-7ABF-4263-9A51-F476BCA67317}"/>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six blueprint diagrams showing me all angles of an F18 fight jet from us government public domain sources. left side, plan (rear), top, front, right side, bottom</a:t>
            </a:r>
            <a:br>
              <a:rPr lang="en-US" dirty="0"/>
            </a:br>
            <a:r>
              <a:rPr lang="en-US" dirty="0"/>
              <a:t>+ make the left side view only into a photograph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 remove the background. jet only.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5E2A17D7-DDBC-B62F-032E-D64663971D0E}"/>
              </a:ext>
            </a:extLst>
          </p:cNvPr>
          <p:cNvSpPr>
            <a:spLocks noGrp="1"/>
          </p:cNvSpPr>
          <p:nvPr>
            <p:ph type="sldNum" sz="quarter" idx="5"/>
          </p:nvPr>
        </p:nvSpPr>
        <p:spPr/>
        <p:txBody>
          <a:bodyPr/>
          <a:lstStyle/>
          <a:p>
            <a:fld id="{8D6C5DC3-924D-4CCC-8AC2-C41F495DFCEC}" type="slidenum">
              <a:rPr lang="en-US" smtClean="0"/>
              <a:t>12</a:t>
            </a:fld>
            <a:endParaRPr lang="en-US"/>
          </a:p>
        </p:txBody>
      </p:sp>
    </p:spTree>
    <p:extLst>
      <p:ext uri="{BB962C8B-B14F-4D97-AF65-F5344CB8AC3E}">
        <p14:creationId xmlns:p14="http://schemas.microsoft.com/office/powerpoint/2010/main" val="173815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48C99-4D6B-C44F-669C-4C7EC928C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91239-51C2-B630-9678-232827424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4EC24-8BAC-5935-350D-C317070E1F0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Start with prior slide ChatGPT images, then add planes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ChatGPT: make six blueprint diagrams showing me all angles of an F18 fight jet from us government public domain sources. left side, plan (rear), top, front, right side, bottom</a:t>
            </a:r>
            <a:br>
              <a:rPr lang="en-US" dirty="0"/>
            </a:br>
            <a:r>
              <a:rPr lang="en-US" dirty="0"/>
              <a:t>+ make the left side view only into a photograph</a:t>
            </a:r>
            <a:br>
              <a:rPr lang="en-US" dirty="0"/>
            </a:br>
            <a:r>
              <a:rPr lang="en-US" dirty="0"/>
              <a:t>+ remove the background. jet only.</a:t>
            </a:r>
            <a:br>
              <a:rPr lang="en-US" dirty="0"/>
            </a:br>
            <a:r>
              <a:rPr lang="en-US" dirty="0"/>
              <a:t>+ rotate this photo in a third dimension and then draw the STA (station line) axis, the WL (water line) axis, and BL (buttock line) axis. Make the axes in red line with long dashes and dots.</a:t>
            </a:r>
            <a:br>
              <a:rPr lang="en-US" dirty="0"/>
            </a:br>
            <a:r>
              <a:rPr lang="en-US" dirty="0"/>
              <a:t>+ remove red axes</a:t>
            </a:r>
            <a:br>
              <a:rPr lang="en-US" dirty="0"/>
            </a:br>
            <a:r>
              <a:rPr lang="en-US" dirty="0"/>
              <a:t>+ remove background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a:extLst>
              <a:ext uri="{FF2B5EF4-FFF2-40B4-BE49-F238E27FC236}">
                <a16:creationId xmlns:a16="http://schemas.microsoft.com/office/drawing/2014/main" id="{496F7219-5FD8-5D7C-2C62-D07CC078331A}"/>
              </a:ext>
            </a:extLst>
          </p:cNvPr>
          <p:cNvSpPr>
            <a:spLocks noGrp="1"/>
          </p:cNvSpPr>
          <p:nvPr>
            <p:ph type="sldNum" sz="quarter" idx="5"/>
          </p:nvPr>
        </p:nvSpPr>
        <p:spPr/>
        <p:txBody>
          <a:bodyPr/>
          <a:lstStyle/>
          <a:p>
            <a:fld id="{8D6C5DC3-924D-4CCC-8AC2-C41F495DFCEC}" type="slidenum">
              <a:rPr lang="en-US" smtClean="0"/>
              <a:t>13</a:t>
            </a:fld>
            <a:endParaRPr lang="en-US"/>
          </a:p>
        </p:txBody>
      </p:sp>
    </p:spTree>
    <p:extLst>
      <p:ext uri="{BB962C8B-B14F-4D97-AF65-F5344CB8AC3E}">
        <p14:creationId xmlns:p14="http://schemas.microsoft.com/office/powerpoint/2010/main" val="2217007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EFE57-7CA1-1F08-40B4-7752B89CF0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3B1B3-B826-C16C-582D-0AF1300AB1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EF43A-92BE-B2AD-DE41-70701A51790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08BB0F8-DF6E-284F-F4D7-5190108C3E1E}"/>
              </a:ext>
            </a:extLst>
          </p:cNvPr>
          <p:cNvSpPr>
            <a:spLocks noGrp="1"/>
          </p:cNvSpPr>
          <p:nvPr>
            <p:ph type="sldNum" sz="quarter" idx="5"/>
          </p:nvPr>
        </p:nvSpPr>
        <p:spPr/>
        <p:txBody>
          <a:bodyPr/>
          <a:lstStyle/>
          <a:p>
            <a:fld id="{8D6C5DC3-924D-4CCC-8AC2-C41F495DFCEC}" type="slidenum">
              <a:rPr lang="en-US" smtClean="0"/>
              <a:t>15</a:t>
            </a:fld>
            <a:endParaRPr lang="en-US"/>
          </a:p>
        </p:txBody>
      </p:sp>
    </p:spTree>
    <p:extLst>
      <p:ext uri="{BB962C8B-B14F-4D97-AF65-F5344CB8AC3E}">
        <p14:creationId xmlns:p14="http://schemas.microsoft.com/office/powerpoint/2010/main" val="3036167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DE67D-DCD1-C9B9-8BDF-DBCFF49BB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04160-3329-9F4D-312D-54F66A94E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3EBB3-BAE4-D27C-5853-0DDBDC5CA1CD}"/>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08AD243-ABAA-9084-D62B-EF6625BFC265}"/>
              </a:ext>
            </a:extLst>
          </p:cNvPr>
          <p:cNvSpPr>
            <a:spLocks noGrp="1"/>
          </p:cNvSpPr>
          <p:nvPr>
            <p:ph type="sldNum" sz="quarter" idx="5"/>
          </p:nvPr>
        </p:nvSpPr>
        <p:spPr/>
        <p:txBody>
          <a:bodyPr/>
          <a:lstStyle/>
          <a:p>
            <a:fld id="{8D6C5DC3-924D-4CCC-8AC2-C41F495DFCEC}" type="slidenum">
              <a:rPr lang="en-US" smtClean="0"/>
              <a:t>16</a:t>
            </a:fld>
            <a:endParaRPr lang="en-US"/>
          </a:p>
        </p:txBody>
      </p:sp>
    </p:spTree>
    <p:extLst>
      <p:ext uri="{BB962C8B-B14F-4D97-AF65-F5344CB8AC3E}">
        <p14:creationId xmlns:p14="http://schemas.microsoft.com/office/powerpoint/2010/main" val="3318300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D592A-C6BB-2235-589E-B53A217D4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D60B4-C6BF-4AF6-E20C-B1F6AAAC6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EFD46-FC19-6879-94E0-F6CD7CEABF9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100088F-AAAA-4E8A-47BB-78AEF1353D22}"/>
              </a:ext>
            </a:extLst>
          </p:cNvPr>
          <p:cNvSpPr>
            <a:spLocks noGrp="1"/>
          </p:cNvSpPr>
          <p:nvPr>
            <p:ph type="sldNum" sz="quarter" idx="5"/>
          </p:nvPr>
        </p:nvSpPr>
        <p:spPr/>
        <p:txBody>
          <a:bodyPr/>
          <a:lstStyle/>
          <a:p>
            <a:fld id="{8D6C5DC3-924D-4CCC-8AC2-C41F495DFCEC}" type="slidenum">
              <a:rPr lang="en-US" smtClean="0"/>
              <a:t>17</a:t>
            </a:fld>
            <a:endParaRPr lang="en-US"/>
          </a:p>
        </p:txBody>
      </p:sp>
    </p:spTree>
    <p:extLst>
      <p:ext uri="{BB962C8B-B14F-4D97-AF65-F5344CB8AC3E}">
        <p14:creationId xmlns:p14="http://schemas.microsoft.com/office/powerpoint/2010/main" val="504310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A8455-A1C6-C9CA-8ADC-36882BBF9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3119F-B464-58C6-EF62-14B6AB871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6F2611-8549-2E6A-FE1C-C89FE1E19298}"/>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69996445-9DFE-C2BF-AF4E-B788AC49C3AF}"/>
              </a:ext>
            </a:extLst>
          </p:cNvPr>
          <p:cNvSpPr>
            <a:spLocks noGrp="1"/>
          </p:cNvSpPr>
          <p:nvPr>
            <p:ph type="sldNum" sz="quarter" idx="5"/>
          </p:nvPr>
        </p:nvSpPr>
        <p:spPr/>
        <p:txBody>
          <a:bodyPr/>
          <a:lstStyle/>
          <a:p>
            <a:fld id="{8D6C5DC3-924D-4CCC-8AC2-C41F495DFCEC}" type="slidenum">
              <a:rPr lang="en-US" smtClean="0"/>
              <a:t>18</a:t>
            </a:fld>
            <a:endParaRPr lang="en-US"/>
          </a:p>
        </p:txBody>
      </p:sp>
    </p:spTree>
    <p:extLst>
      <p:ext uri="{BB962C8B-B14F-4D97-AF65-F5344CB8AC3E}">
        <p14:creationId xmlns:p14="http://schemas.microsoft.com/office/powerpoint/2010/main" val="1934245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96A15-4627-A2B7-B23E-2AC252B87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1D323-39FD-6977-01F7-412F0DE61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A71F59-B048-3D2A-8AFA-5907E8E6EC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92962-9A43-C2C2-7107-AD8564EA2217}"/>
              </a:ext>
            </a:extLst>
          </p:cNvPr>
          <p:cNvSpPr>
            <a:spLocks noGrp="1"/>
          </p:cNvSpPr>
          <p:nvPr>
            <p:ph type="sldNum" sz="quarter" idx="5"/>
          </p:nvPr>
        </p:nvSpPr>
        <p:spPr/>
        <p:txBody>
          <a:bodyPr/>
          <a:lstStyle/>
          <a:p>
            <a:fld id="{8D6C5DC3-924D-4CCC-8AC2-C41F495DFCEC}" type="slidenum">
              <a:rPr lang="en-US" smtClean="0"/>
              <a:t>19</a:t>
            </a:fld>
            <a:endParaRPr lang="en-US"/>
          </a:p>
        </p:txBody>
      </p:sp>
    </p:spTree>
    <p:extLst>
      <p:ext uri="{BB962C8B-B14F-4D97-AF65-F5344CB8AC3E}">
        <p14:creationId xmlns:p14="http://schemas.microsoft.com/office/powerpoint/2010/main" val="1906668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8604-8C4F-A976-286B-E17FB7C14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DD2EB9-B6C1-80A3-7C6D-D35E38A03F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5B8A0F-A558-BEB7-6231-6925F33CD57C}"/>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52A1166D-3B41-FC46-B527-118F3460E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153BE-7379-C725-CF26-CC6B4582A0B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46196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079D-5F59-ED52-BFF6-108D0B4B7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9464D4-320F-5BA1-287F-1810736ABE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7F46D3-7E3E-A3F7-278E-3551B22E92BA}"/>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B8261CB-A869-1544-C0A7-CC8604F47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44C245-FC94-FA83-E5F4-3A9F814E9F6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770838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BCD-A3C6-53C0-24E3-954C9A8274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45E699-7560-7EDA-7B99-F59CD0C3A3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B2B8C-062D-E298-1EAA-A52D35FA24B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EB0F3F7A-D347-901F-0C3A-87475B634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49654-0078-975F-CED4-0DEF4EBA123D}"/>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42161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B5F63-6558-5286-61E4-A54909772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69B79C-BB11-0D88-C0DC-1C491C75A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FEF498-1470-A152-8DBA-089FF3635D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63EFBD9-D87E-39CB-A355-14D4BB93BB95}"/>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678A95F7-406E-D075-8B39-623D2BBE1E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5CC82C-F922-EC87-9017-EF7F35AA4EA8}"/>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57590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6EFA-DCF2-0F96-3716-78160812E8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A353F8-35CE-B547-928A-196E0C4D5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A65914-9D20-1CD8-A86D-5F4A2F02E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884EB-0E59-5F47-4379-943FF84F9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FCA68-CFD3-9870-4F97-476B9FC182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F52665-A037-02EF-95D2-5C9DFE8C36CD}"/>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8" name="Footer Placeholder 7">
            <a:extLst>
              <a:ext uri="{FF2B5EF4-FFF2-40B4-BE49-F238E27FC236}">
                <a16:creationId xmlns:a16="http://schemas.microsoft.com/office/drawing/2014/main" id="{97FB38FF-5536-D966-C235-F1789960D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F1FCDF-1DBF-2AA3-93C1-61400BA163D6}"/>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2288093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DE56-0CE0-D5B3-0EDA-8FADF7BAAE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DCBFB5-D851-3D9D-F332-47B4360892B2}"/>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4" name="Footer Placeholder 3">
            <a:extLst>
              <a:ext uri="{FF2B5EF4-FFF2-40B4-BE49-F238E27FC236}">
                <a16:creationId xmlns:a16="http://schemas.microsoft.com/office/drawing/2014/main" id="{1A3273FA-2457-4385-2E37-2A2729051ED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2ED07-57CD-AF06-DD3A-2454B3CDA961}"/>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79684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96715A-586C-FF87-D16B-76C507D12DEE}"/>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3" name="Footer Placeholder 2">
            <a:extLst>
              <a:ext uri="{FF2B5EF4-FFF2-40B4-BE49-F238E27FC236}">
                <a16:creationId xmlns:a16="http://schemas.microsoft.com/office/drawing/2014/main" id="{6A48C50A-ACA0-E39C-BF1E-1AB606A2ED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8AEB16-9EB9-619F-5C07-329C76637AF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614816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D819-C7CB-8577-D68F-9DDA148B1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950A4-3F7D-2D71-A9D4-740363302C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A536D9-2523-D955-F38D-FE976F44E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2DA0F-A8B3-4CF1-B679-C5B0D39B929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D8C69CA2-A42A-833D-BC7C-967D1EFF95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0A10A-141E-2590-DD32-0F38164C0254}"/>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383888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238C-F95A-85C6-EF95-6192D45516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EBEC10-9D21-E83F-7164-A85385A8D9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A3150E-BFB2-B49D-B13D-37BFAC11E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422970-B70C-CFBD-3CC4-D601161A0FAF}"/>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6" name="Footer Placeholder 5">
            <a:extLst>
              <a:ext uri="{FF2B5EF4-FFF2-40B4-BE49-F238E27FC236}">
                <a16:creationId xmlns:a16="http://schemas.microsoft.com/office/drawing/2014/main" id="{3B7D507F-6489-85D6-C731-7346630A90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88480-DC24-2467-A79D-746222779170}"/>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735023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3787E-C838-836F-52EE-50D8BB587F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1598B-9911-A386-F7AA-97913A488C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5A08D-38E1-D7DC-F94F-51768EFD81D4}"/>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F4B7829E-AB80-5C6B-0D61-A0DFC10904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BA7A8F-5B78-B4B6-09FE-0993C94C9A2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62628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D9024B-25BF-EA72-BD35-65EF808FFF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5796C1-A9AD-51B1-9E18-4C9680259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D1A7B-3E4E-45E3-2613-EBBE7B7AEF88}"/>
              </a:ext>
            </a:extLst>
          </p:cNvPr>
          <p:cNvSpPr>
            <a:spLocks noGrp="1"/>
          </p:cNvSpPr>
          <p:nvPr>
            <p:ph type="dt" sz="half" idx="10"/>
          </p:nvPr>
        </p:nvSpPr>
        <p:spPr/>
        <p:txBody>
          <a:body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CD220DA0-1A51-9958-DA38-0E0EC8FF4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C7903E-BE2A-59C5-B220-A6582E61665A}"/>
              </a:ext>
            </a:extLst>
          </p:cNvPr>
          <p:cNvSpPr>
            <a:spLocks noGrp="1"/>
          </p:cNvSpPr>
          <p:nvPr>
            <p:ph type="sldNum" sz="quarter" idx="12"/>
          </p:nvPr>
        </p:nvSpPr>
        <p:spPr/>
        <p:txBody>
          <a:bodyPr/>
          <a:lstStyle/>
          <a:p>
            <a:fld id="{08AF9D7E-22CD-4029-926F-9304E46059D1}" type="slidenum">
              <a:rPr lang="en-US" smtClean="0"/>
              <a:t>‹#›</a:t>
            </a:fld>
            <a:endParaRPr lang="en-US"/>
          </a:p>
        </p:txBody>
      </p:sp>
    </p:spTree>
    <p:extLst>
      <p:ext uri="{BB962C8B-B14F-4D97-AF65-F5344CB8AC3E}">
        <p14:creationId xmlns:p14="http://schemas.microsoft.com/office/powerpoint/2010/main" val="1522567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B8F4C7-2F11-26ED-32BD-E758D1900A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E9DBA8-3E2E-A76B-065E-87B7597762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76856E-F249-64F9-2B63-8358883D7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7F6DA9-0E89-4647-B2B7-665A6AE171EB}" type="datetimeFigureOut">
              <a:rPr lang="en-US" smtClean="0"/>
              <a:t>2/26/2026</a:t>
            </a:fld>
            <a:endParaRPr lang="en-US"/>
          </a:p>
        </p:txBody>
      </p:sp>
      <p:sp>
        <p:nvSpPr>
          <p:cNvPr id="5" name="Footer Placeholder 4">
            <a:extLst>
              <a:ext uri="{FF2B5EF4-FFF2-40B4-BE49-F238E27FC236}">
                <a16:creationId xmlns:a16="http://schemas.microsoft.com/office/drawing/2014/main" id="{0DE75684-5E0C-B3A4-431A-05A0108263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EB5A29-6651-182C-206F-17AE0616C4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F9D7E-22CD-4029-926F-9304E46059D1}" type="slidenum">
              <a:rPr lang="en-US" smtClean="0"/>
              <a:t>‹#›</a:t>
            </a:fld>
            <a:endParaRPr lang="en-US"/>
          </a:p>
        </p:txBody>
      </p:sp>
    </p:spTree>
    <p:extLst>
      <p:ext uri="{BB962C8B-B14F-4D97-AF65-F5344CB8AC3E}">
        <p14:creationId xmlns:p14="http://schemas.microsoft.com/office/powerpoint/2010/main" val="623654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media.defense.gov/2017/Nov/03/2002658619/-1/-1/1/171103-N-ZY182-15347.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media.defense.gov/2017/Nov/03/2002658619/-1/-1/1/171103-N-ZY182-15347.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media.defense.gov/2017/Nov/03/2002658619/-1/-1/1/171103-N-ZY182-15347.pdf"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media.defense.gov/2017/Nov/03/2002658619/-1/-1/1/171103-N-ZY182-15347.pdf"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media.defense.gov/2017/Nov/03/2002658619/-1/-1/1/171103-N-ZY182-15347.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oleObject" Target="../embeddings/oleObject1.bin"/><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emf"/><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DataResearchLabs/study_guide_intro_aerospace_mf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969CFF-BAE7-BF73-632D-A9101B28F0D2}"/>
              </a:ext>
            </a:extLst>
          </p:cNvPr>
          <p:cNvSpPr/>
          <p:nvPr/>
        </p:nvSpPr>
        <p:spPr>
          <a:xfrm>
            <a:off x="931718" y="2242335"/>
            <a:ext cx="10328563" cy="237333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5E0237A-1769-2D18-56A2-B36906319656}"/>
              </a:ext>
            </a:extLst>
          </p:cNvPr>
          <p:cNvSpPr>
            <a:spLocks noGrp="1"/>
          </p:cNvSpPr>
          <p:nvPr>
            <p:ph type="ctrTitle"/>
          </p:nvPr>
        </p:nvSpPr>
        <p:spPr>
          <a:xfrm>
            <a:off x="0" y="3340599"/>
            <a:ext cx="12192000" cy="1145996"/>
          </a:xfrm>
        </p:spPr>
        <p:txBody>
          <a:bodyPr>
            <a:normAutofit/>
          </a:bodyPr>
          <a:lstStyle/>
          <a:p>
            <a:r>
              <a:rPr lang="en-US" sz="6600" b="1" dirty="0">
                <a:solidFill>
                  <a:schemeClr val="bg1"/>
                </a:solidFill>
              </a:rPr>
              <a:t>Elements &amp; Terminology</a:t>
            </a:r>
            <a:endParaRPr lang="en-US" b="1" dirty="0">
              <a:solidFill>
                <a:schemeClr val="bg1"/>
              </a:solidFill>
            </a:endParaRPr>
          </a:p>
        </p:txBody>
      </p:sp>
      <p:sp>
        <p:nvSpPr>
          <p:cNvPr id="3" name="Subtitle 2">
            <a:extLst>
              <a:ext uri="{FF2B5EF4-FFF2-40B4-BE49-F238E27FC236}">
                <a16:creationId xmlns:a16="http://schemas.microsoft.com/office/drawing/2014/main" id="{88E83414-9557-9971-74AE-0E0F206E6AD9}"/>
              </a:ext>
            </a:extLst>
          </p:cNvPr>
          <p:cNvSpPr>
            <a:spLocks noGrp="1"/>
          </p:cNvSpPr>
          <p:nvPr>
            <p:ph type="subTitle" idx="1"/>
          </p:nvPr>
        </p:nvSpPr>
        <p:spPr>
          <a:xfrm>
            <a:off x="4164882" y="768846"/>
            <a:ext cx="3862232" cy="1090775"/>
          </a:xfrm>
          <a:noFill/>
          <a:effectLst>
            <a:glow rad="228600">
              <a:schemeClr val="accent1">
                <a:satMod val="175000"/>
                <a:alpha val="40000"/>
              </a:schemeClr>
            </a:glow>
          </a:effectLst>
        </p:spPr>
        <p:txBody>
          <a:bodyPr>
            <a:normAutofit/>
          </a:bodyPr>
          <a:lstStyle/>
          <a:p>
            <a:r>
              <a:rPr lang="en-US" sz="2000" dirty="0">
                <a:solidFill>
                  <a:schemeClr val="bg1"/>
                </a:solidFill>
              </a:rPr>
              <a:t>Aerospace Manufacturing Core </a:t>
            </a:r>
            <a:br>
              <a:rPr lang="en-US" sz="2000" dirty="0">
                <a:solidFill>
                  <a:schemeClr val="bg1"/>
                </a:solidFill>
              </a:rPr>
            </a:br>
            <a:r>
              <a:rPr lang="en-US" sz="2000" dirty="0">
                <a:solidFill>
                  <a:schemeClr val="bg1"/>
                </a:solidFill>
              </a:rPr>
              <a:t>Study Guide </a:t>
            </a:r>
          </a:p>
          <a:p>
            <a:r>
              <a:rPr lang="en-US" sz="2000" dirty="0">
                <a:solidFill>
                  <a:schemeClr val="bg1"/>
                </a:solidFill>
              </a:rPr>
              <a:t>“AMCSG-302”</a:t>
            </a:r>
          </a:p>
        </p:txBody>
      </p:sp>
      <p:sp>
        <p:nvSpPr>
          <p:cNvPr id="4" name="Subtitle 2">
            <a:extLst>
              <a:ext uri="{FF2B5EF4-FFF2-40B4-BE49-F238E27FC236}">
                <a16:creationId xmlns:a16="http://schemas.microsoft.com/office/drawing/2014/main" id="{72A361BB-91A4-6234-4565-06CC792AA8FE}"/>
              </a:ext>
            </a:extLst>
          </p:cNvPr>
          <p:cNvSpPr txBox="1">
            <a:spLocks/>
          </p:cNvSpPr>
          <p:nvPr/>
        </p:nvSpPr>
        <p:spPr>
          <a:xfrm>
            <a:off x="-1" y="2592083"/>
            <a:ext cx="12191999" cy="74851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600" dirty="0">
                <a:solidFill>
                  <a:schemeClr val="bg1"/>
                </a:solidFill>
              </a:rPr>
              <a:t>Blueprints &amp; Documents</a:t>
            </a:r>
          </a:p>
        </p:txBody>
      </p:sp>
    </p:spTree>
    <p:extLst>
      <p:ext uri="{BB962C8B-B14F-4D97-AF65-F5344CB8AC3E}">
        <p14:creationId xmlns:p14="http://schemas.microsoft.com/office/powerpoint/2010/main" val="1241290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39BFD128-A3AE-8F7F-F9E9-C2B64492E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42A6A-9D0A-1505-D8A5-5EB2378CE0EC}"/>
              </a:ext>
            </a:extLst>
          </p:cNvPr>
          <p:cNvSpPr>
            <a:spLocks noGrp="1"/>
          </p:cNvSpPr>
          <p:nvPr>
            <p:ph type="ctrTitle"/>
          </p:nvPr>
        </p:nvSpPr>
        <p:spPr>
          <a:xfrm>
            <a:off x="1052512" y="3048810"/>
            <a:ext cx="10086975" cy="760379"/>
          </a:xfrm>
        </p:spPr>
        <p:txBody>
          <a:bodyPr>
            <a:normAutofit/>
          </a:bodyPr>
          <a:lstStyle/>
          <a:p>
            <a:r>
              <a:rPr lang="en-US" sz="4800" b="1" dirty="0">
                <a:solidFill>
                  <a:schemeClr val="bg1"/>
                </a:solidFill>
              </a:rPr>
              <a:t>Blueprint Elements</a:t>
            </a:r>
          </a:p>
        </p:txBody>
      </p:sp>
    </p:spTree>
    <p:extLst>
      <p:ext uri="{BB962C8B-B14F-4D97-AF65-F5344CB8AC3E}">
        <p14:creationId xmlns:p14="http://schemas.microsoft.com/office/powerpoint/2010/main" val="2069415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D332D75-4ADA-FE4E-94CE-948D1E6767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A568F39-FFFB-F823-A4D3-94988FEEE901}"/>
              </a:ext>
            </a:extLst>
          </p:cNvPr>
          <p:cNvPicPr>
            <a:picLocks noChangeAspect="1"/>
          </p:cNvPicPr>
          <p:nvPr/>
        </p:nvPicPr>
        <p:blipFill>
          <a:blip r:embed="rId3"/>
          <a:stretch>
            <a:fillRect/>
          </a:stretch>
        </p:blipFill>
        <p:spPr>
          <a:xfrm>
            <a:off x="2923882" y="3061116"/>
            <a:ext cx="4329716" cy="3372320"/>
          </a:xfrm>
          <a:prstGeom prst="rect">
            <a:avLst/>
          </a:prstGeom>
        </p:spPr>
      </p:pic>
      <p:sp>
        <p:nvSpPr>
          <p:cNvPr id="2" name="Title 1">
            <a:extLst>
              <a:ext uri="{FF2B5EF4-FFF2-40B4-BE49-F238E27FC236}">
                <a16:creationId xmlns:a16="http://schemas.microsoft.com/office/drawing/2014/main" id="{30994C56-FE08-2B54-9E5E-897C79C585E2}"/>
              </a:ext>
            </a:extLst>
          </p:cNvPr>
          <p:cNvSpPr>
            <a:spLocks noGrp="1"/>
          </p:cNvSpPr>
          <p:nvPr>
            <p:ph type="title"/>
          </p:nvPr>
        </p:nvSpPr>
        <p:spPr>
          <a:xfrm>
            <a:off x="365760" y="365125"/>
            <a:ext cx="10515600" cy="877824"/>
          </a:xfrm>
        </p:spPr>
        <p:txBody>
          <a:bodyPr/>
          <a:lstStyle/>
          <a:p>
            <a:r>
              <a:rPr lang="en-US" dirty="0"/>
              <a:t>Border</a:t>
            </a:r>
          </a:p>
        </p:txBody>
      </p:sp>
      <p:sp>
        <p:nvSpPr>
          <p:cNvPr id="3" name="Content Placeholder 2">
            <a:extLst>
              <a:ext uri="{FF2B5EF4-FFF2-40B4-BE49-F238E27FC236}">
                <a16:creationId xmlns:a16="http://schemas.microsoft.com/office/drawing/2014/main" id="{AF5182C2-9452-3A6D-1DCB-E784B784116B}"/>
              </a:ext>
            </a:extLst>
          </p:cNvPr>
          <p:cNvSpPr>
            <a:spLocks noGrp="1"/>
          </p:cNvSpPr>
          <p:nvPr>
            <p:ph idx="1"/>
          </p:nvPr>
        </p:nvSpPr>
        <p:spPr>
          <a:xfrm>
            <a:off x="611162" y="1483104"/>
            <a:ext cx="10958538" cy="1503136"/>
          </a:xfrm>
        </p:spPr>
        <p:txBody>
          <a:bodyPr>
            <a:normAutofit/>
          </a:bodyPr>
          <a:lstStyle/>
          <a:p>
            <a:r>
              <a:rPr lang="en-US" dirty="0">
                <a:solidFill>
                  <a:srgbClr val="0070C0"/>
                </a:solidFill>
              </a:rPr>
              <a:t>Marks the boundaries of blueprint</a:t>
            </a:r>
          </a:p>
          <a:p>
            <a:r>
              <a:rPr lang="en-US" dirty="0"/>
              <a:t>Some blueprints have letters and numbers in the border for navigational aid to quickly locate items</a:t>
            </a:r>
          </a:p>
          <a:p>
            <a:pPr lvl="1"/>
            <a:endParaRPr lang="en-US" dirty="0"/>
          </a:p>
        </p:txBody>
      </p:sp>
      <p:sp>
        <p:nvSpPr>
          <p:cNvPr id="6" name="Rectangle 5">
            <a:extLst>
              <a:ext uri="{FF2B5EF4-FFF2-40B4-BE49-F238E27FC236}">
                <a16:creationId xmlns:a16="http://schemas.microsoft.com/office/drawing/2014/main" id="{3D377208-7653-F6B0-26CC-9F2C90371BDF}"/>
              </a:ext>
            </a:extLst>
          </p:cNvPr>
          <p:cNvSpPr/>
          <p:nvPr/>
        </p:nvSpPr>
        <p:spPr>
          <a:xfrm>
            <a:off x="2923882" y="3062062"/>
            <a:ext cx="4329716" cy="148808"/>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987BAB-2B16-AE99-827C-469E1C6D6D77}"/>
              </a:ext>
            </a:extLst>
          </p:cNvPr>
          <p:cNvSpPr/>
          <p:nvPr/>
        </p:nvSpPr>
        <p:spPr>
          <a:xfrm>
            <a:off x="2923882" y="3171825"/>
            <a:ext cx="148092" cy="3261611"/>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F875E4C-2CDD-8478-3303-A8C50A4F80D2}"/>
              </a:ext>
            </a:extLst>
          </p:cNvPr>
          <p:cNvGrpSpPr/>
          <p:nvPr/>
        </p:nvGrpSpPr>
        <p:grpSpPr>
          <a:xfrm>
            <a:off x="1828800" y="2808666"/>
            <a:ext cx="1362075" cy="620334"/>
            <a:chOff x="1828800" y="2808666"/>
            <a:chExt cx="1362075" cy="620334"/>
          </a:xfrm>
        </p:grpSpPr>
        <p:cxnSp>
          <p:nvCxnSpPr>
            <p:cNvPr id="8" name="Straight Arrow Connector 7">
              <a:extLst>
                <a:ext uri="{FF2B5EF4-FFF2-40B4-BE49-F238E27FC236}">
                  <a16:creationId xmlns:a16="http://schemas.microsoft.com/office/drawing/2014/main" id="{9928FF15-E53A-2EC0-6568-C36684D057F7}"/>
                </a:ext>
              </a:extLst>
            </p:cNvPr>
            <p:cNvCxnSpPr>
              <a:cxnSpLocks/>
            </p:cNvCxnSpPr>
            <p:nvPr/>
          </p:nvCxnSpPr>
          <p:spPr>
            <a:xfrm>
              <a:off x="1828800" y="2808666"/>
              <a:ext cx="1157141" cy="62033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0DFF0B5-D6B9-C02B-673B-00FD99256EEC}"/>
                </a:ext>
              </a:extLst>
            </p:cNvPr>
            <p:cNvCxnSpPr>
              <a:cxnSpLocks/>
            </p:cNvCxnSpPr>
            <p:nvPr/>
          </p:nvCxnSpPr>
          <p:spPr>
            <a:xfrm>
              <a:off x="2171700" y="2986239"/>
              <a:ext cx="1019175" cy="14975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10" name="Rectangle 9">
            <a:extLst>
              <a:ext uri="{FF2B5EF4-FFF2-40B4-BE49-F238E27FC236}">
                <a16:creationId xmlns:a16="http://schemas.microsoft.com/office/drawing/2014/main" id="{89CDC18E-B7FD-D3B4-94CD-704DE0CE3A82}"/>
              </a:ext>
            </a:extLst>
          </p:cNvPr>
          <p:cNvSpPr/>
          <p:nvPr/>
        </p:nvSpPr>
        <p:spPr>
          <a:xfrm>
            <a:off x="7129728" y="3191348"/>
            <a:ext cx="123870" cy="3261611"/>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35D4327-EB93-3E03-23AA-9863A1452D30}"/>
              </a:ext>
            </a:extLst>
          </p:cNvPr>
          <p:cNvSpPr/>
          <p:nvPr/>
        </p:nvSpPr>
        <p:spPr>
          <a:xfrm>
            <a:off x="3071974" y="6296647"/>
            <a:ext cx="4057754" cy="136789"/>
          </a:xfrm>
          <a:prstGeom prst="rect">
            <a:avLst/>
          </a:prstGeom>
          <a:solidFill>
            <a:srgbClr val="FFFF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hlinkClick r:id="rId4"/>
            <a:extLst>
              <a:ext uri="{FF2B5EF4-FFF2-40B4-BE49-F238E27FC236}">
                <a16:creationId xmlns:a16="http://schemas.microsoft.com/office/drawing/2014/main" id="{9839A70D-A063-C112-E146-4D598BF3F017}"/>
              </a:ext>
            </a:extLst>
          </p:cNvPr>
          <p:cNvSpPr txBox="1"/>
          <p:nvPr/>
        </p:nvSpPr>
        <p:spPr>
          <a:xfrm>
            <a:off x="5100851" y="6433436"/>
            <a:ext cx="2332988" cy="230832"/>
          </a:xfrm>
          <a:prstGeom prst="rect">
            <a:avLst/>
          </a:prstGeom>
          <a:noFill/>
        </p:spPr>
        <p:txBody>
          <a:bodyPr wrap="square" rtlCol="0">
            <a:spAutoFit/>
          </a:bodyPr>
          <a:lstStyle/>
          <a:p>
            <a:r>
              <a:rPr lang="en-US" sz="900" dirty="0"/>
              <a:t>(PD) U.S. Gov – NAVEDTRA14040A, 2015 </a:t>
            </a:r>
          </a:p>
        </p:txBody>
      </p:sp>
    </p:spTree>
    <p:extLst>
      <p:ext uri="{BB962C8B-B14F-4D97-AF65-F5344CB8AC3E}">
        <p14:creationId xmlns:p14="http://schemas.microsoft.com/office/powerpoint/2010/main" val="1947744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E790795-1E70-E679-087B-AF4CBF8EA5BB}"/>
            </a:ext>
          </a:extLst>
        </p:cNvPr>
        <p:cNvGrpSpPr/>
        <p:nvPr/>
      </p:nvGrpSpPr>
      <p:grpSpPr>
        <a:xfrm>
          <a:off x="0" y="0"/>
          <a:ext cx="0" cy="0"/>
          <a:chOff x="0" y="0"/>
          <a:chExt cx="0" cy="0"/>
        </a:xfrm>
      </p:grpSpPr>
      <p:pic>
        <p:nvPicPr>
          <p:cNvPr id="58" name="Picture 57">
            <a:extLst>
              <a:ext uri="{FF2B5EF4-FFF2-40B4-BE49-F238E27FC236}">
                <a16:creationId xmlns:a16="http://schemas.microsoft.com/office/drawing/2014/main" id="{2D208F54-8DAF-4A06-A6A9-A97FE108709F}"/>
              </a:ext>
            </a:extLst>
          </p:cNvPr>
          <p:cNvPicPr>
            <a:picLocks noChangeAspect="1"/>
          </p:cNvPicPr>
          <p:nvPr/>
        </p:nvPicPr>
        <p:blipFill>
          <a:blip r:embed="rId3"/>
          <a:stretch>
            <a:fillRect/>
          </a:stretch>
        </p:blipFill>
        <p:spPr>
          <a:xfrm>
            <a:off x="919775" y="1946278"/>
            <a:ext cx="9955014" cy="2991267"/>
          </a:xfrm>
          <a:prstGeom prst="rect">
            <a:avLst/>
          </a:prstGeom>
        </p:spPr>
      </p:pic>
      <p:sp>
        <p:nvSpPr>
          <p:cNvPr id="2" name="Title 1">
            <a:extLst>
              <a:ext uri="{FF2B5EF4-FFF2-40B4-BE49-F238E27FC236}">
                <a16:creationId xmlns:a16="http://schemas.microsoft.com/office/drawing/2014/main" id="{6455CFF3-8FB9-31E4-D595-41C14A68EB8D}"/>
              </a:ext>
            </a:extLst>
          </p:cNvPr>
          <p:cNvSpPr>
            <a:spLocks noGrp="1"/>
          </p:cNvSpPr>
          <p:nvPr>
            <p:ph type="title"/>
          </p:nvPr>
        </p:nvSpPr>
        <p:spPr>
          <a:xfrm>
            <a:off x="365760" y="365760"/>
            <a:ext cx="10515600" cy="877824"/>
          </a:xfrm>
        </p:spPr>
        <p:txBody>
          <a:bodyPr/>
          <a:lstStyle/>
          <a:p>
            <a:r>
              <a:rPr lang="en-US" dirty="0"/>
              <a:t>Title Block</a:t>
            </a:r>
          </a:p>
        </p:txBody>
      </p:sp>
      <p:sp>
        <p:nvSpPr>
          <p:cNvPr id="3" name="Content Placeholder 2">
            <a:extLst>
              <a:ext uri="{FF2B5EF4-FFF2-40B4-BE49-F238E27FC236}">
                <a16:creationId xmlns:a16="http://schemas.microsoft.com/office/drawing/2014/main" id="{C335065D-17EA-9B58-14C9-C235630345A8}"/>
              </a:ext>
            </a:extLst>
          </p:cNvPr>
          <p:cNvSpPr>
            <a:spLocks noGrp="1"/>
          </p:cNvSpPr>
          <p:nvPr>
            <p:ph idx="1"/>
          </p:nvPr>
        </p:nvSpPr>
        <p:spPr>
          <a:xfrm>
            <a:off x="611162" y="1483103"/>
            <a:ext cx="10958538" cy="847015"/>
          </a:xfrm>
        </p:spPr>
        <p:txBody>
          <a:bodyPr>
            <a:normAutofit/>
          </a:bodyPr>
          <a:lstStyle/>
          <a:p>
            <a:r>
              <a:rPr lang="en-US" dirty="0">
                <a:solidFill>
                  <a:srgbClr val="0070C0"/>
                </a:solidFill>
              </a:rPr>
              <a:t>Important information listed here</a:t>
            </a:r>
            <a:endParaRPr lang="en-US" dirty="0"/>
          </a:p>
        </p:txBody>
      </p:sp>
      <p:grpSp>
        <p:nvGrpSpPr>
          <p:cNvPr id="24" name="Group 23">
            <a:extLst>
              <a:ext uri="{FF2B5EF4-FFF2-40B4-BE49-F238E27FC236}">
                <a16:creationId xmlns:a16="http://schemas.microsoft.com/office/drawing/2014/main" id="{A96DA8F7-B5D0-C804-EA34-A21670DB803F}"/>
              </a:ext>
            </a:extLst>
          </p:cNvPr>
          <p:cNvGrpSpPr/>
          <p:nvPr/>
        </p:nvGrpSpPr>
        <p:grpSpPr>
          <a:xfrm>
            <a:off x="7144691" y="3032812"/>
            <a:ext cx="1781175" cy="913479"/>
            <a:chOff x="10363199" y="2818710"/>
            <a:chExt cx="1781175" cy="900079"/>
          </a:xfrm>
        </p:grpSpPr>
        <p:sp>
          <p:nvSpPr>
            <p:cNvPr id="25" name="TextBox 24">
              <a:extLst>
                <a:ext uri="{FF2B5EF4-FFF2-40B4-BE49-F238E27FC236}">
                  <a16:creationId xmlns:a16="http://schemas.microsoft.com/office/drawing/2014/main" id="{3EA35CC8-5D50-1C87-26B1-5DCC2942A65A}"/>
                </a:ext>
              </a:extLst>
            </p:cNvPr>
            <p:cNvSpPr txBox="1"/>
            <p:nvPr/>
          </p:nvSpPr>
          <p:spPr>
            <a:xfrm>
              <a:off x="10363199" y="2818710"/>
              <a:ext cx="1781175" cy="369332"/>
            </a:xfrm>
            <a:prstGeom prst="rect">
              <a:avLst/>
            </a:prstGeom>
            <a:solidFill>
              <a:srgbClr val="0070C0"/>
            </a:solidFill>
          </p:spPr>
          <p:txBody>
            <a:bodyPr wrap="square" rtlCol="0">
              <a:spAutoFit/>
            </a:bodyPr>
            <a:lstStyle/>
            <a:p>
              <a:pPr algn="ctr"/>
              <a:r>
                <a:rPr lang="en-US" b="1" dirty="0">
                  <a:solidFill>
                    <a:schemeClr val="bg1"/>
                  </a:solidFill>
                </a:rPr>
                <a:t>Drawing Title</a:t>
              </a:r>
            </a:p>
          </p:txBody>
        </p:sp>
        <p:cxnSp>
          <p:nvCxnSpPr>
            <p:cNvPr id="26" name="Straight Arrow Connector 25">
              <a:extLst>
                <a:ext uri="{FF2B5EF4-FFF2-40B4-BE49-F238E27FC236}">
                  <a16:creationId xmlns:a16="http://schemas.microsoft.com/office/drawing/2014/main" id="{514248E7-322E-8165-ED0D-D870FA144BA5}"/>
                </a:ext>
              </a:extLst>
            </p:cNvPr>
            <p:cNvCxnSpPr>
              <a:cxnSpLocks/>
            </p:cNvCxnSpPr>
            <p:nvPr/>
          </p:nvCxnSpPr>
          <p:spPr>
            <a:xfrm>
              <a:off x="11253787" y="3188042"/>
              <a:ext cx="481994" cy="530747"/>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3BD95ACE-5A0E-9541-FBE9-AC9606F458B1}"/>
              </a:ext>
            </a:extLst>
          </p:cNvPr>
          <p:cNvGrpSpPr/>
          <p:nvPr/>
        </p:nvGrpSpPr>
        <p:grpSpPr>
          <a:xfrm>
            <a:off x="2681551" y="2440507"/>
            <a:ext cx="1551398" cy="477359"/>
            <a:chOff x="10031021" y="2651960"/>
            <a:chExt cx="1551398" cy="477359"/>
          </a:xfrm>
        </p:grpSpPr>
        <p:sp>
          <p:nvSpPr>
            <p:cNvPr id="32" name="TextBox 31">
              <a:extLst>
                <a:ext uri="{FF2B5EF4-FFF2-40B4-BE49-F238E27FC236}">
                  <a16:creationId xmlns:a16="http://schemas.microsoft.com/office/drawing/2014/main" id="{20B63C77-8F37-2B28-5DDD-96192A23272A}"/>
                </a:ext>
              </a:extLst>
            </p:cNvPr>
            <p:cNvSpPr txBox="1"/>
            <p:nvPr/>
          </p:nvSpPr>
          <p:spPr>
            <a:xfrm>
              <a:off x="10647470" y="2651960"/>
              <a:ext cx="934949" cy="369332"/>
            </a:xfrm>
            <a:prstGeom prst="rect">
              <a:avLst/>
            </a:prstGeom>
            <a:solidFill>
              <a:srgbClr val="0070C0"/>
            </a:solidFill>
          </p:spPr>
          <p:txBody>
            <a:bodyPr wrap="square" rtlCol="0">
              <a:spAutoFit/>
            </a:bodyPr>
            <a:lstStyle/>
            <a:p>
              <a:pPr algn="ctr"/>
              <a:r>
                <a:rPr lang="en-US" b="1" dirty="0">
                  <a:solidFill>
                    <a:schemeClr val="bg1"/>
                  </a:solidFill>
                </a:rPr>
                <a:t>Notes</a:t>
              </a:r>
            </a:p>
          </p:txBody>
        </p:sp>
        <p:cxnSp>
          <p:nvCxnSpPr>
            <p:cNvPr id="33" name="Straight Arrow Connector 32">
              <a:extLst>
                <a:ext uri="{FF2B5EF4-FFF2-40B4-BE49-F238E27FC236}">
                  <a16:creationId xmlns:a16="http://schemas.microsoft.com/office/drawing/2014/main" id="{64CA4F65-31E2-B7CB-A545-BAA4096EC5D6}"/>
                </a:ext>
              </a:extLst>
            </p:cNvPr>
            <p:cNvCxnSpPr>
              <a:cxnSpLocks/>
              <a:stCxn id="32" idx="1"/>
            </p:cNvCxnSpPr>
            <p:nvPr/>
          </p:nvCxnSpPr>
          <p:spPr>
            <a:xfrm flipH="1">
              <a:off x="10031021" y="2836626"/>
              <a:ext cx="616449" cy="29269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3274108E-42A5-AFDD-984B-4D12E822CD46}"/>
              </a:ext>
            </a:extLst>
          </p:cNvPr>
          <p:cNvGrpSpPr/>
          <p:nvPr/>
        </p:nvGrpSpPr>
        <p:grpSpPr>
          <a:xfrm>
            <a:off x="5784346" y="4642440"/>
            <a:ext cx="1130157" cy="700269"/>
            <a:chOff x="10939372" y="2487773"/>
            <a:chExt cx="1130157" cy="700269"/>
          </a:xfrm>
        </p:grpSpPr>
        <p:sp>
          <p:nvSpPr>
            <p:cNvPr id="41" name="TextBox 40">
              <a:extLst>
                <a:ext uri="{FF2B5EF4-FFF2-40B4-BE49-F238E27FC236}">
                  <a16:creationId xmlns:a16="http://schemas.microsoft.com/office/drawing/2014/main" id="{72847B5A-DA57-19BD-E7E2-6414787C350F}"/>
                </a:ext>
              </a:extLst>
            </p:cNvPr>
            <p:cNvSpPr txBox="1"/>
            <p:nvPr/>
          </p:nvSpPr>
          <p:spPr>
            <a:xfrm>
              <a:off x="10939372" y="2818710"/>
              <a:ext cx="1130157" cy="369332"/>
            </a:xfrm>
            <a:prstGeom prst="rect">
              <a:avLst/>
            </a:prstGeom>
            <a:solidFill>
              <a:srgbClr val="0070C0"/>
            </a:solidFill>
          </p:spPr>
          <p:txBody>
            <a:bodyPr wrap="square" rtlCol="0">
              <a:spAutoFit/>
            </a:bodyPr>
            <a:lstStyle/>
            <a:p>
              <a:pPr algn="ctr"/>
              <a:r>
                <a:rPr lang="en-US" b="1" dirty="0">
                  <a:solidFill>
                    <a:schemeClr val="bg1"/>
                  </a:solidFill>
                </a:rPr>
                <a:t>Material</a:t>
              </a:r>
            </a:p>
          </p:txBody>
        </p:sp>
        <p:cxnSp>
          <p:nvCxnSpPr>
            <p:cNvPr id="42" name="Straight Arrow Connector 41">
              <a:extLst>
                <a:ext uri="{FF2B5EF4-FFF2-40B4-BE49-F238E27FC236}">
                  <a16:creationId xmlns:a16="http://schemas.microsoft.com/office/drawing/2014/main" id="{EB707119-651E-16A1-6F1B-41AF5E81032D}"/>
                </a:ext>
              </a:extLst>
            </p:cNvPr>
            <p:cNvCxnSpPr>
              <a:cxnSpLocks/>
              <a:stCxn id="41" idx="0"/>
            </p:cNvCxnSpPr>
            <p:nvPr/>
          </p:nvCxnSpPr>
          <p:spPr>
            <a:xfrm flipH="1" flipV="1">
              <a:off x="11504450" y="2487773"/>
              <a:ext cx="1" cy="330937"/>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46" name="Group 45">
            <a:extLst>
              <a:ext uri="{FF2B5EF4-FFF2-40B4-BE49-F238E27FC236}">
                <a16:creationId xmlns:a16="http://schemas.microsoft.com/office/drawing/2014/main" id="{C675BE36-2877-2BB8-ECB6-3563CDDE22B8}"/>
              </a:ext>
            </a:extLst>
          </p:cNvPr>
          <p:cNvGrpSpPr/>
          <p:nvPr/>
        </p:nvGrpSpPr>
        <p:grpSpPr>
          <a:xfrm>
            <a:off x="7094262" y="4108801"/>
            <a:ext cx="1150705" cy="369332"/>
            <a:chOff x="13540447" y="2999883"/>
            <a:chExt cx="1150705" cy="369332"/>
          </a:xfrm>
        </p:grpSpPr>
        <p:sp>
          <p:nvSpPr>
            <p:cNvPr id="47" name="TextBox 46">
              <a:extLst>
                <a:ext uri="{FF2B5EF4-FFF2-40B4-BE49-F238E27FC236}">
                  <a16:creationId xmlns:a16="http://schemas.microsoft.com/office/drawing/2014/main" id="{2F0B5FDB-0CF2-D29C-4D1C-4E45324FCBF8}"/>
                </a:ext>
              </a:extLst>
            </p:cNvPr>
            <p:cNvSpPr txBox="1"/>
            <p:nvPr/>
          </p:nvSpPr>
          <p:spPr>
            <a:xfrm>
              <a:off x="13540447" y="2999883"/>
              <a:ext cx="798042" cy="369332"/>
            </a:xfrm>
            <a:prstGeom prst="rect">
              <a:avLst/>
            </a:prstGeom>
            <a:solidFill>
              <a:srgbClr val="0070C0"/>
            </a:solidFill>
          </p:spPr>
          <p:txBody>
            <a:bodyPr wrap="square" rtlCol="0">
              <a:spAutoFit/>
            </a:bodyPr>
            <a:lstStyle/>
            <a:p>
              <a:pPr algn="ctr"/>
              <a:r>
                <a:rPr lang="en-US" b="1" dirty="0">
                  <a:solidFill>
                    <a:schemeClr val="bg1"/>
                  </a:solidFill>
                </a:rPr>
                <a:t>Scale</a:t>
              </a:r>
            </a:p>
          </p:txBody>
        </p:sp>
        <p:cxnSp>
          <p:nvCxnSpPr>
            <p:cNvPr id="48" name="Straight Arrow Connector 47">
              <a:extLst>
                <a:ext uri="{FF2B5EF4-FFF2-40B4-BE49-F238E27FC236}">
                  <a16:creationId xmlns:a16="http://schemas.microsoft.com/office/drawing/2014/main" id="{B4353A4B-0D4C-769B-200E-36D36B537640}"/>
                </a:ext>
              </a:extLst>
            </p:cNvPr>
            <p:cNvCxnSpPr>
              <a:cxnSpLocks/>
              <a:stCxn id="47" idx="3"/>
            </p:cNvCxnSpPr>
            <p:nvPr/>
          </p:nvCxnSpPr>
          <p:spPr>
            <a:xfrm>
              <a:off x="14338489" y="3184549"/>
              <a:ext cx="352663" cy="18466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B5B01C1E-FD20-B46C-C1DD-D12DC152C763}"/>
              </a:ext>
            </a:extLst>
          </p:cNvPr>
          <p:cNvGrpSpPr/>
          <p:nvPr/>
        </p:nvGrpSpPr>
        <p:grpSpPr>
          <a:xfrm>
            <a:off x="9265052" y="3032812"/>
            <a:ext cx="1781175" cy="1098148"/>
            <a:chOff x="10289550" y="3775228"/>
            <a:chExt cx="1781175" cy="1098148"/>
          </a:xfrm>
        </p:grpSpPr>
        <p:grpSp>
          <p:nvGrpSpPr>
            <p:cNvPr id="19" name="Group 18">
              <a:extLst>
                <a:ext uri="{FF2B5EF4-FFF2-40B4-BE49-F238E27FC236}">
                  <a16:creationId xmlns:a16="http://schemas.microsoft.com/office/drawing/2014/main" id="{BCE0EE65-4B68-038B-2647-80E1394ECE2F}"/>
                </a:ext>
              </a:extLst>
            </p:cNvPr>
            <p:cNvGrpSpPr/>
            <p:nvPr/>
          </p:nvGrpSpPr>
          <p:grpSpPr>
            <a:xfrm>
              <a:off x="10289550" y="3775228"/>
              <a:ext cx="1781175" cy="1098148"/>
              <a:chOff x="10363200" y="2651960"/>
              <a:chExt cx="1781175" cy="1098148"/>
            </a:xfrm>
          </p:grpSpPr>
          <p:sp>
            <p:nvSpPr>
              <p:cNvPr id="20" name="TextBox 19">
                <a:extLst>
                  <a:ext uri="{FF2B5EF4-FFF2-40B4-BE49-F238E27FC236}">
                    <a16:creationId xmlns:a16="http://schemas.microsoft.com/office/drawing/2014/main" id="{CB221166-18BE-41C0-467F-A12154726449}"/>
                  </a:ext>
                </a:extLst>
              </p:cNvPr>
              <p:cNvSpPr txBox="1"/>
              <p:nvPr/>
            </p:nvSpPr>
            <p:spPr>
              <a:xfrm>
                <a:off x="10363200" y="2651960"/>
                <a:ext cx="1781175" cy="369332"/>
              </a:xfrm>
              <a:prstGeom prst="rect">
                <a:avLst/>
              </a:prstGeom>
              <a:solidFill>
                <a:srgbClr val="0070C0"/>
              </a:solidFill>
            </p:spPr>
            <p:txBody>
              <a:bodyPr wrap="square" rtlCol="0">
                <a:spAutoFit/>
              </a:bodyPr>
              <a:lstStyle/>
              <a:p>
                <a:pPr algn="ctr"/>
                <a:r>
                  <a:rPr lang="en-US" b="1" dirty="0">
                    <a:solidFill>
                      <a:schemeClr val="bg1"/>
                    </a:solidFill>
                  </a:rPr>
                  <a:t>Company</a:t>
                </a:r>
              </a:p>
            </p:txBody>
          </p:sp>
          <p:cxnSp>
            <p:nvCxnSpPr>
              <p:cNvPr id="21" name="Straight Arrow Connector 20">
                <a:extLst>
                  <a:ext uri="{FF2B5EF4-FFF2-40B4-BE49-F238E27FC236}">
                    <a16:creationId xmlns:a16="http://schemas.microsoft.com/office/drawing/2014/main" id="{D4D0A052-438E-B012-63E3-740D98776C47}"/>
                  </a:ext>
                </a:extLst>
              </p:cNvPr>
              <p:cNvCxnSpPr>
                <a:cxnSpLocks/>
              </p:cNvCxnSpPr>
              <p:nvPr/>
            </p:nvCxnSpPr>
            <p:spPr>
              <a:xfrm flipH="1">
                <a:off x="10796949" y="3021292"/>
                <a:ext cx="205483" cy="72881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cxnSp>
          <p:nvCxnSpPr>
            <p:cNvPr id="52" name="Straight Arrow Connector 51">
              <a:extLst>
                <a:ext uri="{FF2B5EF4-FFF2-40B4-BE49-F238E27FC236}">
                  <a16:creationId xmlns:a16="http://schemas.microsoft.com/office/drawing/2014/main" id="{6F696A8D-C77A-EAD3-0E0C-1C5E5408295D}"/>
                </a:ext>
              </a:extLst>
            </p:cNvPr>
            <p:cNvCxnSpPr>
              <a:cxnSpLocks/>
            </p:cNvCxnSpPr>
            <p:nvPr/>
          </p:nvCxnSpPr>
          <p:spPr>
            <a:xfrm>
              <a:off x="10826040" y="4504044"/>
              <a:ext cx="102742" cy="10145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61" name="Group 60">
            <a:extLst>
              <a:ext uri="{FF2B5EF4-FFF2-40B4-BE49-F238E27FC236}">
                <a16:creationId xmlns:a16="http://schemas.microsoft.com/office/drawing/2014/main" id="{3A97700D-6E3C-BD82-F1C2-3FEA595DDED3}"/>
              </a:ext>
            </a:extLst>
          </p:cNvPr>
          <p:cNvGrpSpPr/>
          <p:nvPr/>
        </p:nvGrpSpPr>
        <p:grpSpPr>
          <a:xfrm>
            <a:off x="3647326" y="3250054"/>
            <a:ext cx="1099331" cy="613029"/>
            <a:chOff x="10825965" y="2651960"/>
            <a:chExt cx="1099331" cy="613029"/>
          </a:xfrm>
        </p:grpSpPr>
        <p:sp>
          <p:nvSpPr>
            <p:cNvPr id="62" name="TextBox 61">
              <a:extLst>
                <a:ext uri="{FF2B5EF4-FFF2-40B4-BE49-F238E27FC236}">
                  <a16:creationId xmlns:a16="http://schemas.microsoft.com/office/drawing/2014/main" id="{42CC2A12-0300-AE09-874E-85903DA9C365}"/>
                </a:ext>
              </a:extLst>
            </p:cNvPr>
            <p:cNvSpPr txBox="1"/>
            <p:nvPr/>
          </p:nvSpPr>
          <p:spPr>
            <a:xfrm>
              <a:off x="10825965" y="2651960"/>
              <a:ext cx="756454" cy="369332"/>
            </a:xfrm>
            <a:prstGeom prst="rect">
              <a:avLst/>
            </a:prstGeom>
            <a:solidFill>
              <a:srgbClr val="0070C0"/>
            </a:solidFill>
          </p:spPr>
          <p:txBody>
            <a:bodyPr wrap="square" rtlCol="0">
              <a:spAutoFit/>
            </a:bodyPr>
            <a:lstStyle/>
            <a:p>
              <a:pPr algn="r"/>
              <a:r>
                <a:rPr lang="en-US" b="1" dirty="0">
                  <a:solidFill>
                    <a:schemeClr val="bg1"/>
                  </a:solidFill>
                </a:rPr>
                <a:t>Size</a:t>
              </a:r>
            </a:p>
          </p:txBody>
        </p:sp>
        <p:cxnSp>
          <p:nvCxnSpPr>
            <p:cNvPr id="63" name="Straight Arrow Connector 62">
              <a:extLst>
                <a:ext uri="{FF2B5EF4-FFF2-40B4-BE49-F238E27FC236}">
                  <a16:creationId xmlns:a16="http://schemas.microsoft.com/office/drawing/2014/main" id="{AE446B83-3553-D631-B63A-98A31B44B4DE}"/>
                </a:ext>
              </a:extLst>
            </p:cNvPr>
            <p:cNvCxnSpPr>
              <a:cxnSpLocks/>
              <a:stCxn id="62" idx="3"/>
            </p:cNvCxnSpPr>
            <p:nvPr/>
          </p:nvCxnSpPr>
          <p:spPr>
            <a:xfrm>
              <a:off x="11582419" y="2836626"/>
              <a:ext cx="342877" cy="42836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66" name="Group 65">
            <a:extLst>
              <a:ext uri="{FF2B5EF4-FFF2-40B4-BE49-F238E27FC236}">
                <a16:creationId xmlns:a16="http://schemas.microsoft.com/office/drawing/2014/main" id="{045ACA18-E52E-1085-BD56-34549ECD7C88}"/>
              </a:ext>
            </a:extLst>
          </p:cNvPr>
          <p:cNvGrpSpPr/>
          <p:nvPr/>
        </p:nvGrpSpPr>
        <p:grpSpPr>
          <a:xfrm>
            <a:off x="3133613" y="3761628"/>
            <a:ext cx="1582141" cy="369332"/>
            <a:chOff x="10312252" y="2651960"/>
            <a:chExt cx="1582141" cy="369332"/>
          </a:xfrm>
        </p:grpSpPr>
        <p:sp>
          <p:nvSpPr>
            <p:cNvPr id="67" name="TextBox 66">
              <a:extLst>
                <a:ext uri="{FF2B5EF4-FFF2-40B4-BE49-F238E27FC236}">
                  <a16:creationId xmlns:a16="http://schemas.microsoft.com/office/drawing/2014/main" id="{5712C5BF-7FFE-FBCB-F2B9-495735D463F4}"/>
                </a:ext>
              </a:extLst>
            </p:cNvPr>
            <p:cNvSpPr txBox="1"/>
            <p:nvPr/>
          </p:nvSpPr>
          <p:spPr>
            <a:xfrm>
              <a:off x="10312252" y="2651960"/>
              <a:ext cx="1270167" cy="369332"/>
            </a:xfrm>
            <a:prstGeom prst="rect">
              <a:avLst/>
            </a:prstGeom>
            <a:solidFill>
              <a:srgbClr val="0070C0"/>
            </a:solidFill>
          </p:spPr>
          <p:txBody>
            <a:bodyPr wrap="square" rtlCol="0">
              <a:spAutoFit/>
            </a:bodyPr>
            <a:lstStyle/>
            <a:p>
              <a:pPr algn="r"/>
              <a:r>
                <a:rPr lang="en-US" b="1" dirty="0">
                  <a:solidFill>
                    <a:schemeClr val="bg1"/>
                  </a:solidFill>
                </a:rPr>
                <a:t>Tolerance</a:t>
              </a:r>
            </a:p>
          </p:txBody>
        </p:sp>
        <p:cxnSp>
          <p:nvCxnSpPr>
            <p:cNvPr id="68" name="Straight Arrow Connector 67">
              <a:extLst>
                <a:ext uri="{FF2B5EF4-FFF2-40B4-BE49-F238E27FC236}">
                  <a16:creationId xmlns:a16="http://schemas.microsoft.com/office/drawing/2014/main" id="{8AF45FF0-81BE-3B6A-7EE8-F9F79B7710D2}"/>
                </a:ext>
              </a:extLst>
            </p:cNvPr>
            <p:cNvCxnSpPr>
              <a:cxnSpLocks/>
              <a:stCxn id="67" idx="3"/>
            </p:cNvCxnSpPr>
            <p:nvPr/>
          </p:nvCxnSpPr>
          <p:spPr>
            <a:xfrm>
              <a:off x="11582419" y="2836626"/>
              <a:ext cx="311974" cy="113307"/>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73" name="Group 72">
            <a:extLst>
              <a:ext uri="{FF2B5EF4-FFF2-40B4-BE49-F238E27FC236}">
                <a16:creationId xmlns:a16="http://schemas.microsoft.com/office/drawing/2014/main" id="{DA60627C-49DE-A252-5929-D41DDAAB32C3}"/>
              </a:ext>
            </a:extLst>
          </p:cNvPr>
          <p:cNvGrpSpPr/>
          <p:nvPr/>
        </p:nvGrpSpPr>
        <p:grpSpPr>
          <a:xfrm>
            <a:off x="7795709" y="4718759"/>
            <a:ext cx="1130157" cy="628240"/>
            <a:chOff x="10939372" y="2475552"/>
            <a:chExt cx="1130157" cy="628240"/>
          </a:xfrm>
        </p:grpSpPr>
        <p:cxnSp>
          <p:nvCxnSpPr>
            <p:cNvPr id="75" name="Straight Arrow Connector 74">
              <a:extLst>
                <a:ext uri="{FF2B5EF4-FFF2-40B4-BE49-F238E27FC236}">
                  <a16:creationId xmlns:a16="http://schemas.microsoft.com/office/drawing/2014/main" id="{91212BF9-6C07-E2A8-5ED0-D015990B22E4}"/>
                </a:ext>
              </a:extLst>
            </p:cNvPr>
            <p:cNvCxnSpPr>
              <a:cxnSpLocks/>
              <a:stCxn id="74" idx="0"/>
            </p:cNvCxnSpPr>
            <p:nvPr/>
          </p:nvCxnSpPr>
          <p:spPr>
            <a:xfrm flipV="1">
              <a:off x="11504451" y="2475552"/>
              <a:ext cx="390417" cy="258908"/>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E4546ABB-C5C8-B7D5-02D0-B36B49FADFFF}"/>
                </a:ext>
              </a:extLst>
            </p:cNvPr>
            <p:cNvSpPr txBox="1"/>
            <p:nvPr/>
          </p:nvSpPr>
          <p:spPr>
            <a:xfrm>
              <a:off x="10939372" y="2734460"/>
              <a:ext cx="1130157" cy="369332"/>
            </a:xfrm>
            <a:prstGeom prst="rect">
              <a:avLst/>
            </a:prstGeom>
            <a:solidFill>
              <a:srgbClr val="0070C0"/>
            </a:solidFill>
          </p:spPr>
          <p:txBody>
            <a:bodyPr wrap="square" rtlCol="0">
              <a:spAutoFit/>
            </a:bodyPr>
            <a:lstStyle/>
            <a:p>
              <a:pPr algn="ctr"/>
              <a:r>
                <a:rPr lang="en-US" b="1" dirty="0">
                  <a:solidFill>
                    <a:schemeClr val="bg1"/>
                  </a:solidFill>
                </a:rPr>
                <a:t>Sheet #</a:t>
              </a:r>
            </a:p>
          </p:txBody>
        </p:sp>
      </p:grpSp>
      <p:grpSp>
        <p:nvGrpSpPr>
          <p:cNvPr id="77" name="Group 76">
            <a:extLst>
              <a:ext uri="{FF2B5EF4-FFF2-40B4-BE49-F238E27FC236}">
                <a16:creationId xmlns:a16="http://schemas.microsoft.com/office/drawing/2014/main" id="{EC0B729B-0042-6AE9-DB92-002501CD3724}"/>
              </a:ext>
            </a:extLst>
          </p:cNvPr>
          <p:cNvGrpSpPr/>
          <p:nvPr/>
        </p:nvGrpSpPr>
        <p:grpSpPr>
          <a:xfrm>
            <a:off x="9080064" y="4718759"/>
            <a:ext cx="958557" cy="622078"/>
            <a:chOff x="10960693" y="2077364"/>
            <a:chExt cx="958557" cy="622078"/>
          </a:xfrm>
        </p:grpSpPr>
        <p:cxnSp>
          <p:nvCxnSpPr>
            <p:cNvPr id="78" name="Straight Arrow Connector 77">
              <a:extLst>
                <a:ext uri="{FF2B5EF4-FFF2-40B4-BE49-F238E27FC236}">
                  <a16:creationId xmlns:a16="http://schemas.microsoft.com/office/drawing/2014/main" id="{D8F9A781-2255-87F9-E54A-15AAED03B8FC}"/>
                </a:ext>
              </a:extLst>
            </p:cNvPr>
            <p:cNvCxnSpPr>
              <a:cxnSpLocks/>
              <a:stCxn id="79" idx="0"/>
            </p:cNvCxnSpPr>
            <p:nvPr/>
          </p:nvCxnSpPr>
          <p:spPr>
            <a:xfrm flipH="1" flipV="1">
              <a:off x="11247596" y="2077364"/>
              <a:ext cx="192376" cy="252746"/>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4FFD4D43-4ECC-03DE-E4B2-5D43904BFB95}"/>
                </a:ext>
              </a:extLst>
            </p:cNvPr>
            <p:cNvSpPr txBox="1"/>
            <p:nvPr/>
          </p:nvSpPr>
          <p:spPr>
            <a:xfrm>
              <a:off x="10960693" y="2330110"/>
              <a:ext cx="958557" cy="369332"/>
            </a:xfrm>
            <a:prstGeom prst="rect">
              <a:avLst/>
            </a:prstGeom>
            <a:solidFill>
              <a:srgbClr val="0070C0"/>
            </a:solidFill>
          </p:spPr>
          <p:txBody>
            <a:bodyPr wrap="square" rtlCol="0">
              <a:spAutoFit/>
            </a:bodyPr>
            <a:lstStyle/>
            <a:p>
              <a:pPr algn="ctr"/>
              <a:r>
                <a:rPr lang="en-US" b="1" dirty="0">
                  <a:solidFill>
                    <a:schemeClr val="bg1"/>
                  </a:solidFill>
                </a:rPr>
                <a:t>Part #</a:t>
              </a:r>
            </a:p>
          </p:txBody>
        </p:sp>
      </p:grpSp>
      <p:sp>
        <p:nvSpPr>
          <p:cNvPr id="92" name="Rectangle 91">
            <a:extLst>
              <a:ext uri="{FF2B5EF4-FFF2-40B4-BE49-F238E27FC236}">
                <a16:creationId xmlns:a16="http://schemas.microsoft.com/office/drawing/2014/main" id="{31D3C8A0-AED3-4719-9A12-EB8B0973C064}"/>
              </a:ext>
            </a:extLst>
          </p:cNvPr>
          <p:cNvSpPr/>
          <p:nvPr/>
        </p:nvSpPr>
        <p:spPr>
          <a:xfrm>
            <a:off x="4710008" y="4522776"/>
            <a:ext cx="1053596" cy="158750"/>
          </a:xfrm>
          <a:prstGeom prst="rect">
            <a:avLst/>
          </a:prstGeom>
          <a:solidFill>
            <a:schemeClr val="bg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astanty Cortez" panose="02000506000000020003" pitchFamily="2" charset="0"/>
              </a:rPr>
              <a:t>John Doe</a:t>
            </a:r>
          </a:p>
        </p:txBody>
      </p:sp>
      <p:grpSp>
        <p:nvGrpSpPr>
          <p:cNvPr id="93" name="Group 92">
            <a:extLst>
              <a:ext uri="{FF2B5EF4-FFF2-40B4-BE49-F238E27FC236}">
                <a16:creationId xmlns:a16="http://schemas.microsoft.com/office/drawing/2014/main" id="{61EC2F5D-B251-F81E-530F-18CC4E993C64}"/>
              </a:ext>
            </a:extLst>
          </p:cNvPr>
          <p:cNvGrpSpPr/>
          <p:nvPr/>
        </p:nvGrpSpPr>
        <p:grpSpPr>
          <a:xfrm>
            <a:off x="3439841" y="4642440"/>
            <a:ext cx="1424365" cy="698397"/>
            <a:chOff x="10317073" y="2322895"/>
            <a:chExt cx="1424365" cy="698397"/>
          </a:xfrm>
        </p:grpSpPr>
        <p:sp>
          <p:nvSpPr>
            <p:cNvPr id="94" name="TextBox 93">
              <a:extLst>
                <a:ext uri="{FF2B5EF4-FFF2-40B4-BE49-F238E27FC236}">
                  <a16:creationId xmlns:a16="http://schemas.microsoft.com/office/drawing/2014/main" id="{AB4F05CE-E9A2-69C3-ADBA-559DE845F184}"/>
                </a:ext>
              </a:extLst>
            </p:cNvPr>
            <p:cNvSpPr txBox="1"/>
            <p:nvPr/>
          </p:nvSpPr>
          <p:spPr>
            <a:xfrm>
              <a:off x="10317073" y="2651960"/>
              <a:ext cx="1270167" cy="369332"/>
            </a:xfrm>
            <a:prstGeom prst="rect">
              <a:avLst/>
            </a:prstGeom>
            <a:solidFill>
              <a:srgbClr val="0070C0"/>
            </a:solidFill>
          </p:spPr>
          <p:txBody>
            <a:bodyPr wrap="square" rtlCol="0">
              <a:spAutoFit/>
            </a:bodyPr>
            <a:lstStyle/>
            <a:p>
              <a:pPr algn="r"/>
              <a:r>
                <a:rPr lang="en-US" b="1" dirty="0">
                  <a:solidFill>
                    <a:schemeClr val="bg1"/>
                  </a:solidFill>
                </a:rPr>
                <a:t>Signature</a:t>
              </a:r>
            </a:p>
          </p:txBody>
        </p:sp>
        <p:cxnSp>
          <p:nvCxnSpPr>
            <p:cNvPr id="95" name="Straight Arrow Connector 94">
              <a:extLst>
                <a:ext uri="{FF2B5EF4-FFF2-40B4-BE49-F238E27FC236}">
                  <a16:creationId xmlns:a16="http://schemas.microsoft.com/office/drawing/2014/main" id="{F2EBDC30-C939-6FC9-F84E-2CDBD4B06A93}"/>
                </a:ext>
              </a:extLst>
            </p:cNvPr>
            <p:cNvCxnSpPr>
              <a:cxnSpLocks/>
              <a:stCxn id="94" idx="3"/>
            </p:cNvCxnSpPr>
            <p:nvPr/>
          </p:nvCxnSpPr>
          <p:spPr>
            <a:xfrm flipV="1">
              <a:off x="11587240" y="2322895"/>
              <a:ext cx="154198" cy="51373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5" name="TextBox 4">
            <a:hlinkClick r:id="rId4"/>
            <a:extLst>
              <a:ext uri="{FF2B5EF4-FFF2-40B4-BE49-F238E27FC236}">
                <a16:creationId xmlns:a16="http://schemas.microsoft.com/office/drawing/2014/main" id="{99B871E9-84FC-86B4-2DA1-F8C6FD0BD96E}"/>
              </a:ext>
            </a:extLst>
          </p:cNvPr>
          <p:cNvSpPr txBox="1"/>
          <p:nvPr/>
        </p:nvSpPr>
        <p:spPr>
          <a:xfrm>
            <a:off x="952655" y="4740673"/>
            <a:ext cx="2332988" cy="230832"/>
          </a:xfrm>
          <a:prstGeom prst="rect">
            <a:avLst/>
          </a:prstGeom>
          <a:noFill/>
        </p:spPr>
        <p:txBody>
          <a:bodyPr wrap="square" rtlCol="0">
            <a:spAutoFit/>
          </a:bodyPr>
          <a:lstStyle/>
          <a:p>
            <a:r>
              <a:rPr lang="en-US" sz="900" dirty="0"/>
              <a:t>(PD) U.S. Gov – NAVEDTRA14040A, 2015 </a:t>
            </a:r>
          </a:p>
        </p:txBody>
      </p:sp>
    </p:spTree>
    <p:extLst>
      <p:ext uri="{BB962C8B-B14F-4D97-AF65-F5344CB8AC3E}">
        <p14:creationId xmlns:p14="http://schemas.microsoft.com/office/powerpoint/2010/main" val="145375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44A2007-8BA8-3EBA-CCDA-A48C2D54D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47569-61A9-278F-C82F-0789FD1E8F82}"/>
              </a:ext>
            </a:extLst>
          </p:cNvPr>
          <p:cNvSpPr>
            <a:spLocks noGrp="1"/>
          </p:cNvSpPr>
          <p:nvPr>
            <p:ph type="title"/>
          </p:nvPr>
        </p:nvSpPr>
        <p:spPr>
          <a:xfrm>
            <a:off x="365760" y="365760"/>
            <a:ext cx="10515600" cy="877824"/>
          </a:xfrm>
        </p:spPr>
        <p:txBody>
          <a:bodyPr/>
          <a:lstStyle/>
          <a:p>
            <a:r>
              <a:rPr lang="en-US" dirty="0"/>
              <a:t>Revision Block</a:t>
            </a:r>
          </a:p>
        </p:txBody>
      </p:sp>
      <p:sp>
        <p:nvSpPr>
          <p:cNvPr id="3" name="Content Placeholder 2">
            <a:extLst>
              <a:ext uri="{FF2B5EF4-FFF2-40B4-BE49-F238E27FC236}">
                <a16:creationId xmlns:a16="http://schemas.microsoft.com/office/drawing/2014/main" id="{97A3C1FD-5E9F-F506-505F-CA733B798C48}"/>
              </a:ext>
            </a:extLst>
          </p:cNvPr>
          <p:cNvSpPr>
            <a:spLocks noGrp="1"/>
          </p:cNvSpPr>
          <p:nvPr>
            <p:ph idx="1"/>
          </p:nvPr>
        </p:nvSpPr>
        <p:spPr>
          <a:xfrm>
            <a:off x="611162" y="1483104"/>
            <a:ext cx="10958538" cy="1058696"/>
          </a:xfrm>
        </p:spPr>
        <p:txBody>
          <a:bodyPr>
            <a:normAutofit/>
          </a:bodyPr>
          <a:lstStyle/>
          <a:p>
            <a:r>
              <a:rPr lang="en-US" dirty="0">
                <a:solidFill>
                  <a:srgbClr val="0070C0"/>
                </a:solidFill>
              </a:rPr>
              <a:t>Change history list…</a:t>
            </a:r>
            <a:endParaRPr lang="en-US" dirty="0"/>
          </a:p>
        </p:txBody>
      </p:sp>
      <p:pic>
        <p:nvPicPr>
          <p:cNvPr id="1026" name="Picture 2" descr="Understanding Revision Control in Product Development">
            <a:extLst>
              <a:ext uri="{FF2B5EF4-FFF2-40B4-BE49-F238E27FC236}">
                <a16:creationId xmlns:a16="http://schemas.microsoft.com/office/drawing/2014/main" id="{A14B1EA0-2497-C1EB-1FEE-6DDB8F6C2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225" y="2541799"/>
            <a:ext cx="6667500" cy="38100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94F1B2F1-7EAF-1E48-D52A-197EDF1534C8}"/>
              </a:ext>
            </a:extLst>
          </p:cNvPr>
          <p:cNvGrpSpPr/>
          <p:nvPr/>
        </p:nvGrpSpPr>
        <p:grpSpPr>
          <a:xfrm>
            <a:off x="8294776" y="2054151"/>
            <a:ext cx="934949" cy="742495"/>
            <a:chOff x="9205346" y="2372731"/>
            <a:chExt cx="934949" cy="742495"/>
          </a:xfrm>
        </p:grpSpPr>
        <p:sp>
          <p:nvSpPr>
            <p:cNvPr id="5" name="TextBox 4">
              <a:extLst>
                <a:ext uri="{FF2B5EF4-FFF2-40B4-BE49-F238E27FC236}">
                  <a16:creationId xmlns:a16="http://schemas.microsoft.com/office/drawing/2014/main" id="{489C80C5-886A-9C4B-55CF-AE58AA15676F}"/>
                </a:ext>
              </a:extLst>
            </p:cNvPr>
            <p:cNvSpPr txBox="1"/>
            <p:nvPr/>
          </p:nvSpPr>
          <p:spPr>
            <a:xfrm>
              <a:off x="9205346" y="2372731"/>
              <a:ext cx="934949" cy="369332"/>
            </a:xfrm>
            <a:prstGeom prst="rect">
              <a:avLst/>
            </a:prstGeom>
            <a:solidFill>
              <a:srgbClr val="0070C0"/>
            </a:solidFill>
          </p:spPr>
          <p:txBody>
            <a:bodyPr wrap="square" rtlCol="0">
              <a:spAutoFit/>
            </a:bodyPr>
            <a:lstStyle/>
            <a:p>
              <a:pPr algn="ctr"/>
              <a:r>
                <a:rPr lang="en-US" b="1" dirty="0">
                  <a:solidFill>
                    <a:schemeClr val="bg1"/>
                  </a:solidFill>
                </a:rPr>
                <a:t>Who?</a:t>
              </a:r>
            </a:p>
          </p:txBody>
        </p:sp>
        <p:cxnSp>
          <p:nvCxnSpPr>
            <p:cNvPr id="13" name="Straight Arrow Connector 12">
              <a:extLst>
                <a:ext uri="{FF2B5EF4-FFF2-40B4-BE49-F238E27FC236}">
                  <a16:creationId xmlns:a16="http://schemas.microsoft.com/office/drawing/2014/main" id="{ECBBAF53-9E6A-5E47-8B56-354592DD1E3F}"/>
                </a:ext>
              </a:extLst>
            </p:cNvPr>
            <p:cNvCxnSpPr>
              <a:cxnSpLocks/>
              <a:stCxn id="5" idx="2"/>
            </p:cNvCxnSpPr>
            <p:nvPr/>
          </p:nvCxnSpPr>
          <p:spPr>
            <a:xfrm>
              <a:off x="9672821" y="2742063"/>
              <a:ext cx="0" cy="37316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5EE3755-2248-FBEB-DFFC-54AD84320A03}"/>
              </a:ext>
            </a:extLst>
          </p:cNvPr>
          <p:cNvGrpSpPr/>
          <p:nvPr/>
        </p:nvGrpSpPr>
        <p:grpSpPr>
          <a:xfrm>
            <a:off x="5487327" y="2054151"/>
            <a:ext cx="934949" cy="742495"/>
            <a:chOff x="10742720" y="2713678"/>
            <a:chExt cx="934949" cy="742495"/>
          </a:xfrm>
        </p:grpSpPr>
        <p:sp>
          <p:nvSpPr>
            <p:cNvPr id="16" name="TextBox 15">
              <a:extLst>
                <a:ext uri="{FF2B5EF4-FFF2-40B4-BE49-F238E27FC236}">
                  <a16:creationId xmlns:a16="http://schemas.microsoft.com/office/drawing/2014/main" id="{1F25EAD4-E246-0FEC-0237-31364C53EBA8}"/>
                </a:ext>
              </a:extLst>
            </p:cNvPr>
            <p:cNvSpPr txBox="1"/>
            <p:nvPr/>
          </p:nvSpPr>
          <p:spPr>
            <a:xfrm>
              <a:off x="10742720" y="2713678"/>
              <a:ext cx="934949" cy="369332"/>
            </a:xfrm>
            <a:prstGeom prst="rect">
              <a:avLst/>
            </a:prstGeom>
            <a:solidFill>
              <a:srgbClr val="0070C0"/>
            </a:solidFill>
          </p:spPr>
          <p:txBody>
            <a:bodyPr wrap="square" rtlCol="0">
              <a:spAutoFit/>
            </a:bodyPr>
            <a:lstStyle/>
            <a:p>
              <a:pPr algn="ctr"/>
              <a:r>
                <a:rPr lang="en-US" b="1" dirty="0">
                  <a:solidFill>
                    <a:schemeClr val="bg1"/>
                  </a:solidFill>
                </a:rPr>
                <a:t>What?</a:t>
              </a:r>
            </a:p>
          </p:txBody>
        </p:sp>
        <p:cxnSp>
          <p:nvCxnSpPr>
            <p:cNvPr id="17" name="Straight Arrow Connector 16">
              <a:extLst>
                <a:ext uri="{FF2B5EF4-FFF2-40B4-BE49-F238E27FC236}">
                  <a16:creationId xmlns:a16="http://schemas.microsoft.com/office/drawing/2014/main" id="{D127EF2D-883B-61FA-5AB3-BC7511B2CBD9}"/>
                </a:ext>
              </a:extLst>
            </p:cNvPr>
            <p:cNvCxnSpPr>
              <a:cxnSpLocks/>
              <a:stCxn id="16" idx="2"/>
            </p:cNvCxnSpPr>
            <p:nvPr/>
          </p:nvCxnSpPr>
          <p:spPr>
            <a:xfrm flipH="1">
              <a:off x="11210194" y="3083010"/>
              <a:ext cx="1" cy="373163"/>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E9F1B45A-7C04-72D5-D501-A4EAB4D1CE55}"/>
              </a:ext>
            </a:extLst>
          </p:cNvPr>
          <p:cNvGrpSpPr/>
          <p:nvPr/>
        </p:nvGrpSpPr>
        <p:grpSpPr>
          <a:xfrm>
            <a:off x="2562224" y="2054151"/>
            <a:ext cx="1314449" cy="742495"/>
            <a:chOff x="10742719" y="2713678"/>
            <a:chExt cx="1314449" cy="742495"/>
          </a:xfrm>
        </p:grpSpPr>
        <p:sp>
          <p:nvSpPr>
            <p:cNvPr id="26" name="TextBox 25">
              <a:extLst>
                <a:ext uri="{FF2B5EF4-FFF2-40B4-BE49-F238E27FC236}">
                  <a16:creationId xmlns:a16="http://schemas.microsoft.com/office/drawing/2014/main" id="{E8F6486A-1F7D-FF17-E2BC-7ED79AE91E5B}"/>
                </a:ext>
              </a:extLst>
            </p:cNvPr>
            <p:cNvSpPr txBox="1"/>
            <p:nvPr/>
          </p:nvSpPr>
          <p:spPr>
            <a:xfrm>
              <a:off x="10742719" y="2713678"/>
              <a:ext cx="1314449" cy="369332"/>
            </a:xfrm>
            <a:prstGeom prst="rect">
              <a:avLst/>
            </a:prstGeom>
            <a:solidFill>
              <a:srgbClr val="0070C0"/>
            </a:solidFill>
          </p:spPr>
          <p:txBody>
            <a:bodyPr wrap="square" rtlCol="0">
              <a:spAutoFit/>
            </a:bodyPr>
            <a:lstStyle/>
            <a:p>
              <a:pPr algn="ctr"/>
              <a:r>
                <a:rPr lang="en-US" b="1" dirty="0">
                  <a:solidFill>
                    <a:schemeClr val="bg1"/>
                  </a:solidFill>
                </a:rPr>
                <a:t>Revision #</a:t>
              </a:r>
            </a:p>
          </p:txBody>
        </p:sp>
        <p:cxnSp>
          <p:nvCxnSpPr>
            <p:cNvPr id="27" name="Straight Arrow Connector 26">
              <a:extLst>
                <a:ext uri="{FF2B5EF4-FFF2-40B4-BE49-F238E27FC236}">
                  <a16:creationId xmlns:a16="http://schemas.microsoft.com/office/drawing/2014/main" id="{D3D56E08-2F4F-A8D7-200E-2CB3D6DEA8F7}"/>
                </a:ext>
              </a:extLst>
            </p:cNvPr>
            <p:cNvCxnSpPr>
              <a:cxnSpLocks/>
            </p:cNvCxnSpPr>
            <p:nvPr/>
          </p:nvCxnSpPr>
          <p:spPr>
            <a:xfrm>
              <a:off x="11386673" y="3082048"/>
              <a:ext cx="0" cy="374125"/>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00BA17F7-16AC-5486-2C89-2053AEA83CCD}"/>
              </a:ext>
            </a:extLst>
          </p:cNvPr>
          <p:cNvGrpSpPr/>
          <p:nvPr/>
        </p:nvGrpSpPr>
        <p:grpSpPr>
          <a:xfrm>
            <a:off x="7319245" y="2052236"/>
            <a:ext cx="934949" cy="739617"/>
            <a:chOff x="10742720" y="2713678"/>
            <a:chExt cx="934949" cy="737713"/>
          </a:xfrm>
        </p:grpSpPr>
        <p:sp>
          <p:nvSpPr>
            <p:cNvPr id="32" name="TextBox 31">
              <a:extLst>
                <a:ext uri="{FF2B5EF4-FFF2-40B4-BE49-F238E27FC236}">
                  <a16:creationId xmlns:a16="http://schemas.microsoft.com/office/drawing/2014/main" id="{B6DD916C-00D8-4DD2-22F6-82414C464760}"/>
                </a:ext>
              </a:extLst>
            </p:cNvPr>
            <p:cNvSpPr txBox="1"/>
            <p:nvPr/>
          </p:nvSpPr>
          <p:spPr>
            <a:xfrm>
              <a:off x="10742720" y="2713678"/>
              <a:ext cx="934949" cy="369332"/>
            </a:xfrm>
            <a:prstGeom prst="rect">
              <a:avLst/>
            </a:prstGeom>
            <a:solidFill>
              <a:srgbClr val="0070C0"/>
            </a:solidFill>
          </p:spPr>
          <p:txBody>
            <a:bodyPr wrap="square" rtlCol="0">
              <a:spAutoFit/>
            </a:bodyPr>
            <a:lstStyle/>
            <a:p>
              <a:pPr algn="ctr"/>
              <a:r>
                <a:rPr lang="en-US" b="1" dirty="0">
                  <a:solidFill>
                    <a:schemeClr val="bg1"/>
                  </a:solidFill>
                </a:rPr>
                <a:t>When?</a:t>
              </a:r>
            </a:p>
          </p:txBody>
        </p:sp>
        <p:cxnSp>
          <p:nvCxnSpPr>
            <p:cNvPr id="33" name="Straight Arrow Connector 32">
              <a:extLst>
                <a:ext uri="{FF2B5EF4-FFF2-40B4-BE49-F238E27FC236}">
                  <a16:creationId xmlns:a16="http://schemas.microsoft.com/office/drawing/2014/main" id="{B77539A1-B072-C6E5-9301-5AB9BE2A9019}"/>
                </a:ext>
              </a:extLst>
            </p:cNvPr>
            <p:cNvCxnSpPr>
              <a:cxnSpLocks/>
              <a:stCxn id="32" idx="2"/>
            </p:cNvCxnSpPr>
            <p:nvPr/>
          </p:nvCxnSpPr>
          <p:spPr>
            <a:xfrm>
              <a:off x="11210195" y="3083010"/>
              <a:ext cx="233330" cy="368381"/>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7" name="TextBox 6">
            <a:hlinkClick r:id="rId4"/>
            <a:extLst>
              <a:ext uri="{FF2B5EF4-FFF2-40B4-BE49-F238E27FC236}">
                <a16:creationId xmlns:a16="http://schemas.microsoft.com/office/drawing/2014/main" id="{FB0F3BA3-1342-14EB-FBD3-86CD68920558}"/>
              </a:ext>
            </a:extLst>
          </p:cNvPr>
          <p:cNvSpPr txBox="1"/>
          <p:nvPr/>
        </p:nvSpPr>
        <p:spPr>
          <a:xfrm>
            <a:off x="6853556" y="6311026"/>
            <a:ext cx="2332988" cy="230832"/>
          </a:xfrm>
          <a:prstGeom prst="rect">
            <a:avLst/>
          </a:prstGeom>
          <a:noFill/>
        </p:spPr>
        <p:txBody>
          <a:bodyPr wrap="square" rtlCol="0">
            <a:spAutoFit/>
          </a:bodyPr>
          <a:lstStyle/>
          <a:p>
            <a:pPr algn="r"/>
            <a:r>
              <a:rPr lang="en-US" sz="900" dirty="0"/>
              <a:t>(PD) U.S. Gov – NAVEDTRA14040A, 2015 </a:t>
            </a:r>
          </a:p>
        </p:txBody>
      </p:sp>
    </p:spTree>
    <p:extLst>
      <p:ext uri="{BB962C8B-B14F-4D97-AF65-F5344CB8AC3E}">
        <p14:creationId xmlns:p14="http://schemas.microsoft.com/office/powerpoint/2010/main" val="133895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0E017FE-B9E9-9AD7-EC30-145585CF3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2C672-6A28-5720-D808-15051EA72536}"/>
              </a:ext>
            </a:extLst>
          </p:cNvPr>
          <p:cNvSpPr>
            <a:spLocks noGrp="1"/>
          </p:cNvSpPr>
          <p:nvPr>
            <p:ph type="title"/>
          </p:nvPr>
        </p:nvSpPr>
        <p:spPr>
          <a:xfrm>
            <a:off x="365760" y="365760"/>
            <a:ext cx="10515600" cy="877824"/>
          </a:xfrm>
        </p:spPr>
        <p:txBody>
          <a:bodyPr/>
          <a:lstStyle/>
          <a:p>
            <a:r>
              <a:rPr lang="en-US" dirty="0"/>
              <a:t>Picture Area</a:t>
            </a:r>
          </a:p>
        </p:txBody>
      </p:sp>
      <p:sp>
        <p:nvSpPr>
          <p:cNvPr id="3" name="Content Placeholder 2">
            <a:extLst>
              <a:ext uri="{FF2B5EF4-FFF2-40B4-BE49-F238E27FC236}">
                <a16:creationId xmlns:a16="http://schemas.microsoft.com/office/drawing/2014/main" id="{63802BCF-95C3-D03A-6371-994BE923A936}"/>
              </a:ext>
            </a:extLst>
          </p:cNvPr>
          <p:cNvSpPr>
            <a:spLocks noGrp="1"/>
          </p:cNvSpPr>
          <p:nvPr>
            <p:ph idx="1"/>
          </p:nvPr>
        </p:nvSpPr>
        <p:spPr>
          <a:xfrm>
            <a:off x="611161" y="1483104"/>
            <a:ext cx="11152213" cy="1321742"/>
          </a:xfrm>
        </p:spPr>
        <p:txBody>
          <a:bodyPr>
            <a:normAutofit/>
          </a:bodyPr>
          <a:lstStyle/>
          <a:p>
            <a:r>
              <a:rPr lang="en-US" dirty="0"/>
              <a:t>“The Object” - Where Detail, Assembly, or Installation diagrams reside</a:t>
            </a:r>
          </a:p>
          <a:p>
            <a:r>
              <a:rPr lang="en-US" dirty="0"/>
              <a:t>Lines, words, and symbols used</a:t>
            </a:r>
          </a:p>
          <a:p>
            <a:pPr lvl="1"/>
            <a:endParaRPr lang="en-US" dirty="0"/>
          </a:p>
        </p:txBody>
      </p:sp>
      <p:grpSp>
        <p:nvGrpSpPr>
          <p:cNvPr id="10" name="Group 9">
            <a:extLst>
              <a:ext uri="{FF2B5EF4-FFF2-40B4-BE49-F238E27FC236}">
                <a16:creationId xmlns:a16="http://schemas.microsoft.com/office/drawing/2014/main" id="{4DE2AEC1-A73B-E900-CE2E-FF2487EB42E1}"/>
              </a:ext>
            </a:extLst>
          </p:cNvPr>
          <p:cNvGrpSpPr/>
          <p:nvPr/>
        </p:nvGrpSpPr>
        <p:grpSpPr>
          <a:xfrm>
            <a:off x="735851" y="2768356"/>
            <a:ext cx="5293874" cy="3809088"/>
            <a:chOff x="611159" y="2924221"/>
            <a:chExt cx="5293874" cy="3809088"/>
          </a:xfrm>
        </p:grpSpPr>
        <p:sp>
          <p:nvSpPr>
            <p:cNvPr id="6" name="Rectangle 5">
              <a:extLst>
                <a:ext uri="{FF2B5EF4-FFF2-40B4-BE49-F238E27FC236}">
                  <a16:creationId xmlns:a16="http://schemas.microsoft.com/office/drawing/2014/main" id="{FCDBFC9C-FDE0-DB09-F750-D993811EE726}"/>
                </a:ext>
              </a:extLst>
            </p:cNvPr>
            <p:cNvSpPr/>
            <p:nvPr/>
          </p:nvSpPr>
          <p:spPr>
            <a:xfrm>
              <a:off x="611160" y="2931710"/>
              <a:ext cx="5293873" cy="3801599"/>
            </a:xfrm>
            <a:prstGeom prst="rect">
              <a:avLst/>
            </a:prstGeom>
            <a:solidFill>
              <a:schemeClr val="bg1"/>
            </a:solidFill>
            <a:ln w="9525">
              <a:solidFill>
                <a:schemeClr val="bg1">
                  <a:lumMod val="65000"/>
                </a:schemeClr>
              </a:solidFill>
            </a:ln>
            <a:effectLst>
              <a:outerShdw blurRad="50800" dist="889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6D41061-BA26-8908-2AC8-48293E9568D2}"/>
                </a:ext>
              </a:extLst>
            </p:cNvPr>
            <p:cNvPicPr>
              <a:picLocks noChangeAspect="1"/>
            </p:cNvPicPr>
            <p:nvPr/>
          </p:nvPicPr>
          <p:blipFill>
            <a:blip r:embed="rId3"/>
            <a:stretch>
              <a:fillRect/>
            </a:stretch>
          </p:blipFill>
          <p:spPr>
            <a:xfrm>
              <a:off x="621552" y="3267075"/>
              <a:ext cx="5259287" cy="3364480"/>
            </a:xfrm>
            <a:prstGeom prst="rect">
              <a:avLst/>
            </a:prstGeom>
          </p:spPr>
        </p:pic>
        <p:sp>
          <p:nvSpPr>
            <p:cNvPr id="4" name="TextBox 3">
              <a:extLst>
                <a:ext uri="{FF2B5EF4-FFF2-40B4-BE49-F238E27FC236}">
                  <a16:creationId xmlns:a16="http://schemas.microsoft.com/office/drawing/2014/main" id="{A1CD652F-BE21-A874-9130-6B948A376F85}"/>
                </a:ext>
              </a:extLst>
            </p:cNvPr>
            <p:cNvSpPr txBox="1"/>
            <p:nvPr/>
          </p:nvSpPr>
          <p:spPr>
            <a:xfrm>
              <a:off x="611159" y="2924221"/>
              <a:ext cx="5293873" cy="369332"/>
            </a:xfrm>
            <a:prstGeom prst="rect">
              <a:avLst/>
            </a:prstGeom>
            <a:solidFill>
              <a:srgbClr val="0070C0"/>
            </a:solidFill>
          </p:spPr>
          <p:txBody>
            <a:bodyPr wrap="square" rtlCol="0">
              <a:spAutoFit/>
            </a:bodyPr>
            <a:lstStyle/>
            <a:p>
              <a:pPr algn="ctr"/>
              <a:r>
                <a:rPr lang="en-US" b="1" dirty="0">
                  <a:solidFill>
                    <a:schemeClr val="bg1"/>
                  </a:solidFill>
                </a:rPr>
                <a:t>Top View</a:t>
              </a:r>
            </a:p>
          </p:txBody>
        </p:sp>
      </p:grpSp>
      <p:grpSp>
        <p:nvGrpSpPr>
          <p:cNvPr id="11" name="Group 10">
            <a:extLst>
              <a:ext uri="{FF2B5EF4-FFF2-40B4-BE49-F238E27FC236}">
                <a16:creationId xmlns:a16="http://schemas.microsoft.com/office/drawing/2014/main" id="{9677EB9A-C51F-32E4-F2EE-79C7F2967A85}"/>
              </a:ext>
            </a:extLst>
          </p:cNvPr>
          <p:cNvGrpSpPr/>
          <p:nvPr/>
        </p:nvGrpSpPr>
        <p:grpSpPr>
          <a:xfrm>
            <a:off x="6220693" y="2768356"/>
            <a:ext cx="5293873" cy="3801599"/>
            <a:chOff x="6096001" y="2924221"/>
            <a:chExt cx="5293873" cy="3801599"/>
          </a:xfrm>
        </p:grpSpPr>
        <p:sp>
          <p:nvSpPr>
            <p:cNvPr id="8" name="Rectangle 7">
              <a:extLst>
                <a:ext uri="{FF2B5EF4-FFF2-40B4-BE49-F238E27FC236}">
                  <a16:creationId xmlns:a16="http://schemas.microsoft.com/office/drawing/2014/main" id="{80483169-8128-CB34-4F20-40878382290F}"/>
                </a:ext>
              </a:extLst>
            </p:cNvPr>
            <p:cNvSpPr/>
            <p:nvPr/>
          </p:nvSpPr>
          <p:spPr>
            <a:xfrm>
              <a:off x="6096001" y="2924221"/>
              <a:ext cx="5293873" cy="3801599"/>
            </a:xfrm>
            <a:prstGeom prst="rect">
              <a:avLst/>
            </a:prstGeom>
            <a:solidFill>
              <a:schemeClr val="bg1"/>
            </a:solidFill>
            <a:ln w="9525">
              <a:solidFill>
                <a:schemeClr val="bg1">
                  <a:lumMod val="65000"/>
                </a:schemeClr>
              </a:solidFill>
            </a:ln>
            <a:effectLst>
              <a:outerShdw blurRad="50800" dist="889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4EDFCF1-3F2D-137D-1606-7E23F6B6DCAB}"/>
                </a:ext>
              </a:extLst>
            </p:cNvPr>
            <p:cNvPicPr>
              <a:picLocks noChangeAspect="1"/>
            </p:cNvPicPr>
            <p:nvPr/>
          </p:nvPicPr>
          <p:blipFill>
            <a:blip r:embed="rId4"/>
            <a:stretch>
              <a:fillRect/>
            </a:stretch>
          </p:blipFill>
          <p:spPr>
            <a:xfrm>
              <a:off x="6127173" y="4053155"/>
              <a:ext cx="5262701" cy="1778095"/>
            </a:xfrm>
            <a:prstGeom prst="rect">
              <a:avLst/>
            </a:prstGeom>
          </p:spPr>
        </p:pic>
        <p:sp>
          <p:nvSpPr>
            <p:cNvPr id="5" name="TextBox 4">
              <a:extLst>
                <a:ext uri="{FF2B5EF4-FFF2-40B4-BE49-F238E27FC236}">
                  <a16:creationId xmlns:a16="http://schemas.microsoft.com/office/drawing/2014/main" id="{B3A8B9B4-99BF-DE20-4D1E-FDF9E39E15A4}"/>
                </a:ext>
              </a:extLst>
            </p:cNvPr>
            <p:cNvSpPr txBox="1"/>
            <p:nvPr/>
          </p:nvSpPr>
          <p:spPr>
            <a:xfrm>
              <a:off x="6096001" y="2931710"/>
              <a:ext cx="5293873" cy="369332"/>
            </a:xfrm>
            <a:prstGeom prst="rect">
              <a:avLst/>
            </a:prstGeom>
            <a:solidFill>
              <a:srgbClr val="0070C0"/>
            </a:solidFill>
          </p:spPr>
          <p:txBody>
            <a:bodyPr wrap="square" rtlCol="0">
              <a:spAutoFit/>
            </a:bodyPr>
            <a:lstStyle/>
            <a:p>
              <a:pPr algn="ctr"/>
              <a:r>
                <a:rPr lang="en-US" b="1" dirty="0">
                  <a:solidFill>
                    <a:schemeClr val="bg1"/>
                  </a:solidFill>
                </a:rPr>
                <a:t>Right View</a:t>
              </a:r>
            </a:p>
          </p:txBody>
        </p:sp>
      </p:grpSp>
      <p:sp>
        <p:nvSpPr>
          <p:cNvPr id="14" name="TextBox 13">
            <a:hlinkClick r:id="rId5"/>
            <a:extLst>
              <a:ext uri="{FF2B5EF4-FFF2-40B4-BE49-F238E27FC236}">
                <a16:creationId xmlns:a16="http://schemas.microsoft.com/office/drawing/2014/main" id="{87663E7D-6A62-32CD-BCEF-ED5AC9158E4D}"/>
              </a:ext>
            </a:extLst>
          </p:cNvPr>
          <p:cNvSpPr txBox="1"/>
          <p:nvPr/>
        </p:nvSpPr>
        <p:spPr>
          <a:xfrm>
            <a:off x="3696736" y="6611517"/>
            <a:ext cx="2332988" cy="230832"/>
          </a:xfrm>
          <a:prstGeom prst="rect">
            <a:avLst/>
          </a:prstGeom>
          <a:noFill/>
        </p:spPr>
        <p:txBody>
          <a:bodyPr wrap="square" rtlCol="0">
            <a:spAutoFit/>
          </a:bodyPr>
          <a:lstStyle/>
          <a:p>
            <a:pPr algn="r"/>
            <a:r>
              <a:rPr lang="en-US" sz="900" dirty="0"/>
              <a:t>(PD) U.S. Gov – NAVEDTRA14040A, 2015 </a:t>
            </a:r>
          </a:p>
        </p:txBody>
      </p:sp>
      <p:sp>
        <p:nvSpPr>
          <p:cNvPr id="15" name="TextBox 14">
            <a:hlinkClick r:id="rId5"/>
            <a:extLst>
              <a:ext uri="{FF2B5EF4-FFF2-40B4-BE49-F238E27FC236}">
                <a16:creationId xmlns:a16="http://schemas.microsoft.com/office/drawing/2014/main" id="{831F4BB7-4B15-4CD1-D905-F54895A96AB6}"/>
              </a:ext>
            </a:extLst>
          </p:cNvPr>
          <p:cNvSpPr txBox="1"/>
          <p:nvPr/>
        </p:nvSpPr>
        <p:spPr>
          <a:xfrm>
            <a:off x="9181578" y="6599763"/>
            <a:ext cx="2332988" cy="230832"/>
          </a:xfrm>
          <a:prstGeom prst="rect">
            <a:avLst/>
          </a:prstGeom>
          <a:noFill/>
        </p:spPr>
        <p:txBody>
          <a:bodyPr wrap="square" rtlCol="0">
            <a:spAutoFit/>
          </a:bodyPr>
          <a:lstStyle/>
          <a:p>
            <a:pPr algn="r"/>
            <a:r>
              <a:rPr lang="en-US" sz="900" dirty="0"/>
              <a:t>(PD) U.S. Gov – NAVEDTRA14040A, 2015 </a:t>
            </a:r>
          </a:p>
        </p:txBody>
      </p:sp>
    </p:spTree>
    <p:extLst>
      <p:ext uri="{BB962C8B-B14F-4D97-AF65-F5344CB8AC3E}">
        <p14:creationId xmlns:p14="http://schemas.microsoft.com/office/powerpoint/2010/main" val="274200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F8DA0DE-4D7B-8E8A-05EB-408DACA39BA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FFB86AD-7447-734C-EFFA-913794F3100A}"/>
              </a:ext>
            </a:extLst>
          </p:cNvPr>
          <p:cNvPicPr>
            <a:picLocks noChangeAspect="1"/>
          </p:cNvPicPr>
          <p:nvPr/>
        </p:nvPicPr>
        <p:blipFill>
          <a:blip r:embed="rId3"/>
          <a:stretch>
            <a:fillRect/>
          </a:stretch>
        </p:blipFill>
        <p:spPr>
          <a:xfrm>
            <a:off x="1350781" y="2644757"/>
            <a:ext cx="9688689" cy="3841702"/>
          </a:xfrm>
          <a:prstGeom prst="rect">
            <a:avLst/>
          </a:prstGeom>
        </p:spPr>
      </p:pic>
      <p:sp>
        <p:nvSpPr>
          <p:cNvPr id="2" name="Title 1">
            <a:extLst>
              <a:ext uri="{FF2B5EF4-FFF2-40B4-BE49-F238E27FC236}">
                <a16:creationId xmlns:a16="http://schemas.microsoft.com/office/drawing/2014/main" id="{365FDDE7-3CE8-CCAC-32BA-8B1D36E4141D}"/>
              </a:ext>
            </a:extLst>
          </p:cNvPr>
          <p:cNvSpPr>
            <a:spLocks noGrp="1"/>
          </p:cNvSpPr>
          <p:nvPr>
            <p:ph type="title"/>
          </p:nvPr>
        </p:nvSpPr>
        <p:spPr>
          <a:xfrm>
            <a:off x="365760" y="365760"/>
            <a:ext cx="10515600" cy="877824"/>
          </a:xfrm>
        </p:spPr>
        <p:txBody>
          <a:bodyPr/>
          <a:lstStyle/>
          <a:p>
            <a:r>
              <a:rPr lang="en-US" dirty="0"/>
              <a:t>Parts List</a:t>
            </a:r>
          </a:p>
        </p:txBody>
      </p:sp>
      <p:sp>
        <p:nvSpPr>
          <p:cNvPr id="3" name="Content Placeholder 2">
            <a:extLst>
              <a:ext uri="{FF2B5EF4-FFF2-40B4-BE49-F238E27FC236}">
                <a16:creationId xmlns:a16="http://schemas.microsoft.com/office/drawing/2014/main" id="{8E2C515A-E8AD-00E5-A840-DBBD50C7344F}"/>
              </a:ext>
            </a:extLst>
          </p:cNvPr>
          <p:cNvSpPr>
            <a:spLocks noGrp="1"/>
          </p:cNvSpPr>
          <p:nvPr>
            <p:ph idx="1"/>
          </p:nvPr>
        </p:nvSpPr>
        <p:spPr>
          <a:xfrm>
            <a:off x="611162" y="1483103"/>
            <a:ext cx="10958538" cy="5123179"/>
          </a:xfrm>
        </p:spPr>
        <p:txBody>
          <a:bodyPr>
            <a:normAutofit/>
          </a:bodyPr>
          <a:lstStyle/>
          <a:p>
            <a:pPr marL="0" indent="0">
              <a:buNone/>
            </a:pPr>
            <a:br>
              <a:rPr lang="en-US" dirty="0"/>
            </a:br>
            <a:endParaRPr lang="en-US" dirty="0"/>
          </a:p>
          <a:p>
            <a:pPr lvl="1"/>
            <a:endParaRPr lang="en-US" dirty="0"/>
          </a:p>
        </p:txBody>
      </p:sp>
      <p:grpSp>
        <p:nvGrpSpPr>
          <p:cNvPr id="4" name="Group 3">
            <a:extLst>
              <a:ext uri="{FF2B5EF4-FFF2-40B4-BE49-F238E27FC236}">
                <a16:creationId xmlns:a16="http://schemas.microsoft.com/office/drawing/2014/main" id="{A9E98AE9-9F97-95DE-22EE-632FCA720F68}"/>
              </a:ext>
            </a:extLst>
          </p:cNvPr>
          <p:cNvGrpSpPr/>
          <p:nvPr/>
        </p:nvGrpSpPr>
        <p:grpSpPr>
          <a:xfrm>
            <a:off x="4873451" y="1570370"/>
            <a:ext cx="1501074" cy="1892822"/>
            <a:chOff x="9616420" y="1505069"/>
            <a:chExt cx="1501074" cy="1892822"/>
          </a:xfrm>
        </p:grpSpPr>
        <p:sp>
          <p:nvSpPr>
            <p:cNvPr id="5" name="TextBox 4">
              <a:extLst>
                <a:ext uri="{FF2B5EF4-FFF2-40B4-BE49-F238E27FC236}">
                  <a16:creationId xmlns:a16="http://schemas.microsoft.com/office/drawing/2014/main" id="{FB26DD90-B9D2-F81C-D964-96A59132544E}"/>
                </a:ext>
              </a:extLst>
            </p:cNvPr>
            <p:cNvSpPr txBox="1"/>
            <p:nvPr/>
          </p:nvSpPr>
          <p:spPr>
            <a:xfrm>
              <a:off x="9616420" y="1505069"/>
              <a:ext cx="1501074" cy="369332"/>
            </a:xfrm>
            <a:prstGeom prst="rect">
              <a:avLst/>
            </a:prstGeom>
            <a:solidFill>
              <a:srgbClr val="0070C0"/>
            </a:solidFill>
          </p:spPr>
          <p:txBody>
            <a:bodyPr wrap="square" rtlCol="0">
              <a:spAutoFit/>
            </a:bodyPr>
            <a:lstStyle/>
            <a:p>
              <a:pPr algn="ctr"/>
              <a:r>
                <a:rPr lang="en-US" b="1" dirty="0">
                  <a:solidFill>
                    <a:schemeClr val="bg1"/>
                  </a:solidFill>
                </a:rPr>
                <a:t>Part Number</a:t>
              </a:r>
            </a:p>
          </p:txBody>
        </p:sp>
        <p:cxnSp>
          <p:nvCxnSpPr>
            <p:cNvPr id="13" name="Straight Arrow Connector 12">
              <a:extLst>
                <a:ext uri="{FF2B5EF4-FFF2-40B4-BE49-F238E27FC236}">
                  <a16:creationId xmlns:a16="http://schemas.microsoft.com/office/drawing/2014/main" id="{B231D458-22B8-4ED8-2FB9-A9640BA10555}"/>
                </a:ext>
              </a:extLst>
            </p:cNvPr>
            <p:cNvCxnSpPr>
              <a:cxnSpLocks/>
              <a:stCxn id="5" idx="2"/>
            </p:cNvCxnSpPr>
            <p:nvPr/>
          </p:nvCxnSpPr>
          <p:spPr>
            <a:xfrm>
              <a:off x="10366957" y="1874401"/>
              <a:ext cx="0" cy="1523490"/>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AB313FF0-52B7-450D-0629-75B13A3BF906}"/>
              </a:ext>
            </a:extLst>
          </p:cNvPr>
          <p:cNvGrpSpPr/>
          <p:nvPr/>
        </p:nvGrpSpPr>
        <p:grpSpPr>
          <a:xfrm>
            <a:off x="3481015" y="1574036"/>
            <a:ext cx="1323975" cy="1889156"/>
            <a:chOff x="9730720" y="1994224"/>
            <a:chExt cx="1323975" cy="1889156"/>
          </a:xfrm>
        </p:grpSpPr>
        <p:sp>
          <p:nvSpPr>
            <p:cNvPr id="12" name="TextBox 11">
              <a:extLst>
                <a:ext uri="{FF2B5EF4-FFF2-40B4-BE49-F238E27FC236}">
                  <a16:creationId xmlns:a16="http://schemas.microsoft.com/office/drawing/2014/main" id="{267AE0C7-DF26-C66B-81B8-26E9281392D2}"/>
                </a:ext>
              </a:extLst>
            </p:cNvPr>
            <p:cNvSpPr txBox="1"/>
            <p:nvPr/>
          </p:nvSpPr>
          <p:spPr>
            <a:xfrm>
              <a:off x="9730720" y="1994224"/>
              <a:ext cx="1323975" cy="369332"/>
            </a:xfrm>
            <a:prstGeom prst="rect">
              <a:avLst/>
            </a:prstGeom>
            <a:solidFill>
              <a:srgbClr val="0070C0"/>
            </a:solidFill>
          </p:spPr>
          <p:txBody>
            <a:bodyPr wrap="square" rtlCol="0">
              <a:spAutoFit/>
            </a:bodyPr>
            <a:lstStyle/>
            <a:p>
              <a:pPr algn="ctr"/>
              <a:r>
                <a:rPr lang="en-US" b="1" dirty="0">
                  <a:solidFill>
                    <a:schemeClr val="bg1"/>
                  </a:solidFill>
                </a:rPr>
                <a:t>Material</a:t>
              </a:r>
            </a:p>
          </p:txBody>
        </p:sp>
        <p:cxnSp>
          <p:nvCxnSpPr>
            <p:cNvPr id="14" name="Straight Arrow Connector 13">
              <a:extLst>
                <a:ext uri="{FF2B5EF4-FFF2-40B4-BE49-F238E27FC236}">
                  <a16:creationId xmlns:a16="http://schemas.microsoft.com/office/drawing/2014/main" id="{EE59E8C9-184D-2997-8EA5-4D6C5F65087C}"/>
                </a:ext>
              </a:extLst>
            </p:cNvPr>
            <p:cNvCxnSpPr>
              <a:cxnSpLocks/>
              <a:stCxn id="12" idx="2"/>
            </p:cNvCxnSpPr>
            <p:nvPr/>
          </p:nvCxnSpPr>
          <p:spPr>
            <a:xfrm>
              <a:off x="10392708" y="2363556"/>
              <a:ext cx="0" cy="151982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9C2BAD25-FB09-3BB8-A342-8DB00CA1A00C}"/>
              </a:ext>
            </a:extLst>
          </p:cNvPr>
          <p:cNvGrpSpPr/>
          <p:nvPr/>
        </p:nvGrpSpPr>
        <p:grpSpPr>
          <a:xfrm>
            <a:off x="4279925" y="2099371"/>
            <a:ext cx="1207141" cy="1363821"/>
            <a:chOff x="9947263" y="1994224"/>
            <a:chExt cx="1207141" cy="1363821"/>
          </a:xfrm>
        </p:grpSpPr>
        <p:sp>
          <p:nvSpPr>
            <p:cNvPr id="21" name="TextBox 20">
              <a:extLst>
                <a:ext uri="{FF2B5EF4-FFF2-40B4-BE49-F238E27FC236}">
                  <a16:creationId xmlns:a16="http://schemas.microsoft.com/office/drawing/2014/main" id="{6D9DBEE6-354A-F7EA-3C18-D711AABF26F3}"/>
                </a:ext>
              </a:extLst>
            </p:cNvPr>
            <p:cNvSpPr txBox="1"/>
            <p:nvPr/>
          </p:nvSpPr>
          <p:spPr>
            <a:xfrm>
              <a:off x="9947263" y="1994224"/>
              <a:ext cx="1207141" cy="369332"/>
            </a:xfrm>
            <a:prstGeom prst="rect">
              <a:avLst/>
            </a:prstGeom>
            <a:solidFill>
              <a:srgbClr val="0070C0"/>
            </a:solidFill>
          </p:spPr>
          <p:txBody>
            <a:bodyPr wrap="square" rtlCol="0">
              <a:spAutoFit/>
            </a:bodyPr>
            <a:lstStyle/>
            <a:p>
              <a:pPr algn="ctr"/>
              <a:r>
                <a:rPr lang="en-US" b="1" dirty="0">
                  <a:solidFill>
                    <a:schemeClr val="bg1"/>
                  </a:solidFill>
                </a:rPr>
                <a:t>Qty </a:t>
              </a:r>
              <a:r>
                <a:rPr lang="en-US" b="1" dirty="0" err="1">
                  <a:solidFill>
                    <a:schemeClr val="bg1"/>
                  </a:solidFill>
                </a:rPr>
                <a:t>Req’d</a:t>
              </a:r>
              <a:endParaRPr lang="en-US" b="1" dirty="0">
                <a:solidFill>
                  <a:schemeClr val="bg1"/>
                </a:solidFill>
              </a:endParaRPr>
            </a:p>
          </p:txBody>
        </p:sp>
        <p:cxnSp>
          <p:nvCxnSpPr>
            <p:cNvPr id="22" name="Straight Arrow Connector 21">
              <a:extLst>
                <a:ext uri="{FF2B5EF4-FFF2-40B4-BE49-F238E27FC236}">
                  <a16:creationId xmlns:a16="http://schemas.microsoft.com/office/drawing/2014/main" id="{B3DA696A-14E2-4ECD-E1C7-4C2591442BAF}"/>
                </a:ext>
              </a:extLst>
            </p:cNvPr>
            <p:cNvCxnSpPr>
              <a:cxnSpLocks/>
              <a:stCxn id="21" idx="2"/>
            </p:cNvCxnSpPr>
            <p:nvPr/>
          </p:nvCxnSpPr>
          <p:spPr>
            <a:xfrm flipH="1">
              <a:off x="10540790" y="2363556"/>
              <a:ext cx="10044" cy="994489"/>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8FFA503F-1D04-BD31-F562-B73D6ADA0397}"/>
              </a:ext>
            </a:extLst>
          </p:cNvPr>
          <p:cNvGrpSpPr/>
          <p:nvPr/>
        </p:nvGrpSpPr>
        <p:grpSpPr>
          <a:xfrm>
            <a:off x="2331024" y="2099371"/>
            <a:ext cx="1323975" cy="1373346"/>
            <a:chOff x="9730720" y="1994224"/>
            <a:chExt cx="1323975" cy="1373346"/>
          </a:xfrm>
        </p:grpSpPr>
        <p:sp>
          <p:nvSpPr>
            <p:cNvPr id="35" name="TextBox 34">
              <a:extLst>
                <a:ext uri="{FF2B5EF4-FFF2-40B4-BE49-F238E27FC236}">
                  <a16:creationId xmlns:a16="http://schemas.microsoft.com/office/drawing/2014/main" id="{F7AA6BD9-312C-3A02-DF36-FF342695B45D}"/>
                </a:ext>
              </a:extLst>
            </p:cNvPr>
            <p:cNvSpPr txBox="1"/>
            <p:nvPr/>
          </p:nvSpPr>
          <p:spPr>
            <a:xfrm>
              <a:off x="9730720" y="1994224"/>
              <a:ext cx="1323975" cy="369332"/>
            </a:xfrm>
            <a:prstGeom prst="rect">
              <a:avLst/>
            </a:prstGeom>
            <a:solidFill>
              <a:srgbClr val="0070C0"/>
            </a:solidFill>
          </p:spPr>
          <p:txBody>
            <a:bodyPr wrap="square" rtlCol="0">
              <a:spAutoFit/>
            </a:bodyPr>
            <a:lstStyle/>
            <a:p>
              <a:pPr algn="ctr"/>
              <a:r>
                <a:rPr lang="en-US" b="1" dirty="0">
                  <a:solidFill>
                    <a:schemeClr val="bg1"/>
                  </a:solidFill>
                </a:rPr>
                <a:t>Part Name</a:t>
              </a:r>
            </a:p>
          </p:txBody>
        </p:sp>
        <p:cxnSp>
          <p:nvCxnSpPr>
            <p:cNvPr id="36" name="Straight Arrow Connector 35">
              <a:extLst>
                <a:ext uri="{FF2B5EF4-FFF2-40B4-BE49-F238E27FC236}">
                  <a16:creationId xmlns:a16="http://schemas.microsoft.com/office/drawing/2014/main" id="{1E49F23D-80D2-AAF7-F1DE-4BD944920AFD}"/>
                </a:ext>
              </a:extLst>
            </p:cNvPr>
            <p:cNvCxnSpPr>
              <a:cxnSpLocks/>
              <a:stCxn id="35" idx="2"/>
            </p:cNvCxnSpPr>
            <p:nvPr/>
          </p:nvCxnSpPr>
          <p:spPr>
            <a:xfrm>
              <a:off x="10392708" y="2363556"/>
              <a:ext cx="0" cy="100401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52A95247-4C0B-6305-87F5-9396BEBBC313}"/>
              </a:ext>
            </a:extLst>
          </p:cNvPr>
          <p:cNvGrpSpPr/>
          <p:nvPr/>
        </p:nvGrpSpPr>
        <p:grpSpPr>
          <a:xfrm>
            <a:off x="5760910" y="2089846"/>
            <a:ext cx="1323975" cy="1373346"/>
            <a:chOff x="9730720" y="1994224"/>
            <a:chExt cx="1323975" cy="1373346"/>
          </a:xfrm>
        </p:grpSpPr>
        <p:sp>
          <p:nvSpPr>
            <p:cNvPr id="38" name="TextBox 37">
              <a:extLst>
                <a:ext uri="{FF2B5EF4-FFF2-40B4-BE49-F238E27FC236}">
                  <a16:creationId xmlns:a16="http://schemas.microsoft.com/office/drawing/2014/main" id="{AC87FDEF-F802-260F-AC70-7256A7E4A052}"/>
                </a:ext>
              </a:extLst>
            </p:cNvPr>
            <p:cNvSpPr txBox="1"/>
            <p:nvPr/>
          </p:nvSpPr>
          <p:spPr>
            <a:xfrm>
              <a:off x="9730720" y="1994224"/>
              <a:ext cx="1323975" cy="369332"/>
            </a:xfrm>
            <a:prstGeom prst="rect">
              <a:avLst/>
            </a:prstGeom>
            <a:solidFill>
              <a:srgbClr val="0070C0"/>
            </a:solidFill>
          </p:spPr>
          <p:txBody>
            <a:bodyPr wrap="square" rtlCol="0">
              <a:spAutoFit/>
            </a:bodyPr>
            <a:lstStyle/>
            <a:p>
              <a:pPr algn="ctr"/>
              <a:r>
                <a:rPr lang="en-US" b="1" dirty="0">
                  <a:solidFill>
                    <a:schemeClr val="bg1"/>
                  </a:solidFill>
                </a:rPr>
                <a:t>Finish</a:t>
              </a:r>
            </a:p>
          </p:txBody>
        </p:sp>
        <p:cxnSp>
          <p:nvCxnSpPr>
            <p:cNvPr id="39" name="Straight Arrow Connector 38">
              <a:extLst>
                <a:ext uri="{FF2B5EF4-FFF2-40B4-BE49-F238E27FC236}">
                  <a16:creationId xmlns:a16="http://schemas.microsoft.com/office/drawing/2014/main" id="{E4884B5A-9E33-B761-997D-A430E91EBA0C}"/>
                </a:ext>
              </a:extLst>
            </p:cNvPr>
            <p:cNvCxnSpPr>
              <a:cxnSpLocks/>
              <a:stCxn id="38" idx="2"/>
            </p:cNvCxnSpPr>
            <p:nvPr/>
          </p:nvCxnSpPr>
          <p:spPr>
            <a:xfrm>
              <a:off x="10392708" y="2363556"/>
              <a:ext cx="0" cy="100401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sp>
        <p:nvSpPr>
          <p:cNvPr id="9" name="TextBox 8">
            <a:extLst>
              <a:ext uri="{FF2B5EF4-FFF2-40B4-BE49-F238E27FC236}">
                <a16:creationId xmlns:a16="http://schemas.microsoft.com/office/drawing/2014/main" id="{B314E8C6-187F-DEA6-DF0C-949CC67D5E1F}"/>
              </a:ext>
            </a:extLst>
          </p:cNvPr>
          <p:cNvSpPr txBox="1"/>
          <p:nvPr/>
        </p:nvSpPr>
        <p:spPr>
          <a:xfrm>
            <a:off x="9382990" y="6315538"/>
            <a:ext cx="1656479"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266839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37C0E-EEC5-961B-1430-42A9D1201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EE621-4739-B8E6-6CFF-5B3FA1AEC842}"/>
              </a:ext>
            </a:extLst>
          </p:cNvPr>
          <p:cNvSpPr>
            <a:spLocks noGrp="1"/>
          </p:cNvSpPr>
          <p:nvPr>
            <p:ph type="title"/>
          </p:nvPr>
        </p:nvSpPr>
        <p:spPr>
          <a:xfrm>
            <a:off x="365760" y="365760"/>
            <a:ext cx="10515600" cy="877824"/>
          </a:xfrm>
        </p:spPr>
        <p:txBody>
          <a:bodyPr/>
          <a:lstStyle/>
          <a:p>
            <a:r>
              <a:rPr lang="en-US" dirty="0"/>
              <a:t>Bill of Materials</a:t>
            </a:r>
          </a:p>
        </p:txBody>
      </p:sp>
      <p:sp>
        <p:nvSpPr>
          <p:cNvPr id="3" name="Content Placeholder 2">
            <a:extLst>
              <a:ext uri="{FF2B5EF4-FFF2-40B4-BE49-F238E27FC236}">
                <a16:creationId xmlns:a16="http://schemas.microsoft.com/office/drawing/2014/main" id="{6D8A27F5-5846-D2A9-EF1A-A4D79850273F}"/>
              </a:ext>
            </a:extLst>
          </p:cNvPr>
          <p:cNvSpPr>
            <a:spLocks noGrp="1"/>
          </p:cNvSpPr>
          <p:nvPr>
            <p:ph idx="1"/>
          </p:nvPr>
        </p:nvSpPr>
        <p:spPr>
          <a:xfrm>
            <a:off x="611162" y="1483103"/>
            <a:ext cx="10958538" cy="5123179"/>
          </a:xfrm>
        </p:spPr>
        <p:txBody>
          <a:bodyPr>
            <a:normAutofit/>
          </a:bodyPr>
          <a:lstStyle/>
          <a:p>
            <a:pPr marL="0" indent="0">
              <a:buNone/>
            </a:pPr>
            <a:br>
              <a:rPr lang="en-US" dirty="0"/>
            </a:br>
            <a:endParaRPr lang="en-US" dirty="0"/>
          </a:p>
          <a:p>
            <a:pPr lvl="1"/>
            <a:endParaRPr lang="en-US" dirty="0"/>
          </a:p>
        </p:txBody>
      </p:sp>
      <p:pic>
        <p:nvPicPr>
          <p:cNvPr id="8" name="Picture 7">
            <a:extLst>
              <a:ext uri="{FF2B5EF4-FFF2-40B4-BE49-F238E27FC236}">
                <a16:creationId xmlns:a16="http://schemas.microsoft.com/office/drawing/2014/main" id="{B4DB417A-BC89-DF11-CBAC-AE02C70AF7DC}"/>
              </a:ext>
            </a:extLst>
          </p:cNvPr>
          <p:cNvPicPr>
            <a:picLocks noChangeAspect="1"/>
          </p:cNvPicPr>
          <p:nvPr/>
        </p:nvPicPr>
        <p:blipFill>
          <a:blip r:embed="rId3"/>
          <a:stretch>
            <a:fillRect/>
          </a:stretch>
        </p:blipFill>
        <p:spPr>
          <a:xfrm>
            <a:off x="2863568" y="1599615"/>
            <a:ext cx="6453726" cy="4890153"/>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5" name="TextBox 4">
            <a:hlinkClick r:id="rId4"/>
            <a:extLst>
              <a:ext uri="{FF2B5EF4-FFF2-40B4-BE49-F238E27FC236}">
                <a16:creationId xmlns:a16="http://schemas.microsoft.com/office/drawing/2014/main" id="{BB8A2CF4-9AB3-CCBB-A903-F3249F44F4F9}"/>
              </a:ext>
            </a:extLst>
          </p:cNvPr>
          <p:cNvSpPr txBox="1"/>
          <p:nvPr/>
        </p:nvSpPr>
        <p:spPr>
          <a:xfrm rot="16200000">
            <a:off x="8277354" y="5476470"/>
            <a:ext cx="2332988" cy="230832"/>
          </a:xfrm>
          <a:prstGeom prst="rect">
            <a:avLst/>
          </a:prstGeom>
          <a:noFill/>
        </p:spPr>
        <p:txBody>
          <a:bodyPr wrap="square" rtlCol="0">
            <a:spAutoFit/>
          </a:bodyPr>
          <a:lstStyle/>
          <a:p>
            <a:pPr algn="r"/>
            <a:r>
              <a:rPr lang="en-US" sz="900" dirty="0"/>
              <a:t>(PD) U.S. Gov – NAVEDTRA14040A, 2015 </a:t>
            </a:r>
          </a:p>
        </p:txBody>
      </p:sp>
    </p:spTree>
    <p:extLst>
      <p:ext uri="{BB962C8B-B14F-4D97-AF65-F5344CB8AC3E}">
        <p14:creationId xmlns:p14="http://schemas.microsoft.com/office/powerpoint/2010/main" val="1059965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a:extLst>
            <a:ext uri="{FF2B5EF4-FFF2-40B4-BE49-F238E27FC236}">
              <a16:creationId xmlns:a16="http://schemas.microsoft.com/office/drawing/2014/main" id="{1BFB3722-E8C5-B055-0DE2-2DE88321B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7C5D7-7889-F21D-E935-20EAF6B4392D}"/>
              </a:ext>
            </a:extLst>
          </p:cNvPr>
          <p:cNvSpPr>
            <a:spLocks noGrp="1"/>
          </p:cNvSpPr>
          <p:nvPr>
            <p:ph type="ctrTitle"/>
          </p:nvPr>
        </p:nvSpPr>
        <p:spPr>
          <a:xfrm>
            <a:off x="1052512" y="3038420"/>
            <a:ext cx="10086975" cy="781160"/>
          </a:xfrm>
        </p:spPr>
        <p:txBody>
          <a:bodyPr>
            <a:normAutofit/>
          </a:bodyPr>
          <a:lstStyle/>
          <a:p>
            <a:r>
              <a:rPr lang="en-US" sz="4800" b="1" dirty="0">
                <a:solidFill>
                  <a:schemeClr val="bg1"/>
                </a:solidFill>
              </a:rPr>
              <a:t>Blueprint Terminology</a:t>
            </a:r>
          </a:p>
        </p:txBody>
      </p:sp>
    </p:spTree>
    <p:extLst>
      <p:ext uri="{BB962C8B-B14F-4D97-AF65-F5344CB8AC3E}">
        <p14:creationId xmlns:p14="http://schemas.microsoft.com/office/powerpoint/2010/main" val="150168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26BBBEE-43E3-9737-2605-5D0B296BF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47EFC-FDE3-F840-A63D-B539928D520E}"/>
              </a:ext>
            </a:extLst>
          </p:cNvPr>
          <p:cNvSpPr>
            <a:spLocks noGrp="1"/>
          </p:cNvSpPr>
          <p:nvPr>
            <p:ph type="title"/>
          </p:nvPr>
        </p:nvSpPr>
        <p:spPr>
          <a:xfrm>
            <a:off x="365760" y="365760"/>
            <a:ext cx="10515600" cy="877824"/>
          </a:xfrm>
        </p:spPr>
        <p:txBody>
          <a:bodyPr/>
          <a:lstStyle/>
          <a:p>
            <a:r>
              <a:rPr lang="en-US" dirty="0"/>
              <a:t>Common Drawing Elements</a:t>
            </a:r>
          </a:p>
        </p:txBody>
      </p:sp>
      <p:grpSp>
        <p:nvGrpSpPr>
          <p:cNvPr id="9" name="Group 8">
            <a:extLst>
              <a:ext uri="{FF2B5EF4-FFF2-40B4-BE49-F238E27FC236}">
                <a16:creationId xmlns:a16="http://schemas.microsoft.com/office/drawing/2014/main" id="{A0C23B8F-1BA5-B763-2683-AF9E2B93AE9D}"/>
              </a:ext>
            </a:extLst>
          </p:cNvPr>
          <p:cNvGrpSpPr/>
          <p:nvPr/>
        </p:nvGrpSpPr>
        <p:grpSpPr>
          <a:xfrm>
            <a:off x="697302" y="1430160"/>
            <a:ext cx="2101070" cy="469006"/>
            <a:chOff x="697302" y="1430160"/>
            <a:chExt cx="2101070" cy="469006"/>
          </a:xfrm>
        </p:grpSpPr>
        <p:sp>
          <p:nvSpPr>
            <p:cNvPr id="26" name="TextBox 25">
              <a:extLst>
                <a:ext uri="{FF2B5EF4-FFF2-40B4-BE49-F238E27FC236}">
                  <a16:creationId xmlns:a16="http://schemas.microsoft.com/office/drawing/2014/main" id="{2D3FAF6D-4786-FE84-BC21-FFA835F710BE}"/>
                </a:ext>
              </a:extLst>
            </p:cNvPr>
            <p:cNvSpPr txBox="1"/>
            <p:nvPr/>
          </p:nvSpPr>
          <p:spPr>
            <a:xfrm>
              <a:off x="697302" y="1529834"/>
              <a:ext cx="1729593" cy="369332"/>
            </a:xfrm>
            <a:prstGeom prst="rect">
              <a:avLst/>
            </a:prstGeom>
            <a:solidFill>
              <a:srgbClr val="0070C0"/>
            </a:solidFill>
          </p:spPr>
          <p:txBody>
            <a:bodyPr wrap="square" rtlCol="0">
              <a:spAutoFit/>
            </a:bodyPr>
            <a:lstStyle/>
            <a:p>
              <a:pPr algn="r"/>
              <a:r>
                <a:rPr lang="en-US" b="1" dirty="0">
                  <a:solidFill>
                    <a:schemeClr val="bg1"/>
                  </a:solidFill>
                </a:rPr>
                <a:t>Point:</a:t>
              </a:r>
            </a:p>
          </p:txBody>
        </p:sp>
        <p:sp>
          <p:nvSpPr>
            <p:cNvPr id="8" name="TextBox 7">
              <a:extLst>
                <a:ext uri="{FF2B5EF4-FFF2-40B4-BE49-F238E27FC236}">
                  <a16:creationId xmlns:a16="http://schemas.microsoft.com/office/drawing/2014/main" id="{6DB4B810-AF9D-5DD6-7C85-1084A971ECE6}"/>
                </a:ext>
              </a:extLst>
            </p:cNvPr>
            <p:cNvSpPr txBox="1"/>
            <p:nvPr/>
          </p:nvSpPr>
          <p:spPr>
            <a:xfrm>
              <a:off x="2569772" y="1430160"/>
              <a:ext cx="228600" cy="461665"/>
            </a:xfrm>
            <a:prstGeom prst="rect">
              <a:avLst/>
            </a:prstGeom>
            <a:noFill/>
          </p:spPr>
          <p:txBody>
            <a:bodyPr wrap="square" rtlCol="0">
              <a:spAutoFit/>
            </a:bodyPr>
            <a:lstStyle/>
            <a:p>
              <a:pPr algn="ctr"/>
              <a:r>
                <a:rPr lang="en-US" sz="2400" b="1" dirty="0"/>
                <a:t>.</a:t>
              </a:r>
            </a:p>
          </p:txBody>
        </p:sp>
      </p:grpSp>
      <p:grpSp>
        <p:nvGrpSpPr>
          <p:cNvPr id="1046" name="Group 1045">
            <a:extLst>
              <a:ext uri="{FF2B5EF4-FFF2-40B4-BE49-F238E27FC236}">
                <a16:creationId xmlns:a16="http://schemas.microsoft.com/office/drawing/2014/main" id="{8BEA6DDB-667A-D865-DE3E-C8F598326CDE}"/>
              </a:ext>
            </a:extLst>
          </p:cNvPr>
          <p:cNvGrpSpPr/>
          <p:nvPr/>
        </p:nvGrpSpPr>
        <p:grpSpPr>
          <a:xfrm>
            <a:off x="695325" y="2129212"/>
            <a:ext cx="2998397" cy="369332"/>
            <a:chOff x="695325" y="2129212"/>
            <a:chExt cx="2998397" cy="369332"/>
          </a:xfrm>
        </p:grpSpPr>
        <p:sp>
          <p:nvSpPr>
            <p:cNvPr id="10" name="TextBox 9">
              <a:extLst>
                <a:ext uri="{FF2B5EF4-FFF2-40B4-BE49-F238E27FC236}">
                  <a16:creationId xmlns:a16="http://schemas.microsoft.com/office/drawing/2014/main" id="{B8FBED36-E685-02FA-53FD-8008278840B7}"/>
                </a:ext>
              </a:extLst>
            </p:cNvPr>
            <p:cNvSpPr txBox="1"/>
            <p:nvPr/>
          </p:nvSpPr>
          <p:spPr>
            <a:xfrm>
              <a:off x="695325" y="2129212"/>
              <a:ext cx="1729594" cy="369332"/>
            </a:xfrm>
            <a:prstGeom prst="rect">
              <a:avLst/>
            </a:prstGeom>
            <a:solidFill>
              <a:srgbClr val="0070C0"/>
            </a:solidFill>
          </p:spPr>
          <p:txBody>
            <a:bodyPr wrap="square" rtlCol="0">
              <a:spAutoFit/>
            </a:bodyPr>
            <a:lstStyle/>
            <a:p>
              <a:pPr algn="r"/>
              <a:r>
                <a:rPr lang="en-US" b="1" dirty="0">
                  <a:solidFill>
                    <a:schemeClr val="bg1"/>
                  </a:solidFill>
                </a:rPr>
                <a:t>Straight Line:</a:t>
              </a:r>
            </a:p>
          </p:txBody>
        </p:sp>
        <p:cxnSp>
          <p:nvCxnSpPr>
            <p:cNvPr id="12" name="Straight Connector 11">
              <a:extLst>
                <a:ext uri="{FF2B5EF4-FFF2-40B4-BE49-F238E27FC236}">
                  <a16:creationId xmlns:a16="http://schemas.microsoft.com/office/drawing/2014/main" id="{2FAB1D9E-BDCA-A121-756D-D63B3F949DE5}"/>
                </a:ext>
              </a:extLst>
            </p:cNvPr>
            <p:cNvCxnSpPr>
              <a:cxnSpLocks/>
            </p:cNvCxnSpPr>
            <p:nvPr/>
          </p:nvCxnSpPr>
          <p:spPr>
            <a:xfrm>
              <a:off x="2569772" y="2234348"/>
              <a:ext cx="1123950" cy="14768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45" name="Group 1044">
            <a:extLst>
              <a:ext uri="{FF2B5EF4-FFF2-40B4-BE49-F238E27FC236}">
                <a16:creationId xmlns:a16="http://schemas.microsoft.com/office/drawing/2014/main" id="{D914D40A-7872-5699-6699-5823131C03A3}"/>
              </a:ext>
            </a:extLst>
          </p:cNvPr>
          <p:cNvGrpSpPr/>
          <p:nvPr/>
        </p:nvGrpSpPr>
        <p:grpSpPr>
          <a:xfrm>
            <a:off x="695325" y="2728590"/>
            <a:ext cx="2998397" cy="369332"/>
            <a:chOff x="695325" y="2728590"/>
            <a:chExt cx="2998397" cy="369332"/>
          </a:xfrm>
        </p:grpSpPr>
        <p:sp>
          <p:nvSpPr>
            <p:cNvPr id="14" name="TextBox 13">
              <a:extLst>
                <a:ext uri="{FF2B5EF4-FFF2-40B4-BE49-F238E27FC236}">
                  <a16:creationId xmlns:a16="http://schemas.microsoft.com/office/drawing/2014/main" id="{4DACBE9D-6F22-A47B-575E-B0CD8E36AF28}"/>
                </a:ext>
              </a:extLst>
            </p:cNvPr>
            <p:cNvSpPr txBox="1"/>
            <p:nvPr/>
          </p:nvSpPr>
          <p:spPr>
            <a:xfrm>
              <a:off x="695325" y="2728590"/>
              <a:ext cx="1729594" cy="369332"/>
            </a:xfrm>
            <a:prstGeom prst="rect">
              <a:avLst/>
            </a:prstGeom>
            <a:solidFill>
              <a:srgbClr val="0070C0"/>
            </a:solidFill>
          </p:spPr>
          <p:txBody>
            <a:bodyPr wrap="square" rtlCol="0">
              <a:spAutoFit/>
            </a:bodyPr>
            <a:lstStyle/>
            <a:p>
              <a:pPr algn="r"/>
              <a:r>
                <a:rPr lang="en-US" b="1" dirty="0">
                  <a:solidFill>
                    <a:schemeClr val="bg1"/>
                  </a:solidFill>
                </a:rPr>
                <a:t>Curved Line:</a:t>
              </a:r>
            </a:p>
          </p:txBody>
        </p:sp>
        <p:sp>
          <p:nvSpPr>
            <p:cNvPr id="18" name="Freeform: Shape 17">
              <a:extLst>
                <a:ext uri="{FF2B5EF4-FFF2-40B4-BE49-F238E27FC236}">
                  <a16:creationId xmlns:a16="http://schemas.microsoft.com/office/drawing/2014/main" id="{AC6A9293-4FCC-ECD6-E5F4-8EDC8E4111D0}"/>
                </a:ext>
              </a:extLst>
            </p:cNvPr>
            <p:cNvSpPr/>
            <p:nvPr/>
          </p:nvSpPr>
          <p:spPr>
            <a:xfrm>
              <a:off x="2569772" y="2851000"/>
              <a:ext cx="1123950" cy="124511"/>
            </a:xfrm>
            <a:custGeom>
              <a:avLst/>
              <a:gdLst>
                <a:gd name="csX0" fmla="*/ 0 w 1123950"/>
                <a:gd name="csY0" fmla="*/ 0 h 9525"/>
                <a:gd name="csX1" fmla="*/ 542925 w 1123950"/>
                <a:gd name="csY1" fmla="*/ 0 h 9525"/>
                <a:gd name="csX2" fmla="*/ 1123950 w 1123950"/>
                <a:gd name="csY2" fmla="*/ 9525 h 9525"/>
                <a:gd name="csX3" fmla="*/ 1123950 w 1123950"/>
                <a:gd name="csY3" fmla="*/ 9525 h 9525"/>
                <a:gd name="csX0" fmla="*/ 0 w 10000"/>
                <a:gd name="csY0" fmla="*/ 0 h 130000"/>
                <a:gd name="csX1" fmla="*/ 4746 w 10000"/>
                <a:gd name="csY1" fmla="*/ 130000 h 130000"/>
                <a:gd name="csX2" fmla="*/ 10000 w 10000"/>
                <a:gd name="csY2" fmla="*/ 10000 h 130000"/>
                <a:gd name="csX3" fmla="*/ 10000 w 10000"/>
                <a:gd name="csY3" fmla="*/ 10000 h 130000"/>
                <a:gd name="csX0" fmla="*/ 0 w 10000"/>
                <a:gd name="csY0" fmla="*/ 0 h 130000"/>
                <a:gd name="csX1" fmla="*/ 4746 w 10000"/>
                <a:gd name="csY1" fmla="*/ 130000 h 130000"/>
                <a:gd name="csX2" fmla="*/ 10000 w 10000"/>
                <a:gd name="csY2" fmla="*/ 10000 h 130000"/>
                <a:gd name="csX3" fmla="*/ 10000 w 10000"/>
                <a:gd name="csY3" fmla="*/ 10000 h 130000"/>
                <a:gd name="csX0" fmla="*/ 0 w 10000"/>
                <a:gd name="csY0" fmla="*/ 0 h 137703"/>
                <a:gd name="csX1" fmla="*/ 4746 w 10000"/>
                <a:gd name="csY1" fmla="*/ 130000 h 137703"/>
                <a:gd name="csX2" fmla="*/ 10000 w 10000"/>
                <a:gd name="csY2" fmla="*/ 10000 h 137703"/>
                <a:gd name="csX3" fmla="*/ 10000 w 10000"/>
                <a:gd name="csY3" fmla="*/ 10000 h 137703"/>
                <a:gd name="csX0" fmla="*/ 0 w 10000"/>
                <a:gd name="csY0" fmla="*/ 0 h 137703"/>
                <a:gd name="csX1" fmla="*/ 4746 w 10000"/>
                <a:gd name="csY1" fmla="*/ 130000 h 137703"/>
                <a:gd name="csX2" fmla="*/ 10000 w 10000"/>
                <a:gd name="csY2" fmla="*/ 10000 h 137703"/>
                <a:gd name="csX3" fmla="*/ 10000 w 10000"/>
                <a:gd name="csY3" fmla="*/ 10000 h 137703"/>
                <a:gd name="csX0" fmla="*/ 0 w 10000"/>
                <a:gd name="csY0" fmla="*/ 0 h 130720"/>
                <a:gd name="csX1" fmla="*/ 4746 w 10000"/>
                <a:gd name="csY1" fmla="*/ 130000 h 130720"/>
                <a:gd name="csX2" fmla="*/ 10000 w 10000"/>
                <a:gd name="csY2" fmla="*/ 10000 h 130720"/>
                <a:gd name="csX3" fmla="*/ 10000 w 10000"/>
                <a:gd name="csY3" fmla="*/ 10000 h 130720"/>
              </a:gdLst>
              <a:ahLst/>
              <a:cxnLst>
                <a:cxn ang="0">
                  <a:pos x="csX0" y="csY0"/>
                </a:cxn>
                <a:cxn ang="0">
                  <a:pos x="csX1" y="csY1"/>
                </a:cxn>
                <a:cxn ang="0">
                  <a:pos x="csX2" y="csY2"/>
                </a:cxn>
                <a:cxn ang="0">
                  <a:pos x="csX3" y="csY3"/>
                </a:cxn>
              </a:cxnLst>
              <a:rect l="l" t="t" r="r" b="b"/>
              <a:pathLst>
                <a:path w="10000" h="130720">
                  <a:moveTo>
                    <a:pt x="0" y="0"/>
                  </a:moveTo>
                  <a:cubicBezTo>
                    <a:pt x="1582" y="43333"/>
                    <a:pt x="2741" y="140000"/>
                    <a:pt x="4746" y="130000"/>
                  </a:cubicBezTo>
                  <a:cubicBezTo>
                    <a:pt x="6751" y="120000"/>
                    <a:pt x="9124" y="30000"/>
                    <a:pt x="10000" y="10000"/>
                  </a:cubicBezTo>
                  <a:lnTo>
                    <a:pt x="10000" y="1000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4" name="Group 1043">
            <a:extLst>
              <a:ext uri="{FF2B5EF4-FFF2-40B4-BE49-F238E27FC236}">
                <a16:creationId xmlns:a16="http://schemas.microsoft.com/office/drawing/2014/main" id="{82DBF71E-B099-F76C-4FDC-B3B49ACA4692}"/>
              </a:ext>
            </a:extLst>
          </p:cNvPr>
          <p:cNvGrpSpPr/>
          <p:nvPr/>
        </p:nvGrpSpPr>
        <p:grpSpPr>
          <a:xfrm>
            <a:off x="695325" y="3327968"/>
            <a:ext cx="3084122" cy="369332"/>
            <a:chOff x="695325" y="3327968"/>
            <a:chExt cx="3084122" cy="369332"/>
          </a:xfrm>
        </p:grpSpPr>
        <p:sp>
          <p:nvSpPr>
            <p:cNvPr id="20" name="TextBox 19">
              <a:extLst>
                <a:ext uri="{FF2B5EF4-FFF2-40B4-BE49-F238E27FC236}">
                  <a16:creationId xmlns:a16="http://schemas.microsoft.com/office/drawing/2014/main" id="{41D570BF-1B69-DBCA-CF08-BCDAF6B577B3}"/>
                </a:ext>
              </a:extLst>
            </p:cNvPr>
            <p:cNvSpPr txBox="1"/>
            <p:nvPr/>
          </p:nvSpPr>
          <p:spPr>
            <a:xfrm>
              <a:off x="695325" y="3327968"/>
              <a:ext cx="1729594" cy="369332"/>
            </a:xfrm>
            <a:prstGeom prst="rect">
              <a:avLst/>
            </a:prstGeom>
            <a:solidFill>
              <a:srgbClr val="0070C0"/>
            </a:solidFill>
          </p:spPr>
          <p:txBody>
            <a:bodyPr wrap="square" rtlCol="0">
              <a:spAutoFit/>
            </a:bodyPr>
            <a:lstStyle/>
            <a:p>
              <a:pPr algn="r"/>
              <a:r>
                <a:rPr lang="en-US" b="1" dirty="0">
                  <a:solidFill>
                    <a:schemeClr val="bg1"/>
                  </a:solidFill>
                </a:rPr>
                <a:t>Broken Line:</a:t>
              </a:r>
            </a:p>
          </p:txBody>
        </p:sp>
        <p:sp>
          <p:nvSpPr>
            <p:cNvPr id="22" name="Freeform: Shape 21">
              <a:extLst>
                <a:ext uri="{FF2B5EF4-FFF2-40B4-BE49-F238E27FC236}">
                  <a16:creationId xmlns:a16="http://schemas.microsoft.com/office/drawing/2014/main" id="{ACFC4FCC-20B7-2A07-E338-7BE752215C8F}"/>
                </a:ext>
              </a:extLst>
            </p:cNvPr>
            <p:cNvSpPr/>
            <p:nvPr/>
          </p:nvSpPr>
          <p:spPr>
            <a:xfrm>
              <a:off x="2569772" y="3354452"/>
              <a:ext cx="1209675" cy="285750"/>
            </a:xfrm>
            <a:custGeom>
              <a:avLst/>
              <a:gdLst>
                <a:gd name="csX0" fmla="*/ 0 w 1209675"/>
                <a:gd name="csY0" fmla="*/ 247650 h 285750"/>
                <a:gd name="csX1" fmla="*/ 247650 w 1209675"/>
                <a:gd name="csY1" fmla="*/ 0 h 285750"/>
                <a:gd name="csX2" fmla="*/ 514350 w 1209675"/>
                <a:gd name="csY2" fmla="*/ 285750 h 285750"/>
                <a:gd name="csX3" fmla="*/ 561975 w 1209675"/>
                <a:gd name="csY3" fmla="*/ 9525 h 285750"/>
                <a:gd name="csX4" fmla="*/ 1209675 w 1209675"/>
                <a:gd name="csY4" fmla="*/ 209550 h 285750"/>
                <a:gd name="csX5" fmla="*/ 1123950 w 1209675"/>
                <a:gd name="csY5" fmla="*/ 38100 h 285750"/>
              </a:gdLst>
              <a:ahLst/>
              <a:cxnLst>
                <a:cxn ang="0">
                  <a:pos x="csX0" y="csY0"/>
                </a:cxn>
                <a:cxn ang="0">
                  <a:pos x="csX1" y="csY1"/>
                </a:cxn>
                <a:cxn ang="0">
                  <a:pos x="csX2" y="csY2"/>
                </a:cxn>
                <a:cxn ang="0">
                  <a:pos x="csX3" y="csY3"/>
                </a:cxn>
                <a:cxn ang="0">
                  <a:pos x="csX4" y="csY4"/>
                </a:cxn>
                <a:cxn ang="0">
                  <a:pos x="csX5" y="csY5"/>
                </a:cxn>
              </a:cxnLst>
              <a:rect l="l" t="t" r="r" b="b"/>
              <a:pathLst>
                <a:path w="1209675" h="285750">
                  <a:moveTo>
                    <a:pt x="0" y="247650"/>
                  </a:moveTo>
                  <a:lnTo>
                    <a:pt x="247650" y="0"/>
                  </a:lnTo>
                  <a:lnTo>
                    <a:pt x="514350" y="285750"/>
                  </a:lnTo>
                  <a:lnTo>
                    <a:pt x="561975" y="9525"/>
                  </a:lnTo>
                  <a:lnTo>
                    <a:pt x="1209675" y="209550"/>
                  </a:lnTo>
                  <a:lnTo>
                    <a:pt x="1123950" y="3810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7" name="Group 1046">
            <a:extLst>
              <a:ext uri="{FF2B5EF4-FFF2-40B4-BE49-F238E27FC236}">
                <a16:creationId xmlns:a16="http://schemas.microsoft.com/office/drawing/2014/main" id="{6FC0EEA6-7197-6086-4E9D-CDEC8B4E2E8D}"/>
              </a:ext>
            </a:extLst>
          </p:cNvPr>
          <p:cNvGrpSpPr/>
          <p:nvPr/>
        </p:nvGrpSpPr>
        <p:grpSpPr>
          <a:xfrm>
            <a:off x="693635" y="5996707"/>
            <a:ext cx="3436547" cy="552969"/>
            <a:chOff x="695325" y="5628342"/>
            <a:chExt cx="3436547" cy="552969"/>
          </a:xfrm>
        </p:grpSpPr>
        <p:sp>
          <p:nvSpPr>
            <p:cNvPr id="24" name="TextBox 23">
              <a:extLst>
                <a:ext uri="{FF2B5EF4-FFF2-40B4-BE49-F238E27FC236}">
                  <a16:creationId xmlns:a16="http://schemas.microsoft.com/office/drawing/2014/main" id="{16F45111-13F6-51FC-ED68-7C526C321723}"/>
                </a:ext>
              </a:extLst>
            </p:cNvPr>
            <p:cNvSpPr txBox="1"/>
            <p:nvPr/>
          </p:nvSpPr>
          <p:spPr>
            <a:xfrm>
              <a:off x="695325" y="5628342"/>
              <a:ext cx="1729594" cy="369332"/>
            </a:xfrm>
            <a:prstGeom prst="rect">
              <a:avLst/>
            </a:prstGeom>
            <a:solidFill>
              <a:srgbClr val="0070C0"/>
            </a:solidFill>
          </p:spPr>
          <p:txBody>
            <a:bodyPr wrap="square" rtlCol="0">
              <a:spAutoFit/>
            </a:bodyPr>
            <a:lstStyle/>
            <a:p>
              <a:pPr algn="r"/>
              <a:r>
                <a:rPr lang="en-US" b="1" dirty="0">
                  <a:solidFill>
                    <a:schemeClr val="bg1"/>
                  </a:solidFill>
                </a:rPr>
                <a:t>Surface:</a:t>
              </a:r>
            </a:p>
          </p:txBody>
        </p:sp>
        <p:sp>
          <p:nvSpPr>
            <p:cNvPr id="29" name="Freeform: Shape 28">
              <a:extLst>
                <a:ext uri="{FF2B5EF4-FFF2-40B4-BE49-F238E27FC236}">
                  <a16:creationId xmlns:a16="http://schemas.microsoft.com/office/drawing/2014/main" id="{5874F056-05F5-3B60-57FC-3A4CB82ABF05}"/>
                </a:ext>
              </a:extLst>
            </p:cNvPr>
            <p:cNvSpPr/>
            <p:nvPr/>
          </p:nvSpPr>
          <p:spPr>
            <a:xfrm>
              <a:off x="2569772" y="5657436"/>
              <a:ext cx="1562100" cy="523875"/>
            </a:xfrm>
            <a:custGeom>
              <a:avLst/>
              <a:gdLst>
                <a:gd name="csX0" fmla="*/ 381000 w 1562100"/>
                <a:gd name="csY0" fmla="*/ 0 h 561975"/>
                <a:gd name="csX1" fmla="*/ 0 w 1562100"/>
                <a:gd name="csY1" fmla="*/ 561975 h 561975"/>
                <a:gd name="csX2" fmla="*/ 1266825 w 1562100"/>
                <a:gd name="csY2" fmla="*/ 561975 h 561975"/>
                <a:gd name="csX3" fmla="*/ 1562100 w 1562100"/>
                <a:gd name="csY3" fmla="*/ 38100 h 561975"/>
                <a:gd name="csX4" fmla="*/ 381000 w 1562100"/>
                <a:gd name="csY4" fmla="*/ 0 h 561975"/>
                <a:gd name="csX0" fmla="*/ 384175 w 1562100"/>
                <a:gd name="csY0" fmla="*/ 0 h 523875"/>
                <a:gd name="csX1" fmla="*/ 0 w 1562100"/>
                <a:gd name="csY1" fmla="*/ 523875 h 523875"/>
                <a:gd name="csX2" fmla="*/ 1266825 w 1562100"/>
                <a:gd name="csY2" fmla="*/ 523875 h 523875"/>
                <a:gd name="csX3" fmla="*/ 1562100 w 1562100"/>
                <a:gd name="csY3" fmla="*/ 0 h 523875"/>
                <a:gd name="csX4" fmla="*/ 384175 w 1562100"/>
                <a:gd name="csY4" fmla="*/ 0 h 523875"/>
                <a:gd name="csX0" fmla="*/ 352425 w 1562100"/>
                <a:gd name="csY0" fmla="*/ 0 h 523875"/>
                <a:gd name="csX1" fmla="*/ 0 w 1562100"/>
                <a:gd name="csY1" fmla="*/ 523875 h 523875"/>
                <a:gd name="csX2" fmla="*/ 1266825 w 1562100"/>
                <a:gd name="csY2" fmla="*/ 523875 h 523875"/>
                <a:gd name="csX3" fmla="*/ 1562100 w 1562100"/>
                <a:gd name="csY3" fmla="*/ 0 h 523875"/>
                <a:gd name="csX4" fmla="*/ 352425 w 1562100"/>
                <a:gd name="csY4" fmla="*/ 0 h 523875"/>
                <a:gd name="csX0" fmla="*/ 371475 w 1562100"/>
                <a:gd name="csY0" fmla="*/ 3175 h 523875"/>
                <a:gd name="csX1" fmla="*/ 0 w 1562100"/>
                <a:gd name="csY1" fmla="*/ 523875 h 523875"/>
                <a:gd name="csX2" fmla="*/ 1266825 w 1562100"/>
                <a:gd name="csY2" fmla="*/ 523875 h 523875"/>
                <a:gd name="csX3" fmla="*/ 1562100 w 1562100"/>
                <a:gd name="csY3" fmla="*/ 0 h 523875"/>
                <a:gd name="csX4" fmla="*/ 371475 w 1562100"/>
                <a:gd name="csY4" fmla="*/ 3175 h 523875"/>
              </a:gdLst>
              <a:ahLst/>
              <a:cxnLst>
                <a:cxn ang="0">
                  <a:pos x="csX0" y="csY0"/>
                </a:cxn>
                <a:cxn ang="0">
                  <a:pos x="csX1" y="csY1"/>
                </a:cxn>
                <a:cxn ang="0">
                  <a:pos x="csX2" y="csY2"/>
                </a:cxn>
                <a:cxn ang="0">
                  <a:pos x="csX3" y="csY3"/>
                </a:cxn>
                <a:cxn ang="0">
                  <a:pos x="csX4" y="csY4"/>
                </a:cxn>
              </a:cxnLst>
              <a:rect l="l" t="t" r="r" b="b"/>
              <a:pathLst>
                <a:path w="1562100" h="523875">
                  <a:moveTo>
                    <a:pt x="371475" y="3175"/>
                  </a:moveTo>
                  <a:lnTo>
                    <a:pt x="0" y="523875"/>
                  </a:lnTo>
                  <a:lnTo>
                    <a:pt x="1266825" y="523875"/>
                  </a:lnTo>
                  <a:lnTo>
                    <a:pt x="1562100" y="0"/>
                  </a:lnTo>
                  <a:lnTo>
                    <a:pt x="371475" y="3175"/>
                  </a:lnTo>
                  <a:close/>
                </a:path>
              </a:pathLst>
            </a:custGeom>
            <a:solidFill>
              <a:schemeClr val="tx1">
                <a:lumMod val="50000"/>
                <a:lumOff val="50000"/>
              </a:schemeClr>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778DF34B-C1C0-FAD9-F35D-28766547D110}"/>
              </a:ext>
            </a:extLst>
          </p:cNvPr>
          <p:cNvGrpSpPr/>
          <p:nvPr/>
        </p:nvGrpSpPr>
        <p:grpSpPr>
          <a:xfrm>
            <a:off x="4692536" y="1529834"/>
            <a:ext cx="2612588" cy="1287788"/>
            <a:chOff x="4990486" y="1625467"/>
            <a:chExt cx="2612588" cy="1287788"/>
          </a:xfrm>
        </p:grpSpPr>
        <p:grpSp>
          <p:nvGrpSpPr>
            <p:cNvPr id="39" name="Group 38">
              <a:extLst>
                <a:ext uri="{FF2B5EF4-FFF2-40B4-BE49-F238E27FC236}">
                  <a16:creationId xmlns:a16="http://schemas.microsoft.com/office/drawing/2014/main" id="{5CBCA515-8BFB-90B2-56B9-1788A5030F72}"/>
                </a:ext>
              </a:extLst>
            </p:cNvPr>
            <p:cNvGrpSpPr/>
            <p:nvPr/>
          </p:nvGrpSpPr>
          <p:grpSpPr>
            <a:xfrm>
              <a:off x="5769046" y="1714515"/>
              <a:ext cx="955604" cy="1198740"/>
              <a:chOff x="5835721" y="1430160"/>
              <a:chExt cx="698643" cy="841548"/>
            </a:xfrm>
          </p:grpSpPr>
          <p:sp>
            <p:nvSpPr>
              <p:cNvPr id="38" name="Arc 37">
                <a:extLst>
                  <a:ext uri="{FF2B5EF4-FFF2-40B4-BE49-F238E27FC236}">
                    <a16:creationId xmlns:a16="http://schemas.microsoft.com/office/drawing/2014/main" id="{B94FA243-B38D-9883-9168-73BDF8F94B20}"/>
                  </a:ext>
                </a:extLst>
              </p:cNvPr>
              <p:cNvSpPr/>
              <p:nvPr/>
            </p:nvSpPr>
            <p:spPr>
              <a:xfrm>
                <a:off x="5867400" y="1976453"/>
                <a:ext cx="228600" cy="295255"/>
              </a:xfrm>
              <a:prstGeom prst="arc">
                <a:avLst/>
              </a:prstGeom>
              <a:ln>
                <a:solidFill>
                  <a:srgbClr val="00B0F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35F5BFC9-84A1-3543-3686-B958AE18BE95}"/>
                  </a:ext>
                </a:extLst>
              </p:cNvPr>
              <p:cNvCxnSpPr/>
              <p:nvPr/>
            </p:nvCxnSpPr>
            <p:spPr>
              <a:xfrm flipV="1">
                <a:off x="5835721" y="1430160"/>
                <a:ext cx="698643" cy="69905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C0B5F7EF-AC9B-9E1E-A2BC-2C09C5809401}"/>
                  </a:ext>
                </a:extLst>
              </p:cNvPr>
              <p:cNvCxnSpPr>
                <a:cxnSpLocks/>
              </p:cNvCxnSpPr>
              <p:nvPr/>
            </p:nvCxnSpPr>
            <p:spPr>
              <a:xfrm>
                <a:off x="5835721" y="2129212"/>
                <a:ext cx="69864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1" name="TextBox 40">
              <a:extLst>
                <a:ext uri="{FF2B5EF4-FFF2-40B4-BE49-F238E27FC236}">
                  <a16:creationId xmlns:a16="http://schemas.microsoft.com/office/drawing/2014/main" id="{074481CE-1829-A19E-1545-32EECF65412A}"/>
                </a:ext>
              </a:extLst>
            </p:cNvPr>
            <p:cNvSpPr txBox="1"/>
            <p:nvPr/>
          </p:nvSpPr>
          <p:spPr>
            <a:xfrm>
              <a:off x="6767981" y="2119180"/>
              <a:ext cx="835093" cy="369332"/>
            </a:xfrm>
            <a:prstGeom prst="rect">
              <a:avLst/>
            </a:prstGeom>
            <a:solidFill>
              <a:srgbClr val="0070C0"/>
            </a:solidFill>
          </p:spPr>
          <p:txBody>
            <a:bodyPr wrap="square" rtlCol="0">
              <a:spAutoFit/>
            </a:bodyPr>
            <a:lstStyle/>
            <a:p>
              <a:pPr algn="r"/>
              <a:r>
                <a:rPr lang="en-US" b="1" dirty="0">
                  <a:solidFill>
                    <a:schemeClr val="bg1"/>
                  </a:solidFill>
                </a:rPr>
                <a:t>Angle</a:t>
              </a:r>
            </a:p>
          </p:txBody>
        </p:sp>
        <p:sp>
          <p:nvSpPr>
            <p:cNvPr id="42" name="TextBox 41">
              <a:extLst>
                <a:ext uri="{FF2B5EF4-FFF2-40B4-BE49-F238E27FC236}">
                  <a16:creationId xmlns:a16="http://schemas.microsoft.com/office/drawing/2014/main" id="{BBF24C1D-0AEA-A46F-E736-679EFD841A68}"/>
                </a:ext>
              </a:extLst>
            </p:cNvPr>
            <p:cNvSpPr txBox="1"/>
            <p:nvPr/>
          </p:nvSpPr>
          <p:spPr>
            <a:xfrm>
              <a:off x="4990486" y="1625467"/>
              <a:ext cx="955604" cy="369332"/>
            </a:xfrm>
            <a:prstGeom prst="rect">
              <a:avLst/>
            </a:prstGeom>
            <a:solidFill>
              <a:srgbClr val="0070C0"/>
            </a:solidFill>
          </p:spPr>
          <p:txBody>
            <a:bodyPr wrap="square" rtlCol="0">
              <a:spAutoFit/>
            </a:bodyPr>
            <a:lstStyle/>
            <a:p>
              <a:pPr algn="r"/>
              <a:r>
                <a:rPr lang="en-US" b="1" dirty="0">
                  <a:solidFill>
                    <a:schemeClr val="bg1"/>
                  </a:solidFill>
                </a:rPr>
                <a:t>Vertex</a:t>
              </a:r>
            </a:p>
          </p:txBody>
        </p:sp>
        <p:cxnSp>
          <p:nvCxnSpPr>
            <p:cNvPr id="43" name="Straight Arrow Connector 42">
              <a:extLst>
                <a:ext uri="{FF2B5EF4-FFF2-40B4-BE49-F238E27FC236}">
                  <a16:creationId xmlns:a16="http://schemas.microsoft.com/office/drawing/2014/main" id="{FF163E56-E5AC-E6DC-0C09-FE5620461229}"/>
                </a:ext>
              </a:extLst>
            </p:cNvPr>
            <p:cNvCxnSpPr>
              <a:cxnSpLocks/>
              <a:stCxn id="42" idx="2"/>
            </p:cNvCxnSpPr>
            <p:nvPr/>
          </p:nvCxnSpPr>
          <p:spPr>
            <a:xfrm>
              <a:off x="5468288" y="1994799"/>
              <a:ext cx="300758" cy="715478"/>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7A60B86-EDF3-D383-36A0-FB6FDD841D54}"/>
                </a:ext>
              </a:extLst>
            </p:cNvPr>
            <p:cNvCxnSpPr>
              <a:cxnSpLocks/>
              <a:stCxn id="41" idx="1"/>
            </p:cNvCxnSpPr>
            <p:nvPr/>
          </p:nvCxnSpPr>
          <p:spPr>
            <a:xfrm flipH="1">
              <a:off x="6096000" y="2303846"/>
              <a:ext cx="671981" cy="267904"/>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grpSp>
      <p:grpSp>
        <p:nvGrpSpPr>
          <p:cNvPr id="57" name="Group 56">
            <a:extLst>
              <a:ext uri="{FF2B5EF4-FFF2-40B4-BE49-F238E27FC236}">
                <a16:creationId xmlns:a16="http://schemas.microsoft.com/office/drawing/2014/main" id="{0A824184-A39D-90D5-9D7F-E200A92D7A76}"/>
              </a:ext>
            </a:extLst>
          </p:cNvPr>
          <p:cNvGrpSpPr/>
          <p:nvPr/>
        </p:nvGrpSpPr>
        <p:grpSpPr>
          <a:xfrm>
            <a:off x="8132103" y="1392432"/>
            <a:ext cx="2850972" cy="767342"/>
            <a:chOff x="8132103" y="1392432"/>
            <a:chExt cx="2850972" cy="767342"/>
          </a:xfrm>
        </p:grpSpPr>
        <p:sp>
          <p:nvSpPr>
            <p:cNvPr id="50" name="TextBox 49">
              <a:extLst>
                <a:ext uri="{FF2B5EF4-FFF2-40B4-BE49-F238E27FC236}">
                  <a16:creationId xmlns:a16="http://schemas.microsoft.com/office/drawing/2014/main" id="{0C56F3A7-89FE-86EB-9C96-0A5A5E31E4CC}"/>
                </a:ext>
              </a:extLst>
            </p:cNvPr>
            <p:cNvSpPr txBox="1"/>
            <p:nvPr/>
          </p:nvSpPr>
          <p:spPr>
            <a:xfrm>
              <a:off x="8132103" y="1392432"/>
              <a:ext cx="1729594" cy="369332"/>
            </a:xfrm>
            <a:prstGeom prst="rect">
              <a:avLst/>
            </a:prstGeom>
            <a:solidFill>
              <a:srgbClr val="0070C0"/>
            </a:solidFill>
          </p:spPr>
          <p:txBody>
            <a:bodyPr wrap="square" rtlCol="0">
              <a:spAutoFit/>
            </a:bodyPr>
            <a:lstStyle/>
            <a:p>
              <a:pPr algn="r"/>
              <a:r>
                <a:rPr lang="en-US" b="1" dirty="0">
                  <a:solidFill>
                    <a:schemeClr val="bg1"/>
                  </a:solidFill>
                </a:rPr>
                <a:t>Perpendicular:</a:t>
              </a:r>
            </a:p>
          </p:txBody>
        </p:sp>
        <p:cxnSp>
          <p:nvCxnSpPr>
            <p:cNvPr id="51" name="Straight Connector 50">
              <a:extLst>
                <a:ext uri="{FF2B5EF4-FFF2-40B4-BE49-F238E27FC236}">
                  <a16:creationId xmlns:a16="http://schemas.microsoft.com/office/drawing/2014/main" id="{6B757ECE-1C83-9F7C-215A-891112167A8E}"/>
                </a:ext>
              </a:extLst>
            </p:cNvPr>
            <p:cNvCxnSpPr>
              <a:cxnSpLocks/>
            </p:cNvCxnSpPr>
            <p:nvPr/>
          </p:nvCxnSpPr>
          <p:spPr>
            <a:xfrm>
              <a:off x="10009971" y="1413828"/>
              <a:ext cx="97310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0B06439-4682-7EB0-3118-B3D948E5738F}"/>
                </a:ext>
              </a:extLst>
            </p:cNvPr>
            <p:cNvCxnSpPr>
              <a:cxnSpLocks/>
            </p:cNvCxnSpPr>
            <p:nvPr/>
          </p:nvCxnSpPr>
          <p:spPr>
            <a:xfrm flipV="1">
              <a:off x="10496523" y="1406546"/>
              <a:ext cx="0" cy="75322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B37AA87E-748B-9C69-5449-A7E82AEF1186}"/>
              </a:ext>
            </a:extLst>
          </p:cNvPr>
          <p:cNvGrpSpPr/>
          <p:nvPr/>
        </p:nvGrpSpPr>
        <p:grpSpPr>
          <a:xfrm>
            <a:off x="8132103" y="2463965"/>
            <a:ext cx="2850972" cy="369332"/>
            <a:chOff x="8132103" y="1392432"/>
            <a:chExt cx="2850972" cy="369332"/>
          </a:xfrm>
        </p:grpSpPr>
        <p:sp>
          <p:nvSpPr>
            <p:cNvPr id="59" name="TextBox 58">
              <a:extLst>
                <a:ext uri="{FF2B5EF4-FFF2-40B4-BE49-F238E27FC236}">
                  <a16:creationId xmlns:a16="http://schemas.microsoft.com/office/drawing/2014/main" id="{086262C6-6214-D703-47DA-DF9229643C3E}"/>
                </a:ext>
              </a:extLst>
            </p:cNvPr>
            <p:cNvSpPr txBox="1"/>
            <p:nvPr/>
          </p:nvSpPr>
          <p:spPr>
            <a:xfrm>
              <a:off x="8132103" y="1392432"/>
              <a:ext cx="1729594" cy="369332"/>
            </a:xfrm>
            <a:prstGeom prst="rect">
              <a:avLst/>
            </a:prstGeom>
            <a:solidFill>
              <a:srgbClr val="0070C0"/>
            </a:solidFill>
          </p:spPr>
          <p:txBody>
            <a:bodyPr wrap="square" rtlCol="0">
              <a:spAutoFit/>
            </a:bodyPr>
            <a:lstStyle/>
            <a:p>
              <a:pPr algn="r"/>
              <a:r>
                <a:rPr lang="en-US" b="1" dirty="0">
                  <a:solidFill>
                    <a:schemeClr val="bg1"/>
                  </a:solidFill>
                </a:rPr>
                <a:t>Parallel:</a:t>
              </a:r>
            </a:p>
          </p:txBody>
        </p:sp>
        <p:cxnSp>
          <p:nvCxnSpPr>
            <p:cNvPr id="60" name="Straight Connector 59">
              <a:extLst>
                <a:ext uri="{FF2B5EF4-FFF2-40B4-BE49-F238E27FC236}">
                  <a16:creationId xmlns:a16="http://schemas.microsoft.com/office/drawing/2014/main" id="{1F082B3C-DEA0-EDC6-0467-47FD9587E241}"/>
                </a:ext>
              </a:extLst>
            </p:cNvPr>
            <p:cNvCxnSpPr>
              <a:cxnSpLocks/>
            </p:cNvCxnSpPr>
            <p:nvPr/>
          </p:nvCxnSpPr>
          <p:spPr>
            <a:xfrm>
              <a:off x="10009971" y="1419952"/>
              <a:ext cx="97310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5D4A5253-A9A5-3037-77E2-DF6F96029E4D}"/>
                </a:ext>
              </a:extLst>
            </p:cNvPr>
            <p:cNvCxnSpPr>
              <a:cxnSpLocks/>
            </p:cNvCxnSpPr>
            <p:nvPr/>
          </p:nvCxnSpPr>
          <p:spPr>
            <a:xfrm>
              <a:off x="10009971" y="1627724"/>
              <a:ext cx="973104" cy="1687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35" name="Group 1034">
            <a:extLst>
              <a:ext uri="{FF2B5EF4-FFF2-40B4-BE49-F238E27FC236}">
                <a16:creationId xmlns:a16="http://schemas.microsoft.com/office/drawing/2014/main" id="{FDB57A33-5A01-5B7E-C315-F384513D7D0E}"/>
              </a:ext>
            </a:extLst>
          </p:cNvPr>
          <p:cNvGrpSpPr/>
          <p:nvPr/>
        </p:nvGrpSpPr>
        <p:grpSpPr>
          <a:xfrm>
            <a:off x="8132103" y="4338042"/>
            <a:ext cx="2812095" cy="895350"/>
            <a:chOff x="8132103" y="3429000"/>
            <a:chExt cx="2812095" cy="895350"/>
          </a:xfrm>
        </p:grpSpPr>
        <p:grpSp>
          <p:nvGrpSpPr>
            <p:cNvPr id="1027" name="Group 1026">
              <a:extLst>
                <a:ext uri="{FF2B5EF4-FFF2-40B4-BE49-F238E27FC236}">
                  <a16:creationId xmlns:a16="http://schemas.microsoft.com/office/drawing/2014/main" id="{4A42F100-4102-9A1E-04B6-C3A99A249303}"/>
                </a:ext>
              </a:extLst>
            </p:cNvPr>
            <p:cNvGrpSpPr/>
            <p:nvPr/>
          </p:nvGrpSpPr>
          <p:grpSpPr>
            <a:xfrm>
              <a:off x="10048848" y="3429000"/>
              <a:ext cx="895350" cy="895350"/>
              <a:chOff x="2798372" y="5054885"/>
              <a:chExt cx="895350" cy="895350"/>
            </a:xfrm>
          </p:grpSpPr>
          <p:sp>
            <p:nvSpPr>
              <p:cNvPr id="1024" name="Oval 1023">
                <a:extLst>
                  <a:ext uri="{FF2B5EF4-FFF2-40B4-BE49-F238E27FC236}">
                    <a16:creationId xmlns:a16="http://schemas.microsoft.com/office/drawing/2014/main" id="{1DE93E00-C115-4F44-58CC-5F6BC0494B92}"/>
                  </a:ext>
                </a:extLst>
              </p:cNvPr>
              <p:cNvSpPr/>
              <p:nvPr/>
            </p:nvSpPr>
            <p:spPr>
              <a:xfrm>
                <a:off x="2798372" y="5054885"/>
                <a:ext cx="895350" cy="89535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Oval 1024">
                <a:extLst>
                  <a:ext uri="{FF2B5EF4-FFF2-40B4-BE49-F238E27FC236}">
                    <a16:creationId xmlns:a16="http://schemas.microsoft.com/office/drawing/2014/main" id="{9607E35D-8F54-91C5-73C8-0D1B72EC2FC0}"/>
                  </a:ext>
                </a:extLst>
              </p:cNvPr>
              <p:cNvSpPr/>
              <p:nvPr/>
            </p:nvSpPr>
            <p:spPr>
              <a:xfrm>
                <a:off x="2994898" y="5251411"/>
                <a:ext cx="502297" cy="50229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8" name="TextBox 1027">
              <a:extLst>
                <a:ext uri="{FF2B5EF4-FFF2-40B4-BE49-F238E27FC236}">
                  <a16:creationId xmlns:a16="http://schemas.microsoft.com/office/drawing/2014/main" id="{DE94E09E-0F0C-BF3E-A237-E7E2D3ECD190}"/>
                </a:ext>
              </a:extLst>
            </p:cNvPr>
            <p:cNvSpPr txBox="1"/>
            <p:nvPr/>
          </p:nvSpPr>
          <p:spPr>
            <a:xfrm>
              <a:off x="8132103" y="3430781"/>
              <a:ext cx="1729594" cy="646331"/>
            </a:xfrm>
            <a:prstGeom prst="rect">
              <a:avLst/>
            </a:prstGeom>
            <a:solidFill>
              <a:srgbClr val="0070C0"/>
            </a:solidFill>
          </p:spPr>
          <p:txBody>
            <a:bodyPr wrap="square" rtlCol="0">
              <a:spAutoFit/>
            </a:bodyPr>
            <a:lstStyle/>
            <a:p>
              <a:pPr algn="r"/>
              <a:r>
                <a:rPr lang="en-US" b="1" dirty="0">
                  <a:solidFill>
                    <a:schemeClr val="bg1"/>
                  </a:solidFill>
                </a:rPr>
                <a:t>Concentric Circles:</a:t>
              </a:r>
            </a:p>
          </p:txBody>
        </p:sp>
      </p:grpSp>
      <p:grpSp>
        <p:nvGrpSpPr>
          <p:cNvPr id="1036" name="Group 1035">
            <a:extLst>
              <a:ext uri="{FF2B5EF4-FFF2-40B4-BE49-F238E27FC236}">
                <a16:creationId xmlns:a16="http://schemas.microsoft.com/office/drawing/2014/main" id="{5514948F-E2B8-E02C-A143-D30456191084}"/>
              </a:ext>
            </a:extLst>
          </p:cNvPr>
          <p:cNvGrpSpPr/>
          <p:nvPr/>
        </p:nvGrpSpPr>
        <p:grpSpPr>
          <a:xfrm>
            <a:off x="8132103" y="5552026"/>
            <a:ext cx="2812095" cy="895350"/>
            <a:chOff x="8132103" y="4570218"/>
            <a:chExt cx="2812095" cy="895350"/>
          </a:xfrm>
        </p:grpSpPr>
        <p:grpSp>
          <p:nvGrpSpPr>
            <p:cNvPr id="1029" name="Group 1028">
              <a:extLst>
                <a:ext uri="{FF2B5EF4-FFF2-40B4-BE49-F238E27FC236}">
                  <a16:creationId xmlns:a16="http://schemas.microsoft.com/office/drawing/2014/main" id="{9BF93AB0-7372-5938-7155-45F3E9B1BFFE}"/>
                </a:ext>
              </a:extLst>
            </p:cNvPr>
            <p:cNvGrpSpPr/>
            <p:nvPr/>
          </p:nvGrpSpPr>
          <p:grpSpPr>
            <a:xfrm>
              <a:off x="10048848" y="4570218"/>
              <a:ext cx="895350" cy="895350"/>
              <a:chOff x="2798372" y="5054885"/>
              <a:chExt cx="895350" cy="895350"/>
            </a:xfrm>
          </p:grpSpPr>
          <p:sp>
            <p:nvSpPr>
              <p:cNvPr id="1030" name="Oval 1029">
                <a:extLst>
                  <a:ext uri="{FF2B5EF4-FFF2-40B4-BE49-F238E27FC236}">
                    <a16:creationId xmlns:a16="http://schemas.microsoft.com/office/drawing/2014/main" id="{C768C53B-38E2-506E-25A3-6DF1FA9DEE1A}"/>
                  </a:ext>
                </a:extLst>
              </p:cNvPr>
              <p:cNvSpPr/>
              <p:nvPr/>
            </p:nvSpPr>
            <p:spPr>
              <a:xfrm>
                <a:off x="2798372" y="5054885"/>
                <a:ext cx="895350" cy="89535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Oval 1030">
                <a:extLst>
                  <a:ext uri="{FF2B5EF4-FFF2-40B4-BE49-F238E27FC236}">
                    <a16:creationId xmlns:a16="http://schemas.microsoft.com/office/drawing/2014/main" id="{0B9839C0-6D1C-0A1D-517E-0D26ACEE14CD}"/>
                  </a:ext>
                </a:extLst>
              </p:cNvPr>
              <p:cNvSpPr/>
              <p:nvPr/>
            </p:nvSpPr>
            <p:spPr>
              <a:xfrm>
                <a:off x="2860016" y="5128682"/>
                <a:ext cx="502297" cy="50229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2" name="TextBox 1031">
              <a:extLst>
                <a:ext uri="{FF2B5EF4-FFF2-40B4-BE49-F238E27FC236}">
                  <a16:creationId xmlns:a16="http://schemas.microsoft.com/office/drawing/2014/main" id="{E5CABD1E-71CD-0123-84B8-76E681EC86DA}"/>
                </a:ext>
              </a:extLst>
            </p:cNvPr>
            <p:cNvSpPr txBox="1"/>
            <p:nvPr/>
          </p:nvSpPr>
          <p:spPr>
            <a:xfrm>
              <a:off x="8132103" y="4571999"/>
              <a:ext cx="1729594" cy="646331"/>
            </a:xfrm>
            <a:prstGeom prst="rect">
              <a:avLst/>
            </a:prstGeom>
            <a:solidFill>
              <a:srgbClr val="0070C0"/>
            </a:solidFill>
          </p:spPr>
          <p:txBody>
            <a:bodyPr wrap="square" rtlCol="0">
              <a:spAutoFit/>
            </a:bodyPr>
            <a:lstStyle/>
            <a:p>
              <a:pPr algn="r"/>
              <a:r>
                <a:rPr lang="en-US" b="1" dirty="0">
                  <a:solidFill>
                    <a:schemeClr val="bg1"/>
                  </a:solidFill>
                </a:rPr>
                <a:t>Eccentric Circles:</a:t>
              </a:r>
            </a:p>
          </p:txBody>
        </p:sp>
      </p:grpSp>
      <p:grpSp>
        <p:nvGrpSpPr>
          <p:cNvPr id="1043" name="Group 1042">
            <a:extLst>
              <a:ext uri="{FF2B5EF4-FFF2-40B4-BE49-F238E27FC236}">
                <a16:creationId xmlns:a16="http://schemas.microsoft.com/office/drawing/2014/main" id="{DC816A62-B7F9-89CF-3658-8DEFB344FA25}"/>
              </a:ext>
            </a:extLst>
          </p:cNvPr>
          <p:cNvGrpSpPr/>
          <p:nvPr/>
        </p:nvGrpSpPr>
        <p:grpSpPr>
          <a:xfrm>
            <a:off x="695325" y="3927346"/>
            <a:ext cx="2783860" cy="1092076"/>
            <a:chOff x="695325" y="3927346"/>
            <a:chExt cx="2783860" cy="1092076"/>
          </a:xfrm>
        </p:grpSpPr>
        <p:sp>
          <p:nvSpPr>
            <p:cNvPr id="1033" name="TextBox 1032">
              <a:extLst>
                <a:ext uri="{FF2B5EF4-FFF2-40B4-BE49-F238E27FC236}">
                  <a16:creationId xmlns:a16="http://schemas.microsoft.com/office/drawing/2014/main" id="{FE07472E-C9E4-EC31-DCA0-98091E0816B4}"/>
                </a:ext>
              </a:extLst>
            </p:cNvPr>
            <p:cNvSpPr txBox="1"/>
            <p:nvPr/>
          </p:nvSpPr>
          <p:spPr>
            <a:xfrm>
              <a:off x="695325" y="3927346"/>
              <a:ext cx="1729594" cy="369332"/>
            </a:xfrm>
            <a:prstGeom prst="rect">
              <a:avLst/>
            </a:prstGeom>
            <a:solidFill>
              <a:srgbClr val="0070C0"/>
            </a:solidFill>
          </p:spPr>
          <p:txBody>
            <a:bodyPr wrap="square" rtlCol="0">
              <a:spAutoFit/>
            </a:bodyPr>
            <a:lstStyle/>
            <a:p>
              <a:pPr algn="r"/>
              <a:r>
                <a:rPr lang="en-US" b="1" dirty="0">
                  <a:solidFill>
                    <a:schemeClr val="bg1"/>
                  </a:solidFill>
                </a:rPr>
                <a:t>Arc:</a:t>
              </a:r>
            </a:p>
          </p:txBody>
        </p:sp>
        <p:sp>
          <p:nvSpPr>
            <p:cNvPr id="1034" name="Arc 1033">
              <a:extLst>
                <a:ext uri="{FF2B5EF4-FFF2-40B4-BE49-F238E27FC236}">
                  <a16:creationId xmlns:a16="http://schemas.microsoft.com/office/drawing/2014/main" id="{0E60F022-7559-02E6-F68B-1CD75B1AC127}"/>
                </a:ext>
              </a:extLst>
            </p:cNvPr>
            <p:cNvSpPr/>
            <p:nvPr/>
          </p:nvSpPr>
          <p:spPr>
            <a:xfrm rot="20093396">
              <a:off x="2436604" y="4033951"/>
              <a:ext cx="1042581" cy="985471"/>
            </a:xfrm>
            <a:prstGeom prst="arc">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1099" name="Group 1098">
            <a:extLst>
              <a:ext uri="{FF2B5EF4-FFF2-40B4-BE49-F238E27FC236}">
                <a16:creationId xmlns:a16="http://schemas.microsoft.com/office/drawing/2014/main" id="{A3F36D69-109A-2E4A-188B-AC275009F79F}"/>
              </a:ext>
            </a:extLst>
          </p:cNvPr>
          <p:cNvGrpSpPr/>
          <p:nvPr/>
        </p:nvGrpSpPr>
        <p:grpSpPr>
          <a:xfrm>
            <a:off x="8132103" y="3137104"/>
            <a:ext cx="2812095" cy="895350"/>
            <a:chOff x="8132103" y="3137104"/>
            <a:chExt cx="2812095" cy="895350"/>
          </a:xfrm>
        </p:grpSpPr>
        <p:grpSp>
          <p:nvGrpSpPr>
            <p:cNvPr id="1049" name="Group 1048">
              <a:extLst>
                <a:ext uri="{FF2B5EF4-FFF2-40B4-BE49-F238E27FC236}">
                  <a16:creationId xmlns:a16="http://schemas.microsoft.com/office/drawing/2014/main" id="{25A999B2-937A-EAE0-51CE-5A0C472E9080}"/>
                </a:ext>
              </a:extLst>
            </p:cNvPr>
            <p:cNvGrpSpPr/>
            <p:nvPr/>
          </p:nvGrpSpPr>
          <p:grpSpPr>
            <a:xfrm>
              <a:off x="8132103" y="3137104"/>
              <a:ext cx="2812095" cy="895350"/>
              <a:chOff x="8132103" y="3429000"/>
              <a:chExt cx="2812095" cy="895350"/>
            </a:xfrm>
          </p:grpSpPr>
          <p:sp>
            <p:nvSpPr>
              <p:cNvPr id="1052" name="Oval 1051">
                <a:extLst>
                  <a:ext uri="{FF2B5EF4-FFF2-40B4-BE49-F238E27FC236}">
                    <a16:creationId xmlns:a16="http://schemas.microsoft.com/office/drawing/2014/main" id="{B66391E8-33E3-21CF-27F6-359FA3FC4787}"/>
                  </a:ext>
                </a:extLst>
              </p:cNvPr>
              <p:cNvSpPr/>
              <p:nvPr/>
            </p:nvSpPr>
            <p:spPr>
              <a:xfrm>
                <a:off x="10048848" y="3429000"/>
                <a:ext cx="895350" cy="895350"/>
              </a:xfrm>
              <a:prstGeom prst="ellipse">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TextBox 1050">
                <a:extLst>
                  <a:ext uri="{FF2B5EF4-FFF2-40B4-BE49-F238E27FC236}">
                    <a16:creationId xmlns:a16="http://schemas.microsoft.com/office/drawing/2014/main" id="{10A31A6E-0F42-07A6-44AE-E89FB5CFB869}"/>
                  </a:ext>
                </a:extLst>
              </p:cNvPr>
              <p:cNvSpPr txBox="1"/>
              <p:nvPr/>
            </p:nvSpPr>
            <p:spPr>
              <a:xfrm>
                <a:off x="8132103" y="3430781"/>
                <a:ext cx="1729594" cy="369332"/>
              </a:xfrm>
              <a:prstGeom prst="rect">
                <a:avLst/>
              </a:prstGeom>
              <a:solidFill>
                <a:srgbClr val="0070C0"/>
              </a:solidFill>
            </p:spPr>
            <p:txBody>
              <a:bodyPr wrap="square" rtlCol="0">
                <a:spAutoFit/>
              </a:bodyPr>
              <a:lstStyle/>
              <a:p>
                <a:pPr algn="r"/>
                <a:r>
                  <a:rPr lang="en-US" b="1" dirty="0">
                    <a:solidFill>
                      <a:schemeClr val="bg1"/>
                    </a:solidFill>
                  </a:rPr>
                  <a:t>Chord:</a:t>
                </a:r>
              </a:p>
            </p:txBody>
          </p:sp>
        </p:grpSp>
        <p:cxnSp>
          <p:nvCxnSpPr>
            <p:cNvPr id="1054" name="Straight Connector 1053">
              <a:extLst>
                <a:ext uri="{FF2B5EF4-FFF2-40B4-BE49-F238E27FC236}">
                  <a16:creationId xmlns:a16="http://schemas.microsoft.com/office/drawing/2014/main" id="{64EAB356-EDE3-1B5E-5104-19EDCA08492B}"/>
                </a:ext>
              </a:extLst>
            </p:cNvPr>
            <p:cNvCxnSpPr>
              <a:cxnSpLocks/>
              <a:stCxn id="1052" idx="2"/>
              <a:endCxn id="1052" idx="4"/>
            </p:cNvCxnSpPr>
            <p:nvPr/>
          </p:nvCxnSpPr>
          <p:spPr>
            <a:xfrm>
              <a:off x="10048848" y="3584779"/>
              <a:ext cx="447675" cy="4476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059" name="Group 1058">
            <a:extLst>
              <a:ext uri="{FF2B5EF4-FFF2-40B4-BE49-F238E27FC236}">
                <a16:creationId xmlns:a16="http://schemas.microsoft.com/office/drawing/2014/main" id="{0533118C-2578-2C4C-97D1-616D88957495}"/>
              </a:ext>
            </a:extLst>
          </p:cNvPr>
          <p:cNvGrpSpPr/>
          <p:nvPr/>
        </p:nvGrpSpPr>
        <p:grpSpPr>
          <a:xfrm>
            <a:off x="695325" y="3747157"/>
            <a:ext cx="2873536" cy="1162538"/>
            <a:chOff x="695325" y="3747157"/>
            <a:chExt cx="2873536" cy="1162538"/>
          </a:xfrm>
        </p:grpSpPr>
        <p:grpSp>
          <p:nvGrpSpPr>
            <p:cNvPr id="1042" name="Group 1041">
              <a:extLst>
                <a:ext uri="{FF2B5EF4-FFF2-40B4-BE49-F238E27FC236}">
                  <a16:creationId xmlns:a16="http://schemas.microsoft.com/office/drawing/2014/main" id="{009EC8FF-1071-297B-8316-1152FAADD0DF}"/>
                </a:ext>
              </a:extLst>
            </p:cNvPr>
            <p:cNvGrpSpPr/>
            <p:nvPr/>
          </p:nvGrpSpPr>
          <p:grpSpPr>
            <a:xfrm>
              <a:off x="695325" y="3747157"/>
              <a:ext cx="2873536" cy="1122360"/>
              <a:chOff x="695325" y="3747157"/>
              <a:chExt cx="2873536" cy="1122360"/>
            </a:xfrm>
          </p:grpSpPr>
          <p:sp>
            <p:nvSpPr>
              <p:cNvPr id="1037" name="TextBox 1036">
                <a:extLst>
                  <a:ext uri="{FF2B5EF4-FFF2-40B4-BE49-F238E27FC236}">
                    <a16:creationId xmlns:a16="http://schemas.microsoft.com/office/drawing/2014/main" id="{8DC14D98-9768-1BC5-7029-6DD660A22B8B}"/>
                  </a:ext>
                </a:extLst>
              </p:cNvPr>
              <p:cNvSpPr txBox="1"/>
              <p:nvPr/>
            </p:nvSpPr>
            <p:spPr>
              <a:xfrm>
                <a:off x="695325" y="4500185"/>
                <a:ext cx="1729594" cy="369332"/>
              </a:xfrm>
              <a:prstGeom prst="rect">
                <a:avLst/>
              </a:prstGeom>
              <a:solidFill>
                <a:srgbClr val="0070C0"/>
              </a:solidFill>
            </p:spPr>
            <p:txBody>
              <a:bodyPr wrap="square" rtlCol="0">
                <a:spAutoFit/>
              </a:bodyPr>
              <a:lstStyle/>
              <a:p>
                <a:pPr algn="r"/>
                <a:r>
                  <a:rPr lang="en-US" b="1" dirty="0">
                    <a:solidFill>
                      <a:schemeClr val="bg1"/>
                    </a:solidFill>
                  </a:rPr>
                  <a:t>Tangent:</a:t>
                </a:r>
              </a:p>
            </p:txBody>
          </p:sp>
          <p:sp>
            <p:nvSpPr>
              <p:cNvPr id="1038" name="Arc 1037">
                <a:extLst>
                  <a:ext uri="{FF2B5EF4-FFF2-40B4-BE49-F238E27FC236}">
                    <a16:creationId xmlns:a16="http://schemas.microsoft.com/office/drawing/2014/main" id="{1554D6C9-147B-ACEA-D377-ACC0EA4C0FEA}"/>
                  </a:ext>
                </a:extLst>
              </p:cNvPr>
              <p:cNvSpPr/>
              <p:nvPr/>
            </p:nvSpPr>
            <p:spPr>
              <a:xfrm rot="8233718">
                <a:off x="2526280" y="3747157"/>
                <a:ext cx="1042581" cy="985471"/>
              </a:xfrm>
              <a:prstGeom prst="arc">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039" name="Straight Connector 1038">
                <a:extLst>
                  <a:ext uri="{FF2B5EF4-FFF2-40B4-BE49-F238E27FC236}">
                    <a16:creationId xmlns:a16="http://schemas.microsoft.com/office/drawing/2014/main" id="{EBB04015-1A1F-934B-9CF1-31DDA5B4448B}"/>
                  </a:ext>
                </a:extLst>
              </p:cNvPr>
              <p:cNvCxnSpPr>
                <a:cxnSpLocks/>
              </p:cNvCxnSpPr>
              <p:nvPr/>
            </p:nvCxnSpPr>
            <p:spPr>
              <a:xfrm>
                <a:off x="2530484" y="4750727"/>
                <a:ext cx="993552" cy="31633"/>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grpSp>
        <p:sp>
          <p:nvSpPr>
            <p:cNvPr id="1058" name="TextBox 1057">
              <a:extLst>
                <a:ext uri="{FF2B5EF4-FFF2-40B4-BE49-F238E27FC236}">
                  <a16:creationId xmlns:a16="http://schemas.microsoft.com/office/drawing/2014/main" id="{1A73A447-ABCA-CEB0-480B-C624264C2BD8}"/>
                </a:ext>
              </a:extLst>
            </p:cNvPr>
            <p:cNvSpPr txBox="1"/>
            <p:nvPr/>
          </p:nvSpPr>
          <p:spPr>
            <a:xfrm>
              <a:off x="2887272" y="4448030"/>
              <a:ext cx="228600" cy="461665"/>
            </a:xfrm>
            <a:prstGeom prst="rect">
              <a:avLst/>
            </a:prstGeom>
            <a:noFill/>
          </p:spPr>
          <p:txBody>
            <a:bodyPr wrap="square" rtlCol="0">
              <a:spAutoFit/>
            </a:bodyPr>
            <a:lstStyle/>
            <a:p>
              <a:pPr algn="ctr"/>
              <a:r>
                <a:rPr lang="en-US" sz="2400" b="1" dirty="0"/>
                <a:t>.</a:t>
              </a:r>
            </a:p>
          </p:txBody>
        </p:sp>
      </p:grpSp>
      <p:grpSp>
        <p:nvGrpSpPr>
          <p:cNvPr id="1068" name="Group 1067">
            <a:extLst>
              <a:ext uri="{FF2B5EF4-FFF2-40B4-BE49-F238E27FC236}">
                <a16:creationId xmlns:a16="http://schemas.microsoft.com/office/drawing/2014/main" id="{14D6B31C-1ACF-37A4-C661-2F8EFE19F8F6}"/>
              </a:ext>
            </a:extLst>
          </p:cNvPr>
          <p:cNvGrpSpPr/>
          <p:nvPr/>
        </p:nvGrpSpPr>
        <p:grpSpPr>
          <a:xfrm>
            <a:off x="693635" y="5077689"/>
            <a:ext cx="2852553" cy="688972"/>
            <a:chOff x="693635" y="5077689"/>
            <a:chExt cx="2852553" cy="688972"/>
          </a:xfrm>
        </p:grpSpPr>
        <p:sp>
          <p:nvSpPr>
            <p:cNvPr id="1061" name="TextBox 1060">
              <a:extLst>
                <a:ext uri="{FF2B5EF4-FFF2-40B4-BE49-F238E27FC236}">
                  <a16:creationId xmlns:a16="http://schemas.microsoft.com/office/drawing/2014/main" id="{60652C0A-AA73-EBDE-B9A9-241C720A7442}"/>
                </a:ext>
              </a:extLst>
            </p:cNvPr>
            <p:cNvSpPr txBox="1"/>
            <p:nvPr/>
          </p:nvSpPr>
          <p:spPr>
            <a:xfrm>
              <a:off x="693635" y="5077689"/>
              <a:ext cx="1729594" cy="369332"/>
            </a:xfrm>
            <a:prstGeom prst="rect">
              <a:avLst/>
            </a:prstGeom>
            <a:solidFill>
              <a:srgbClr val="0070C0"/>
            </a:solidFill>
          </p:spPr>
          <p:txBody>
            <a:bodyPr wrap="square" rtlCol="0">
              <a:spAutoFit/>
            </a:bodyPr>
            <a:lstStyle/>
            <a:p>
              <a:pPr algn="r"/>
              <a:r>
                <a:rPr lang="en-US" b="1" dirty="0">
                  <a:solidFill>
                    <a:schemeClr val="bg1"/>
                  </a:solidFill>
                </a:rPr>
                <a:t>Chamfer:</a:t>
              </a:r>
            </a:p>
          </p:txBody>
        </p:sp>
        <p:grpSp>
          <p:nvGrpSpPr>
            <p:cNvPr id="1066" name="Group 1065">
              <a:extLst>
                <a:ext uri="{FF2B5EF4-FFF2-40B4-BE49-F238E27FC236}">
                  <a16:creationId xmlns:a16="http://schemas.microsoft.com/office/drawing/2014/main" id="{81FFF40E-77B2-201C-2387-31A41E86A485}"/>
                </a:ext>
              </a:extLst>
            </p:cNvPr>
            <p:cNvGrpSpPr/>
            <p:nvPr/>
          </p:nvGrpSpPr>
          <p:grpSpPr>
            <a:xfrm>
              <a:off x="2423229" y="5185636"/>
              <a:ext cx="1122959" cy="581025"/>
              <a:chOff x="2423229" y="5238665"/>
              <a:chExt cx="1122959" cy="581025"/>
            </a:xfrm>
          </p:grpSpPr>
          <p:sp>
            <p:nvSpPr>
              <p:cNvPr id="1060" name="Freeform: Shape 1059">
                <a:extLst>
                  <a:ext uri="{FF2B5EF4-FFF2-40B4-BE49-F238E27FC236}">
                    <a16:creationId xmlns:a16="http://schemas.microsoft.com/office/drawing/2014/main" id="{8B76E127-EF9B-14C5-1341-19BACB690147}"/>
                  </a:ext>
                </a:extLst>
              </p:cNvPr>
              <p:cNvSpPr/>
              <p:nvPr/>
            </p:nvSpPr>
            <p:spPr>
              <a:xfrm flipH="1">
                <a:off x="2892357" y="5238665"/>
                <a:ext cx="653831" cy="581025"/>
              </a:xfrm>
              <a:custGeom>
                <a:avLst/>
                <a:gdLst>
                  <a:gd name="csX0" fmla="*/ 0 w 542925"/>
                  <a:gd name="csY0" fmla="*/ 0 h 581025"/>
                  <a:gd name="csX1" fmla="*/ 361950 w 542925"/>
                  <a:gd name="csY1" fmla="*/ 0 h 581025"/>
                  <a:gd name="csX2" fmla="*/ 542925 w 542925"/>
                  <a:gd name="csY2" fmla="*/ 219075 h 581025"/>
                  <a:gd name="csX3" fmla="*/ 542925 w 542925"/>
                  <a:gd name="csY3" fmla="*/ 581025 h 581025"/>
                  <a:gd name="csX4" fmla="*/ 542925 w 542925"/>
                  <a:gd name="csY4" fmla="*/ 571500 h 581025"/>
                </a:gdLst>
                <a:ahLst/>
                <a:cxnLst>
                  <a:cxn ang="0">
                    <a:pos x="csX0" y="csY0"/>
                  </a:cxn>
                  <a:cxn ang="0">
                    <a:pos x="csX1" y="csY1"/>
                  </a:cxn>
                  <a:cxn ang="0">
                    <a:pos x="csX2" y="csY2"/>
                  </a:cxn>
                  <a:cxn ang="0">
                    <a:pos x="csX3" y="csY3"/>
                  </a:cxn>
                  <a:cxn ang="0">
                    <a:pos x="csX4" y="csY4"/>
                  </a:cxn>
                </a:cxnLst>
                <a:rect l="l" t="t" r="r" b="b"/>
                <a:pathLst>
                  <a:path w="542925" h="581025">
                    <a:moveTo>
                      <a:pt x="0" y="0"/>
                    </a:moveTo>
                    <a:lnTo>
                      <a:pt x="361950" y="0"/>
                    </a:lnTo>
                    <a:lnTo>
                      <a:pt x="542925" y="219075"/>
                    </a:lnTo>
                    <a:lnTo>
                      <a:pt x="542925" y="581025"/>
                    </a:lnTo>
                    <a:lnTo>
                      <a:pt x="542925" y="57150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2" name="Straight Arrow Connector 1061">
                <a:extLst>
                  <a:ext uri="{FF2B5EF4-FFF2-40B4-BE49-F238E27FC236}">
                    <a16:creationId xmlns:a16="http://schemas.microsoft.com/office/drawing/2014/main" id="{A4684C97-1103-03BA-4A1D-7560D6A9D568}"/>
                  </a:ext>
                </a:extLst>
              </p:cNvPr>
              <p:cNvCxnSpPr>
                <a:cxnSpLocks/>
                <a:stCxn id="1061" idx="3"/>
              </p:cNvCxnSpPr>
              <p:nvPr/>
            </p:nvCxnSpPr>
            <p:spPr>
              <a:xfrm>
                <a:off x="2423229" y="5315384"/>
                <a:ext cx="578343" cy="19250"/>
              </a:xfrm>
              <a:prstGeom prst="straightConnector1">
                <a:avLst/>
              </a:prstGeom>
              <a:ln>
                <a:solidFill>
                  <a:srgbClr val="FF0000"/>
                </a:solidFill>
                <a:tailEnd type="oval"/>
              </a:ln>
            </p:spPr>
            <p:style>
              <a:lnRef idx="2">
                <a:schemeClr val="accent1"/>
              </a:lnRef>
              <a:fillRef idx="0">
                <a:schemeClr val="accent1"/>
              </a:fillRef>
              <a:effectRef idx="1">
                <a:schemeClr val="accent1"/>
              </a:effectRef>
              <a:fontRef idx="minor">
                <a:schemeClr val="tx1"/>
              </a:fontRef>
            </p:style>
          </p:cxnSp>
          <p:sp>
            <p:nvSpPr>
              <p:cNvPr id="1065" name="TextBox 1064">
                <a:extLst>
                  <a:ext uri="{FF2B5EF4-FFF2-40B4-BE49-F238E27FC236}">
                    <a16:creationId xmlns:a16="http://schemas.microsoft.com/office/drawing/2014/main" id="{ED9959C8-3715-0979-B7BC-B5262904CE40}"/>
                  </a:ext>
                </a:extLst>
              </p:cNvPr>
              <p:cNvSpPr txBox="1"/>
              <p:nvPr/>
            </p:nvSpPr>
            <p:spPr>
              <a:xfrm>
                <a:off x="2919722" y="5255510"/>
                <a:ext cx="480028" cy="338554"/>
              </a:xfrm>
              <a:prstGeom prst="rect">
                <a:avLst/>
              </a:prstGeom>
              <a:noFill/>
            </p:spPr>
            <p:txBody>
              <a:bodyPr wrap="square" rtlCol="0">
                <a:spAutoFit/>
              </a:bodyPr>
              <a:lstStyle/>
              <a:p>
                <a:pPr algn="ctr"/>
                <a:r>
                  <a:rPr lang="en-US" sz="1600" dirty="0"/>
                  <a:t>45°</a:t>
                </a:r>
                <a:endParaRPr lang="en-US" sz="2400" dirty="0"/>
              </a:p>
            </p:txBody>
          </p:sp>
        </p:grpSp>
      </p:grpSp>
      <p:grpSp>
        <p:nvGrpSpPr>
          <p:cNvPr id="1077" name="Group 1076">
            <a:extLst>
              <a:ext uri="{FF2B5EF4-FFF2-40B4-BE49-F238E27FC236}">
                <a16:creationId xmlns:a16="http://schemas.microsoft.com/office/drawing/2014/main" id="{96A21CB1-DA2D-68FF-8968-212307158DD3}"/>
              </a:ext>
            </a:extLst>
          </p:cNvPr>
          <p:cNvGrpSpPr/>
          <p:nvPr/>
        </p:nvGrpSpPr>
        <p:grpSpPr>
          <a:xfrm>
            <a:off x="4360837" y="3104729"/>
            <a:ext cx="2553310" cy="434068"/>
            <a:chOff x="4360837" y="3104729"/>
            <a:chExt cx="2553310" cy="434068"/>
          </a:xfrm>
        </p:grpSpPr>
        <p:grpSp>
          <p:nvGrpSpPr>
            <p:cNvPr id="1075" name="Group 1074">
              <a:extLst>
                <a:ext uri="{FF2B5EF4-FFF2-40B4-BE49-F238E27FC236}">
                  <a16:creationId xmlns:a16="http://schemas.microsoft.com/office/drawing/2014/main" id="{6F0979BA-3337-9521-0CA9-C7E06BC50494}"/>
                </a:ext>
              </a:extLst>
            </p:cNvPr>
            <p:cNvGrpSpPr/>
            <p:nvPr/>
          </p:nvGrpSpPr>
          <p:grpSpPr>
            <a:xfrm>
              <a:off x="6304476" y="3165849"/>
              <a:ext cx="609671" cy="372948"/>
              <a:chOff x="5812065" y="3554398"/>
              <a:chExt cx="609671" cy="372948"/>
            </a:xfrm>
          </p:grpSpPr>
          <p:cxnSp>
            <p:nvCxnSpPr>
              <p:cNvPr id="1069" name="Straight Arrow Connector 1068">
                <a:extLst>
                  <a:ext uri="{FF2B5EF4-FFF2-40B4-BE49-F238E27FC236}">
                    <a16:creationId xmlns:a16="http://schemas.microsoft.com/office/drawing/2014/main" id="{8C06A09B-1047-626B-FA24-77DF8CCDB5B9}"/>
                  </a:ext>
                </a:extLst>
              </p:cNvPr>
              <p:cNvCxnSpPr>
                <a:cxnSpLocks/>
              </p:cNvCxnSpPr>
              <p:nvPr/>
            </p:nvCxnSpPr>
            <p:spPr>
              <a:xfrm flipV="1">
                <a:off x="5812065" y="3554398"/>
                <a:ext cx="473099" cy="3729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70" name="Straight Arrow Connector 1069">
                <a:extLst>
                  <a:ext uri="{FF2B5EF4-FFF2-40B4-BE49-F238E27FC236}">
                    <a16:creationId xmlns:a16="http://schemas.microsoft.com/office/drawing/2014/main" id="{E515CCFC-1603-9699-71A2-5FBBC70CA746}"/>
                  </a:ext>
                </a:extLst>
              </p:cNvPr>
              <p:cNvCxnSpPr>
                <a:cxnSpLocks/>
              </p:cNvCxnSpPr>
              <p:nvPr/>
            </p:nvCxnSpPr>
            <p:spPr>
              <a:xfrm>
                <a:off x="5812065" y="3927346"/>
                <a:ext cx="609671"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76" name="TextBox 1075">
              <a:extLst>
                <a:ext uri="{FF2B5EF4-FFF2-40B4-BE49-F238E27FC236}">
                  <a16:creationId xmlns:a16="http://schemas.microsoft.com/office/drawing/2014/main" id="{CC41B923-CB94-4CE9-9311-245864C18F8B}"/>
                </a:ext>
              </a:extLst>
            </p:cNvPr>
            <p:cNvSpPr txBox="1"/>
            <p:nvPr/>
          </p:nvSpPr>
          <p:spPr>
            <a:xfrm>
              <a:off x="4360837" y="3104729"/>
              <a:ext cx="1729594" cy="369332"/>
            </a:xfrm>
            <a:prstGeom prst="rect">
              <a:avLst/>
            </a:prstGeom>
            <a:solidFill>
              <a:srgbClr val="0070C0"/>
            </a:solidFill>
          </p:spPr>
          <p:txBody>
            <a:bodyPr wrap="square" rtlCol="0">
              <a:spAutoFit/>
            </a:bodyPr>
            <a:lstStyle/>
            <a:p>
              <a:pPr algn="r"/>
              <a:r>
                <a:rPr lang="en-US" b="1" dirty="0">
                  <a:solidFill>
                    <a:schemeClr val="bg1"/>
                  </a:solidFill>
                </a:rPr>
                <a:t>Acute Angle:</a:t>
              </a:r>
            </a:p>
          </p:txBody>
        </p:sp>
      </p:grpSp>
      <p:grpSp>
        <p:nvGrpSpPr>
          <p:cNvPr id="1078" name="Group 1077">
            <a:extLst>
              <a:ext uri="{FF2B5EF4-FFF2-40B4-BE49-F238E27FC236}">
                <a16:creationId xmlns:a16="http://schemas.microsoft.com/office/drawing/2014/main" id="{DFFEEA7C-E42A-67BD-F07F-45489381CEA8}"/>
              </a:ext>
            </a:extLst>
          </p:cNvPr>
          <p:cNvGrpSpPr/>
          <p:nvPr/>
        </p:nvGrpSpPr>
        <p:grpSpPr>
          <a:xfrm>
            <a:off x="4360837" y="3789763"/>
            <a:ext cx="2538702" cy="440024"/>
            <a:chOff x="4360837" y="3104729"/>
            <a:chExt cx="2538702" cy="440024"/>
          </a:xfrm>
        </p:grpSpPr>
        <p:grpSp>
          <p:nvGrpSpPr>
            <p:cNvPr id="1079" name="Group 1078">
              <a:extLst>
                <a:ext uri="{FF2B5EF4-FFF2-40B4-BE49-F238E27FC236}">
                  <a16:creationId xmlns:a16="http://schemas.microsoft.com/office/drawing/2014/main" id="{39677EF7-7379-F55E-6CEE-46E41D216E20}"/>
                </a:ext>
              </a:extLst>
            </p:cNvPr>
            <p:cNvGrpSpPr/>
            <p:nvPr/>
          </p:nvGrpSpPr>
          <p:grpSpPr>
            <a:xfrm>
              <a:off x="6331604" y="3110685"/>
              <a:ext cx="567935" cy="434068"/>
              <a:chOff x="5839193" y="3499234"/>
              <a:chExt cx="567935" cy="434068"/>
            </a:xfrm>
          </p:grpSpPr>
          <p:cxnSp>
            <p:nvCxnSpPr>
              <p:cNvPr id="1081" name="Straight Arrow Connector 1080">
                <a:extLst>
                  <a:ext uri="{FF2B5EF4-FFF2-40B4-BE49-F238E27FC236}">
                    <a16:creationId xmlns:a16="http://schemas.microsoft.com/office/drawing/2014/main" id="{06CC4F14-DF3C-7C38-1950-2BAEE13A0AEC}"/>
                  </a:ext>
                </a:extLst>
              </p:cNvPr>
              <p:cNvCxnSpPr>
                <a:cxnSpLocks/>
              </p:cNvCxnSpPr>
              <p:nvPr/>
            </p:nvCxnSpPr>
            <p:spPr>
              <a:xfrm flipH="1" flipV="1">
                <a:off x="5839193" y="3499234"/>
                <a:ext cx="6846" cy="43406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82" name="Straight Arrow Connector 1081">
                <a:extLst>
                  <a:ext uri="{FF2B5EF4-FFF2-40B4-BE49-F238E27FC236}">
                    <a16:creationId xmlns:a16="http://schemas.microsoft.com/office/drawing/2014/main" id="{4D199335-CC91-599E-A0AE-E5EF0277CBD1}"/>
                  </a:ext>
                </a:extLst>
              </p:cNvPr>
              <p:cNvCxnSpPr>
                <a:cxnSpLocks/>
              </p:cNvCxnSpPr>
              <p:nvPr/>
            </p:nvCxnSpPr>
            <p:spPr>
              <a:xfrm>
                <a:off x="5846039" y="3933302"/>
                <a:ext cx="56108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80" name="TextBox 1079">
              <a:extLst>
                <a:ext uri="{FF2B5EF4-FFF2-40B4-BE49-F238E27FC236}">
                  <a16:creationId xmlns:a16="http://schemas.microsoft.com/office/drawing/2014/main" id="{7D4D6FF3-7FAF-37F1-CA94-1E15723F6076}"/>
                </a:ext>
              </a:extLst>
            </p:cNvPr>
            <p:cNvSpPr txBox="1"/>
            <p:nvPr/>
          </p:nvSpPr>
          <p:spPr>
            <a:xfrm>
              <a:off x="4360837" y="3104729"/>
              <a:ext cx="1729594" cy="369332"/>
            </a:xfrm>
            <a:prstGeom prst="rect">
              <a:avLst/>
            </a:prstGeom>
            <a:solidFill>
              <a:srgbClr val="0070C0"/>
            </a:solidFill>
          </p:spPr>
          <p:txBody>
            <a:bodyPr wrap="square" rtlCol="0">
              <a:spAutoFit/>
            </a:bodyPr>
            <a:lstStyle/>
            <a:p>
              <a:pPr algn="r"/>
              <a:r>
                <a:rPr lang="en-US" b="1" dirty="0">
                  <a:solidFill>
                    <a:schemeClr val="bg1"/>
                  </a:solidFill>
                </a:rPr>
                <a:t>Right Angle:</a:t>
              </a:r>
            </a:p>
          </p:txBody>
        </p:sp>
      </p:grpSp>
      <p:grpSp>
        <p:nvGrpSpPr>
          <p:cNvPr id="1089" name="Group 1088">
            <a:extLst>
              <a:ext uri="{FF2B5EF4-FFF2-40B4-BE49-F238E27FC236}">
                <a16:creationId xmlns:a16="http://schemas.microsoft.com/office/drawing/2014/main" id="{DDFF186E-30D7-E08B-5433-33BE4ED056A8}"/>
              </a:ext>
            </a:extLst>
          </p:cNvPr>
          <p:cNvGrpSpPr/>
          <p:nvPr/>
        </p:nvGrpSpPr>
        <p:grpSpPr>
          <a:xfrm>
            <a:off x="4360483" y="4486708"/>
            <a:ext cx="2723634" cy="440024"/>
            <a:chOff x="4360837" y="3104729"/>
            <a:chExt cx="2723634" cy="440024"/>
          </a:xfrm>
        </p:grpSpPr>
        <p:grpSp>
          <p:nvGrpSpPr>
            <p:cNvPr id="1090" name="Group 1089">
              <a:extLst>
                <a:ext uri="{FF2B5EF4-FFF2-40B4-BE49-F238E27FC236}">
                  <a16:creationId xmlns:a16="http://schemas.microsoft.com/office/drawing/2014/main" id="{71BC396E-A001-4ED5-BC24-CD31B1EE5264}"/>
                </a:ext>
              </a:extLst>
            </p:cNvPr>
            <p:cNvGrpSpPr/>
            <p:nvPr/>
          </p:nvGrpSpPr>
          <p:grpSpPr>
            <a:xfrm>
              <a:off x="6277582" y="3152589"/>
              <a:ext cx="806889" cy="392164"/>
              <a:chOff x="5785171" y="3541138"/>
              <a:chExt cx="806889" cy="392164"/>
            </a:xfrm>
          </p:grpSpPr>
          <p:cxnSp>
            <p:nvCxnSpPr>
              <p:cNvPr id="1092" name="Straight Arrow Connector 1091">
                <a:extLst>
                  <a:ext uri="{FF2B5EF4-FFF2-40B4-BE49-F238E27FC236}">
                    <a16:creationId xmlns:a16="http://schemas.microsoft.com/office/drawing/2014/main" id="{70860E4A-9EAC-8550-1A7C-0073ED88FE7F}"/>
                  </a:ext>
                </a:extLst>
              </p:cNvPr>
              <p:cNvCxnSpPr>
                <a:cxnSpLocks/>
              </p:cNvCxnSpPr>
              <p:nvPr/>
            </p:nvCxnSpPr>
            <p:spPr>
              <a:xfrm flipH="1" flipV="1">
                <a:off x="5785171" y="3541138"/>
                <a:ext cx="245800" cy="3921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93" name="Straight Arrow Connector 1092">
                <a:extLst>
                  <a:ext uri="{FF2B5EF4-FFF2-40B4-BE49-F238E27FC236}">
                    <a16:creationId xmlns:a16="http://schemas.microsoft.com/office/drawing/2014/main" id="{2DEEB495-AC4B-B6E1-CEA6-43EB21C54FD9}"/>
                  </a:ext>
                </a:extLst>
              </p:cNvPr>
              <p:cNvCxnSpPr>
                <a:cxnSpLocks/>
              </p:cNvCxnSpPr>
              <p:nvPr/>
            </p:nvCxnSpPr>
            <p:spPr>
              <a:xfrm>
                <a:off x="6030971" y="3933302"/>
                <a:ext cx="561089"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91" name="TextBox 1090">
              <a:extLst>
                <a:ext uri="{FF2B5EF4-FFF2-40B4-BE49-F238E27FC236}">
                  <a16:creationId xmlns:a16="http://schemas.microsoft.com/office/drawing/2014/main" id="{AAFE095D-C583-7ED9-3A66-A78E519BFFCD}"/>
                </a:ext>
              </a:extLst>
            </p:cNvPr>
            <p:cNvSpPr txBox="1"/>
            <p:nvPr/>
          </p:nvSpPr>
          <p:spPr>
            <a:xfrm>
              <a:off x="4360837" y="3104729"/>
              <a:ext cx="1729594" cy="369332"/>
            </a:xfrm>
            <a:prstGeom prst="rect">
              <a:avLst/>
            </a:prstGeom>
            <a:solidFill>
              <a:srgbClr val="0070C0"/>
            </a:solidFill>
          </p:spPr>
          <p:txBody>
            <a:bodyPr wrap="square" rtlCol="0">
              <a:spAutoFit/>
            </a:bodyPr>
            <a:lstStyle/>
            <a:p>
              <a:pPr algn="r"/>
              <a:r>
                <a:rPr lang="en-US" b="1" dirty="0">
                  <a:solidFill>
                    <a:schemeClr val="bg1"/>
                  </a:solidFill>
                </a:rPr>
                <a:t>Obtuse Angle:</a:t>
              </a:r>
            </a:p>
          </p:txBody>
        </p:sp>
      </p:grpSp>
      <p:sp>
        <p:nvSpPr>
          <p:cNvPr id="3" name="TextBox 2">
            <a:extLst>
              <a:ext uri="{FF2B5EF4-FFF2-40B4-BE49-F238E27FC236}">
                <a16:creationId xmlns:a16="http://schemas.microsoft.com/office/drawing/2014/main" id="{935717D6-6489-F975-08EF-CE390893274A}"/>
              </a:ext>
            </a:extLst>
          </p:cNvPr>
          <p:cNvSpPr txBox="1"/>
          <p:nvPr/>
        </p:nvSpPr>
        <p:spPr>
          <a:xfrm>
            <a:off x="9861697" y="6526164"/>
            <a:ext cx="1243041" cy="230832"/>
          </a:xfrm>
          <a:prstGeom prst="rect">
            <a:avLst/>
          </a:prstGeom>
          <a:noFill/>
        </p:spPr>
        <p:txBody>
          <a:bodyPr wrap="square" rtlCol="0">
            <a:spAutoFit/>
          </a:bodyPr>
          <a:lstStyle/>
          <a:p>
            <a:pPr algn="r"/>
            <a:r>
              <a:rPr lang="en-US" sz="900" dirty="0"/>
              <a:t>Matt Pierce, 2026</a:t>
            </a:r>
          </a:p>
        </p:txBody>
      </p:sp>
    </p:spTree>
    <p:extLst>
      <p:ext uri="{BB962C8B-B14F-4D97-AF65-F5344CB8AC3E}">
        <p14:creationId xmlns:p14="http://schemas.microsoft.com/office/powerpoint/2010/main" val="377235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7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7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8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9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61D743A-1C8A-1E08-DFB6-36C7B7E86D5B}"/>
            </a:ext>
          </a:extLst>
        </p:cNvPr>
        <p:cNvGrpSpPr/>
        <p:nvPr/>
      </p:nvGrpSpPr>
      <p:grpSpPr>
        <a:xfrm>
          <a:off x="0" y="0"/>
          <a:ext cx="0" cy="0"/>
          <a:chOff x="0" y="0"/>
          <a:chExt cx="0" cy="0"/>
        </a:xfrm>
      </p:grpSpPr>
      <p:sp>
        <p:nvSpPr>
          <p:cNvPr id="51" name="Content Placeholder 2">
            <a:extLst>
              <a:ext uri="{FF2B5EF4-FFF2-40B4-BE49-F238E27FC236}">
                <a16:creationId xmlns:a16="http://schemas.microsoft.com/office/drawing/2014/main" id="{5FFE1173-0BD8-9BA2-629C-6EAA24B4A89C}"/>
              </a:ext>
            </a:extLst>
          </p:cNvPr>
          <p:cNvSpPr>
            <a:spLocks noGrp="1"/>
          </p:cNvSpPr>
          <p:nvPr>
            <p:ph idx="1"/>
          </p:nvPr>
        </p:nvSpPr>
        <p:spPr>
          <a:xfrm>
            <a:off x="611162" y="1483104"/>
            <a:ext cx="10958538" cy="752646"/>
          </a:xfrm>
        </p:spPr>
        <p:txBody>
          <a:bodyPr>
            <a:normAutofit/>
          </a:bodyPr>
          <a:lstStyle/>
          <a:p>
            <a:r>
              <a:rPr lang="en-US" dirty="0"/>
              <a:t>There are three type of pictorial drawings…</a:t>
            </a:r>
          </a:p>
          <a:p>
            <a:pPr lvl="1"/>
            <a:endParaRPr lang="en-US" dirty="0"/>
          </a:p>
        </p:txBody>
      </p:sp>
      <p:sp>
        <p:nvSpPr>
          <p:cNvPr id="2" name="Title 1">
            <a:extLst>
              <a:ext uri="{FF2B5EF4-FFF2-40B4-BE49-F238E27FC236}">
                <a16:creationId xmlns:a16="http://schemas.microsoft.com/office/drawing/2014/main" id="{0AB59DA4-1B08-BA90-2FCE-27E28055E3F8}"/>
              </a:ext>
            </a:extLst>
          </p:cNvPr>
          <p:cNvSpPr>
            <a:spLocks noGrp="1"/>
          </p:cNvSpPr>
          <p:nvPr>
            <p:ph type="title"/>
          </p:nvPr>
        </p:nvSpPr>
        <p:spPr>
          <a:xfrm>
            <a:off x="365760" y="365760"/>
            <a:ext cx="10515600" cy="877824"/>
          </a:xfrm>
        </p:spPr>
        <p:txBody>
          <a:bodyPr/>
          <a:lstStyle/>
          <a:p>
            <a:r>
              <a:rPr lang="en-US" dirty="0"/>
              <a:t>Types of Pictorial Drawings</a:t>
            </a:r>
          </a:p>
        </p:txBody>
      </p:sp>
      <p:grpSp>
        <p:nvGrpSpPr>
          <p:cNvPr id="48" name="Group 47">
            <a:extLst>
              <a:ext uri="{FF2B5EF4-FFF2-40B4-BE49-F238E27FC236}">
                <a16:creationId xmlns:a16="http://schemas.microsoft.com/office/drawing/2014/main" id="{6DAC57F2-421B-8B5F-843A-A9757541D02B}"/>
              </a:ext>
            </a:extLst>
          </p:cNvPr>
          <p:cNvGrpSpPr/>
          <p:nvPr/>
        </p:nvGrpSpPr>
        <p:grpSpPr>
          <a:xfrm>
            <a:off x="677326" y="2424645"/>
            <a:ext cx="4220239" cy="3595818"/>
            <a:chOff x="677326" y="1853145"/>
            <a:chExt cx="4220239" cy="3595818"/>
          </a:xfrm>
        </p:grpSpPr>
        <p:grpSp>
          <p:nvGrpSpPr>
            <p:cNvPr id="43" name="Group 42">
              <a:extLst>
                <a:ext uri="{FF2B5EF4-FFF2-40B4-BE49-F238E27FC236}">
                  <a16:creationId xmlns:a16="http://schemas.microsoft.com/office/drawing/2014/main" id="{5F805764-09AE-A75B-D320-B14C5D694002}"/>
                </a:ext>
              </a:extLst>
            </p:cNvPr>
            <p:cNvGrpSpPr/>
            <p:nvPr/>
          </p:nvGrpSpPr>
          <p:grpSpPr>
            <a:xfrm>
              <a:off x="677326" y="2222477"/>
              <a:ext cx="4220239" cy="3226486"/>
              <a:chOff x="532735" y="2079602"/>
              <a:chExt cx="4220239" cy="3226486"/>
            </a:xfrm>
          </p:grpSpPr>
          <p:sp>
            <p:nvSpPr>
              <p:cNvPr id="14" name="Rectangle 13">
                <a:extLst>
                  <a:ext uri="{FF2B5EF4-FFF2-40B4-BE49-F238E27FC236}">
                    <a16:creationId xmlns:a16="http://schemas.microsoft.com/office/drawing/2014/main" id="{6972A3AB-C761-F4CB-A743-056D8047BCF7}"/>
                  </a:ext>
                </a:extLst>
              </p:cNvPr>
              <p:cNvSpPr/>
              <p:nvPr/>
            </p:nvSpPr>
            <p:spPr>
              <a:xfrm>
                <a:off x="532735" y="2079602"/>
                <a:ext cx="4220239" cy="3226486"/>
              </a:xfrm>
              <a:prstGeom prst="rect">
                <a:avLst/>
              </a:prstGeom>
              <a:solidFill>
                <a:schemeClr val="bg1"/>
              </a:solidFill>
              <a:ln w="9525">
                <a:solidFill>
                  <a:schemeClr val="bg1">
                    <a:lumMod val="65000"/>
                  </a:schemeClr>
                </a:solidFill>
              </a:ln>
              <a:effectLst>
                <a:outerShdw blurRad="50800" dist="889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25A88417-8789-BD69-B53D-7FB570CA0ADF}"/>
                  </a:ext>
                </a:extLst>
              </p:cNvPr>
              <p:cNvGrpSpPr/>
              <p:nvPr/>
            </p:nvGrpSpPr>
            <p:grpSpPr>
              <a:xfrm>
                <a:off x="831543" y="2409825"/>
                <a:ext cx="3826182" cy="2731228"/>
                <a:chOff x="831543" y="2409825"/>
                <a:chExt cx="3826182" cy="2731228"/>
              </a:xfrm>
            </p:grpSpPr>
            <p:pic>
              <p:nvPicPr>
                <p:cNvPr id="13" name="Picture 12">
                  <a:extLst>
                    <a:ext uri="{FF2B5EF4-FFF2-40B4-BE49-F238E27FC236}">
                      <a16:creationId xmlns:a16="http://schemas.microsoft.com/office/drawing/2014/main" id="{86081944-FF18-FEFB-AE84-D44528EA7C4D}"/>
                    </a:ext>
                  </a:extLst>
                </p:cNvPr>
                <p:cNvPicPr>
                  <a:picLocks noChangeAspect="1"/>
                </p:cNvPicPr>
                <p:nvPr/>
              </p:nvPicPr>
              <p:blipFill>
                <a:blip r:embed="rId3"/>
                <a:stretch>
                  <a:fillRect/>
                </a:stretch>
              </p:blipFill>
              <p:spPr>
                <a:xfrm rot="801149">
                  <a:off x="831543" y="2518778"/>
                  <a:ext cx="2281298" cy="2622275"/>
                </a:xfrm>
                <a:prstGeom prst="rect">
                  <a:avLst/>
                </a:prstGeom>
                <a:scene3d>
                  <a:camera prst="perspectiveHeroicExtremeRightFacing" fov="7200000">
                    <a:rot lat="20888880" lon="19471388" rev="476525"/>
                  </a:camera>
                  <a:lightRig rig="threePt" dir="t"/>
                </a:scene3d>
              </p:spPr>
            </p:pic>
            <p:cxnSp>
              <p:nvCxnSpPr>
                <p:cNvPr id="20" name="Straight Connector 19">
                  <a:extLst>
                    <a:ext uri="{FF2B5EF4-FFF2-40B4-BE49-F238E27FC236}">
                      <a16:creationId xmlns:a16="http://schemas.microsoft.com/office/drawing/2014/main" id="{B5B78F7E-D6E5-3087-1525-5A5D559DBA70}"/>
                    </a:ext>
                  </a:extLst>
                </p:cNvPr>
                <p:cNvCxnSpPr>
                  <a:cxnSpLocks/>
                </p:cNvCxnSpPr>
                <p:nvPr/>
              </p:nvCxnSpPr>
              <p:spPr>
                <a:xfrm flipV="1">
                  <a:off x="1232902" y="2409825"/>
                  <a:ext cx="3424823" cy="1196404"/>
                </a:xfrm>
                <a:prstGeom prst="line">
                  <a:avLst/>
                </a:prstGeom>
                <a:ln w="9525">
                  <a:solidFill>
                    <a:srgbClr val="00B0F0"/>
                  </a:solidFill>
                  <a:prstDash val="solid"/>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B5E1E13-74D6-0B30-E48B-28BB1EC79063}"/>
                    </a:ext>
                  </a:extLst>
                </p:cNvPr>
                <p:cNvCxnSpPr>
                  <a:cxnSpLocks/>
                </p:cNvCxnSpPr>
                <p:nvPr/>
              </p:nvCxnSpPr>
              <p:spPr>
                <a:xfrm flipV="1">
                  <a:off x="1064665" y="2409825"/>
                  <a:ext cx="3593060" cy="2228241"/>
                </a:xfrm>
                <a:prstGeom prst="line">
                  <a:avLst/>
                </a:prstGeom>
                <a:ln w="9525">
                  <a:solidFill>
                    <a:srgbClr val="00B0F0"/>
                  </a:solidFill>
                  <a:prstDash val="solid"/>
                </a:ln>
              </p:spPr>
              <p:style>
                <a:lnRef idx="2">
                  <a:schemeClr val="accent1"/>
                </a:lnRef>
                <a:fillRef idx="0">
                  <a:schemeClr val="accent1"/>
                </a:fillRef>
                <a:effectRef idx="1">
                  <a:schemeClr val="accent1"/>
                </a:effectRef>
                <a:fontRef idx="minor">
                  <a:schemeClr val="tx1"/>
                </a:fontRef>
              </p:style>
            </p:cxnSp>
          </p:grpSp>
        </p:grpSp>
        <p:sp>
          <p:nvSpPr>
            <p:cNvPr id="44" name="TextBox 43">
              <a:extLst>
                <a:ext uri="{FF2B5EF4-FFF2-40B4-BE49-F238E27FC236}">
                  <a16:creationId xmlns:a16="http://schemas.microsoft.com/office/drawing/2014/main" id="{D261C698-2B44-8685-EE9C-563CB131D34F}"/>
                </a:ext>
              </a:extLst>
            </p:cNvPr>
            <p:cNvSpPr txBox="1"/>
            <p:nvPr/>
          </p:nvSpPr>
          <p:spPr>
            <a:xfrm>
              <a:off x="677326" y="1853145"/>
              <a:ext cx="4220239" cy="369332"/>
            </a:xfrm>
            <a:prstGeom prst="rect">
              <a:avLst/>
            </a:prstGeom>
            <a:solidFill>
              <a:srgbClr val="0070C0"/>
            </a:solidFill>
          </p:spPr>
          <p:txBody>
            <a:bodyPr wrap="square" rtlCol="0">
              <a:spAutoFit/>
            </a:bodyPr>
            <a:lstStyle/>
            <a:p>
              <a:pPr algn="ctr"/>
              <a:r>
                <a:rPr lang="en-US" b="1" dirty="0">
                  <a:solidFill>
                    <a:schemeClr val="bg1"/>
                  </a:solidFill>
                </a:rPr>
                <a:t>Perspective:</a:t>
              </a:r>
            </a:p>
          </p:txBody>
        </p:sp>
      </p:grpSp>
      <p:grpSp>
        <p:nvGrpSpPr>
          <p:cNvPr id="49" name="Group 48">
            <a:extLst>
              <a:ext uri="{FF2B5EF4-FFF2-40B4-BE49-F238E27FC236}">
                <a16:creationId xmlns:a16="http://schemas.microsoft.com/office/drawing/2014/main" id="{94908F33-039D-B58E-0324-88D4C5C55896}"/>
              </a:ext>
            </a:extLst>
          </p:cNvPr>
          <p:cNvGrpSpPr/>
          <p:nvPr/>
        </p:nvGrpSpPr>
        <p:grpSpPr>
          <a:xfrm>
            <a:off x="5427510" y="2424645"/>
            <a:ext cx="2825222" cy="3616827"/>
            <a:chOff x="5427510" y="1853145"/>
            <a:chExt cx="2825222" cy="3616827"/>
          </a:xfrm>
        </p:grpSpPr>
        <p:pic>
          <p:nvPicPr>
            <p:cNvPr id="11" name="Picture 10">
              <a:extLst>
                <a:ext uri="{FF2B5EF4-FFF2-40B4-BE49-F238E27FC236}">
                  <a16:creationId xmlns:a16="http://schemas.microsoft.com/office/drawing/2014/main" id="{00F12DEF-6AD2-59EB-A838-14342FE15497}"/>
                </a:ext>
              </a:extLst>
            </p:cNvPr>
            <p:cNvPicPr>
              <a:picLocks noChangeAspect="1"/>
            </p:cNvPicPr>
            <p:nvPr/>
          </p:nvPicPr>
          <p:blipFill>
            <a:blip r:embed="rId3"/>
            <a:stretch>
              <a:fillRect/>
            </a:stretch>
          </p:blipFill>
          <p:spPr>
            <a:xfrm>
              <a:off x="5427510" y="2222477"/>
              <a:ext cx="2825222" cy="3247495"/>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45" name="TextBox 44">
              <a:extLst>
                <a:ext uri="{FF2B5EF4-FFF2-40B4-BE49-F238E27FC236}">
                  <a16:creationId xmlns:a16="http://schemas.microsoft.com/office/drawing/2014/main" id="{7E359355-6F2D-6611-628A-FBF54254D536}"/>
                </a:ext>
              </a:extLst>
            </p:cNvPr>
            <p:cNvSpPr txBox="1"/>
            <p:nvPr/>
          </p:nvSpPr>
          <p:spPr>
            <a:xfrm>
              <a:off x="5427510" y="1853145"/>
              <a:ext cx="2825222" cy="369332"/>
            </a:xfrm>
            <a:prstGeom prst="rect">
              <a:avLst/>
            </a:prstGeom>
            <a:solidFill>
              <a:srgbClr val="0070C0"/>
            </a:solidFill>
          </p:spPr>
          <p:txBody>
            <a:bodyPr wrap="square" rtlCol="0">
              <a:spAutoFit/>
            </a:bodyPr>
            <a:lstStyle/>
            <a:p>
              <a:pPr algn="ctr"/>
              <a:r>
                <a:rPr lang="en-US" b="1" dirty="0">
                  <a:solidFill>
                    <a:schemeClr val="bg1"/>
                  </a:solidFill>
                </a:rPr>
                <a:t>Isometric:</a:t>
              </a:r>
            </a:p>
          </p:txBody>
        </p:sp>
      </p:grpSp>
      <p:grpSp>
        <p:nvGrpSpPr>
          <p:cNvPr id="50" name="Group 49">
            <a:extLst>
              <a:ext uri="{FF2B5EF4-FFF2-40B4-BE49-F238E27FC236}">
                <a16:creationId xmlns:a16="http://schemas.microsoft.com/office/drawing/2014/main" id="{25172139-252F-BB8F-D081-18CEBF9B64FD}"/>
              </a:ext>
            </a:extLst>
          </p:cNvPr>
          <p:cNvGrpSpPr/>
          <p:nvPr/>
        </p:nvGrpSpPr>
        <p:grpSpPr>
          <a:xfrm>
            <a:off x="8782676" y="2424645"/>
            <a:ext cx="2825222" cy="3616827"/>
            <a:chOff x="8782676" y="1853145"/>
            <a:chExt cx="2825222" cy="3616827"/>
          </a:xfrm>
        </p:grpSpPr>
        <p:pic>
          <p:nvPicPr>
            <p:cNvPr id="8" name="Picture 7">
              <a:extLst>
                <a:ext uri="{FF2B5EF4-FFF2-40B4-BE49-F238E27FC236}">
                  <a16:creationId xmlns:a16="http://schemas.microsoft.com/office/drawing/2014/main" id="{CCC8A1FD-55DD-76BF-1060-CB4A38FF2816}"/>
                </a:ext>
              </a:extLst>
            </p:cNvPr>
            <p:cNvPicPr>
              <a:picLocks noChangeAspect="1"/>
            </p:cNvPicPr>
            <p:nvPr/>
          </p:nvPicPr>
          <p:blipFill>
            <a:blip r:embed="rId4"/>
            <a:stretch>
              <a:fillRect/>
            </a:stretch>
          </p:blipFill>
          <p:spPr>
            <a:xfrm>
              <a:off x="8782677" y="2222477"/>
              <a:ext cx="2825221" cy="3247495"/>
            </a:xfrm>
            <a:prstGeom prst="rect">
              <a:avLst/>
            </a:prstGeom>
            <a:noFill/>
            <a:ln>
              <a:solidFill>
                <a:schemeClr val="bg1">
                  <a:lumMod val="65000"/>
                </a:schemeClr>
              </a:solidFill>
            </a:ln>
            <a:effectLst>
              <a:outerShdw blurRad="50800" dist="88900" dir="2700000" algn="tl" rotWithShape="0">
                <a:prstClr val="black">
                  <a:alpha val="40000"/>
                </a:prstClr>
              </a:outerShdw>
            </a:effectLst>
          </p:spPr>
        </p:pic>
        <p:sp>
          <p:nvSpPr>
            <p:cNvPr id="47" name="TextBox 46">
              <a:extLst>
                <a:ext uri="{FF2B5EF4-FFF2-40B4-BE49-F238E27FC236}">
                  <a16:creationId xmlns:a16="http://schemas.microsoft.com/office/drawing/2014/main" id="{C0A9C19E-824A-692D-2DEA-E0199522397D}"/>
                </a:ext>
              </a:extLst>
            </p:cNvPr>
            <p:cNvSpPr txBox="1"/>
            <p:nvPr/>
          </p:nvSpPr>
          <p:spPr>
            <a:xfrm>
              <a:off x="8782676" y="1853145"/>
              <a:ext cx="2825222" cy="369332"/>
            </a:xfrm>
            <a:prstGeom prst="rect">
              <a:avLst/>
            </a:prstGeom>
            <a:solidFill>
              <a:srgbClr val="0070C0"/>
            </a:solidFill>
          </p:spPr>
          <p:txBody>
            <a:bodyPr wrap="square" rtlCol="0">
              <a:spAutoFit/>
            </a:bodyPr>
            <a:lstStyle/>
            <a:p>
              <a:pPr algn="ctr"/>
              <a:r>
                <a:rPr lang="en-US" b="1" dirty="0">
                  <a:solidFill>
                    <a:schemeClr val="bg1"/>
                  </a:solidFill>
                </a:rPr>
                <a:t>Orthographic:</a:t>
              </a:r>
            </a:p>
          </p:txBody>
        </p:sp>
      </p:grpSp>
      <p:sp>
        <p:nvSpPr>
          <p:cNvPr id="3" name="TextBox 2">
            <a:extLst>
              <a:ext uri="{FF2B5EF4-FFF2-40B4-BE49-F238E27FC236}">
                <a16:creationId xmlns:a16="http://schemas.microsoft.com/office/drawing/2014/main" id="{7AB7F0E2-B334-9D43-8ABE-95FD2CC66A19}"/>
              </a:ext>
            </a:extLst>
          </p:cNvPr>
          <p:cNvSpPr txBox="1"/>
          <p:nvPr/>
        </p:nvSpPr>
        <p:spPr>
          <a:xfrm>
            <a:off x="3262745" y="6041471"/>
            <a:ext cx="1634820" cy="239519"/>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4" name="TextBox 3">
            <a:extLst>
              <a:ext uri="{FF2B5EF4-FFF2-40B4-BE49-F238E27FC236}">
                <a16:creationId xmlns:a16="http://schemas.microsoft.com/office/drawing/2014/main" id="{61C8449E-7520-F7A1-15DE-E9DBC3E55D30}"/>
              </a:ext>
            </a:extLst>
          </p:cNvPr>
          <p:cNvSpPr txBox="1"/>
          <p:nvPr/>
        </p:nvSpPr>
        <p:spPr>
          <a:xfrm>
            <a:off x="6617910" y="6050159"/>
            <a:ext cx="1634821" cy="239518"/>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5" name="TextBox 4">
            <a:extLst>
              <a:ext uri="{FF2B5EF4-FFF2-40B4-BE49-F238E27FC236}">
                <a16:creationId xmlns:a16="http://schemas.microsoft.com/office/drawing/2014/main" id="{896DD3D3-EE6C-AFB7-A122-7CA00BE8C195}"/>
              </a:ext>
            </a:extLst>
          </p:cNvPr>
          <p:cNvSpPr txBox="1"/>
          <p:nvPr/>
        </p:nvSpPr>
        <p:spPr>
          <a:xfrm>
            <a:off x="9946016" y="6041471"/>
            <a:ext cx="1634822" cy="239517"/>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Tree>
    <p:extLst>
      <p:ext uri="{BB962C8B-B14F-4D97-AF65-F5344CB8AC3E}">
        <p14:creationId xmlns:p14="http://schemas.microsoft.com/office/powerpoint/2010/main" val="3607160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D267807-72EB-CEE5-F9A0-80655827035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09048FA-7209-299F-861C-1A0FE05BC32B}"/>
              </a:ext>
            </a:extLst>
          </p:cNvPr>
          <p:cNvSpPr/>
          <p:nvPr/>
        </p:nvSpPr>
        <p:spPr>
          <a:xfrm>
            <a:off x="767480" y="1484170"/>
            <a:ext cx="1602000" cy="15753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graphicFrame>
        <p:nvGraphicFramePr>
          <p:cNvPr id="10" name="Object 9">
            <a:extLst>
              <a:ext uri="{FF2B5EF4-FFF2-40B4-BE49-F238E27FC236}">
                <a16:creationId xmlns:a16="http://schemas.microsoft.com/office/drawing/2014/main" id="{C1FDB8E8-4B11-BA30-1210-482278B5D129}"/>
              </a:ext>
            </a:extLst>
          </p:cNvPr>
          <p:cNvGraphicFramePr>
            <a:graphicFrameLocks noChangeAspect="1"/>
          </p:cNvGraphicFramePr>
          <p:nvPr>
            <p:extLst>
              <p:ext uri="{D42A27DB-BD31-4B8C-83A1-F6EECF244321}">
                <p14:modId xmlns:p14="http://schemas.microsoft.com/office/powerpoint/2010/main" val="1236555572"/>
              </p:ext>
            </p:extLst>
          </p:nvPr>
        </p:nvGraphicFramePr>
        <p:xfrm>
          <a:off x="769431" y="2328858"/>
          <a:ext cx="1600049" cy="475158"/>
        </p:xfrm>
        <a:graphic>
          <a:graphicData uri="http://schemas.openxmlformats.org/presentationml/2006/ole">
            <mc:AlternateContent xmlns:mc="http://schemas.openxmlformats.org/markup-compatibility/2006">
              <mc:Choice xmlns:v="urn:schemas-microsoft-com:vml" Requires="v">
                <p:oleObj name="Bitmap Image" r:id="rId3" imgW="3870960" imgH="1149096" progId="Paint.Picture">
                  <p:embed/>
                </p:oleObj>
              </mc:Choice>
              <mc:Fallback>
                <p:oleObj name="Bitmap Image" r:id="rId3" imgW="3870960" imgH="1149096" progId="Paint.Picture">
                  <p:embed/>
                  <p:pic>
                    <p:nvPicPr>
                      <p:cNvPr id="0" name=""/>
                      <p:cNvPicPr/>
                      <p:nvPr/>
                    </p:nvPicPr>
                    <p:blipFill>
                      <a:blip r:embed="rId4"/>
                      <a:stretch>
                        <a:fillRect/>
                      </a:stretch>
                    </p:blipFill>
                    <p:spPr>
                      <a:xfrm>
                        <a:off x="769431" y="2328858"/>
                        <a:ext cx="1600049" cy="475158"/>
                      </a:xfrm>
                      <a:prstGeom prst="rect">
                        <a:avLst/>
                      </a:prstGeom>
                    </p:spPr>
                  </p:pic>
                </p:oleObj>
              </mc:Fallback>
            </mc:AlternateContent>
          </a:graphicData>
        </a:graphic>
      </p:graphicFrame>
      <p:sp>
        <p:nvSpPr>
          <p:cNvPr id="35" name="Rectangle 34">
            <a:extLst>
              <a:ext uri="{FF2B5EF4-FFF2-40B4-BE49-F238E27FC236}">
                <a16:creationId xmlns:a16="http://schemas.microsoft.com/office/drawing/2014/main" id="{FD1C1048-A2BD-6369-18CC-5E73A4A349D8}"/>
              </a:ext>
            </a:extLst>
          </p:cNvPr>
          <p:cNvSpPr/>
          <p:nvPr/>
        </p:nvSpPr>
        <p:spPr>
          <a:xfrm>
            <a:off x="765404" y="1479508"/>
            <a:ext cx="1602000" cy="1585557"/>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 name="Title 1">
            <a:extLst>
              <a:ext uri="{FF2B5EF4-FFF2-40B4-BE49-F238E27FC236}">
                <a16:creationId xmlns:a16="http://schemas.microsoft.com/office/drawing/2014/main" id="{D38C2B0C-0628-52DD-639E-157C47BC4038}"/>
              </a:ext>
            </a:extLst>
          </p:cNvPr>
          <p:cNvSpPr>
            <a:spLocks noGrp="1"/>
          </p:cNvSpPr>
          <p:nvPr>
            <p:ph type="title"/>
          </p:nvPr>
        </p:nvSpPr>
        <p:spPr>
          <a:xfrm>
            <a:off x="365760" y="365760"/>
            <a:ext cx="10515600" cy="877824"/>
          </a:xfrm>
        </p:spPr>
        <p:txBody>
          <a:bodyPr/>
          <a:lstStyle/>
          <a:p>
            <a:r>
              <a:rPr lang="en-US" dirty="0"/>
              <a:t>Orthographic Projection - Glass Box  /  6 Face</a:t>
            </a:r>
          </a:p>
        </p:txBody>
      </p:sp>
      <p:sp>
        <p:nvSpPr>
          <p:cNvPr id="15" name="Rectangle 14">
            <a:extLst>
              <a:ext uri="{FF2B5EF4-FFF2-40B4-BE49-F238E27FC236}">
                <a16:creationId xmlns:a16="http://schemas.microsoft.com/office/drawing/2014/main" id="{61922EE2-73E0-74CB-4B67-C2D53292EE90}"/>
              </a:ext>
            </a:extLst>
          </p:cNvPr>
          <p:cNvSpPr/>
          <p:nvPr/>
        </p:nvSpPr>
        <p:spPr>
          <a:xfrm>
            <a:off x="1317567" y="489951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Bottom</a:t>
            </a:r>
          </a:p>
        </p:txBody>
      </p:sp>
      <p:sp>
        <p:nvSpPr>
          <p:cNvPr id="22" name="Rectangle 21">
            <a:extLst>
              <a:ext uri="{FF2B5EF4-FFF2-40B4-BE49-F238E27FC236}">
                <a16:creationId xmlns:a16="http://schemas.microsoft.com/office/drawing/2014/main" id="{54F93674-31F1-C106-A11B-7994BBA7153E}"/>
              </a:ext>
            </a:extLst>
          </p:cNvPr>
          <p:cNvSpPr/>
          <p:nvPr/>
        </p:nvSpPr>
        <p:spPr>
          <a:xfrm>
            <a:off x="1317567" y="560436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Left</a:t>
            </a:r>
          </a:p>
        </p:txBody>
      </p:sp>
      <p:sp>
        <p:nvSpPr>
          <p:cNvPr id="23" name="Rectangle 22">
            <a:extLst>
              <a:ext uri="{FF2B5EF4-FFF2-40B4-BE49-F238E27FC236}">
                <a16:creationId xmlns:a16="http://schemas.microsoft.com/office/drawing/2014/main" id="{AE7501AE-BDB0-6DC0-217A-976A12B3FAD9}"/>
              </a:ext>
            </a:extLst>
          </p:cNvPr>
          <p:cNvSpPr/>
          <p:nvPr/>
        </p:nvSpPr>
        <p:spPr>
          <a:xfrm>
            <a:off x="1317567" y="419466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Right</a:t>
            </a:r>
          </a:p>
        </p:txBody>
      </p:sp>
      <p:sp>
        <p:nvSpPr>
          <p:cNvPr id="24" name="Rectangle 23">
            <a:extLst>
              <a:ext uri="{FF2B5EF4-FFF2-40B4-BE49-F238E27FC236}">
                <a16:creationId xmlns:a16="http://schemas.microsoft.com/office/drawing/2014/main" id="{2E8B41A9-CFB0-7586-EEA5-15B39F87C69F}"/>
              </a:ext>
            </a:extLst>
          </p:cNvPr>
          <p:cNvSpPr/>
          <p:nvPr/>
        </p:nvSpPr>
        <p:spPr>
          <a:xfrm>
            <a:off x="621429" y="489951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Front</a:t>
            </a:r>
          </a:p>
        </p:txBody>
      </p:sp>
      <p:sp>
        <p:nvSpPr>
          <p:cNvPr id="26" name="Rectangle 25">
            <a:extLst>
              <a:ext uri="{FF2B5EF4-FFF2-40B4-BE49-F238E27FC236}">
                <a16:creationId xmlns:a16="http://schemas.microsoft.com/office/drawing/2014/main" id="{1A5581F0-7449-3878-5EBA-B9F7CD655525}"/>
              </a:ext>
            </a:extLst>
          </p:cNvPr>
          <p:cNvSpPr/>
          <p:nvPr/>
        </p:nvSpPr>
        <p:spPr>
          <a:xfrm>
            <a:off x="2013705" y="489951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Plan</a:t>
            </a:r>
            <a:br>
              <a:rPr lang="en-US" sz="1200" dirty="0">
                <a:solidFill>
                  <a:schemeClr val="tx1"/>
                </a:solidFill>
              </a:rPr>
            </a:br>
            <a:r>
              <a:rPr lang="en-US" sz="1200" dirty="0">
                <a:solidFill>
                  <a:schemeClr val="tx1"/>
                </a:solidFill>
              </a:rPr>
              <a:t>(Rear)</a:t>
            </a:r>
          </a:p>
        </p:txBody>
      </p:sp>
      <p:sp>
        <p:nvSpPr>
          <p:cNvPr id="27" name="Rectangle 26">
            <a:extLst>
              <a:ext uri="{FF2B5EF4-FFF2-40B4-BE49-F238E27FC236}">
                <a16:creationId xmlns:a16="http://schemas.microsoft.com/office/drawing/2014/main" id="{5BAB8E5C-ACC9-A540-553A-BA1BB85AA963}"/>
              </a:ext>
            </a:extLst>
          </p:cNvPr>
          <p:cNvSpPr/>
          <p:nvPr/>
        </p:nvSpPr>
        <p:spPr>
          <a:xfrm>
            <a:off x="2709843" y="4899515"/>
            <a:ext cx="696138" cy="704850"/>
          </a:xfrm>
          <a:prstGeom prst="rect">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Top</a:t>
            </a:r>
          </a:p>
        </p:txBody>
      </p:sp>
      <p:sp>
        <p:nvSpPr>
          <p:cNvPr id="29" name="Arrow: Down 28">
            <a:extLst>
              <a:ext uri="{FF2B5EF4-FFF2-40B4-BE49-F238E27FC236}">
                <a16:creationId xmlns:a16="http://schemas.microsoft.com/office/drawing/2014/main" id="{3AAFD4E1-0448-5B0A-7048-745B579DEA20}"/>
              </a:ext>
            </a:extLst>
          </p:cNvPr>
          <p:cNvSpPr/>
          <p:nvPr/>
        </p:nvSpPr>
        <p:spPr>
          <a:xfrm>
            <a:off x="1543462" y="3399270"/>
            <a:ext cx="267938" cy="781166"/>
          </a:xfrm>
          <a:prstGeom prst="downArrow">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EE7ADBC3-A930-BD5C-0FEA-6EF253166822}"/>
              </a:ext>
            </a:extLst>
          </p:cNvPr>
          <p:cNvSpPr/>
          <p:nvPr/>
        </p:nvSpPr>
        <p:spPr>
          <a:xfrm rot="16200000">
            <a:off x="3788091" y="4746424"/>
            <a:ext cx="267938" cy="1032157"/>
          </a:xfrm>
          <a:prstGeom prst="downArrow">
            <a:avLst/>
          </a:prstGeom>
          <a:solidFill>
            <a:srgbClr val="0070C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D939D9E-C80E-903D-3EA5-F4E92133BAAA}"/>
              </a:ext>
            </a:extLst>
          </p:cNvPr>
          <p:cNvPicPr>
            <a:picLocks noChangeAspect="1"/>
          </p:cNvPicPr>
          <p:nvPr/>
        </p:nvPicPr>
        <p:blipFill>
          <a:blip r:embed="rId5"/>
          <a:stretch>
            <a:fillRect/>
          </a:stretch>
        </p:blipFill>
        <p:spPr>
          <a:xfrm>
            <a:off x="4438139" y="1485559"/>
            <a:ext cx="2691618" cy="2467316"/>
          </a:xfrm>
          <a:prstGeom prst="rect">
            <a:avLst/>
          </a:prstGeom>
        </p:spPr>
      </p:pic>
      <p:pic>
        <p:nvPicPr>
          <p:cNvPr id="6" name="Picture 5">
            <a:extLst>
              <a:ext uri="{FF2B5EF4-FFF2-40B4-BE49-F238E27FC236}">
                <a16:creationId xmlns:a16="http://schemas.microsoft.com/office/drawing/2014/main" id="{E771614E-7D31-3138-7508-C8FFF874475E}"/>
              </a:ext>
            </a:extLst>
          </p:cNvPr>
          <p:cNvPicPr>
            <a:picLocks noChangeAspect="1"/>
          </p:cNvPicPr>
          <p:nvPr/>
        </p:nvPicPr>
        <p:blipFill>
          <a:blip r:embed="rId6"/>
          <a:stretch>
            <a:fillRect/>
          </a:stretch>
        </p:blipFill>
        <p:spPr>
          <a:xfrm>
            <a:off x="7129756" y="1484171"/>
            <a:ext cx="2221309" cy="2467316"/>
          </a:xfrm>
          <a:prstGeom prst="rect">
            <a:avLst/>
          </a:prstGeom>
        </p:spPr>
      </p:pic>
      <p:pic>
        <p:nvPicPr>
          <p:cNvPr id="8" name="Picture 7">
            <a:extLst>
              <a:ext uri="{FF2B5EF4-FFF2-40B4-BE49-F238E27FC236}">
                <a16:creationId xmlns:a16="http://schemas.microsoft.com/office/drawing/2014/main" id="{ED7966D6-6CFA-0D05-0E01-5E9836BF463A}"/>
              </a:ext>
            </a:extLst>
          </p:cNvPr>
          <p:cNvPicPr>
            <a:picLocks noChangeAspect="1"/>
          </p:cNvPicPr>
          <p:nvPr/>
        </p:nvPicPr>
        <p:blipFill>
          <a:blip r:embed="rId7"/>
          <a:stretch>
            <a:fillRect/>
          </a:stretch>
        </p:blipFill>
        <p:spPr>
          <a:xfrm>
            <a:off x="9351065" y="1484171"/>
            <a:ext cx="2431139" cy="2467316"/>
          </a:xfrm>
          <a:prstGeom prst="rect">
            <a:avLst/>
          </a:prstGeom>
        </p:spPr>
      </p:pic>
      <p:pic>
        <p:nvPicPr>
          <p:cNvPr id="16" name="Picture 15">
            <a:extLst>
              <a:ext uri="{FF2B5EF4-FFF2-40B4-BE49-F238E27FC236}">
                <a16:creationId xmlns:a16="http://schemas.microsoft.com/office/drawing/2014/main" id="{3921B9DF-6F5D-4B1D-0377-AA8F13170674}"/>
              </a:ext>
            </a:extLst>
          </p:cNvPr>
          <p:cNvPicPr>
            <a:picLocks noChangeAspect="1"/>
          </p:cNvPicPr>
          <p:nvPr/>
        </p:nvPicPr>
        <p:blipFill>
          <a:blip r:embed="rId8"/>
          <a:stretch>
            <a:fillRect/>
          </a:stretch>
        </p:blipFill>
        <p:spPr>
          <a:xfrm>
            <a:off x="7053659" y="3951486"/>
            <a:ext cx="2406623" cy="2457984"/>
          </a:xfrm>
          <a:prstGeom prst="rect">
            <a:avLst/>
          </a:prstGeom>
        </p:spPr>
      </p:pic>
      <p:pic>
        <p:nvPicPr>
          <p:cNvPr id="18" name="Picture 17">
            <a:extLst>
              <a:ext uri="{FF2B5EF4-FFF2-40B4-BE49-F238E27FC236}">
                <a16:creationId xmlns:a16="http://schemas.microsoft.com/office/drawing/2014/main" id="{FF14CF34-6DB9-E87F-814C-7E3C5AD244F7}"/>
              </a:ext>
            </a:extLst>
          </p:cNvPr>
          <p:cNvPicPr>
            <a:picLocks noChangeAspect="1"/>
          </p:cNvPicPr>
          <p:nvPr/>
        </p:nvPicPr>
        <p:blipFill>
          <a:blip r:embed="rId9"/>
          <a:stretch>
            <a:fillRect/>
          </a:stretch>
        </p:blipFill>
        <p:spPr>
          <a:xfrm>
            <a:off x="9460281" y="3951486"/>
            <a:ext cx="2321923" cy="2457984"/>
          </a:xfrm>
          <a:prstGeom prst="rect">
            <a:avLst/>
          </a:prstGeom>
        </p:spPr>
      </p:pic>
      <p:pic>
        <p:nvPicPr>
          <p:cNvPr id="20" name="Picture 19">
            <a:extLst>
              <a:ext uri="{FF2B5EF4-FFF2-40B4-BE49-F238E27FC236}">
                <a16:creationId xmlns:a16="http://schemas.microsoft.com/office/drawing/2014/main" id="{FA6EDCE0-0682-0A38-DBB1-076D5A0C809D}"/>
              </a:ext>
            </a:extLst>
          </p:cNvPr>
          <p:cNvPicPr>
            <a:picLocks noChangeAspect="1"/>
          </p:cNvPicPr>
          <p:nvPr/>
        </p:nvPicPr>
        <p:blipFill>
          <a:blip r:embed="rId10"/>
          <a:stretch>
            <a:fillRect/>
          </a:stretch>
        </p:blipFill>
        <p:spPr>
          <a:xfrm>
            <a:off x="4438137" y="3951486"/>
            <a:ext cx="2615521" cy="2457984"/>
          </a:xfrm>
          <a:prstGeom prst="rect">
            <a:avLst/>
          </a:prstGeom>
        </p:spPr>
      </p:pic>
      <p:sp>
        <p:nvSpPr>
          <p:cNvPr id="21" name="Parallelogram 20">
            <a:extLst>
              <a:ext uri="{FF2B5EF4-FFF2-40B4-BE49-F238E27FC236}">
                <a16:creationId xmlns:a16="http://schemas.microsoft.com/office/drawing/2014/main" id="{2F5F1156-4689-7BCD-E9B7-E447EC740063}"/>
              </a:ext>
            </a:extLst>
          </p:cNvPr>
          <p:cNvSpPr/>
          <p:nvPr/>
        </p:nvSpPr>
        <p:spPr>
          <a:xfrm rot="16200000" flipV="1">
            <a:off x="-327475" y="2288402"/>
            <a:ext cx="1893426" cy="292738"/>
          </a:xfrm>
          <a:prstGeom prst="parallelogram">
            <a:avLst>
              <a:gd name="adj" fmla="val 103090"/>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5" name="Parallelogram 24">
            <a:extLst>
              <a:ext uri="{FF2B5EF4-FFF2-40B4-BE49-F238E27FC236}">
                <a16:creationId xmlns:a16="http://schemas.microsoft.com/office/drawing/2014/main" id="{99900A3E-7C9E-FEA5-FFC6-D99A14D268E5}"/>
              </a:ext>
            </a:extLst>
          </p:cNvPr>
          <p:cNvSpPr/>
          <p:nvPr/>
        </p:nvSpPr>
        <p:spPr>
          <a:xfrm rot="10800000">
            <a:off x="493557" y="1477667"/>
            <a:ext cx="1893426" cy="295497"/>
          </a:xfrm>
          <a:prstGeom prst="parallelogram">
            <a:avLst>
              <a:gd name="adj" fmla="val 94889"/>
            </a:avLst>
          </a:prstGeom>
          <a:solidFill>
            <a:srgbClr val="FFF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4" name="Parallelogram 33">
            <a:extLst>
              <a:ext uri="{FF2B5EF4-FFF2-40B4-BE49-F238E27FC236}">
                <a16:creationId xmlns:a16="http://schemas.microsoft.com/office/drawing/2014/main" id="{2BC4ACA1-E08F-2FDB-E23C-81D66D493F62}"/>
              </a:ext>
            </a:extLst>
          </p:cNvPr>
          <p:cNvSpPr/>
          <p:nvPr/>
        </p:nvSpPr>
        <p:spPr>
          <a:xfrm rot="10800000">
            <a:off x="481408" y="3065687"/>
            <a:ext cx="1893426" cy="309727"/>
          </a:xfrm>
          <a:prstGeom prst="parallelogram">
            <a:avLst>
              <a:gd name="adj" fmla="val 94889"/>
            </a:avLst>
          </a:prstGeom>
          <a:solidFill>
            <a:srgbClr val="FFFF00">
              <a:alpha val="1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6" name="Rectangle 35">
            <a:extLst>
              <a:ext uri="{FF2B5EF4-FFF2-40B4-BE49-F238E27FC236}">
                <a16:creationId xmlns:a16="http://schemas.microsoft.com/office/drawing/2014/main" id="{995BA02C-1DB8-F970-FFDF-5D2F3047A965}"/>
              </a:ext>
            </a:extLst>
          </p:cNvPr>
          <p:cNvSpPr/>
          <p:nvPr/>
        </p:nvSpPr>
        <p:spPr>
          <a:xfrm>
            <a:off x="484833" y="1779105"/>
            <a:ext cx="1602000" cy="1608238"/>
          </a:xfrm>
          <a:prstGeom prst="rect">
            <a:avLst/>
          </a:prstGeom>
          <a:solidFill>
            <a:srgbClr val="FFF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 name="TextBox 2">
            <a:extLst>
              <a:ext uri="{FF2B5EF4-FFF2-40B4-BE49-F238E27FC236}">
                <a16:creationId xmlns:a16="http://schemas.microsoft.com/office/drawing/2014/main" id="{3659E218-5B43-31AE-90E0-5AB75081EDC8}"/>
              </a:ext>
            </a:extLst>
          </p:cNvPr>
          <p:cNvSpPr txBox="1"/>
          <p:nvPr/>
        </p:nvSpPr>
        <p:spPr>
          <a:xfrm>
            <a:off x="10120745" y="6409470"/>
            <a:ext cx="1661790"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5" name="TextBox 4">
            <a:extLst>
              <a:ext uri="{FF2B5EF4-FFF2-40B4-BE49-F238E27FC236}">
                <a16:creationId xmlns:a16="http://schemas.microsoft.com/office/drawing/2014/main" id="{6137F4C4-8198-F8F5-427A-898B44A99682}"/>
              </a:ext>
            </a:extLst>
          </p:cNvPr>
          <p:cNvSpPr txBox="1"/>
          <p:nvPr/>
        </p:nvSpPr>
        <p:spPr>
          <a:xfrm rot="16200000">
            <a:off x="1649333" y="2213441"/>
            <a:ext cx="1665683" cy="230832"/>
          </a:xfrm>
          <a:prstGeom prst="rect">
            <a:avLst/>
          </a:prstGeom>
          <a:noFill/>
        </p:spPr>
        <p:txBody>
          <a:bodyPr wrap="square" rtlCol="0">
            <a:spAutoFit/>
          </a:bodyPr>
          <a:lstStyle/>
          <a:p>
            <a:pPr algn="r"/>
            <a:r>
              <a:rPr lang="pl-PL" sz="900" dirty="0"/>
              <a:t>ChatGPT </a:t>
            </a:r>
            <a:r>
              <a:rPr lang="en-US" sz="900" dirty="0"/>
              <a:t>/</a:t>
            </a:r>
            <a:r>
              <a:rPr lang="pl-PL" sz="900" dirty="0"/>
              <a:t> Matt Pierce, 2026</a:t>
            </a:r>
            <a:endParaRPr lang="en-US" sz="900" dirty="0"/>
          </a:p>
        </p:txBody>
      </p:sp>
      <p:sp>
        <p:nvSpPr>
          <p:cNvPr id="33" name="Parallelogram 32">
            <a:extLst>
              <a:ext uri="{FF2B5EF4-FFF2-40B4-BE49-F238E27FC236}">
                <a16:creationId xmlns:a16="http://schemas.microsoft.com/office/drawing/2014/main" id="{E8722C49-3F81-184B-0DF7-2972185EB57E}"/>
              </a:ext>
            </a:extLst>
          </p:cNvPr>
          <p:cNvSpPr/>
          <p:nvPr/>
        </p:nvSpPr>
        <p:spPr>
          <a:xfrm rot="16200000" flipV="1">
            <a:off x="1290673" y="2283165"/>
            <a:ext cx="1893426" cy="292738"/>
          </a:xfrm>
          <a:prstGeom prst="parallelogram">
            <a:avLst>
              <a:gd name="adj" fmla="val 103090"/>
            </a:avLst>
          </a:prstGeom>
          <a:solidFill>
            <a:srgbClr val="FFFF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01674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15" grpId="0" animBg="1"/>
      <p:bldP spid="22" grpId="0" animBg="1"/>
      <p:bldP spid="23" grpId="0" animBg="1"/>
      <p:bldP spid="24" grpId="0" animBg="1"/>
      <p:bldP spid="26" grpId="0" animBg="1"/>
      <p:bldP spid="27" grpId="0" animBg="1"/>
      <p:bldP spid="29" grpId="0" animBg="1"/>
      <p:bldP spid="30" grpId="0" animBg="1"/>
      <p:bldP spid="21" grpId="0" animBg="1"/>
      <p:bldP spid="25" grpId="0" animBg="1"/>
      <p:bldP spid="34" grpId="0" animBg="1"/>
      <p:bldP spid="36" grpId="0" animBg="1"/>
      <p:bldP spid="3" grpId="0"/>
      <p:bldP spid="5" grpId="0"/>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803A65C-D293-6F98-3FF1-DAB114585F31}"/>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9731E167-B56F-7C15-7040-277020A026A3}"/>
              </a:ext>
            </a:extLst>
          </p:cNvPr>
          <p:cNvPicPr>
            <a:picLocks noChangeAspect="1"/>
          </p:cNvPicPr>
          <p:nvPr/>
        </p:nvPicPr>
        <p:blipFill>
          <a:blip r:embed="rId3"/>
          <a:stretch>
            <a:fillRect/>
          </a:stretch>
        </p:blipFill>
        <p:spPr>
          <a:xfrm rot="448873">
            <a:off x="2895783" y="2586236"/>
            <a:ext cx="6307637" cy="3029904"/>
          </a:xfrm>
          <a:prstGeom prst="rect">
            <a:avLst/>
          </a:prstGeom>
        </p:spPr>
      </p:pic>
      <p:sp>
        <p:nvSpPr>
          <p:cNvPr id="2" name="Title 1">
            <a:extLst>
              <a:ext uri="{FF2B5EF4-FFF2-40B4-BE49-F238E27FC236}">
                <a16:creationId xmlns:a16="http://schemas.microsoft.com/office/drawing/2014/main" id="{20C60B00-F8C7-4A8F-0C0C-3D1BF4D2330B}"/>
              </a:ext>
            </a:extLst>
          </p:cNvPr>
          <p:cNvSpPr>
            <a:spLocks noGrp="1"/>
          </p:cNvSpPr>
          <p:nvPr>
            <p:ph type="title"/>
          </p:nvPr>
        </p:nvSpPr>
        <p:spPr>
          <a:xfrm>
            <a:off x="365760" y="365760"/>
            <a:ext cx="10515600" cy="877824"/>
          </a:xfrm>
        </p:spPr>
        <p:txBody>
          <a:bodyPr/>
          <a:lstStyle/>
          <a:p>
            <a:r>
              <a:rPr lang="en-US" dirty="0"/>
              <a:t>Aircraft Reference Planes (Axes)</a:t>
            </a:r>
          </a:p>
        </p:txBody>
      </p:sp>
      <p:graphicFrame>
        <p:nvGraphicFramePr>
          <p:cNvPr id="41" name="Table 40">
            <a:extLst>
              <a:ext uri="{FF2B5EF4-FFF2-40B4-BE49-F238E27FC236}">
                <a16:creationId xmlns:a16="http://schemas.microsoft.com/office/drawing/2014/main" id="{AA5DB486-2ABC-DCB7-4130-3348437E291E}"/>
              </a:ext>
            </a:extLst>
          </p:cNvPr>
          <p:cNvGraphicFramePr>
            <a:graphicFrameLocks noGrp="1"/>
          </p:cNvGraphicFramePr>
          <p:nvPr>
            <p:extLst>
              <p:ext uri="{D42A27DB-BD31-4B8C-83A1-F6EECF244321}">
                <p14:modId xmlns:p14="http://schemas.microsoft.com/office/powerpoint/2010/main" val="2317266391"/>
              </p:ext>
            </p:extLst>
          </p:nvPr>
        </p:nvGraphicFramePr>
        <p:xfrm>
          <a:off x="1952090" y="1351039"/>
          <a:ext cx="8147407" cy="370840"/>
        </p:xfrm>
        <a:graphic>
          <a:graphicData uri="http://schemas.openxmlformats.org/drawingml/2006/table">
            <a:tbl>
              <a:tblPr firstRow="1" bandRow="1">
                <a:tableStyleId>{5C22544A-7EE6-4342-B048-85BDC9FD1C3A}</a:tableStyleId>
              </a:tblPr>
              <a:tblGrid>
                <a:gridCol w="604080">
                  <a:extLst>
                    <a:ext uri="{9D8B030D-6E8A-4147-A177-3AD203B41FA5}">
                      <a16:colId xmlns:a16="http://schemas.microsoft.com/office/drawing/2014/main" val="1955561867"/>
                    </a:ext>
                  </a:extLst>
                </a:gridCol>
                <a:gridCol w="1560190">
                  <a:extLst>
                    <a:ext uri="{9D8B030D-6E8A-4147-A177-3AD203B41FA5}">
                      <a16:colId xmlns:a16="http://schemas.microsoft.com/office/drawing/2014/main" val="3202481138"/>
                    </a:ext>
                  </a:extLst>
                </a:gridCol>
                <a:gridCol w="2325600">
                  <a:extLst>
                    <a:ext uri="{9D8B030D-6E8A-4147-A177-3AD203B41FA5}">
                      <a16:colId xmlns:a16="http://schemas.microsoft.com/office/drawing/2014/main" val="2094945774"/>
                    </a:ext>
                  </a:extLst>
                </a:gridCol>
                <a:gridCol w="1029340">
                  <a:extLst>
                    <a:ext uri="{9D8B030D-6E8A-4147-A177-3AD203B41FA5}">
                      <a16:colId xmlns:a16="http://schemas.microsoft.com/office/drawing/2014/main" val="124819629"/>
                    </a:ext>
                  </a:extLst>
                </a:gridCol>
                <a:gridCol w="2628197">
                  <a:extLst>
                    <a:ext uri="{9D8B030D-6E8A-4147-A177-3AD203B41FA5}">
                      <a16:colId xmlns:a16="http://schemas.microsoft.com/office/drawing/2014/main" val="1901744544"/>
                    </a:ext>
                  </a:extLst>
                </a:gridCol>
              </a:tblGrid>
              <a:tr h="370840">
                <a:tc>
                  <a:txBody>
                    <a:bodyPr/>
                    <a:lstStyle/>
                    <a:p>
                      <a:r>
                        <a:rPr lang="en-US" b="1" dirty="0">
                          <a:solidFill>
                            <a:sysClr val="windowText" lastClr="000000"/>
                          </a:solidFill>
                        </a:rPr>
                        <a:t>STA</a:t>
                      </a:r>
                    </a:p>
                  </a:txBody>
                  <a:tcPr>
                    <a:solidFill>
                      <a:schemeClr val="tx2">
                        <a:lumMod val="10000"/>
                        <a:lumOff val="90000"/>
                      </a:schemeClr>
                    </a:solidFill>
                  </a:tcPr>
                </a:tc>
                <a:tc>
                  <a:txBody>
                    <a:bodyPr/>
                    <a:lstStyle/>
                    <a:p>
                      <a:r>
                        <a:rPr lang="en-US" b="0" dirty="0">
                          <a:solidFill>
                            <a:sysClr val="windowText" lastClr="000000"/>
                          </a:solidFill>
                        </a:rPr>
                        <a:t>Longitudinal</a:t>
                      </a:r>
                    </a:p>
                  </a:txBody>
                  <a:tcPr>
                    <a:solidFill>
                      <a:schemeClr val="tx2">
                        <a:lumMod val="10000"/>
                        <a:lumOff val="90000"/>
                      </a:schemeClr>
                    </a:solidFill>
                  </a:tcPr>
                </a:tc>
                <a:tc>
                  <a:txBody>
                    <a:bodyPr/>
                    <a:lstStyle/>
                    <a:p>
                      <a:r>
                        <a:rPr lang="en-US" b="0" dirty="0">
                          <a:solidFill>
                            <a:sysClr val="windowText" lastClr="000000"/>
                          </a:solidFill>
                        </a:rPr>
                        <a:t>Nose-to-Tail</a:t>
                      </a:r>
                    </a:p>
                  </a:txBody>
                  <a:tcPr>
                    <a:solidFill>
                      <a:schemeClr val="tx2">
                        <a:lumMod val="10000"/>
                        <a:lumOff val="90000"/>
                      </a:schemeClr>
                    </a:solidFill>
                  </a:tcPr>
                </a:tc>
                <a:tc>
                  <a:txBody>
                    <a:bodyPr/>
                    <a:lstStyle/>
                    <a:p>
                      <a:r>
                        <a:rPr lang="en-US" b="0" dirty="0">
                          <a:solidFill>
                            <a:sysClr val="windowText" lastClr="000000"/>
                          </a:solidFill>
                        </a:rPr>
                        <a:t>Length</a:t>
                      </a:r>
                    </a:p>
                  </a:txBody>
                  <a:tcPr>
                    <a:solidFill>
                      <a:schemeClr val="tx2">
                        <a:lumMod val="10000"/>
                        <a:lumOff val="90000"/>
                      </a:schemeClr>
                    </a:solidFill>
                  </a:tcPr>
                </a:tc>
                <a:tc>
                  <a:txBody>
                    <a:bodyPr/>
                    <a:lstStyle/>
                    <a:p>
                      <a:r>
                        <a:rPr lang="en-US" b="0" dirty="0">
                          <a:solidFill>
                            <a:sysClr val="windowText" lastClr="000000"/>
                          </a:solidFill>
                        </a:rPr>
                        <a:t>0 = Before Front of Plane</a:t>
                      </a:r>
                    </a:p>
                  </a:txBody>
                  <a:tcPr>
                    <a:solidFill>
                      <a:schemeClr val="tx2">
                        <a:lumMod val="10000"/>
                        <a:lumOff val="90000"/>
                      </a:schemeClr>
                    </a:solidFill>
                  </a:tcPr>
                </a:tc>
                <a:extLst>
                  <a:ext uri="{0D108BD9-81ED-4DB2-BD59-A6C34878D82A}">
                    <a16:rowId xmlns:a16="http://schemas.microsoft.com/office/drawing/2014/main" val="3580498751"/>
                  </a:ext>
                </a:extLst>
              </a:tr>
            </a:tbl>
          </a:graphicData>
        </a:graphic>
      </p:graphicFrame>
      <p:graphicFrame>
        <p:nvGraphicFramePr>
          <p:cNvPr id="42" name="Table 41">
            <a:extLst>
              <a:ext uri="{FF2B5EF4-FFF2-40B4-BE49-F238E27FC236}">
                <a16:creationId xmlns:a16="http://schemas.microsoft.com/office/drawing/2014/main" id="{8B58D197-1E6F-FDD9-AE86-96E049670460}"/>
              </a:ext>
            </a:extLst>
          </p:cNvPr>
          <p:cNvGraphicFramePr>
            <a:graphicFrameLocks noGrp="1"/>
          </p:cNvGraphicFramePr>
          <p:nvPr>
            <p:extLst>
              <p:ext uri="{D42A27DB-BD31-4B8C-83A1-F6EECF244321}">
                <p14:modId xmlns:p14="http://schemas.microsoft.com/office/powerpoint/2010/main" val="2268710686"/>
              </p:ext>
            </p:extLst>
          </p:nvPr>
        </p:nvGraphicFramePr>
        <p:xfrm>
          <a:off x="1952089" y="1680986"/>
          <a:ext cx="8147406" cy="370840"/>
        </p:xfrm>
        <a:graphic>
          <a:graphicData uri="http://schemas.openxmlformats.org/drawingml/2006/table">
            <a:tbl>
              <a:tblPr firstRow="1" bandRow="1">
                <a:tableStyleId>{5C22544A-7EE6-4342-B048-85BDC9FD1C3A}</a:tableStyleId>
              </a:tblPr>
              <a:tblGrid>
                <a:gridCol w="606176">
                  <a:extLst>
                    <a:ext uri="{9D8B030D-6E8A-4147-A177-3AD203B41FA5}">
                      <a16:colId xmlns:a16="http://schemas.microsoft.com/office/drawing/2014/main" val="1955561867"/>
                    </a:ext>
                  </a:extLst>
                </a:gridCol>
                <a:gridCol w="1551398">
                  <a:extLst>
                    <a:ext uri="{9D8B030D-6E8A-4147-A177-3AD203B41FA5}">
                      <a16:colId xmlns:a16="http://schemas.microsoft.com/office/drawing/2014/main" val="3202481138"/>
                    </a:ext>
                  </a:extLst>
                </a:gridCol>
                <a:gridCol w="2332234">
                  <a:extLst>
                    <a:ext uri="{9D8B030D-6E8A-4147-A177-3AD203B41FA5}">
                      <a16:colId xmlns:a16="http://schemas.microsoft.com/office/drawing/2014/main" val="2094945774"/>
                    </a:ext>
                  </a:extLst>
                </a:gridCol>
                <a:gridCol w="1027415">
                  <a:extLst>
                    <a:ext uri="{9D8B030D-6E8A-4147-A177-3AD203B41FA5}">
                      <a16:colId xmlns:a16="http://schemas.microsoft.com/office/drawing/2014/main" val="124819629"/>
                    </a:ext>
                  </a:extLst>
                </a:gridCol>
                <a:gridCol w="2630183">
                  <a:extLst>
                    <a:ext uri="{9D8B030D-6E8A-4147-A177-3AD203B41FA5}">
                      <a16:colId xmlns:a16="http://schemas.microsoft.com/office/drawing/2014/main" val="3901586117"/>
                    </a:ext>
                  </a:extLst>
                </a:gridCol>
              </a:tblGrid>
              <a:tr h="370840">
                <a:tc>
                  <a:txBody>
                    <a:bodyPr/>
                    <a:lstStyle/>
                    <a:p>
                      <a:r>
                        <a:rPr lang="en-US" b="1" dirty="0">
                          <a:solidFill>
                            <a:sysClr val="windowText" lastClr="000000"/>
                          </a:solidFill>
                        </a:rPr>
                        <a:t>BL</a:t>
                      </a:r>
                    </a:p>
                  </a:txBody>
                  <a:tcPr>
                    <a:solidFill>
                      <a:schemeClr val="tx2">
                        <a:lumMod val="10000"/>
                        <a:lumOff val="90000"/>
                      </a:schemeClr>
                    </a:solidFill>
                  </a:tcPr>
                </a:tc>
                <a:tc>
                  <a:txBody>
                    <a:bodyPr/>
                    <a:lstStyle/>
                    <a:p>
                      <a:r>
                        <a:rPr lang="en-US" b="0" dirty="0">
                          <a:solidFill>
                            <a:sysClr val="windowText" lastClr="000000"/>
                          </a:solidFill>
                        </a:rPr>
                        <a:t>Lateral</a:t>
                      </a:r>
                    </a:p>
                  </a:txBody>
                  <a:tcPr>
                    <a:solidFill>
                      <a:schemeClr val="tx2">
                        <a:lumMod val="10000"/>
                        <a:lumOff val="90000"/>
                      </a:schemeClr>
                    </a:solidFill>
                  </a:tcPr>
                </a:tc>
                <a:tc>
                  <a:txBody>
                    <a:bodyPr/>
                    <a:lstStyle/>
                    <a:p>
                      <a:r>
                        <a:rPr lang="en-US" b="0" dirty="0">
                          <a:solidFill>
                            <a:sysClr val="windowText" lastClr="000000"/>
                          </a:solidFill>
                        </a:rPr>
                        <a:t>Wingtip-to-Wingtip</a:t>
                      </a:r>
                    </a:p>
                  </a:txBody>
                  <a:tcPr>
                    <a:solidFill>
                      <a:schemeClr val="tx2">
                        <a:lumMod val="10000"/>
                        <a:lumOff val="90000"/>
                      </a:schemeClr>
                    </a:solidFill>
                  </a:tcPr>
                </a:tc>
                <a:tc>
                  <a:txBody>
                    <a:bodyPr/>
                    <a:lstStyle/>
                    <a:p>
                      <a:r>
                        <a:rPr lang="en-US" b="0" dirty="0">
                          <a:solidFill>
                            <a:sysClr val="windowText" lastClr="000000"/>
                          </a:solidFill>
                        </a:rPr>
                        <a:t>Width</a:t>
                      </a:r>
                    </a:p>
                  </a:txBody>
                  <a:tcPr>
                    <a:solidFill>
                      <a:schemeClr val="tx2">
                        <a:lumMod val="10000"/>
                        <a:lumOff val="90000"/>
                      </a:schemeClr>
                    </a:solidFill>
                  </a:tcPr>
                </a:tc>
                <a:tc>
                  <a:txBody>
                    <a:bodyPr/>
                    <a:lstStyle/>
                    <a:p>
                      <a:r>
                        <a:rPr lang="en-US" b="0" dirty="0">
                          <a:solidFill>
                            <a:sysClr val="windowText" lastClr="000000"/>
                          </a:solidFill>
                        </a:rPr>
                        <a:t>0 = Center of Plane</a:t>
                      </a:r>
                    </a:p>
                  </a:txBody>
                  <a:tcPr>
                    <a:solidFill>
                      <a:schemeClr val="tx2">
                        <a:lumMod val="10000"/>
                        <a:lumOff val="90000"/>
                      </a:schemeClr>
                    </a:solidFill>
                  </a:tcPr>
                </a:tc>
                <a:extLst>
                  <a:ext uri="{0D108BD9-81ED-4DB2-BD59-A6C34878D82A}">
                    <a16:rowId xmlns:a16="http://schemas.microsoft.com/office/drawing/2014/main" val="277380652"/>
                  </a:ext>
                </a:extLst>
              </a:tr>
            </a:tbl>
          </a:graphicData>
        </a:graphic>
      </p:graphicFrame>
      <p:graphicFrame>
        <p:nvGraphicFramePr>
          <p:cNvPr id="43" name="Table 42">
            <a:extLst>
              <a:ext uri="{FF2B5EF4-FFF2-40B4-BE49-F238E27FC236}">
                <a16:creationId xmlns:a16="http://schemas.microsoft.com/office/drawing/2014/main" id="{CEA7ADED-79D0-AE81-F507-9B974F74D39A}"/>
              </a:ext>
            </a:extLst>
          </p:cNvPr>
          <p:cNvGraphicFramePr>
            <a:graphicFrameLocks noGrp="1"/>
          </p:cNvGraphicFramePr>
          <p:nvPr>
            <p:extLst>
              <p:ext uri="{D42A27DB-BD31-4B8C-83A1-F6EECF244321}">
                <p14:modId xmlns:p14="http://schemas.microsoft.com/office/powerpoint/2010/main" val="2575536739"/>
              </p:ext>
            </p:extLst>
          </p:nvPr>
        </p:nvGraphicFramePr>
        <p:xfrm>
          <a:off x="1952090" y="2036893"/>
          <a:ext cx="8147407" cy="370840"/>
        </p:xfrm>
        <a:graphic>
          <a:graphicData uri="http://schemas.openxmlformats.org/drawingml/2006/table">
            <a:tbl>
              <a:tblPr firstRow="1" bandRow="1">
                <a:tableStyleId>{5C22544A-7EE6-4342-B048-85BDC9FD1C3A}</a:tableStyleId>
              </a:tblPr>
              <a:tblGrid>
                <a:gridCol w="606175">
                  <a:extLst>
                    <a:ext uri="{9D8B030D-6E8A-4147-A177-3AD203B41FA5}">
                      <a16:colId xmlns:a16="http://schemas.microsoft.com/office/drawing/2014/main" val="1955561867"/>
                    </a:ext>
                  </a:extLst>
                </a:gridCol>
                <a:gridCol w="1551398">
                  <a:extLst>
                    <a:ext uri="{9D8B030D-6E8A-4147-A177-3AD203B41FA5}">
                      <a16:colId xmlns:a16="http://schemas.microsoft.com/office/drawing/2014/main" val="3202481138"/>
                    </a:ext>
                  </a:extLst>
                </a:gridCol>
                <a:gridCol w="2332234">
                  <a:extLst>
                    <a:ext uri="{9D8B030D-6E8A-4147-A177-3AD203B41FA5}">
                      <a16:colId xmlns:a16="http://schemas.microsoft.com/office/drawing/2014/main" val="2094945774"/>
                    </a:ext>
                  </a:extLst>
                </a:gridCol>
                <a:gridCol w="1027415">
                  <a:extLst>
                    <a:ext uri="{9D8B030D-6E8A-4147-A177-3AD203B41FA5}">
                      <a16:colId xmlns:a16="http://schemas.microsoft.com/office/drawing/2014/main" val="124819629"/>
                    </a:ext>
                  </a:extLst>
                </a:gridCol>
                <a:gridCol w="2630185">
                  <a:extLst>
                    <a:ext uri="{9D8B030D-6E8A-4147-A177-3AD203B41FA5}">
                      <a16:colId xmlns:a16="http://schemas.microsoft.com/office/drawing/2014/main" val="84089207"/>
                    </a:ext>
                  </a:extLst>
                </a:gridCol>
              </a:tblGrid>
              <a:tr h="370840">
                <a:tc>
                  <a:txBody>
                    <a:bodyPr/>
                    <a:lstStyle/>
                    <a:p>
                      <a:r>
                        <a:rPr lang="en-US" b="1" dirty="0">
                          <a:solidFill>
                            <a:sysClr val="windowText" lastClr="000000"/>
                          </a:solidFill>
                        </a:rPr>
                        <a:t>WL</a:t>
                      </a:r>
                    </a:p>
                  </a:txBody>
                  <a:tcPr>
                    <a:solidFill>
                      <a:schemeClr val="tx2">
                        <a:lumMod val="10000"/>
                        <a:lumOff val="90000"/>
                      </a:schemeClr>
                    </a:solidFill>
                  </a:tcPr>
                </a:tc>
                <a:tc>
                  <a:txBody>
                    <a:bodyPr/>
                    <a:lstStyle/>
                    <a:p>
                      <a:r>
                        <a:rPr lang="en-US" b="0" dirty="0">
                          <a:solidFill>
                            <a:sysClr val="windowText" lastClr="000000"/>
                          </a:solidFill>
                        </a:rPr>
                        <a:t>Vertical</a:t>
                      </a:r>
                    </a:p>
                  </a:txBody>
                  <a:tcPr>
                    <a:solidFill>
                      <a:schemeClr val="tx2">
                        <a:lumMod val="10000"/>
                        <a:lumOff val="90000"/>
                      </a:schemeClr>
                    </a:solidFill>
                  </a:tcPr>
                </a:tc>
                <a:tc>
                  <a:txBody>
                    <a:bodyPr/>
                    <a:lstStyle/>
                    <a:p>
                      <a:r>
                        <a:rPr lang="en-US" b="0" dirty="0">
                          <a:solidFill>
                            <a:sysClr val="windowText" lastClr="000000"/>
                          </a:solidFill>
                        </a:rPr>
                        <a:t>Wheels-to-</a:t>
                      </a:r>
                      <a:r>
                        <a:rPr lang="en-US" b="0" dirty="0" err="1">
                          <a:solidFill>
                            <a:sysClr val="windowText" lastClr="000000"/>
                          </a:solidFill>
                        </a:rPr>
                        <a:t>Tailtop</a:t>
                      </a:r>
                      <a:endParaRPr lang="en-US" b="0" dirty="0">
                        <a:solidFill>
                          <a:sysClr val="windowText" lastClr="000000"/>
                        </a:solidFill>
                      </a:endParaRPr>
                    </a:p>
                  </a:txBody>
                  <a:tcPr>
                    <a:solidFill>
                      <a:schemeClr val="tx2">
                        <a:lumMod val="10000"/>
                        <a:lumOff val="90000"/>
                      </a:schemeClr>
                    </a:solidFill>
                  </a:tcPr>
                </a:tc>
                <a:tc>
                  <a:txBody>
                    <a:bodyPr/>
                    <a:lstStyle/>
                    <a:p>
                      <a:r>
                        <a:rPr lang="en-US" b="0" dirty="0">
                          <a:solidFill>
                            <a:sysClr val="windowText" lastClr="000000"/>
                          </a:solidFill>
                        </a:rPr>
                        <a:t>Height</a:t>
                      </a:r>
                    </a:p>
                  </a:txBody>
                  <a:tcPr>
                    <a:solidFill>
                      <a:schemeClr val="tx2">
                        <a:lumMod val="10000"/>
                        <a:lumOff val="90000"/>
                      </a:schemeClr>
                    </a:solidFill>
                  </a:tcPr>
                </a:tc>
                <a:tc>
                  <a:txBody>
                    <a:bodyPr/>
                    <a:lstStyle/>
                    <a:p>
                      <a:r>
                        <a:rPr lang="en-US" b="0" dirty="0">
                          <a:solidFill>
                            <a:sysClr val="windowText" lastClr="000000"/>
                          </a:solidFill>
                        </a:rPr>
                        <a:t>0 = Below Plane</a:t>
                      </a:r>
                    </a:p>
                  </a:txBody>
                  <a:tcPr>
                    <a:solidFill>
                      <a:schemeClr val="tx2">
                        <a:lumMod val="10000"/>
                        <a:lumOff val="90000"/>
                      </a:schemeClr>
                    </a:solidFill>
                  </a:tcPr>
                </a:tc>
                <a:extLst>
                  <a:ext uri="{0D108BD9-81ED-4DB2-BD59-A6C34878D82A}">
                    <a16:rowId xmlns:a16="http://schemas.microsoft.com/office/drawing/2014/main" val="485854816"/>
                  </a:ext>
                </a:extLst>
              </a:tr>
            </a:tbl>
          </a:graphicData>
        </a:graphic>
      </p:graphicFrame>
      <p:grpSp>
        <p:nvGrpSpPr>
          <p:cNvPr id="58" name="Group 57">
            <a:extLst>
              <a:ext uri="{FF2B5EF4-FFF2-40B4-BE49-F238E27FC236}">
                <a16:creationId xmlns:a16="http://schemas.microsoft.com/office/drawing/2014/main" id="{2FEB9EB4-9E5F-E1F6-C99F-71E24FC852AB}"/>
              </a:ext>
            </a:extLst>
          </p:cNvPr>
          <p:cNvGrpSpPr/>
          <p:nvPr/>
        </p:nvGrpSpPr>
        <p:grpSpPr>
          <a:xfrm>
            <a:off x="400258" y="3377048"/>
            <a:ext cx="9329369" cy="1611284"/>
            <a:chOff x="400258" y="3657605"/>
            <a:chExt cx="9329369" cy="1611284"/>
          </a:xfrm>
        </p:grpSpPr>
        <p:grpSp>
          <p:nvGrpSpPr>
            <p:cNvPr id="30" name="Group 29">
              <a:extLst>
                <a:ext uri="{FF2B5EF4-FFF2-40B4-BE49-F238E27FC236}">
                  <a16:creationId xmlns:a16="http://schemas.microsoft.com/office/drawing/2014/main" id="{6B0B7B2D-E173-342A-6127-C246F3C7A0D0}"/>
                </a:ext>
              </a:extLst>
            </p:cNvPr>
            <p:cNvGrpSpPr/>
            <p:nvPr/>
          </p:nvGrpSpPr>
          <p:grpSpPr>
            <a:xfrm>
              <a:off x="400258" y="3657605"/>
              <a:ext cx="9329369" cy="1611284"/>
              <a:chOff x="400258" y="3565133"/>
              <a:chExt cx="9329369" cy="1611284"/>
            </a:xfrm>
          </p:grpSpPr>
          <p:cxnSp>
            <p:nvCxnSpPr>
              <p:cNvPr id="14" name="Straight Arrow Connector 13">
                <a:extLst>
                  <a:ext uri="{FF2B5EF4-FFF2-40B4-BE49-F238E27FC236}">
                    <a16:creationId xmlns:a16="http://schemas.microsoft.com/office/drawing/2014/main" id="{472008EA-5325-2468-F3B2-0542307EDC66}"/>
                  </a:ext>
                </a:extLst>
              </p:cNvPr>
              <p:cNvCxnSpPr>
                <a:cxnSpLocks/>
              </p:cNvCxnSpPr>
              <p:nvPr/>
            </p:nvCxnSpPr>
            <p:spPr>
              <a:xfrm flipH="1">
                <a:off x="1952090" y="3565133"/>
                <a:ext cx="7777537" cy="1171254"/>
              </a:xfrm>
              <a:prstGeom prst="straightConnector1">
                <a:avLst/>
              </a:prstGeom>
              <a:ln w="9525">
                <a:solidFill>
                  <a:srgbClr val="FF0000"/>
                </a:solidFill>
                <a:prstDash val="solid"/>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061AB6F4-7048-30F7-82FA-4B81E2C63503}"/>
                  </a:ext>
                </a:extLst>
              </p:cNvPr>
              <p:cNvSpPr txBox="1"/>
              <p:nvPr/>
            </p:nvSpPr>
            <p:spPr>
              <a:xfrm>
                <a:off x="400258" y="4807085"/>
                <a:ext cx="1984205" cy="369332"/>
              </a:xfrm>
              <a:prstGeom prst="rect">
                <a:avLst/>
              </a:prstGeom>
              <a:solidFill>
                <a:srgbClr val="0070C0"/>
              </a:solidFill>
            </p:spPr>
            <p:txBody>
              <a:bodyPr wrap="square" rtlCol="0">
                <a:spAutoFit/>
              </a:bodyPr>
              <a:lstStyle/>
              <a:p>
                <a:pPr algn="ctr"/>
                <a:r>
                  <a:rPr lang="en-US" b="1" dirty="0">
                    <a:solidFill>
                      <a:schemeClr val="bg1"/>
                    </a:solidFill>
                  </a:rPr>
                  <a:t>STA - Station Line</a:t>
                </a:r>
              </a:p>
            </p:txBody>
          </p:sp>
        </p:grpSp>
        <p:grpSp>
          <p:nvGrpSpPr>
            <p:cNvPr id="52" name="Group 51">
              <a:extLst>
                <a:ext uri="{FF2B5EF4-FFF2-40B4-BE49-F238E27FC236}">
                  <a16:creationId xmlns:a16="http://schemas.microsoft.com/office/drawing/2014/main" id="{E3495E82-2BAD-B3CB-6ECF-9CDFF37CD9CD}"/>
                </a:ext>
              </a:extLst>
            </p:cNvPr>
            <p:cNvGrpSpPr/>
            <p:nvPr/>
          </p:nvGrpSpPr>
          <p:grpSpPr>
            <a:xfrm>
              <a:off x="2259794" y="4300182"/>
              <a:ext cx="351385" cy="519152"/>
              <a:chOff x="2249264" y="4295655"/>
              <a:chExt cx="351385" cy="519152"/>
            </a:xfrm>
          </p:grpSpPr>
          <p:cxnSp>
            <p:nvCxnSpPr>
              <p:cNvPr id="47" name="Straight Connector 46">
                <a:extLst>
                  <a:ext uri="{FF2B5EF4-FFF2-40B4-BE49-F238E27FC236}">
                    <a16:creationId xmlns:a16="http://schemas.microsoft.com/office/drawing/2014/main" id="{4A5D99F7-DD1E-FC9F-F39B-018DA406EE36}"/>
                  </a:ext>
                </a:extLst>
              </p:cNvPr>
              <p:cNvCxnSpPr>
                <a:cxnSpLocks/>
              </p:cNvCxnSpPr>
              <p:nvPr/>
            </p:nvCxnSpPr>
            <p:spPr>
              <a:xfrm flipH="1">
                <a:off x="2409081" y="4686240"/>
                <a:ext cx="1" cy="128567"/>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DA8CE28B-30A8-DF12-73DB-ECAC5B86A7C7}"/>
                  </a:ext>
                </a:extLst>
              </p:cNvPr>
              <p:cNvSpPr txBox="1"/>
              <p:nvPr/>
            </p:nvSpPr>
            <p:spPr>
              <a:xfrm>
                <a:off x="2249264" y="4295655"/>
                <a:ext cx="351385" cy="400110"/>
              </a:xfrm>
              <a:prstGeom prst="rect">
                <a:avLst/>
              </a:prstGeom>
              <a:noFill/>
            </p:spPr>
            <p:txBody>
              <a:bodyPr wrap="square" rtlCol="0">
                <a:spAutoFit/>
              </a:bodyPr>
              <a:lstStyle/>
              <a:p>
                <a:r>
                  <a:rPr lang="en-US" sz="2000" b="1" dirty="0">
                    <a:solidFill>
                      <a:srgbClr val="FF0000"/>
                    </a:solidFill>
                  </a:rPr>
                  <a:t>0</a:t>
                </a:r>
                <a:endParaRPr lang="en-US" b="1" dirty="0">
                  <a:solidFill>
                    <a:srgbClr val="FF0000"/>
                  </a:solidFill>
                </a:endParaRPr>
              </a:p>
            </p:txBody>
          </p:sp>
        </p:grpSp>
      </p:grpSp>
      <p:grpSp>
        <p:nvGrpSpPr>
          <p:cNvPr id="60" name="Group 59">
            <a:extLst>
              <a:ext uri="{FF2B5EF4-FFF2-40B4-BE49-F238E27FC236}">
                <a16:creationId xmlns:a16="http://schemas.microsoft.com/office/drawing/2014/main" id="{7818A0CD-AC7E-EEE0-F055-4F245B433A58}"/>
              </a:ext>
            </a:extLst>
          </p:cNvPr>
          <p:cNvGrpSpPr/>
          <p:nvPr/>
        </p:nvGrpSpPr>
        <p:grpSpPr>
          <a:xfrm>
            <a:off x="5522859" y="2770869"/>
            <a:ext cx="2389534" cy="2996086"/>
            <a:chOff x="5522859" y="3051426"/>
            <a:chExt cx="2389534" cy="3379776"/>
          </a:xfrm>
        </p:grpSpPr>
        <p:grpSp>
          <p:nvGrpSpPr>
            <p:cNvPr id="12" name="Group 11">
              <a:extLst>
                <a:ext uri="{FF2B5EF4-FFF2-40B4-BE49-F238E27FC236}">
                  <a16:creationId xmlns:a16="http://schemas.microsoft.com/office/drawing/2014/main" id="{628F2E77-8A23-9A2A-84E1-D06E5911FA7F}"/>
                </a:ext>
              </a:extLst>
            </p:cNvPr>
            <p:cNvGrpSpPr/>
            <p:nvPr/>
          </p:nvGrpSpPr>
          <p:grpSpPr>
            <a:xfrm>
              <a:off x="5928189" y="3051426"/>
              <a:ext cx="1984204" cy="3379776"/>
              <a:chOff x="5928189" y="2958954"/>
              <a:chExt cx="1984204" cy="3379776"/>
            </a:xfrm>
          </p:grpSpPr>
          <p:cxnSp>
            <p:nvCxnSpPr>
              <p:cNvPr id="10" name="Straight Arrow Connector 9">
                <a:extLst>
                  <a:ext uri="{FF2B5EF4-FFF2-40B4-BE49-F238E27FC236}">
                    <a16:creationId xmlns:a16="http://schemas.microsoft.com/office/drawing/2014/main" id="{19C6A602-DE22-0B33-F2A6-861550CC1112}"/>
                  </a:ext>
                </a:extLst>
              </p:cNvPr>
              <p:cNvCxnSpPr>
                <a:cxnSpLocks/>
              </p:cNvCxnSpPr>
              <p:nvPr/>
            </p:nvCxnSpPr>
            <p:spPr>
              <a:xfrm>
                <a:off x="5928189" y="2958954"/>
                <a:ext cx="0" cy="3379776"/>
              </a:xfrm>
              <a:prstGeom prst="straightConnector1">
                <a:avLst/>
              </a:prstGeom>
              <a:ln w="9525">
                <a:solidFill>
                  <a:srgbClr val="FF0000"/>
                </a:solidFill>
                <a:prstDash val="solid"/>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1E5753E-17F1-3FAE-CCA3-703FB9717EBA}"/>
                  </a:ext>
                </a:extLst>
              </p:cNvPr>
              <p:cNvSpPr txBox="1"/>
              <p:nvPr/>
            </p:nvSpPr>
            <p:spPr>
              <a:xfrm>
                <a:off x="6090431" y="5969398"/>
                <a:ext cx="1821962" cy="369332"/>
              </a:xfrm>
              <a:prstGeom prst="rect">
                <a:avLst/>
              </a:prstGeom>
              <a:solidFill>
                <a:srgbClr val="0070C0"/>
              </a:solidFill>
            </p:spPr>
            <p:txBody>
              <a:bodyPr wrap="square" rtlCol="0">
                <a:spAutoFit/>
              </a:bodyPr>
              <a:lstStyle/>
              <a:p>
                <a:pPr algn="ctr"/>
                <a:r>
                  <a:rPr lang="en-US" b="1" dirty="0">
                    <a:solidFill>
                      <a:schemeClr val="bg1"/>
                    </a:solidFill>
                  </a:rPr>
                  <a:t>WL – Water Line</a:t>
                </a:r>
              </a:p>
            </p:txBody>
          </p:sp>
        </p:grpSp>
        <p:grpSp>
          <p:nvGrpSpPr>
            <p:cNvPr id="53" name="Group 52">
              <a:extLst>
                <a:ext uri="{FF2B5EF4-FFF2-40B4-BE49-F238E27FC236}">
                  <a16:creationId xmlns:a16="http://schemas.microsoft.com/office/drawing/2014/main" id="{F9DB044C-E020-978C-E8E2-5607F8AE9697}"/>
                </a:ext>
              </a:extLst>
            </p:cNvPr>
            <p:cNvGrpSpPr/>
            <p:nvPr/>
          </p:nvGrpSpPr>
          <p:grpSpPr>
            <a:xfrm>
              <a:off x="5522859" y="5820502"/>
              <a:ext cx="462016" cy="400110"/>
              <a:chOff x="2249264" y="4295655"/>
              <a:chExt cx="462016" cy="400110"/>
            </a:xfrm>
          </p:grpSpPr>
          <p:cxnSp>
            <p:nvCxnSpPr>
              <p:cNvPr id="54" name="Straight Connector 53">
                <a:extLst>
                  <a:ext uri="{FF2B5EF4-FFF2-40B4-BE49-F238E27FC236}">
                    <a16:creationId xmlns:a16="http://schemas.microsoft.com/office/drawing/2014/main" id="{F5A21132-EA14-78EA-9D72-2EE6EFDBF1D6}"/>
                  </a:ext>
                </a:extLst>
              </p:cNvPr>
              <p:cNvCxnSpPr>
                <a:cxnSpLocks/>
                <a:stCxn id="55" idx="3"/>
              </p:cNvCxnSpPr>
              <p:nvPr/>
            </p:nvCxnSpPr>
            <p:spPr>
              <a:xfrm>
                <a:off x="2600649" y="4495710"/>
                <a:ext cx="110631"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4DE4D993-DBF3-4906-02C8-3FB46364C372}"/>
                  </a:ext>
                </a:extLst>
              </p:cNvPr>
              <p:cNvSpPr txBox="1"/>
              <p:nvPr/>
            </p:nvSpPr>
            <p:spPr>
              <a:xfrm>
                <a:off x="2249264" y="4295655"/>
                <a:ext cx="351385" cy="400110"/>
              </a:xfrm>
              <a:prstGeom prst="rect">
                <a:avLst/>
              </a:prstGeom>
              <a:noFill/>
            </p:spPr>
            <p:txBody>
              <a:bodyPr wrap="square" rtlCol="0">
                <a:spAutoFit/>
              </a:bodyPr>
              <a:lstStyle/>
              <a:p>
                <a:r>
                  <a:rPr lang="en-US" sz="2000" b="1" dirty="0">
                    <a:solidFill>
                      <a:srgbClr val="FF0000"/>
                    </a:solidFill>
                  </a:rPr>
                  <a:t>0</a:t>
                </a:r>
                <a:endParaRPr lang="en-US" b="1" dirty="0">
                  <a:solidFill>
                    <a:srgbClr val="FF0000"/>
                  </a:solidFill>
                </a:endParaRPr>
              </a:p>
            </p:txBody>
          </p:sp>
        </p:grpSp>
      </p:grpSp>
      <p:grpSp>
        <p:nvGrpSpPr>
          <p:cNvPr id="59" name="Group 58">
            <a:extLst>
              <a:ext uri="{FF2B5EF4-FFF2-40B4-BE49-F238E27FC236}">
                <a16:creationId xmlns:a16="http://schemas.microsoft.com/office/drawing/2014/main" id="{4E3EEED6-9855-18F3-6C4B-6AF59597FB09}"/>
              </a:ext>
            </a:extLst>
          </p:cNvPr>
          <p:cNvGrpSpPr/>
          <p:nvPr/>
        </p:nvGrpSpPr>
        <p:grpSpPr>
          <a:xfrm>
            <a:off x="2876765" y="3498473"/>
            <a:ext cx="8518264" cy="1290594"/>
            <a:chOff x="2876765" y="3779030"/>
            <a:chExt cx="8518264" cy="1290594"/>
          </a:xfrm>
        </p:grpSpPr>
        <p:grpSp>
          <p:nvGrpSpPr>
            <p:cNvPr id="34" name="Group 33">
              <a:extLst>
                <a:ext uri="{FF2B5EF4-FFF2-40B4-BE49-F238E27FC236}">
                  <a16:creationId xmlns:a16="http://schemas.microsoft.com/office/drawing/2014/main" id="{96D47E2A-1BE5-9CAB-CDCC-2980346D553F}"/>
                </a:ext>
              </a:extLst>
            </p:cNvPr>
            <p:cNvGrpSpPr/>
            <p:nvPr/>
          </p:nvGrpSpPr>
          <p:grpSpPr>
            <a:xfrm>
              <a:off x="2876765" y="3779030"/>
              <a:ext cx="8518264" cy="1290594"/>
              <a:chOff x="2876765" y="3686558"/>
              <a:chExt cx="8518264" cy="1290594"/>
            </a:xfrm>
          </p:grpSpPr>
          <p:cxnSp>
            <p:nvCxnSpPr>
              <p:cNvPr id="20" name="Straight Arrow Connector 19">
                <a:extLst>
                  <a:ext uri="{FF2B5EF4-FFF2-40B4-BE49-F238E27FC236}">
                    <a16:creationId xmlns:a16="http://schemas.microsoft.com/office/drawing/2014/main" id="{5203E098-054C-811C-F0C8-736E3B1685E9}"/>
                  </a:ext>
                </a:extLst>
              </p:cNvPr>
              <p:cNvCxnSpPr>
                <a:cxnSpLocks/>
              </p:cNvCxnSpPr>
              <p:nvPr/>
            </p:nvCxnSpPr>
            <p:spPr>
              <a:xfrm flipH="1" flipV="1">
                <a:off x="2876765" y="3686558"/>
                <a:ext cx="6394795" cy="916735"/>
              </a:xfrm>
              <a:prstGeom prst="straightConnector1">
                <a:avLst/>
              </a:prstGeom>
              <a:ln w="9525">
                <a:solidFill>
                  <a:srgbClr val="FF0000"/>
                </a:solidFill>
                <a:prstDash val="solid"/>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59CFFD1-6D8D-C8A2-2FD8-B9911BED18D0}"/>
                  </a:ext>
                </a:extLst>
              </p:cNvPr>
              <p:cNvSpPr txBox="1"/>
              <p:nvPr/>
            </p:nvSpPr>
            <p:spPr>
              <a:xfrm>
                <a:off x="9364026" y="4607820"/>
                <a:ext cx="2031003" cy="369332"/>
              </a:xfrm>
              <a:prstGeom prst="rect">
                <a:avLst/>
              </a:prstGeom>
              <a:solidFill>
                <a:srgbClr val="0070C0"/>
              </a:solidFill>
            </p:spPr>
            <p:txBody>
              <a:bodyPr wrap="square" rtlCol="0">
                <a:spAutoFit/>
              </a:bodyPr>
              <a:lstStyle/>
              <a:p>
                <a:pPr algn="ctr"/>
                <a:r>
                  <a:rPr lang="en-US" b="1" dirty="0">
                    <a:solidFill>
                      <a:schemeClr val="bg1"/>
                    </a:solidFill>
                  </a:rPr>
                  <a:t>BL – Buttock Line</a:t>
                </a:r>
              </a:p>
            </p:txBody>
          </p:sp>
        </p:grpSp>
        <p:sp>
          <p:nvSpPr>
            <p:cNvPr id="57" name="TextBox 56">
              <a:extLst>
                <a:ext uri="{FF2B5EF4-FFF2-40B4-BE49-F238E27FC236}">
                  <a16:creationId xmlns:a16="http://schemas.microsoft.com/office/drawing/2014/main" id="{BBF7006A-1854-C5EB-9511-A05A7AC3B9A0}"/>
                </a:ext>
              </a:extLst>
            </p:cNvPr>
            <p:cNvSpPr txBox="1"/>
            <p:nvPr/>
          </p:nvSpPr>
          <p:spPr>
            <a:xfrm>
              <a:off x="5489473" y="3779030"/>
              <a:ext cx="351385" cy="400110"/>
            </a:xfrm>
            <a:prstGeom prst="rect">
              <a:avLst/>
            </a:prstGeom>
            <a:noFill/>
          </p:spPr>
          <p:txBody>
            <a:bodyPr wrap="square" rtlCol="0">
              <a:spAutoFit/>
            </a:bodyPr>
            <a:lstStyle/>
            <a:p>
              <a:r>
                <a:rPr lang="en-US" sz="2000" b="1" dirty="0">
                  <a:solidFill>
                    <a:srgbClr val="FF0000"/>
                  </a:solidFill>
                </a:rPr>
                <a:t>0</a:t>
              </a:r>
              <a:endParaRPr lang="en-US" b="1" dirty="0">
                <a:solidFill>
                  <a:srgbClr val="FF0000"/>
                </a:solidFill>
              </a:endParaRPr>
            </a:p>
          </p:txBody>
        </p:sp>
      </p:grpSp>
      <p:sp>
        <p:nvSpPr>
          <p:cNvPr id="3" name="TextBox 2">
            <a:extLst>
              <a:ext uri="{FF2B5EF4-FFF2-40B4-BE49-F238E27FC236}">
                <a16:creationId xmlns:a16="http://schemas.microsoft.com/office/drawing/2014/main" id="{D13085BC-DC86-9BBE-5360-89772475AC11}"/>
              </a:ext>
            </a:extLst>
          </p:cNvPr>
          <p:cNvSpPr txBox="1"/>
          <p:nvPr/>
        </p:nvSpPr>
        <p:spPr>
          <a:xfrm rot="20664124">
            <a:off x="6982472" y="4745978"/>
            <a:ext cx="1682143" cy="230832"/>
          </a:xfrm>
          <a:prstGeom prst="rect">
            <a:avLst/>
          </a:prstGeom>
          <a:noFill/>
        </p:spPr>
        <p:txBody>
          <a:bodyPr wrap="square" rtlCol="0">
            <a:spAutoFit/>
          </a:bodyPr>
          <a:lstStyle/>
          <a:p>
            <a:r>
              <a:rPr lang="pl-PL" sz="900" dirty="0"/>
              <a:t>ChatGPT </a:t>
            </a:r>
            <a:r>
              <a:rPr lang="en-US" sz="900" dirty="0"/>
              <a:t>/</a:t>
            </a:r>
            <a:r>
              <a:rPr lang="pl-PL" sz="900" dirty="0"/>
              <a:t> Matt Pierce, 2026</a:t>
            </a:r>
            <a:endParaRPr lang="en-US" sz="900" dirty="0"/>
          </a:p>
        </p:txBody>
      </p:sp>
      <p:sp>
        <p:nvSpPr>
          <p:cNvPr id="5" name="TextBox 4">
            <a:extLst>
              <a:ext uri="{FF2B5EF4-FFF2-40B4-BE49-F238E27FC236}">
                <a16:creationId xmlns:a16="http://schemas.microsoft.com/office/drawing/2014/main" id="{32F2D5B8-6470-C4AD-A588-DEECDA53E9FA}"/>
              </a:ext>
            </a:extLst>
          </p:cNvPr>
          <p:cNvSpPr txBox="1"/>
          <p:nvPr/>
        </p:nvSpPr>
        <p:spPr>
          <a:xfrm>
            <a:off x="3047134" y="3036516"/>
            <a:ext cx="6094268" cy="369332"/>
          </a:xfrm>
          <a:prstGeom prst="rect">
            <a:avLst/>
          </a:prstGeom>
          <a:noFill/>
        </p:spPr>
        <p:txBody>
          <a:bodyPr wrap="square">
            <a:spAutoFit/>
          </a:bodyPr>
          <a:lstStyle/>
          <a:p>
            <a:r>
              <a:rPr lang="en-US" dirty="0"/>
              <a:t>Detail Drawings</a:t>
            </a:r>
          </a:p>
        </p:txBody>
      </p:sp>
      <p:sp>
        <p:nvSpPr>
          <p:cNvPr id="7" name="TextBox 6">
            <a:extLst>
              <a:ext uri="{FF2B5EF4-FFF2-40B4-BE49-F238E27FC236}">
                <a16:creationId xmlns:a16="http://schemas.microsoft.com/office/drawing/2014/main" id="{FF5BCAA8-ACA6-D8B6-CB90-36B3F8BA220C}"/>
              </a:ext>
            </a:extLst>
          </p:cNvPr>
          <p:cNvSpPr txBox="1"/>
          <p:nvPr/>
        </p:nvSpPr>
        <p:spPr>
          <a:xfrm>
            <a:off x="3047134" y="3036516"/>
            <a:ext cx="6094268" cy="369332"/>
          </a:xfrm>
          <a:prstGeom prst="rect">
            <a:avLst/>
          </a:prstGeom>
          <a:noFill/>
        </p:spPr>
        <p:txBody>
          <a:bodyPr wrap="square">
            <a:spAutoFit/>
          </a:bodyPr>
          <a:lstStyle/>
          <a:p>
            <a:r>
              <a:rPr lang="en-US" dirty="0"/>
              <a:t>Detail Drawings</a:t>
            </a:r>
          </a:p>
        </p:txBody>
      </p:sp>
      <p:sp>
        <p:nvSpPr>
          <p:cNvPr id="9" name="TextBox 8">
            <a:extLst>
              <a:ext uri="{FF2B5EF4-FFF2-40B4-BE49-F238E27FC236}">
                <a16:creationId xmlns:a16="http://schemas.microsoft.com/office/drawing/2014/main" id="{5C9427C2-64CF-AF43-E651-8B7D1A563ACF}"/>
              </a:ext>
            </a:extLst>
          </p:cNvPr>
          <p:cNvSpPr txBox="1"/>
          <p:nvPr/>
        </p:nvSpPr>
        <p:spPr>
          <a:xfrm>
            <a:off x="3047134" y="3036516"/>
            <a:ext cx="6094268" cy="369332"/>
          </a:xfrm>
          <a:prstGeom prst="rect">
            <a:avLst/>
          </a:prstGeom>
          <a:noFill/>
        </p:spPr>
        <p:txBody>
          <a:bodyPr wrap="square">
            <a:spAutoFit/>
          </a:bodyPr>
          <a:lstStyle/>
          <a:p>
            <a:r>
              <a:rPr lang="en-US" dirty="0"/>
              <a:t>Detail Drawings</a:t>
            </a:r>
          </a:p>
        </p:txBody>
      </p:sp>
    </p:spTree>
    <p:extLst>
      <p:ext uri="{BB962C8B-B14F-4D97-AF65-F5344CB8AC3E}">
        <p14:creationId xmlns:p14="http://schemas.microsoft.com/office/powerpoint/2010/main" val="149506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7BB45667-F60C-09F7-1D40-C1DD86832A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89CC-6FFF-1BFA-274F-DAC5F31ED7B2}"/>
              </a:ext>
            </a:extLst>
          </p:cNvPr>
          <p:cNvSpPr>
            <a:spLocks noGrp="1"/>
          </p:cNvSpPr>
          <p:nvPr>
            <p:ph type="ctrTitle"/>
          </p:nvPr>
        </p:nvSpPr>
        <p:spPr>
          <a:xfrm>
            <a:off x="1052512" y="3033049"/>
            <a:ext cx="10086975" cy="791902"/>
          </a:xfrm>
        </p:spPr>
        <p:txBody>
          <a:bodyPr>
            <a:normAutofit/>
          </a:bodyPr>
          <a:lstStyle/>
          <a:p>
            <a:r>
              <a:rPr lang="en-US" sz="4800" b="1" dirty="0">
                <a:solidFill>
                  <a:schemeClr val="bg1"/>
                </a:solidFill>
              </a:rPr>
              <a:t>Q&amp;A</a:t>
            </a:r>
          </a:p>
        </p:txBody>
      </p:sp>
    </p:spTree>
    <p:extLst>
      <p:ext uri="{BB962C8B-B14F-4D97-AF65-F5344CB8AC3E}">
        <p14:creationId xmlns:p14="http://schemas.microsoft.com/office/powerpoint/2010/main" val="3291099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156839C2-7BF2-36AE-DF8B-9AD9A2AED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F63DA-D582-3FF9-0739-41B56CC4752C}"/>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(Q1-Q8)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7F5410E-01CE-A881-32E2-EC2E8F0ACA56}"/>
              </a:ext>
            </a:extLst>
          </p:cNvPr>
          <p:cNvSpPr>
            <a:spLocks noGrp="1"/>
          </p:cNvSpPr>
          <p:nvPr>
            <p:ph idx="1"/>
          </p:nvPr>
        </p:nvSpPr>
        <p:spPr>
          <a:xfrm>
            <a:off x="585627" y="1143000"/>
            <a:ext cx="5650786" cy="5787736"/>
          </a:xfrm>
        </p:spPr>
        <p:txBody>
          <a:bodyPr>
            <a:normAutofit lnSpcReduction="10000"/>
          </a:bodyPr>
          <a:lstStyle/>
          <a:p>
            <a:pPr marL="0" indent="0">
              <a:buNone/>
              <a:tabLst>
                <a:tab pos="574675" algn="l"/>
              </a:tabLst>
            </a:pPr>
            <a:r>
              <a:rPr lang="en-US" sz="2000" b="1" dirty="0"/>
              <a:t>Q1: Name for the edges of a blueprint, often broken down by letters and numbers for an easy lookup grid?</a:t>
            </a:r>
          </a:p>
          <a:p>
            <a:pPr marL="0" indent="0">
              <a:buNone/>
              <a:tabLst>
                <a:tab pos="574675" algn="l"/>
              </a:tabLst>
            </a:pPr>
            <a:r>
              <a:rPr lang="en-US" sz="2000" b="1" dirty="0"/>
              <a:t>A: </a:t>
            </a:r>
            <a:r>
              <a:rPr lang="en-US" sz="2000" dirty="0"/>
              <a:t>Border</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Name two components of the Title Block beyond the Drawing Title and  Sheet Number?</a:t>
            </a:r>
          </a:p>
          <a:p>
            <a:pPr marL="0" indent="0">
              <a:buNone/>
              <a:tabLst>
                <a:tab pos="574675" algn="l"/>
              </a:tabLst>
            </a:pPr>
            <a:r>
              <a:rPr lang="en-US" sz="2000" b="1" dirty="0"/>
              <a:t>A:</a:t>
            </a:r>
            <a:r>
              <a:rPr lang="en-US" sz="2000" dirty="0"/>
              <a:t> Company.  Scale.  Part Number.  Notes.  General Tolerances.  Signature.  Size.  Material. </a:t>
            </a:r>
          </a:p>
          <a:p>
            <a:pPr marL="0" indent="0">
              <a:buNone/>
              <a:tabLst>
                <a:tab pos="574675" algn="l"/>
              </a:tabLst>
            </a:pPr>
            <a:endParaRPr lang="en-US" sz="2000" dirty="0"/>
          </a:p>
          <a:p>
            <a:pPr marL="0" indent="0">
              <a:buNone/>
              <a:tabLst>
                <a:tab pos="574675" algn="l"/>
              </a:tabLst>
            </a:pPr>
            <a:r>
              <a:rPr lang="en-US" sz="2000" b="1" dirty="0"/>
              <a:t>Q3: What columns are in the Revision Block?</a:t>
            </a:r>
          </a:p>
          <a:p>
            <a:pPr marL="0" indent="0">
              <a:buNone/>
              <a:tabLst>
                <a:tab pos="574675" algn="l"/>
              </a:tabLst>
            </a:pPr>
            <a:r>
              <a:rPr lang="en-US" sz="2000" b="1" dirty="0"/>
              <a:t>A</a:t>
            </a:r>
            <a:r>
              <a:rPr lang="en-US" sz="2000" dirty="0"/>
              <a:t>: Revision Number.  Description.  Date.  Approved By.</a:t>
            </a:r>
          </a:p>
          <a:p>
            <a:pPr marL="0" indent="0">
              <a:buNone/>
              <a:tabLst>
                <a:tab pos="574675" algn="l"/>
              </a:tabLst>
            </a:pPr>
            <a:endParaRPr lang="en-US" sz="2000" dirty="0"/>
          </a:p>
          <a:p>
            <a:pPr marL="0" indent="0">
              <a:buNone/>
            </a:pPr>
            <a:r>
              <a:rPr lang="en-US" sz="2000" b="1" dirty="0"/>
              <a:t>Q4: What goes in the Picture Area?</a:t>
            </a:r>
          </a:p>
          <a:p>
            <a:pPr marL="0" indent="0">
              <a:buNone/>
            </a:pPr>
            <a:r>
              <a:rPr lang="en-US" sz="2000" b="1" dirty="0"/>
              <a:t>A:</a:t>
            </a:r>
            <a:r>
              <a:rPr lang="en-US" sz="2000" dirty="0"/>
              <a:t> Lines, words, and symbols to depict aircraft under construction</a:t>
            </a:r>
          </a:p>
        </p:txBody>
      </p:sp>
      <p:sp>
        <p:nvSpPr>
          <p:cNvPr id="12" name="Content Placeholder 2">
            <a:extLst>
              <a:ext uri="{FF2B5EF4-FFF2-40B4-BE49-F238E27FC236}">
                <a16:creationId xmlns:a16="http://schemas.microsoft.com/office/drawing/2014/main" id="{D1DE07E9-686C-16E6-DE07-31A3DC967A79}"/>
              </a:ext>
            </a:extLst>
          </p:cNvPr>
          <p:cNvSpPr txBox="1">
            <a:spLocks/>
          </p:cNvSpPr>
          <p:nvPr/>
        </p:nvSpPr>
        <p:spPr>
          <a:xfrm>
            <a:off x="6236413" y="365126"/>
            <a:ext cx="5650786" cy="64928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Q5: What columns are in the Parts List?</a:t>
            </a:r>
          </a:p>
          <a:p>
            <a:pPr marL="0" indent="0">
              <a:buNone/>
              <a:tabLst>
                <a:tab pos="574675" algn="l"/>
              </a:tabLst>
            </a:pPr>
            <a:r>
              <a:rPr lang="en-US" sz="2000" b="1" dirty="0"/>
              <a:t>A: </a:t>
            </a:r>
            <a:r>
              <a:rPr lang="en-US" sz="2000" dirty="0"/>
              <a:t>Part Number. Part Name.  Quantity Received.  Finish.  Optionally: Material, Sequential Item Number.</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Q6: What columns are in the Bill of Materials?</a:t>
            </a:r>
          </a:p>
          <a:p>
            <a:pPr marL="0" indent="0">
              <a:buNone/>
              <a:tabLst>
                <a:tab pos="574675" algn="l"/>
              </a:tabLst>
            </a:pPr>
            <a:r>
              <a:rPr lang="en-US" sz="2000" b="1" dirty="0"/>
              <a:t>A:</a:t>
            </a:r>
            <a:r>
              <a:rPr lang="en-US" sz="2000" dirty="0"/>
              <a:t> Item number.  Description.  Units.  </a:t>
            </a:r>
            <a:br>
              <a:rPr lang="en-US" sz="2000" dirty="0"/>
            </a:br>
            <a:r>
              <a:rPr lang="en-US" sz="2000" dirty="0"/>
              <a:t>Assembly or FSN No.  Quantity Ordered.  </a:t>
            </a:r>
            <a:br>
              <a:rPr lang="en-US" sz="2000" dirty="0"/>
            </a:br>
            <a:r>
              <a:rPr lang="en-US" sz="2000" dirty="0"/>
              <a:t>Quantity Delivered.</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Q7: How is a "Bill of Materials" different from a "Parts List"?</a:t>
            </a:r>
          </a:p>
          <a:p>
            <a:pPr marL="0" indent="0">
              <a:buNone/>
              <a:tabLst>
                <a:tab pos="574675" algn="l"/>
              </a:tabLst>
            </a:pPr>
            <a:r>
              <a:rPr lang="en-US" sz="2000" b="1" dirty="0"/>
              <a:t>A1: </a:t>
            </a:r>
            <a:r>
              <a:rPr lang="en-US" sz="2000" dirty="0"/>
              <a:t>Parts list is simpler static drawing based list of parts or assemblies on the sheet.</a:t>
            </a:r>
          </a:p>
          <a:p>
            <a:pPr marL="0" indent="0">
              <a:buNone/>
              <a:tabLst>
                <a:tab pos="574675" algn="l"/>
              </a:tabLst>
            </a:pPr>
            <a:r>
              <a:rPr lang="en-US" sz="2000" b="1" dirty="0"/>
              <a:t>A2: </a:t>
            </a:r>
            <a:r>
              <a:rPr lang="en-US" sz="2000" dirty="0"/>
              <a:t>BOM list is comprehensive dynamic list containing every part, material, sub-assembly, and instruction.</a:t>
            </a:r>
          </a:p>
          <a:p>
            <a:pPr marL="0" indent="0">
              <a:buFont typeface="Arial" panose="020B0604020202020204" pitchFamily="34" charset="0"/>
              <a:buNone/>
            </a:pPr>
            <a:endParaRPr lang="en-US" sz="2000" dirty="0"/>
          </a:p>
          <a:p>
            <a:pPr marL="0" indent="0">
              <a:buNone/>
            </a:pPr>
            <a:r>
              <a:rPr lang="en-US" sz="2000" b="1" dirty="0"/>
              <a:t>Q8: How many points are needed to define a straight line?</a:t>
            </a:r>
          </a:p>
          <a:p>
            <a:pPr marL="0" indent="0">
              <a:buNone/>
            </a:pPr>
            <a:r>
              <a:rPr lang="en-US" sz="2000" b="1" dirty="0"/>
              <a:t>A:</a:t>
            </a:r>
            <a:r>
              <a:rPr lang="en-US" sz="2000" dirty="0"/>
              <a:t> Two</a:t>
            </a:r>
          </a:p>
        </p:txBody>
      </p:sp>
    </p:spTree>
    <p:extLst>
      <p:ext uri="{BB962C8B-B14F-4D97-AF65-F5344CB8AC3E}">
        <p14:creationId xmlns:p14="http://schemas.microsoft.com/office/powerpoint/2010/main" val="164679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E6B394AD-13E7-9E18-0C90-5FDDB9500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24ADB-A23F-E87B-999B-74DF95184B53}"/>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(Q9-Q18)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5AFEA186-2452-2C94-6E41-F33B7F27BBA3}"/>
              </a:ext>
            </a:extLst>
          </p:cNvPr>
          <p:cNvSpPr>
            <a:spLocks noGrp="1"/>
          </p:cNvSpPr>
          <p:nvPr>
            <p:ph idx="1"/>
          </p:nvPr>
        </p:nvSpPr>
        <p:spPr>
          <a:xfrm>
            <a:off x="585627" y="1143000"/>
            <a:ext cx="5650786" cy="5787736"/>
          </a:xfrm>
        </p:spPr>
        <p:txBody>
          <a:bodyPr>
            <a:normAutofit lnSpcReduction="10000"/>
          </a:bodyPr>
          <a:lstStyle/>
          <a:p>
            <a:pPr marL="0" indent="0">
              <a:buNone/>
              <a:tabLst>
                <a:tab pos="574675" algn="l"/>
              </a:tabLst>
            </a:pPr>
            <a:r>
              <a:rPr lang="en-US" sz="2000" b="1" dirty="0"/>
              <a:t>Q9: How many points are in a curved lined?</a:t>
            </a:r>
          </a:p>
          <a:p>
            <a:pPr marL="0" indent="0">
              <a:buNone/>
              <a:tabLst>
                <a:tab pos="574675" algn="l"/>
              </a:tabLst>
            </a:pPr>
            <a:r>
              <a:rPr lang="en-US" sz="2000" b="1" dirty="0"/>
              <a:t>A: </a:t>
            </a:r>
            <a:r>
              <a:rPr lang="en-US" sz="2000" dirty="0"/>
              <a:t>Infinite</a:t>
            </a:r>
          </a:p>
          <a:p>
            <a:pPr marL="0" indent="0">
              <a:buNone/>
              <a:tabLst>
                <a:tab pos="574675" algn="l"/>
              </a:tabLst>
            </a:pPr>
            <a:endParaRPr lang="en-US" sz="2000" dirty="0"/>
          </a:p>
          <a:p>
            <a:pPr marL="0" indent="0">
              <a:buNone/>
              <a:tabLst>
                <a:tab pos="574675" algn="l"/>
              </a:tabLst>
            </a:pPr>
            <a:r>
              <a:rPr lang="en-US" sz="2000" b="1" dirty="0"/>
              <a:t>Q10:</a:t>
            </a:r>
            <a:r>
              <a:rPr lang="en-US" sz="2000" dirty="0"/>
              <a:t> </a:t>
            </a:r>
            <a:r>
              <a:rPr lang="en-US" sz="2000" b="1" dirty="0"/>
              <a:t>Three points make a ___?</a:t>
            </a:r>
          </a:p>
          <a:p>
            <a:pPr marL="0" indent="0">
              <a:buNone/>
              <a:tabLst>
                <a:tab pos="574675" algn="l"/>
              </a:tabLst>
            </a:pPr>
            <a:r>
              <a:rPr lang="en-US" sz="2000" b="1" dirty="0"/>
              <a:t>A:</a:t>
            </a:r>
            <a:r>
              <a:rPr lang="en-US" sz="2000" dirty="0"/>
              <a:t> Surface (or plane) </a:t>
            </a:r>
          </a:p>
          <a:p>
            <a:pPr marL="0" indent="0">
              <a:buNone/>
              <a:tabLst>
                <a:tab pos="574675" algn="l"/>
              </a:tabLst>
            </a:pPr>
            <a:endParaRPr lang="en-US" sz="2000" dirty="0"/>
          </a:p>
          <a:p>
            <a:pPr marL="0" indent="0">
              <a:buNone/>
              <a:tabLst>
                <a:tab pos="574675" algn="l"/>
              </a:tabLst>
            </a:pPr>
            <a:r>
              <a:rPr lang="en-US" sz="2000" b="1" dirty="0"/>
              <a:t>Q11: Name of a line forming part of a circle?</a:t>
            </a:r>
          </a:p>
          <a:p>
            <a:pPr marL="0" indent="0">
              <a:buNone/>
              <a:tabLst>
                <a:tab pos="574675" algn="l"/>
              </a:tabLst>
            </a:pPr>
            <a:r>
              <a:rPr lang="en-US" sz="2000" b="1" dirty="0"/>
              <a:t>A</a:t>
            </a:r>
            <a:r>
              <a:rPr lang="en-US" sz="2000" dirty="0"/>
              <a:t>: Arc.</a:t>
            </a:r>
          </a:p>
          <a:p>
            <a:pPr marL="0" indent="0">
              <a:buNone/>
              <a:tabLst>
                <a:tab pos="574675" algn="l"/>
              </a:tabLst>
            </a:pPr>
            <a:endParaRPr lang="en-US" sz="2000" dirty="0"/>
          </a:p>
          <a:p>
            <a:pPr marL="0" indent="0">
              <a:buNone/>
            </a:pPr>
            <a:r>
              <a:rPr lang="en-US" sz="2000" b="1" dirty="0"/>
              <a:t>Q12: Name of the point where an arc touches a line?</a:t>
            </a:r>
          </a:p>
          <a:p>
            <a:pPr marL="0" indent="0">
              <a:buNone/>
            </a:pPr>
            <a:r>
              <a:rPr lang="en-US" sz="2000" b="1" dirty="0"/>
              <a:t>A:</a:t>
            </a:r>
            <a:r>
              <a:rPr lang="en-US" sz="2000" dirty="0"/>
              <a:t> Tangent</a:t>
            </a:r>
          </a:p>
          <a:p>
            <a:pPr marL="0" indent="0">
              <a:buNone/>
            </a:pPr>
            <a:endParaRPr lang="en-US" sz="2000" dirty="0"/>
          </a:p>
          <a:p>
            <a:pPr marL="0" indent="0">
              <a:buNone/>
            </a:pPr>
            <a:r>
              <a:rPr lang="en-US" sz="2000" b="1" dirty="0"/>
              <a:t>Q13: Name of two lines coming together at a point.</a:t>
            </a:r>
          </a:p>
          <a:p>
            <a:pPr marL="0" indent="0">
              <a:buNone/>
            </a:pPr>
            <a:r>
              <a:rPr lang="en-US" sz="2000" dirty="0"/>
              <a:t>A: Angle</a:t>
            </a:r>
          </a:p>
        </p:txBody>
      </p:sp>
      <p:sp>
        <p:nvSpPr>
          <p:cNvPr id="12" name="Content Placeholder 2">
            <a:extLst>
              <a:ext uri="{FF2B5EF4-FFF2-40B4-BE49-F238E27FC236}">
                <a16:creationId xmlns:a16="http://schemas.microsoft.com/office/drawing/2014/main" id="{B4E37203-7037-88F3-BA81-1EF5296C50E9}"/>
              </a:ext>
            </a:extLst>
          </p:cNvPr>
          <p:cNvSpPr txBox="1">
            <a:spLocks/>
          </p:cNvSpPr>
          <p:nvPr/>
        </p:nvSpPr>
        <p:spPr>
          <a:xfrm>
            <a:off x="6236413" y="365126"/>
            <a:ext cx="5650786" cy="6492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Q14: Name of the point where two lines form an angle?</a:t>
            </a:r>
          </a:p>
          <a:p>
            <a:pPr marL="0" indent="0">
              <a:buNone/>
              <a:tabLst>
                <a:tab pos="574675" algn="l"/>
              </a:tabLst>
            </a:pPr>
            <a:r>
              <a:rPr lang="en-US" sz="2000" b="1" dirty="0"/>
              <a:t>A: </a:t>
            </a:r>
            <a:r>
              <a:rPr lang="en-US" sz="2000" dirty="0"/>
              <a:t>Vertex.</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Q15: Name of two lines intersecting at 90°?</a:t>
            </a:r>
          </a:p>
          <a:p>
            <a:pPr marL="0" indent="0">
              <a:buNone/>
              <a:tabLst>
                <a:tab pos="574675" algn="l"/>
              </a:tabLst>
            </a:pPr>
            <a:r>
              <a:rPr lang="en-US" sz="2000" b="1" dirty="0"/>
              <a:t>A:</a:t>
            </a:r>
            <a:r>
              <a:rPr lang="en-US" sz="2000" dirty="0"/>
              <a:t> Perpendicular.</a:t>
            </a:r>
          </a:p>
          <a:p>
            <a:pPr marL="0" indent="0">
              <a:buFont typeface="Arial" panose="020B0604020202020204" pitchFamily="34" charset="0"/>
              <a:buNone/>
              <a:tabLst>
                <a:tab pos="574675" algn="l"/>
              </a:tabLst>
            </a:pPr>
            <a:endParaRPr lang="en-US" sz="2000" dirty="0"/>
          </a:p>
          <a:p>
            <a:pPr marL="0" indent="0">
              <a:buNone/>
            </a:pPr>
            <a:r>
              <a:rPr lang="en-US" sz="2000" b="1" dirty="0"/>
              <a:t>Q16: Name of an angle less than 90°?</a:t>
            </a:r>
          </a:p>
          <a:p>
            <a:pPr marL="0" indent="0">
              <a:buNone/>
            </a:pPr>
            <a:r>
              <a:rPr lang="en-US" sz="2000" b="1" dirty="0"/>
              <a:t>A:</a:t>
            </a:r>
            <a:r>
              <a:rPr lang="en-US" sz="2000" dirty="0"/>
              <a:t> Acute Angle</a:t>
            </a:r>
          </a:p>
          <a:p>
            <a:pPr marL="0" indent="0">
              <a:buNone/>
              <a:tabLst>
                <a:tab pos="574675" algn="l"/>
              </a:tabLst>
            </a:pPr>
            <a:endParaRPr lang="en-US" sz="2000" b="1" dirty="0"/>
          </a:p>
          <a:p>
            <a:pPr marL="0" indent="0">
              <a:buNone/>
            </a:pPr>
            <a:r>
              <a:rPr lang="en-US" sz="2000" b="1" dirty="0"/>
              <a:t>Q17: Name of an angle greater than 90°?</a:t>
            </a:r>
          </a:p>
          <a:p>
            <a:pPr marL="0" indent="0">
              <a:buNone/>
            </a:pPr>
            <a:r>
              <a:rPr lang="en-US" sz="2000" b="1" dirty="0"/>
              <a:t>A:</a:t>
            </a:r>
            <a:r>
              <a:rPr lang="en-US" sz="2000" dirty="0"/>
              <a:t> Obtuse Angle</a:t>
            </a:r>
          </a:p>
          <a:p>
            <a:pPr marL="0" indent="0">
              <a:buNone/>
              <a:tabLst>
                <a:tab pos="574675" algn="l"/>
              </a:tabLst>
            </a:pPr>
            <a:endParaRPr lang="en-US" sz="2000" b="1" dirty="0"/>
          </a:p>
          <a:p>
            <a:pPr marL="0" indent="0">
              <a:buNone/>
              <a:tabLst>
                <a:tab pos="574675" algn="l"/>
              </a:tabLst>
            </a:pPr>
            <a:r>
              <a:rPr lang="en-US" sz="2000" b="1" dirty="0"/>
              <a:t>Q18: Name of two different size circles both centered at the same point?</a:t>
            </a:r>
          </a:p>
          <a:p>
            <a:pPr marL="0" indent="0">
              <a:buNone/>
              <a:tabLst>
                <a:tab pos="574675" algn="l"/>
              </a:tabLst>
            </a:pPr>
            <a:r>
              <a:rPr lang="en-US" sz="2000" b="1" dirty="0"/>
              <a:t>A: </a:t>
            </a:r>
            <a:r>
              <a:rPr lang="en-US" sz="2000" dirty="0"/>
              <a:t>Concentric Circles</a:t>
            </a:r>
          </a:p>
          <a:p>
            <a:pPr marL="0" indent="0">
              <a:buFont typeface="Arial" panose="020B0604020202020204" pitchFamily="34" charset="0"/>
              <a:buNone/>
            </a:pPr>
            <a:endParaRPr lang="en-US" sz="2000" dirty="0"/>
          </a:p>
        </p:txBody>
      </p:sp>
    </p:spTree>
    <p:extLst>
      <p:ext uri="{BB962C8B-B14F-4D97-AF65-F5344CB8AC3E}">
        <p14:creationId xmlns:p14="http://schemas.microsoft.com/office/powerpoint/2010/main" val="746393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D67061B4-053C-B369-831C-3E0DE70C3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28DD8-6D02-81DC-A621-C2CEEFCB300C}"/>
              </a:ext>
            </a:extLst>
          </p:cNvPr>
          <p:cNvSpPr>
            <a:spLocks noGrp="1"/>
          </p:cNvSpPr>
          <p:nvPr>
            <p:ph type="title"/>
          </p:nvPr>
        </p:nvSpPr>
        <p:spPr>
          <a:xfrm>
            <a:off x="365760" y="365126"/>
            <a:ext cx="5730240" cy="877824"/>
          </a:xfrm>
        </p:spPr>
        <p:txBody>
          <a:bodyPr/>
          <a:lstStyle/>
          <a:p>
            <a:r>
              <a:rPr lang="en-US" dirty="0"/>
              <a:t>Practice Q&amp;A’s  </a:t>
            </a:r>
            <a:r>
              <a:rPr lang="en-US" sz="2800">
                <a:solidFill>
                  <a:schemeClr val="accent2">
                    <a:lumMod val="75000"/>
                  </a:schemeClr>
                </a:solidFill>
              </a:rPr>
              <a:t>(Q19-Q26)</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8C37384A-C9A2-3B49-A020-CFEDCB5FC388}"/>
              </a:ext>
            </a:extLst>
          </p:cNvPr>
          <p:cNvSpPr>
            <a:spLocks noGrp="1"/>
          </p:cNvSpPr>
          <p:nvPr>
            <p:ph idx="1"/>
          </p:nvPr>
        </p:nvSpPr>
        <p:spPr>
          <a:xfrm>
            <a:off x="585627" y="1143000"/>
            <a:ext cx="5650786" cy="5787736"/>
          </a:xfrm>
        </p:spPr>
        <p:txBody>
          <a:bodyPr>
            <a:normAutofit/>
          </a:bodyPr>
          <a:lstStyle/>
          <a:p>
            <a:pPr marL="0" indent="0">
              <a:buNone/>
              <a:tabLst>
                <a:tab pos="574675" algn="l"/>
              </a:tabLst>
            </a:pPr>
            <a:r>
              <a:rPr lang="en-US" sz="2000" b="1" dirty="0"/>
              <a:t>Q19: Name of two different size circles both centered at different points with the smaller inside the larger?</a:t>
            </a:r>
          </a:p>
          <a:p>
            <a:pPr marL="0" indent="0">
              <a:buNone/>
              <a:tabLst>
                <a:tab pos="574675" algn="l"/>
              </a:tabLst>
            </a:pPr>
            <a:r>
              <a:rPr lang="en-US" sz="2000" b="1" dirty="0"/>
              <a:t>A: </a:t>
            </a:r>
            <a:r>
              <a:rPr lang="en-US" sz="2000" dirty="0"/>
              <a:t>Eccentric Circles</a:t>
            </a:r>
          </a:p>
          <a:p>
            <a:pPr marL="0" indent="0">
              <a:buNone/>
              <a:tabLst>
                <a:tab pos="574675" algn="l"/>
              </a:tabLst>
            </a:pPr>
            <a:endParaRPr lang="en-US" sz="2000" dirty="0"/>
          </a:p>
          <a:p>
            <a:pPr marL="0" indent="0">
              <a:buNone/>
              <a:tabLst>
                <a:tab pos="574675" algn="l"/>
              </a:tabLst>
            </a:pPr>
            <a:r>
              <a:rPr lang="en-US" sz="2000" b="1" dirty="0"/>
              <a:t>Q20:</a:t>
            </a:r>
            <a:r>
              <a:rPr lang="en-US" sz="2000" dirty="0"/>
              <a:t> </a:t>
            </a:r>
            <a:r>
              <a:rPr lang="en-US" sz="2000" b="1" dirty="0"/>
              <a:t>Name of drawing view that is how the human eye perceives?</a:t>
            </a:r>
          </a:p>
          <a:p>
            <a:pPr marL="0" indent="0">
              <a:buNone/>
              <a:tabLst>
                <a:tab pos="574675" algn="l"/>
              </a:tabLst>
            </a:pPr>
            <a:r>
              <a:rPr lang="en-US" sz="2000" b="1" dirty="0"/>
              <a:t>A:</a:t>
            </a:r>
            <a:r>
              <a:rPr lang="en-US" sz="2000" dirty="0"/>
              <a:t> Perspective </a:t>
            </a:r>
          </a:p>
          <a:p>
            <a:pPr marL="0" indent="0">
              <a:buNone/>
              <a:tabLst>
                <a:tab pos="574675" algn="l"/>
              </a:tabLst>
            </a:pPr>
            <a:endParaRPr lang="en-US" sz="2000" dirty="0"/>
          </a:p>
          <a:p>
            <a:pPr marL="0" indent="0">
              <a:buNone/>
              <a:tabLst>
                <a:tab pos="574675" algn="l"/>
              </a:tabLst>
            </a:pPr>
            <a:r>
              <a:rPr lang="en-US" sz="2000" b="1" dirty="0"/>
              <a:t>Q21: What columns are in the Revision Block?</a:t>
            </a:r>
          </a:p>
          <a:p>
            <a:pPr marL="0" indent="0">
              <a:buNone/>
              <a:tabLst>
                <a:tab pos="574675" algn="l"/>
              </a:tabLst>
            </a:pPr>
            <a:r>
              <a:rPr lang="en-US" sz="2000" b="1" dirty="0"/>
              <a:t>A</a:t>
            </a:r>
            <a:r>
              <a:rPr lang="en-US" sz="2000" dirty="0"/>
              <a:t>: Revision Number.  Description.  Date.  Approved By.</a:t>
            </a:r>
          </a:p>
          <a:p>
            <a:pPr marL="0" indent="0">
              <a:buNone/>
              <a:tabLst>
                <a:tab pos="574675" algn="l"/>
              </a:tabLst>
            </a:pPr>
            <a:endParaRPr lang="en-US" sz="2000" dirty="0"/>
          </a:p>
          <a:p>
            <a:pPr marL="0" indent="0">
              <a:buNone/>
            </a:pPr>
            <a:r>
              <a:rPr lang="en-US" sz="2000" b="1" dirty="0"/>
              <a:t>Q22: Name of drawing type that is similar to perspective, but has no vanishing point?</a:t>
            </a:r>
          </a:p>
          <a:p>
            <a:pPr marL="0" indent="0">
              <a:buNone/>
            </a:pPr>
            <a:r>
              <a:rPr lang="en-US" sz="2000" b="1" dirty="0"/>
              <a:t>A:</a:t>
            </a:r>
            <a:r>
              <a:rPr lang="en-US" sz="2000" dirty="0"/>
              <a:t> Isometric</a:t>
            </a:r>
          </a:p>
        </p:txBody>
      </p:sp>
      <p:sp>
        <p:nvSpPr>
          <p:cNvPr id="12" name="Content Placeholder 2">
            <a:extLst>
              <a:ext uri="{FF2B5EF4-FFF2-40B4-BE49-F238E27FC236}">
                <a16:creationId xmlns:a16="http://schemas.microsoft.com/office/drawing/2014/main" id="{B2A323D9-A227-88AB-37F0-1835743AB534}"/>
              </a:ext>
            </a:extLst>
          </p:cNvPr>
          <p:cNvSpPr txBox="1">
            <a:spLocks/>
          </p:cNvSpPr>
          <p:nvPr/>
        </p:nvSpPr>
        <p:spPr>
          <a:xfrm>
            <a:off x="6236413" y="365126"/>
            <a:ext cx="5650786" cy="64928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Q23: Name of drawing type used in blueprints to show three different faces: Front, Top, and Right?</a:t>
            </a:r>
          </a:p>
          <a:p>
            <a:pPr marL="0" indent="0">
              <a:buNone/>
              <a:tabLst>
                <a:tab pos="574675" algn="l"/>
              </a:tabLst>
            </a:pPr>
            <a:r>
              <a:rPr lang="en-US" sz="2000" b="1" dirty="0"/>
              <a:t>A: </a:t>
            </a:r>
            <a:r>
              <a:rPr lang="en-US" sz="2000" dirty="0"/>
              <a:t>Orthographic.</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Q24: Name of aircraft reference plane that is </a:t>
            </a:r>
            <a:r>
              <a:rPr lang="en-US" sz="2000" b="1" dirty="0" err="1"/>
              <a:t>longitudunal</a:t>
            </a:r>
            <a:r>
              <a:rPr lang="en-US" sz="2000" b="1" dirty="0"/>
              <a:t>, running nose-to-tail...the length?</a:t>
            </a:r>
          </a:p>
          <a:p>
            <a:pPr marL="0" indent="0">
              <a:buNone/>
              <a:tabLst>
                <a:tab pos="574675" algn="l"/>
              </a:tabLst>
            </a:pPr>
            <a:r>
              <a:rPr lang="en-US" sz="2000" b="1" dirty="0"/>
              <a:t>A:</a:t>
            </a:r>
            <a:r>
              <a:rPr lang="en-US" sz="2000" dirty="0"/>
              <a:t> Station Line (STA)</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Q25: Name of aircraft reference plane that is </a:t>
            </a:r>
            <a:r>
              <a:rPr lang="en-US" sz="2000" b="1" dirty="0" err="1"/>
              <a:t>laterial</a:t>
            </a:r>
            <a:r>
              <a:rPr lang="en-US" sz="2000" b="1" dirty="0"/>
              <a:t>, running wingtip-to-wingtip...the width?</a:t>
            </a:r>
          </a:p>
          <a:p>
            <a:pPr marL="0" indent="0">
              <a:buNone/>
              <a:tabLst>
                <a:tab pos="574675" algn="l"/>
              </a:tabLst>
            </a:pPr>
            <a:r>
              <a:rPr lang="en-US" sz="2000" b="1" dirty="0"/>
              <a:t>A: </a:t>
            </a:r>
            <a:r>
              <a:rPr lang="en-US" sz="2000" dirty="0"/>
              <a:t>Buttock Line (BL).</a:t>
            </a:r>
          </a:p>
          <a:p>
            <a:pPr marL="0" indent="0">
              <a:buFont typeface="Arial" panose="020B0604020202020204" pitchFamily="34" charset="0"/>
              <a:buNone/>
            </a:pPr>
            <a:endParaRPr lang="en-US" sz="2000" dirty="0"/>
          </a:p>
          <a:p>
            <a:pPr marL="0" indent="0">
              <a:buNone/>
            </a:pPr>
            <a:r>
              <a:rPr lang="en-US" sz="2000" b="1" dirty="0"/>
              <a:t>Q26: Name of aircraft reference plane that is vertical, running wheels to </a:t>
            </a:r>
            <a:r>
              <a:rPr lang="en-US" sz="2000" b="1" dirty="0" err="1"/>
              <a:t>tailtop</a:t>
            </a:r>
            <a:r>
              <a:rPr lang="en-US" sz="2000" b="1" dirty="0"/>
              <a:t>...the height?</a:t>
            </a:r>
          </a:p>
          <a:p>
            <a:pPr marL="0" indent="0">
              <a:buNone/>
            </a:pPr>
            <a:r>
              <a:rPr lang="en-US" sz="2000" b="1" dirty="0"/>
              <a:t>A:</a:t>
            </a:r>
            <a:r>
              <a:rPr lang="en-US" sz="2000" dirty="0"/>
              <a:t> Water Line (WL) </a:t>
            </a:r>
            <a:br>
              <a:rPr lang="en-US" sz="2000" dirty="0"/>
            </a:br>
            <a:r>
              <a:rPr lang="en-US" sz="2000" dirty="0"/>
              <a:t>... like a boat (from Boeing's shipbuilding start)</a:t>
            </a:r>
          </a:p>
        </p:txBody>
      </p:sp>
    </p:spTree>
    <p:extLst>
      <p:ext uri="{BB962C8B-B14F-4D97-AF65-F5344CB8AC3E}">
        <p14:creationId xmlns:p14="http://schemas.microsoft.com/office/powerpoint/2010/main" val="356559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effectLst/>
      </p:bgPr>
    </p:bg>
    <p:spTree>
      <p:nvGrpSpPr>
        <p:cNvPr id="1" name="">
          <a:extLst>
            <a:ext uri="{FF2B5EF4-FFF2-40B4-BE49-F238E27FC236}">
              <a16:creationId xmlns:a16="http://schemas.microsoft.com/office/drawing/2014/main" id="{E67F07B8-D86C-458F-258D-E7E3600D8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26448-2F05-D194-7FC9-734A661A3610}"/>
              </a:ext>
            </a:extLst>
          </p:cNvPr>
          <p:cNvSpPr>
            <a:spLocks noGrp="1"/>
          </p:cNvSpPr>
          <p:nvPr>
            <p:ph type="title"/>
          </p:nvPr>
        </p:nvSpPr>
        <p:spPr>
          <a:xfrm>
            <a:off x="365760" y="365126"/>
            <a:ext cx="5730240" cy="877824"/>
          </a:xfrm>
        </p:spPr>
        <p:txBody>
          <a:bodyPr/>
          <a:lstStyle/>
          <a:p>
            <a:r>
              <a:rPr lang="en-US" dirty="0"/>
              <a:t>Practice Q&amp;A’s  </a:t>
            </a:r>
            <a:r>
              <a:rPr lang="en-US" sz="2800" dirty="0">
                <a:solidFill>
                  <a:schemeClr val="accent2">
                    <a:lumMod val="75000"/>
                  </a:schemeClr>
                </a:solidFill>
              </a:rPr>
              <a:t>(Q1-Q8)</a:t>
            </a:r>
            <a:endParaRPr lang="en-US" dirty="0">
              <a:solidFill>
                <a:schemeClr val="accent2">
                  <a:lumMod val="75000"/>
                </a:schemeClr>
              </a:solidFill>
            </a:endParaRPr>
          </a:p>
        </p:txBody>
      </p:sp>
      <p:sp>
        <p:nvSpPr>
          <p:cNvPr id="3" name="Content Placeholder 2">
            <a:extLst>
              <a:ext uri="{FF2B5EF4-FFF2-40B4-BE49-F238E27FC236}">
                <a16:creationId xmlns:a16="http://schemas.microsoft.com/office/drawing/2014/main" id="{E8C9C5FD-3813-9763-F482-75F813CB4585}"/>
              </a:ext>
            </a:extLst>
          </p:cNvPr>
          <p:cNvSpPr>
            <a:spLocks noGrp="1"/>
          </p:cNvSpPr>
          <p:nvPr>
            <p:ph idx="1"/>
          </p:nvPr>
        </p:nvSpPr>
        <p:spPr>
          <a:xfrm>
            <a:off x="585627" y="1143000"/>
            <a:ext cx="5650786" cy="5787736"/>
          </a:xfrm>
        </p:spPr>
        <p:txBody>
          <a:bodyPr>
            <a:normAutofit lnSpcReduction="10000"/>
          </a:bodyPr>
          <a:lstStyle/>
          <a:p>
            <a:pPr marL="0" indent="0">
              <a:buNone/>
              <a:tabLst>
                <a:tab pos="574675" algn="l"/>
              </a:tabLst>
            </a:pPr>
            <a:r>
              <a:rPr lang="en-US" sz="2000" b="1" dirty="0"/>
              <a:t>Q1: Name for the edges of a blueprint, often broken down by letters and numbers for an easy lookup grid?</a:t>
            </a:r>
          </a:p>
          <a:p>
            <a:pPr marL="0" indent="0">
              <a:buNone/>
              <a:tabLst>
                <a:tab pos="574675" algn="l"/>
              </a:tabLst>
            </a:pPr>
            <a:r>
              <a:rPr lang="en-US" sz="2000" b="1" dirty="0"/>
              <a:t>A: </a:t>
            </a:r>
            <a:r>
              <a:rPr lang="en-US" sz="2000" dirty="0"/>
              <a:t>Border</a:t>
            </a:r>
          </a:p>
          <a:p>
            <a:pPr marL="0" indent="0">
              <a:buNone/>
              <a:tabLst>
                <a:tab pos="574675" algn="l"/>
              </a:tabLst>
            </a:pPr>
            <a:endParaRPr lang="en-US" sz="2000" dirty="0"/>
          </a:p>
          <a:p>
            <a:pPr marL="0" indent="0">
              <a:buNone/>
              <a:tabLst>
                <a:tab pos="574675" algn="l"/>
              </a:tabLst>
            </a:pPr>
            <a:r>
              <a:rPr lang="en-US" sz="2000" b="1" dirty="0"/>
              <a:t>Q2:</a:t>
            </a:r>
            <a:r>
              <a:rPr lang="en-US" sz="2000" dirty="0"/>
              <a:t> </a:t>
            </a:r>
            <a:r>
              <a:rPr lang="en-US" sz="2000" b="1" dirty="0"/>
              <a:t>Name two components of the Title Block beyond the Drawing Title and  Sheet Number?</a:t>
            </a:r>
          </a:p>
          <a:p>
            <a:pPr marL="0" indent="0">
              <a:buNone/>
              <a:tabLst>
                <a:tab pos="574675" algn="l"/>
              </a:tabLst>
            </a:pPr>
            <a:r>
              <a:rPr lang="en-US" sz="2000" b="1" dirty="0"/>
              <a:t>A:</a:t>
            </a:r>
            <a:r>
              <a:rPr lang="en-US" sz="2000" dirty="0"/>
              <a:t> Company.  Scale.  Part Number.  Notes.  General Tolerances.  Signature.  Size.  Material. </a:t>
            </a:r>
          </a:p>
          <a:p>
            <a:pPr marL="0" indent="0">
              <a:buNone/>
              <a:tabLst>
                <a:tab pos="574675" algn="l"/>
              </a:tabLst>
            </a:pPr>
            <a:endParaRPr lang="en-US" sz="2000" dirty="0"/>
          </a:p>
          <a:p>
            <a:pPr marL="0" indent="0">
              <a:buNone/>
              <a:tabLst>
                <a:tab pos="574675" algn="l"/>
              </a:tabLst>
            </a:pPr>
            <a:r>
              <a:rPr lang="en-US" sz="2000" b="1" dirty="0"/>
              <a:t>Q3: What columns are in the Revision Block?</a:t>
            </a:r>
          </a:p>
          <a:p>
            <a:pPr marL="0" indent="0">
              <a:buNone/>
              <a:tabLst>
                <a:tab pos="574675" algn="l"/>
              </a:tabLst>
            </a:pPr>
            <a:r>
              <a:rPr lang="en-US" sz="2000" b="1" dirty="0"/>
              <a:t>A</a:t>
            </a:r>
            <a:r>
              <a:rPr lang="en-US" sz="2000" dirty="0"/>
              <a:t>: Revision Number.  Description.  Date.  Approved By.</a:t>
            </a:r>
          </a:p>
          <a:p>
            <a:pPr marL="0" indent="0">
              <a:buNone/>
              <a:tabLst>
                <a:tab pos="574675" algn="l"/>
              </a:tabLst>
            </a:pPr>
            <a:endParaRPr lang="en-US" sz="2000" dirty="0"/>
          </a:p>
          <a:p>
            <a:pPr marL="0" indent="0">
              <a:buNone/>
            </a:pPr>
            <a:r>
              <a:rPr lang="en-US" sz="2000" b="1" dirty="0"/>
              <a:t>Q4: What goes in the Picture Area?</a:t>
            </a:r>
          </a:p>
          <a:p>
            <a:pPr marL="0" indent="0">
              <a:buNone/>
            </a:pPr>
            <a:r>
              <a:rPr lang="en-US" sz="2000" b="1" dirty="0"/>
              <a:t>A:</a:t>
            </a:r>
            <a:r>
              <a:rPr lang="en-US" sz="2000" dirty="0"/>
              <a:t> Lines, words, and symbols to depict aircraft under construction</a:t>
            </a:r>
          </a:p>
        </p:txBody>
      </p:sp>
      <p:sp>
        <p:nvSpPr>
          <p:cNvPr id="12" name="Content Placeholder 2">
            <a:extLst>
              <a:ext uri="{FF2B5EF4-FFF2-40B4-BE49-F238E27FC236}">
                <a16:creationId xmlns:a16="http://schemas.microsoft.com/office/drawing/2014/main" id="{AFA558BE-D944-0065-16FD-ED0C4EAF0DE5}"/>
              </a:ext>
            </a:extLst>
          </p:cNvPr>
          <p:cNvSpPr txBox="1">
            <a:spLocks/>
          </p:cNvSpPr>
          <p:nvPr/>
        </p:nvSpPr>
        <p:spPr>
          <a:xfrm>
            <a:off x="6236413" y="365126"/>
            <a:ext cx="5650786" cy="6492874"/>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tabLst>
                <a:tab pos="574675" algn="l"/>
              </a:tabLst>
            </a:pPr>
            <a:r>
              <a:rPr lang="en-US" sz="2000" b="1" dirty="0"/>
              <a:t>Q5: What columns are in the Parts List?</a:t>
            </a:r>
          </a:p>
          <a:p>
            <a:pPr marL="0" indent="0">
              <a:buNone/>
              <a:tabLst>
                <a:tab pos="574675" algn="l"/>
              </a:tabLst>
            </a:pPr>
            <a:r>
              <a:rPr lang="en-US" sz="2000" b="1" dirty="0"/>
              <a:t>A: </a:t>
            </a:r>
            <a:r>
              <a:rPr lang="en-US" sz="2000" dirty="0"/>
              <a:t>Part Number. Part Name.  Quantity Received.  Finish.  Optionally: Material, Sequential Item Number.</a:t>
            </a:r>
          </a:p>
          <a:p>
            <a:pPr marL="0" indent="0">
              <a:buFont typeface="Arial" panose="020B0604020202020204" pitchFamily="34" charset="0"/>
              <a:buNone/>
              <a:tabLst>
                <a:tab pos="574675" algn="l"/>
              </a:tabLst>
            </a:pPr>
            <a:endParaRPr lang="en-US" sz="2000" b="1" dirty="0"/>
          </a:p>
          <a:p>
            <a:pPr marL="0" indent="0">
              <a:buNone/>
              <a:tabLst>
                <a:tab pos="574675" algn="l"/>
              </a:tabLst>
            </a:pPr>
            <a:r>
              <a:rPr lang="en-US" sz="2000" b="1" dirty="0"/>
              <a:t>Q6: What columns are in the Bill of Materials?</a:t>
            </a:r>
          </a:p>
          <a:p>
            <a:pPr marL="0" indent="0">
              <a:buNone/>
              <a:tabLst>
                <a:tab pos="574675" algn="l"/>
              </a:tabLst>
            </a:pPr>
            <a:r>
              <a:rPr lang="en-US" sz="2000" b="1" dirty="0"/>
              <a:t>A:</a:t>
            </a:r>
            <a:r>
              <a:rPr lang="en-US" sz="2000" dirty="0"/>
              <a:t> Item number.  Description.  Units.  </a:t>
            </a:r>
            <a:br>
              <a:rPr lang="en-US" sz="2000" dirty="0"/>
            </a:br>
            <a:r>
              <a:rPr lang="en-US" sz="2000" dirty="0"/>
              <a:t>Assembly or FSN No.  Quantity Ordered.  </a:t>
            </a:r>
            <a:br>
              <a:rPr lang="en-US" sz="2000" dirty="0"/>
            </a:br>
            <a:r>
              <a:rPr lang="en-US" sz="2000" dirty="0"/>
              <a:t>Quantity Delivered.</a:t>
            </a:r>
          </a:p>
          <a:p>
            <a:pPr marL="0" indent="0">
              <a:buFont typeface="Arial" panose="020B0604020202020204" pitchFamily="34" charset="0"/>
              <a:buNone/>
              <a:tabLst>
                <a:tab pos="574675" algn="l"/>
              </a:tabLst>
            </a:pPr>
            <a:endParaRPr lang="en-US" sz="2000" dirty="0"/>
          </a:p>
          <a:p>
            <a:pPr marL="0" indent="0">
              <a:buNone/>
              <a:tabLst>
                <a:tab pos="574675" algn="l"/>
              </a:tabLst>
            </a:pPr>
            <a:r>
              <a:rPr lang="en-US" sz="2000" b="1" dirty="0"/>
              <a:t>Q7: How is a "Bill of Materials" different from a "Parts List"?</a:t>
            </a:r>
          </a:p>
          <a:p>
            <a:pPr marL="0" indent="0">
              <a:buNone/>
              <a:tabLst>
                <a:tab pos="574675" algn="l"/>
              </a:tabLst>
            </a:pPr>
            <a:r>
              <a:rPr lang="en-US" sz="2000" b="1" dirty="0"/>
              <a:t>A1: </a:t>
            </a:r>
            <a:r>
              <a:rPr lang="en-US" sz="2000" dirty="0"/>
              <a:t>Parts list is simpler static drawing based list of parts or assemblies on the sheet.</a:t>
            </a:r>
          </a:p>
          <a:p>
            <a:pPr marL="0" indent="0">
              <a:buNone/>
              <a:tabLst>
                <a:tab pos="574675" algn="l"/>
              </a:tabLst>
            </a:pPr>
            <a:r>
              <a:rPr lang="en-US" sz="2000" b="1" dirty="0"/>
              <a:t>A2: </a:t>
            </a:r>
            <a:r>
              <a:rPr lang="en-US" sz="2000" dirty="0"/>
              <a:t>BOM list is comprehensive dynamic list containing every part, material, sub-assembly, and instruction.</a:t>
            </a:r>
          </a:p>
          <a:p>
            <a:pPr marL="0" indent="0">
              <a:buFont typeface="Arial" panose="020B0604020202020204" pitchFamily="34" charset="0"/>
              <a:buNone/>
            </a:pPr>
            <a:endParaRPr lang="en-US" sz="2000" dirty="0"/>
          </a:p>
          <a:p>
            <a:pPr marL="0" indent="0">
              <a:buNone/>
            </a:pPr>
            <a:r>
              <a:rPr lang="en-US" sz="2000" b="1" dirty="0"/>
              <a:t>Q8: How many points are needed to define a straight line?</a:t>
            </a:r>
          </a:p>
          <a:p>
            <a:pPr marL="0" indent="0">
              <a:buNone/>
            </a:pPr>
            <a:r>
              <a:rPr lang="en-US" sz="2000" b="1" dirty="0"/>
              <a:t>A:</a:t>
            </a:r>
            <a:r>
              <a:rPr lang="en-US" sz="2000" dirty="0"/>
              <a:t> Two</a:t>
            </a:r>
          </a:p>
        </p:txBody>
      </p:sp>
    </p:spTree>
    <p:extLst>
      <p:ext uri="{BB962C8B-B14F-4D97-AF65-F5344CB8AC3E}">
        <p14:creationId xmlns:p14="http://schemas.microsoft.com/office/powerpoint/2010/main" val="174905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C2D309-79B3-0066-BB56-E79235F32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AC3B1-808A-C5C9-BBB6-F06FDC830E2E}"/>
              </a:ext>
            </a:extLst>
          </p:cNvPr>
          <p:cNvSpPr>
            <a:spLocks noGrp="1"/>
          </p:cNvSpPr>
          <p:nvPr>
            <p:ph type="ctrTitle"/>
          </p:nvPr>
        </p:nvSpPr>
        <p:spPr>
          <a:xfrm>
            <a:off x="1612696" y="1893712"/>
            <a:ext cx="8966607" cy="1535288"/>
          </a:xfrm>
        </p:spPr>
        <p:txBody>
          <a:bodyPr>
            <a:noAutofit/>
          </a:bodyPr>
          <a:lstStyle/>
          <a:p>
            <a:r>
              <a:rPr lang="en-US" sz="9600" b="1" dirty="0">
                <a:solidFill>
                  <a:schemeClr val="bg1"/>
                </a:solidFill>
              </a:rPr>
              <a:t>Thank You</a:t>
            </a:r>
          </a:p>
        </p:txBody>
      </p:sp>
      <p:sp>
        <p:nvSpPr>
          <p:cNvPr id="3" name="Subtitle 2">
            <a:extLst>
              <a:ext uri="{FF2B5EF4-FFF2-40B4-BE49-F238E27FC236}">
                <a16:creationId xmlns:a16="http://schemas.microsoft.com/office/drawing/2014/main" id="{49C9C698-DE27-F888-6BAA-48C0C4FED236}"/>
              </a:ext>
            </a:extLst>
          </p:cNvPr>
          <p:cNvSpPr>
            <a:spLocks noGrp="1"/>
          </p:cNvSpPr>
          <p:nvPr>
            <p:ph type="subTitle" idx="1"/>
          </p:nvPr>
        </p:nvSpPr>
        <p:spPr>
          <a:xfrm>
            <a:off x="1490133" y="5258927"/>
            <a:ext cx="8966607" cy="1090775"/>
          </a:xfrm>
          <a:noFill/>
          <a:effectLst>
            <a:glow rad="228600">
              <a:schemeClr val="accent1">
                <a:satMod val="175000"/>
                <a:alpha val="40000"/>
              </a:schemeClr>
            </a:glow>
          </a:effectLst>
        </p:spPr>
        <p:txBody>
          <a:bodyPr>
            <a:normAutofit/>
          </a:bodyPr>
          <a:lstStyle/>
          <a:p>
            <a:pPr algn="l"/>
            <a:r>
              <a:rPr lang="pl-PL" sz="2000" dirty="0">
                <a:solidFill>
                  <a:schemeClr val="bg1"/>
                </a:solidFill>
              </a:rPr>
              <a:t>Matt Pierce  </a:t>
            </a:r>
            <a:r>
              <a:rPr lang="en-US" sz="2000" dirty="0">
                <a:solidFill>
                  <a:schemeClr val="bg1"/>
                </a:solidFill>
              </a:rPr>
              <a:t> - </a:t>
            </a:r>
            <a:r>
              <a:rPr lang="pl-PL" sz="2000" dirty="0">
                <a:solidFill>
                  <a:schemeClr val="bg1"/>
                </a:solidFill>
              </a:rPr>
              <a:t>  mpierce710006@gmail.com  </a:t>
            </a:r>
            <a:r>
              <a:rPr lang="en-US" sz="2000" dirty="0">
                <a:solidFill>
                  <a:schemeClr val="bg1"/>
                </a:solidFill>
              </a:rPr>
              <a:t> - </a:t>
            </a:r>
            <a:r>
              <a:rPr lang="pl-PL" sz="2000" dirty="0">
                <a:solidFill>
                  <a:schemeClr val="bg1"/>
                </a:solidFill>
              </a:rPr>
              <a:t>  linkedin.com/in/mpiercead576/</a:t>
            </a:r>
          </a:p>
          <a:p>
            <a:pPr algn="l"/>
            <a:r>
              <a:rPr lang="pl-PL" sz="2000" dirty="0">
                <a:solidFill>
                  <a:schemeClr val="bg1"/>
                </a:solidFill>
                <a:hlinkClick r:id="rId3"/>
              </a:rPr>
              <a:t>https://github.com/DataResearchLabs/study_guide_intro_aerospace_mfg</a:t>
            </a:r>
            <a:endParaRPr lang="en-US" sz="2000" dirty="0">
              <a:solidFill>
                <a:schemeClr val="bg1"/>
              </a:solidFill>
            </a:endParaRPr>
          </a:p>
          <a:p>
            <a:pPr algn="l"/>
            <a:endParaRPr lang="en-US" sz="2000" dirty="0">
              <a:solidFill>
                <a:schemeClr val="bg1"/>
              </a:solidFill>
            </a:endParaRPr>
          </a:p>
        </p:txBody>
      </p:sp>
      <p:cxnSp>
        <p:nvCxnSpPr>
          <p:cNvPr id="7" name="Straight Connector 6">
            <a:extLst>
              <a:ext uri="{FF2B5EF4-FFF2-40B4-BE49-F238E27FC236}">
                <a16:creationId xmlns:a16="http://schemas.microsoft.com/office/drawing/2014/main" id="{47439251-0FA5-4222-2534-EC4CD92AB89C}"/>
              </a:ext>
            </a:extLst>
          </p:cNvPr>
          <p:cNvCxnSpPr>
            <a:cxnSpLocks/>
          </p:cNvCxnSpPr>
          <p:nvPr/>
        </p:nvCxnSpPr>
        <p:spPr>
          <a:xfrm>
            <a:off x="0" y="4727225"/>
            <a:ext cx="121920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2272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7008</TotalTime>
  <Words>1736</Words>
  <Application>Microsoft Office PowerPoint</Application>
  <PresentationFormat>Widescreen</PresentationFormat>
  <Paragraphs>250</Paragraphs>
  <Slides>19</Slides>
  <Notes>16</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5" baseType="lpstr">
      <vt:lpstr>Aptos</vt:lpstr>
      <vt:lpstr>Aptos Display</vt:lpstr>
      <vt:lpstr>Arial</vt:lpstr>
      <vt:lpstr>Rastanty Cortez</vt:lpstr>
      <vt:lpstr>Office Theme</vt:lpstr>
      <vt:lpstr>Bitmap Image</vt:lpstr>
      <vt:lpstr>Elements &amp; Terminology</vt:lpstr>
      <vt:lpstr>Blueprint Elements</vt:lpstr>
      <vt:lpstr>Border</vt:lpstr>
      <vt:lpstr>Title Block</vt:lpstr>
      <vt:lpstr>Revision Block</vt:lpstr>
      <vt:lpstr>Picture Area</vt:lpstr>
      <vt:lpstr>Parts List</vt:lpstr>
      <vt:lpstr>Bill of Materials</vt:lpstr>
      <vt:lpstr>Blueprint Terminology</vt:lpstr>
      <vt:lpstr>Common Drawing Elements</vt:lpstr>
      <vt:lpstr>Types of Pictorial Drawings</vt:lpstr>
      <vt:lpstr>Orthographic Projection - Glass Box  /  6 Face</vt:lpstr>
      <vt:lpstr>Aircraft Reference Planes (Axes)</vt:lpstr>
      <vt:lpstr>Q&amp;A</vt:lpstr>
      <vt:lpstr>Practice Q&amp;A’s  (Q1-Q8)</vt:lpstr>
      <vt:lpstr>Practice Q&amp;A’s  (Q9-Q18)</vt:lpstr>
      <vt:lpstr>Practice Q&amp;A’s  (Q19-Q26)</vt:lpstr>
      <vt:lpstr>Practice Q&amp;A’s  (Q1-Q8)</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 Pierce</dc:creator>
  <cp:lastModifiedBy>Matt Pierce</cp:lastModifiedBy>
  <cp:revision>254</cp:revision>
  <dcterms:created xsi:type="dcterms:W3CDTF">2026-02-02T22:48:01Z</dcterms:created>
  <dcterms:modified xsi:type="dcterms:W3CDTF">2026-02-27T02:49:25Z</dcterms:modified>
</cp:coreProperties>
</file>