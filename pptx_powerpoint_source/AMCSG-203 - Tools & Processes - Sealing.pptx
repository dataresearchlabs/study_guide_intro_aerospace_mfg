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15" r:id="rId2"/>
    <p:sldId id="290" r:id="rId3"/>
    <p:sldId id="299" r:id="rId4"/>
    <p:sldId id="291" r:id="rId5"/>
    <p:sldId id="298" r:id="rId6"/>
    <p:sldId id="302" r:id="rId7"/>
    <p:sldId id="303" r:id="rId8"/>
    <p:sldId id="316" r:id="rId9"/>
    <p:sldId id="30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1" autoAdjust="0"/>
    <p:restoredTop sz="89691" autoAdjust="0"/>
  </p:normalViewPr>
  <p:slideViewPr>
    <p:cSldViewPr snapToGrid="0">
      <p:cViewPr varScale="1">
        <p:scale>
          <a:sx n="62" d="100"/>
          <a:sy n="62" d="100"/>
        </p:scale>
        <p:origin x="83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C98CB6-2C88-401C-AAD5-2FFED2D64E9F}"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5D55C3-6A65-407E-9BFF-B66438A6525E}" type="slidenum">
              <a:rPr lang="en-US" smtClean="0"/>
              <a:t>‹#›</a:t>
            </a:fld>
            <a:endParaRPr lang="en-US"/>
          </a:p>
        </p:txBody>
      </p:sp>
    </p:spTree>
    <p:extLst>
      <p:ext uri="{BB962C8B-B14F-4D97-AF65-F5344CB8AC3E}">
        <p14:creationId xmlns:p14="http://schemas.microsoft.com/office/powerpoint/2010/main" val="391318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1</a:t>
            </a:fld>
            <a:endParaRPr lang="en-US"/>
          </a:p>
        </p:txBody>
      </p:sp>
    </p:spTree>
    <p:extLst>
      <p:ext uri="{BB962C8B-B14F-4D97-AF65-F5344CB8AC3E}">
        <p14:creationId xmlns:p14="http://schemas.microsoft.com/office/powerpoint/2010/main" val="205662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ABF39-8F17-1330-9936-997E1A19E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B8544-599B-5805-E9E8-697C132D7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823D2B-5FA8-9A84-803D-672695A25C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 “Sealant gun” – “make a photo showing a hand holding a caulking gun sealing a kitchen counter top with white sealant”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 Sealing rivets – “show sealant being painted over rivet heads on a strip of aluminum aircraft skin”</a:t>
            </a:r>
            <a:br>
              <a:rPr lang="en-US" dirty="0"/>
            </a:br>
            <a:r>
              <a:rPr lang="en-US" dirty="0"/>
              <a:t>+ “make it a single photo. make it training-manual clean. make the brush stroke thick over the strip of rivets. make the sealant blue. make the brush hairs black. make the brush handle silver.”</a:t>
            </a:r>
            <a:br>
              <a:rPr lang="en-US" dirty="0"/>
            </a:br>
            <a:r>
              <a:rPr lang="en-US" dirty="0"/>
              <a:t>+ “make the brush head narrower. make the rivet heads 4x smaller. use half as many rivet heads. show only the lower strip of rivets (remove the top strip)”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 make a picture of a sealant gun used in aerospace manufacturing. Show how is different from a home sealant gun.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 make a photo showing all the tools used to apply sealant in aerospace manufacturing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CBA2C0A4-067A-F29A-B242-A6CF46CFC64B}"/>
              </a:ext>
            </a:extLst>
          </p:cNvPr>
          <p:cNvSpPr>
            <a:spLocks noGrp="1"/>
          </p:cNvSpPr>
          <p:nvPr>
            <p:ph type="sldNum" sz="quarter" idx="5"/>
          </p:nvPr>
        </p:nvSpPr>
        <p:spPr/>
        <p:txBody>
          <a:bodyPr/>
          <a:lstStyle/>
          <a:p>
            <a:fld id="{8D6C5DC3-924D-4CCC-8AC2-C41F495DFCEC}" type="slidenum">
              <a:rPr lang="en-US" smtClean="0"/>
              <a:t>3</a:t>
            </a:fld>
            <a:endParaRPr lang="en-US"/>
          </a:p>
        </p:txBody>
      </p:sp>
    </p:spTree>
    <p:extLst>
      <p:ext uri="{BB962C8B-B14F-4D97-AF65-F5344CB8AC3E}">
        <p14:creationId xmlns:p14="http://schemas.microsoft.com/office/powerpoint/2010/main" val="458017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7968-6F01-77C1-4F65-98311E1D9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1805D-EBA0-ED1F-F83F-E528753DEE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B1C05-B556-CBC1-7945-F5860BDB033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 “Corrosion Protection”:  “picture emphasizing purpose of sealant for corrosion protection”</a:t>
            </a:r>
            <a:br>
              <a:rPr lang="en-US" dirty="0"/>
            </a:br>
            <a:r>
              <a:rPr lang="en-US" dirty="0"/>
              <a:t>+ “create a with vs without sealant split image”</a:t>
            </a:r>
            <a:br>
              <a:rPr lang="en-US" dirty="0"/>
            </a:b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 “Maintain Cabin Pressure”:  “picture emphasizing purpose of sealant for maintaining cabin pressure in aircraft”</a:t>
            </a:r>
            <a:br>
              <a:rPr lang="en-US" dirty="0"/>
            </a:br>
            <a:r>
              <a:rPr lang="en-US" dirty="0"/>
              <a:t>+ “show sealant applied on the inside (not the outside) in the zoom popup. remove the title at top "sealant for maintaining cabin pressure"</a:t>
            </a:r>
          </a:p>
        </p:txBody>
      </p:sp>
      <p:sp>
        <p:nvSpPr>
          <p:cNvPr id="4" name="Slide Number Placeholder 3">
            <a:extLst>
              <a:ext uri="{FF2B5EF4-FFF2-40B4-BE49-F238E27FC236}">
                <a16:creationId xmlns:a16="http://schemas.microsoft.com/office/drawing/2014/main" id="{6E1283CE-210B-C858-8688-5250CCD86BB1}"/>
              </a:ext>
            </a:extLst>
          </p:cNvPr>
          <p:cNvSpPr>
            <a:spLocks noGrp="1"/>
          </p:cNvSpPr>
          <p:nvPr>
            <p:ph type="sldNum" sz="quarter" idx="5"/>
          </p:nvPr>
        </p:nvSpPr>
        <p:spPr/>
        <p:txBody>
          <a:bodyPr/>
          <a:lstStyle/>
          <a:p>
            <a:fld id="{8D6C5DC3-924D-4CCC-8AC2-C41F495DFCEC}" type="slidenum">
              <a:rPr lang="en-US" smtClean="0"/>
              <a:t>4</a:t>
            </a:fld>
            <a:endParaRPr lang="en-US"/>
          </a:p>
        </p:txBody>
      </p:sp>
    </p:spTree>
    <p:extLst>
      <p:ext uri="{BB962C8B-B14F-4D97-AF65-F5344CB8AC3E}">
        <p14:creationId xmlns:p14="http://schemas.microsoft.com/office/powerpoint/2010/main" val="433299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19A6E-3B8F-1698-5294-252619619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FDCE9-C879-82B2-ACF8-A7C9BF87E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BE6C3-5F0A-EFC7-18CE-FC2D81649CA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 “Maintain fuel in tanks”:  “picture emphasizing purpose of sealant for maintaining fuel in tanks and preventing leaks”</a:t>
            </a:r>
            <a:br>
              <a:rPr lang="en-US" dirty="0"/>
            </a:br>
            <a:r>
              <a:rPr lang="en-US" dirty="0"/>
              <a:t>+ “Sealant applied at joints, lap seams, fastener heads, and rib-to-skin interfaces show side by side with sealant, and without sealant (leaking)”</a:t>
            </a:r>
            <a:br>
              <a:rPr lang="en-US" dirty="0"/>
            </a:br>
            <a:r>
              <a:rPr lang="en-US" dirty="0"/>
              <a:t>+ “make the rivets head 80 percent smaller on both pictures. Emphasize the sealant on the left side. Emphasize no sealant on the right side and emphasize corrosion on the right side. Remove 90% of the leaking fuel from the right side.”</a:t>
            </a:r>
            <a:br>
              <a:rPr lang="en-US" dirty="0"/>
            </a:br>
            <a:r>
              <a:rPr lang="en-US" dirty="0"/>
              <a:t>+ “make the black sealant blue on left picture so it really stands out. Ditto for the sealant at every rivet head on left picture. No changes to right picture.”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Maintaining Adhesion and </a:t>
            </a:r>
            <a:r>
              <a:rPr lang="en-US" dirty="0" err="1"/>
              <a:t>Aerodymaics</a:t>
            </a:r>
            <a:r>
              <a:rPr lang="en-US" dirty="0"/>
              <a:t>: ChatGPT “picture emphasizing purpose of sealant on skin of airplane for aerodynamics and for surface adhesion”</a:t>
            </a:r>
            <a:br>
              <a:rPr lang="en-US" dirty="0"/>
            </a:br>
            <a:r>
              <a:rPr lang="en-US" dirty="0"/>
              <a:t>+ “make a with vs without sealant comparison image”</a:t>
            </a:r>
            <a:br>
              <a:rPr lang="en-US" dirty="0"/>
            </a:br>
            <a:r>
              <a:rPr lang="en-US" dirty="0"/>
              <a:t>+ ”remove the top title bar in blue "lap joint sealing: with vs without sealant"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 “change the lower part of both pictures away from corrosion and moisture barrier...change it to surface adhesion for paint.</a:t>
            </a:r>
          </a:p>
          <a:p>
            <a:pPr marL="171450" indent="-171450">
              <a:buFont typeface="Arial" panose="020B0604020202020204" pitchFamily="34" charset="0"/>
              <a:buChar char="•"/>
            </a:pPr>
            <a:r>
              <a:rPr lang="en-US"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Slide Number Placeholder 3">
            <a:extLst>
              <a:ext uri="{FF2B5EF4-FFF2-40B4-BE49-F238E27FC236}">
                <a16:creationId xmlns:a16="http://schemas.microsoft.com/office/drawing/2014/main" id="{1C446642-F173-DD36-E6E3-123144A3FB72}"/>
              </a:ext>
            </a:extLst>
          </p:cNvPr>
          <p:cNvSpPr>
            <a:spLocks noGrp="1"/>
          </p:cNvSpPr>
          <p:nvPr>
            <p:ph type="sldNum" sz="quarter" idx="5"/>
          </p:nvPr>
        </p:nvSpPr>
        <p:spPr/>
        <p:txBody>
          <a:bodyPr/>
          <a:lstStyle/>
          <a:p>
            <a:fld id="{8D6C5DC3-924D-4CCC-8AC2-C41F495DFCEC}" type="slidenum">
              <a:rPr lang="en-US" smtClean="0"/>
              <a:t>5</a:t>
            </a:fld>
            <a:endParaRPr lang="en-US"/>
          </a:p>
        </p:txBody>
      </p:sp>
    </p:spTree>
    <p:extLst>
      <p:ext uri="{BB962C8B-B14F-4D97-AF65-F5344CB8AC3E}">
        <p14:creationId xmlns:p14="http://schemas.microsoft.com/office/powerpoint/2010/main" val="2965411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FE57-7CA1-1F08-40B4-7752B89CF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3B1B3-B826-C16C-582D-0AF1300AB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EF43A-92BE-B2AD-DE41-70701A51790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08BB0F8-DF6E-284F-F4D7-5190108C3E1E}"/>
              </a:ext>
            </a:extLst>
          </p:cNvPr>
          <p:cNvSpPr>
            <a:spLocks noGrp="1"/>
          </p:cNvSpPr>
          <p:nvPr>
            <p:ph type="sldNum" sz="quarter" idx="5"/>
          </p:nvPr>
        </p:nvSpPr>
        <p:spPr/>
        <p:txBody>
          <a:bodyPr/>
          <a:lstStyle/>
          <a:p>
            <a:fld id="{8D6C5DC3-924D-4CCC-8AC2-C41F495DFCEC}" type="slidenum">
              <a:rPr lang="en-US" smtClean="0"/>
              <a:t>7</a:t>
            </a:fld>
            <a:endParaRPr lang="en-US"/>
          </a:p>
        </p:txBody>
      </p:sp>
    </p:spTree>
    <p:extLst>
      <p:ext uri="{BB962C8B-B14F-4D97-AF65-F5344CB8AC3E}">
        <p14:creationId xmlns:p14="http://schemas.microsoft.com/office/powerpoint/2010/main" val="3036167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41AE9-40D8-7AAD-D238-91F440313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A6D80-FB3F-5CF5-3FDD-9590036AF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81B8C-F1A5-0BC5-F220-AF3DC2FE761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BF8A2D8-347C-BA61-0B79-423D9308DAA6}"/>
              </a:ext>
            </a:extLst>
          </p:cNvPr>
          <p:cNvSpPr>
            <a:spLocks noGrp="1"/>
          </p:cNvSpPr>
          <p:nvPr>
            <p:ph type="sldNum" sz="quarter" idx="5"/>
          </p:nvPr>
        </p:nvSpPr>
        <p:spPr/>
        <p:txBody>
          <a:bodyPr/>
          <a:lstStyle/>
          <a:p>
            <a:fld id="{8D6C5DC3-924D-4CCC-8AC2-C41F495DFCEC}" type="slidenum">
              <a:rPr lang="en-US" smtClean="0"/>
              <a:t>8</a:t>
            </a:fld>
            <a:endParaRPr lang="en-US"/>
          </a:p>
        </p:txBody>
      </p:sp>
    </p:spTree>
    <p:extLst>
      <p:ext uri="{BB962C8B-B14F-4D97-AF65-F5344CB8AC3E}">
        <p14:creationId xmlns:p14="http://schemas.microsoft.com/office/powerpoint/2010/main" val="89770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96A15-4627-A2B7-B23E-2AC252B87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D323-39FD-6977-01F7-412F0DE61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71F59-B048-3D2A-8AFA-5907E8E6EC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92962-9A43-C2C2-7107-AD8564EA2217}"/>
              </a:ext>
            </a:extLst>
          </p:cNvPr>
          <p:cNvSpPr>
            <a:spLocks noGrp="1"/>
          </p:cNvSpPr>
          <p:nvPr>
            <p:ph type="sldNum" sz="quarter" idx="5"/>
          </p:nvPr>
        </p:nvSpPr>
        <p:spPr/>
        <p:txBody>
          <a:bodyPr/>
          <a:lstStyle/>
          <a:p>
            <a:fld id="{8D6C5DC3-924D-4CCC-8AC2-C41F495DFCEC}" type="slidenum">
              <a:rPr lang="en-US" smtClean="0"/>
              <a:t>9</a:t>
            </a:fld>
            <a:endParaRPr lang="en-US"/>
          </a:p>
        </p:txBody>
      </p:sp>
    </p:spTree>
    <p:extLst>
      <p:ext uri="{BB962C8B-B14F-4D97-AF65-F5344CB8AC3E}">
        <p14:creationId xmlns:p14="http://schemas.microsoft.com/office/powerpoint/2010/main" val="1906668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38604-8C4F-A976-286B-E17FB7C14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DD2EB9-B6C1-80A3-7C6D-D35E38A03F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5B8A0F-A558-BEB7-6231-6925F33CD57C}"/>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52A1166D-3B41-FC46-B527-118F3460E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153BE-7379-C725-CF26-CC6B4582A0B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46196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079D-5F59-ED52-BFF6-108D0B4B7B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9464D4-320F-5BA1-287F-1810736ABE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7F46D3-7E3E-A3F7-278E-3551B22E92BA}"/>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B8261CB-A869-1544-C0A7-CC8604F47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44C245-FC94-FA83-E5F4-3A9F814E9F6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770838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ABCD-A3C6-53C0-24E3-954C9A8274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5E699-7560-7EDA-7B99-F59CD0C3A3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6B2B8C-062D-E298-1EAA-A52D35FA24B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EB0F3F7A-D347-901F-0C3A-87475B63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C49654-0078-975F-CED4-0DEF4EBA123D}"/>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42161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B5F63-6558-5286-61E4-A549097724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69B79C-BB11-0D88-C0DC-1C491C75A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FEF498-1470-A152-8DBA-089FF3635D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3EFBD9-D87E-39CB-A355-14D4BB93BB95}"/>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678A95F7-406E-D075-8B39-623D2BBE1E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5CC82C-F922-EC87-9017-EF7F35AA4EA8}"/>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57590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6EFA-DCF2-0F96-3716-78160812E8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A353F8-35CE-B547-928A-196E0C4D5A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A65914-9D20-1CD8-A86D-5F4A2F02E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B884EB-0E59-5F47-4379-943FF84F97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FCA68-CFD3-9870-4F97-476B9FC182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F52665-A037-02EF-95D2-5C9DFE8C36CD}"/>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8" name="Footer Placeholder 7">
            <a:extLst>
              <a:ext uri="{FF2B5EF4-FFF2-40B4-BE49-F238E27FC236}">
                <a16:creationId xmlns:a16="http://schemas.microsoft.com/office/drawing/2014/main" id="{97FB38FF-5536-D966-C235-F1789960D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F1FCDF-1DBF-2AA3-93C1-61400BA163D6}"/>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2288093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6DE56-0CE0-D5B3-0EDA-8FADF7BAAE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DCBFB5-D851-3D9D-F332-47B4360892B2}"/>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4" name="Footer Placeholder 3">
            <a:extLst>
              <a:ext uri="{FF2B5EF4-FFF2-40B4-BE49-F238E27FC236}">
                <a16:creationId xmlns:a16="http://schemas.microsoft.com/office/drawing/2014/main" id="{1A3273FA-2457-4385-2E37-2A2729051E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12ED07-57CD-AF06-DD3A-2454B3CDA961}"/>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79684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6715A-586C-FF87-D16B-76C507D12DE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3" name="Footer Placeholder 2">
            <a:extLst>
              <a:ext uri="{FF2B5EF4-FFF2-40B4-BE49-F238E27FC236}">
                <a16:creationId xmlns:a16="http://schemas.microsoft.com/office/drawing/2014/main" id="{6A48C50A-ACA0-E39C-BF1E-1AB606A2ED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8AEB16-9EB9-619F-5C07-329C76637AF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61481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D819-C7CB-8577-D68F-9DDA148B1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950A4-3F7D-2D71-A9D4-740363302C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A536D9-2523-D955-F38D-FE976F44E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D2DA0F-A8B3-4CF1-B679-C5B0D39B929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D8C69CA2-A42A-833D-BC7C-967D1EFF9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0A10A-141E-2590-DD32-0F38164C025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83888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238C-F95A-85C6-EF95-6192D45516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EBEC10-9D21-E83F-7164-A85385A8D9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A3150E-BFB2-B49D-B13D-37BFAC11E9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422970-B70C-CFBD-3CC4-D601161A0FAF}"/>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3B7D507F-6489-85D6-C731-7346630A90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88480-DC24-2467-A79D-74622277917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735023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3787E-C838-836F-52EE-50D8BB587F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1598B-9911-A386-F7AA-97913A488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5A08D-38E1-D7DC-F94F-51768EFD81D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F4B7829E-AB80-5C6B-0D61-A0DFC10904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BA7A8F-5B78-B4B6-09FE-0993C94C9A2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626285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D9024B-25BF-EA72-BD35-65EF808FFF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5796C1-A9AD-51B1-9E18-4C96802598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D1A7B-3E4E-45E3-2613-EBBE7B7AEF88}"/>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D220DA0-1A51-9958-DA38-0E0EC8FF4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7903E-BE2A-59C5-B220-A6582E61665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522567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8F4C7-2F11-26ED-32BD-E758D1900A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E9DBA8-3E2E-A76B-065E-87B7597762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6856E-F249-64F9-2B63-8358883D77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0DE75684-5E0C-B3A4-431A-05A0108263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EB5A29-6651-182C-206F-17AE0616C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AF9D7E-22CD-4029-926F-9304E46059D1}" type="slidenum">
              <a:rPr lang="en-US" smtClean="0"/>
              <a:t>‹#›</a:t>
            </a:fld>
            <a:endParaRPr lang="en-US"/>
          </a:p>
        </p:txBody>
      </p:sp>
    </p:spTree>
    <p:extLst>
      <p:ext uri="{BB962C8B-B14F-4D97-AF65-F5344CB8AC3E}">
        <p14:creationId xmlns:p14="http://schemas.microsoft.com/office/powerpoint/2010/main" val="623654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ataResearchLabs/study_guide_intro_aerospace_mf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969CFF-BAE7-BF73-632D-A9101B28F0D2}"/>
              </a:ext>
            </a:extLst>
          </p:cNvPr>
          <p:cNvSpPr/>
          <p:nvPr/>
        </p:nvSpPr>
        <p:spPr>
          <a:xfrm>
            <a:off x="3691847" y="2242335"/>
            <a:ext cx="4808306" cy="237333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5E0237A-1769-2D18-56A2-B36906319656}"/>
              </a:ext>
            </a:extLst>
          </p:cNvPr>
          <p:cNvSpPr>
            <a:spLocks noGrp="1"/>
          </p:cNvSpPr>
          <p:nvPr>
            <p:ph type="ctrTitle"/>
          </p:nvPr>
        </p:nvSpPr>
        <p:spPr>
          <a:xfrm>
            <a:off x="0" y="3340599"/>
            <a:ext cx="12192000" cy="1145996"/>
          </a:xfrm>
        </p:spPr>
        <p:txBody>
          <a:bodyPr>
            <a:normAutofit/>
          </a:bodyPr>
          <a:lstStyle/>
          <a:p>
            <a:r>
              <a:rPr lang="en-US" sz="6600" b="1" dirty="0">
                <a:solidFill>
                  <a:schemeClr val="bg1"/>
                </a:solidFill>
              </a:rPr>
              <a:t>Sealing</a:t>
            </a:r>
            <a:endParaRPr lang="en-US" b="1" dirty="0">
              <a:solidFill>
                <a:schemeClr val="bg1"/>
              </a:solidFill>
            </a:endParaRPr>
          </a:p>
        </p:txBody>
      </p:sp>
      <p:sp>
        <p:nvSpPr>
          <p:cNvPr id="3" name="Subtitle 2">
            <a:extLst>
              <a:ext uri="{FF2B5EF4-FFF2-40B4-BE49-F238E27FC236}">
                <a16:creationId xmlns:a16="http://schemas.microsoft.com/office/drawing/2014/main" id="{88E83414-9557-9971-74AE-0E0F206E6AD9}"/>
              </a:ext>
            </a:extLst>
          </p:cNvPr>
          <p:cNvSpPr>
            <a:spLocks noGrp="1"/>
          </p:cNvSpPr>
          <p:nvPr>
            <p:ph type="subTitle" idx="1"/>
          </p:nvPr>
        </p:nvSpPr>
        <p:spPr>
          <a:xfrm>
            <a:off x="4164882" y="768846"/>
            <a:ext cx="3862232" cy="1090775"/>
          </a:xfrm>
          <a:noFill/>
          <a:effectLst>
            <a:glow rad="228600">
              <a:schemeClr val="accent1">
                <a:satMod val="175000"/>
                <a:alpha val="40000"/>
              </a:schemeClr>
            </a:glow>
          </a:effectLst>
        </p:spPr>
        <p:txBody>
          <a:bodyPr>
            <a:normAutofit/>
          </a:bodyPr>
          <a:lstStyle/>
          <a:p>
            <a:r>
              <a:rPr lang="en-US" sz="2000" dirty="0">
                <a:solidFill>
                  <a:schemeClr val="bg1"/>
                </a:solidFill>
              </a:rPr>
              <a:t>Aerospace Manufacturing Core </a:t>
            </a:r>
            <a:br>
              <a:rPr lang="en-US" sz="2000" dirty="0">
                <a:solidFill>
                  <a:schemeClr val="bg1"/>
                </a:solidFill>
              </a:rPr>
            </a:br>
            <a:r>
              <a:rPr lang="en-US" sz="2000" dirty="0">
                <a:solidFill>
                  <a:schemeClr val="bg1"/>
                </a:solidFill>
              </a:rPr>
              <a:t>Study Guide </a:t>
            </a:r>
          </a:p>
          <a:p>
            <a:r>
              <a:rPr lang="en-US" sz="2000" dirty="0">
                <a:solidFill>
                  <a:schemeClr val="bg1"/>
                </a:solidFill>
              </a:rPr>
              <a:t>“AMCSG-203”</a:t>
            </a:r>
          </a:p>
        </p:txBody>
      </p:sp>
      <p:sp>
        <p:nvSpPr>
          <p:cNvPr id="4" name="Subtitle 2">
            <a:extLst>
              <a:ext uri="{FF2B5EF4-FFF2-40B4-BE49-F238E27FC236}">
                <a16:creationId xmlns:a16="http://schemas.microsoft.com/office/drawing/2014/main" id="{72A361BB-91A4-6234-4565-06CC792AA8FE}"/>
              </a:ext>
            </a:extLst>
          </p:cNvPr>
          <p:cNvSpPr txBox="1">
            <a:spLocks/>
          </p:cNvSpPr>
          <p:nvPr/>
        </p:nvSpPr>
        <p:spPr>
          <a:xfrm>
            <a:off x="-1" y="2592083"/>
            <a:ext cx="12191999" cy="74851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600" dirty="0">
                <a:solidFill>
                  <a:schemeClr val="bg1"/>
                </a:solidFill>
              </a:rPr>
              <a:t>Tools &amp; Processes</a:t>
            </a:r>
          </a:p>
        </p:txBody>
      </p:sp>
    </p:spTree>
    <p:extLst>
      <p:ext uri="{BB962C8B-B14F-4D97-AF65-F5344CB8AC3E}">
        <p14:creationId xmlns:p14="http://schemas.microsoft.com/office/powerpoint/2010/main" val="1241290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A5C52DA2-1AD1-585C-9B30-987745190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330D70-B06B-26DF-4A83-4A984A258A51}"/>
              </a:ext>
            </a:extLst>
          </p:cNvPr>
          <p:cNvSpPr>
            <a:spLocks noGrp="1"/>
          </p:cNvSpPr>
          <p:nvPr>
            <p:ph type="ctrTitle"/>
          </p:nvPr>
        </p:nvSpPr>
        <p:spPr>
          <a:xfrm>
            <a:off x="1052512" y="3038186"/>
            <a:ext cx="10086975" cy="781627"/>
          </a:xfrm>
        </p:spPr>
        <p:txBody>
          <a:bodyPr>
            <a:normAutofit/>
          </a:bodyPr>
          <a:lstStyle/>
          <a:p>
            <a:r>
              <a:rPr lang="en-US" sz="4800" b="1" dirty="0">
                <a:solidFill>
                  <a:schemeClr val="bg1"/>
                </a:solidFill>
              </a:rPr>
              <a:t>Sealing</a:t>
            </a:r>
          </a:p>
        </p:txBody>
      </p:sp>
    </p:spTree>
    <p:extLst>
      <p:ext uri="{BB962C8B-B14F-4D97-AF65-F5344CB8AC3E}">
        <p14:creationId xmlns:p14="http://schemas.microsoft.com/office/powerpoint/2010/main" val="2584846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C138D079-2B80-193D-87D8-15124A21A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5CDBA-63AE-EA26-46BC-D4A79E183686}"/>
              </a:ext>
            </a:extLst>
          </p:cNvPr>
          <p:cNvSpPr>
            <a:spLocks noGrp="1"/>
          </p:cNvSpPr>
          <p:nvPr>
            <p:ph type="title"/>
          </p:nvPr>
        </p:nvSpPr>
        <p:spPr>
          <a:xfrm>
            <a:off x="365760" y="365125"/>
            <a:ext cx="10515600" cy="877824"/>
          </a:xfrm>
        </p:spPr>
        <p:txBody>
          <a:bodyPr/>
          <a:lstStyle/>
          <a:p>
            <a:r>
              <a:rPr lang="en-US" dirty="0"/>
              <a:t>Everybody Knows What Sealant Is, Right?</a:t>
            </a:r>
            <a:endParaRPr lang="en-US" dirty="0">
              <a:solidFill>
                <a:schemeClr val="bg1">
                  <a:lumMod val="65000"/>
                </a:schemeClr>
              </a:solidFill>
            </a:endParaRPr>
          </a:p>
        </p:txBody>
      </p:sp>
      <p:grpSp>
        <p:nvGrpSpPr>
          <p:cNvPr id="5" name="Group 4">
            <a:extLst>
              <a:ext uri="{FF2B5EF4-FFF2-40B4-BE49-F238E27FC236}">
                <a16:creationId xmlns:a16="http://schemas.microsoft.com/office/drawing/2014/main" id="{2DC4B002-A6DF-9AB8-C9FE-9A7739E592A6}"/>
              </a:ext>
            </a:extLst>
          </p:cNvPr>
          <p:cNvGrpSpPr/>
          <p:nvPr/>
        </p:nvGrpSpPr>
        <p:grpSpPr>
          <a:xfrm>
            <a:off x="1495744" y="1242949"/>
            <a:ext cx="3908271" cy="2600395"/>
            <a:chOff x="663729" y="1967500"/>
            <a:chExt cx="5027494" cy="3682162"/>
          </a:xfrm>
        </p:grpSpPr>
        <p:pic>
          <p:nvPicPr>
            <p:cNvPr id="10" name="Picture 9">
              <a:extLst>
                <a:ext uri="{FF2B5EF4-FFF2-40B4-BE49-F238E27FC236}">
                  <a16:creationId xmlns:a16="http://schemas.microsoft.com/office/drawing/2014/main" id="{275812DD-23F3-6F03-ED56-F504AD36FF0D}"/>
                </a:ext>
              </a:extLst>
            </p:cNvPr>
            <p:cNvPicPr>
              <a:picLocks noChangeAspect="1"/>
            </p:cNvPicPr>
            <p:nvPr/>
          </p:nvPicPr>
          <p:blipFill>
            <a:blip r:embed="rId3"/>
            <a:stretch>
              <a:fillRect/>
            </a:stretch>
          </p:blipFill>
          <p:spPr>
            <a:xfrm>
              <a:off x="663729" y="1967500"/>
              <a:ext cx="5027494" cy="3355305"/>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3" name="TextBox 2">
              <a:extLst>
                <a:ext uri="{FF2B5EF4-FFF2-40B4-BE49-F238E27FC236}">
                  <a16:creationId xmlns:a16="http://schemas.microsoft.com/office/drawing/2014/main" id="{B9791FAF-82CB-DB37-688C-2294C0328C8F}"/>
                </a:ext>
              </a:extLst>
            </p:cNvPr>
            <p:cNvSpPr txBox="1"/>
            <p:nvPr/>
          </p:nvSpPr>
          <p:spPr>
            <a:xfrm>
              <a:off x="3669359" y="5322804"/>
              <a:ext cx="2021864" cy="326858"/>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19" name="Group 18">
            <a:extLst>
              <a:ext uri="{FF2B5EF4-FFF2-40B4-BE49-F238E27FC236}">
                <a16:creationId xmlns:a16="http://schemas.microsoft.com/office/drawing/2014/main" id="{08CA488F-96A4-FB1C-EE34-13E209E9BBCD}"/>
              </a:ext>
            </a:extLst>
          </p:cNvPr>
          <p:cNvGrpSpPr/>
          <p:nvPr/>
        </p:nvGrpSpPr>
        <p:grpSpPr>
          <a:xfrm>
            <a:off x="1495744" y="4074850"/>
            <a:ext cx="3816484" cy="2600395"/>
            <a:chOff x="6321531" y="1242949"/>
            <a:chExt cx="3816484" cy="2600395"/>
          </a:xfrm>
        </p:grpSpPr>
        <p:pic>
          <p:nvPicPr>
            <p:cNvPr id="14" name="Picture 13">
              <a:extLst>
                <a:ext uri="{FF2B5EF4-FFF2-40B4-BE49-F238E27FC236}">
                  <a16:creationId xmlns:a16="http://schemas.microsoft.com/office/drawing/2014/main" id="{8A55A4F0-DE73-2851-10F0-CAED77F43D56}"/>
                </a:ext>
              </a:extLst>
            </p:cNvPr>
            <p:cNvPicPr>
              <a:picLocks noChangeAspect="1"/>
            </p:cNvPicPr>
            <p:nvPr/>
          </p:nvPicPr>
          <p:blipFill>
            <a:blip r:embed="rId4"/>
            <a:stretch>
              <a:fillRect/>
            </a:stretch>
          </p:blipFill>
          <p:spPr>
            <a:xfrm>
              <a:off x="6321531" y="1242949"/>
              <a:ext cx="3816484" cy="2369563"/>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4" name="TextBox 3">
              <a:extLst>
                <a:ext uri="{FF2B5EF4-FFF2-40B4-BE49-F238E27FC236}">
                  <a16:creationId xmlns:a16="http://schemas.microsoft.com/office/drawing/2014/main" id="{EDBA5ABB-CE18-A1A2-BE73-3193A4A7DC9F}"/>
                </a:ext>
              </a:extLst>
            </p:cNvPr>
            <p:cNvSpPr txBox="1"/>
            <p:nvPr/>
          </p:nvSpPr>
          <p:spPr>
            <a:xfrm>
              <a:off x="8448279" y="3612512"/>
              <a:ext cx="1689735"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18" name="Group 17">
            <a:extLst>
              <a:ext uri="{FF2B5EF4-FFF2-40B4-BE49-F238E27FC236}">
                <a16:creationId xmlns:a16="http://schemas.microsoft.com/office/drawing/2014/main" id="{391114B7-984C-6802-41DC-DA1DDCA1EB13}"/>
              </a:ext>
            </a:extLst>
          </p:cNvPr>
          <p:cNvGrpSpPr/>
          <p:nvPr/>
        </p:nvGrpSpPr>
        <p:grpSpPr>
          <a:xfrm>
            <a:off x="5965860" y="1242949"/>
            <a:ext cx="3651602" cy="2600395"/>
            <a:chOff x="956877" y="3983370"/>
            <a:chExt cx="3651602" cy="2600395"/>
          </a:xfrm>
        </p:grpSpPr>
        <p:pic>
          <p:nvPicPr>
            <p:cNvPr id="16" name="Picture 15">
              <a:extLst>
                <a:ext uri="{FF2B5EF4-FFF2-40B4-BE49-F238E27FC236}">
                  <a16:creationId xmlns:a16="http://schemas.microsoft.com/office/drawing/2014/main" id="{42ABA4C3-1FEF-A32A-AA2D-8D3851A2763B}"/>
                </a:ext>
              </a:extLst>
            </p:cNvPr>
            <p:cNvPicPr>
              <a:picLocks noChangeAspect="1"/>
            </p:cNvPicPr>
            <p:nvPr/>
          </p:nvPicPr>
          <p:blipFill>
            <a:blip r:embed="rId5"/>
            <a:stretch>
              <a:fillRect/>
            </a:stretch>
          </p:blipFill>
          <p:spPr>
            <a:xfrm>
              <a:off x="956877" y="3983370"/>
              <a:ext cx="3615122" cy="2365363"/>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17" name="TextBox 16">
              <a:extLst>
                <a:ext uri="{FF2B5EF4-FFF2-40B4-BE49-F238E27FC236}">
                  <a16:creationId xmlns:a16="http://schemas.microsoft.com/office/drawing/2014/main" id="{4E828984-AC87-C22D-B5D6-D9403190CDB4}"/>
                </a:ext>
              </a:extLst>
            </p:cNvPr>
            <p:cNvSpPr txBox="1"/>
            <p:nvPr/>
          </p:nvSpPr>
          <p:spPr>
            <a:xfrm>
              <a:off x="3000242" y="6352933"/>
              <a:ext cx="1608237"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9" name="Group 8">
            <a:extLst>
              <a:ext uri="{FF2B5EF4-FFF2-40B4-BE49-F238E27FC236}">
                <a16:creationId xmlns:a16="http://schemas.microsoft.com/office/drawing/2014/main" id="{A961C0AA-F42E-0AF1-D9B1-21BC641F3E09}"/>
              </a:ext>
            </a:extLst>
          </p:cNvPr>
          <p:cNvGrpSpPr/>
          <p:nvPr/>
        </p:nvGrpSpPr>
        <p:grpSpPr>
          <a:xfrm>
            <a:off x="5965861" y="4071459"/>
            <a:ext cx="3651602" cy="2596195"/>
            <a:chOff x="5308317" y="4071459"/>
            <a:chExt cx="3651602" cy="2596195"/>
          </a:xfrm>
        </p:grpSpPr>
        <p:pic>
          <p:nvPicPr>
            <p:cNvPr id="7" name="Picture 6">
              <a:extLst>
                <a:ext uri="{FF2B5EF4-FFF2-40B4-BE49-F238E27FC236}">
                  <a16:creationId xmlns:a16="http://schemas.microsoft.com/office/drawing/2014/main" id="{6D843177-3253-B1AB-F560-0964B9EC1C15}"/>
                </a:ext>
              </a:extLst>
            </p:cNvPr>
            <p:cNvPicPr>
              <a:picLocks noChangeAspect="1"/>
            </p:cNvPicPr>
            <p:nvPr/>
          </p:nvPicPr>
          <p:blipFill>
            <a:blip r:embed="rId6"/>
            <a:stretch>
              <a:fillRect/>
            </a:stretch>
          </p:blipFill>
          <p:spPr>
            <a:xfrm>
              <a:off x="5308317" y="4071459"/>
              <a:ext cx="3651602" cy="2369563"/>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8" name="TextBox 7">
              <a:extLst>
                <a:ext uri="{FF2B5EF4-FFF2-40B4-BE49-F238E27FC236}">
                  <a16:creationId xmlns:a16="http://schemas.microsoft.com/office/drawing/2014/main" id="{296053A0-EFF6-B277-181F-51338BA1F64B}"/>
                </a:ext>
              </a:extLst>
            </p:cNvPr>
            <p:cNvSpPr txBox="1"/>
            <p:nvPr/>
          </p:nvSpPr>
          <p:spPr>
            <a:xfrm>
              <a:off x="7351681" y="6436822"/>
              <a:ext cx="1608237"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Tree>
    <p:extLst>
      <p:ext uri="{BB962C8B-B14F-4D97-AF65-F5344CB8AC3E}">
        <p14:creationId xmlns:p14="http://schemas.microsoft.com/office/powerpoint/2010/main" val="3417638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4292F47F-587E-CD70-3826-0809D3F9B077}"/>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8C10D77-3733-A550-2A26-4B73EA66C5AF}"/>
              </a:ext>
            </a:extLst>
          </p:cNvPr>
          <p:cNvSpPr>
            <a:spLocks noGrp="1"/>
          </p:cNvSpPr>
          <p:nvPr>
            <p:ph idx="1"/>
          </p:nvPr>
        </p:nvSpPr>
        <p:spPr>
          <a:xfrm>
            <a:off x="838200" y="1551398"/>
            <a:ext cx="8768137" cy="1193904"/>
          </a:xfrm>
        </p:spPr>
        <p:txBody>
          <a:bodyPr>
            <a:normAutofit/>
          </a:bodyPr>
          <a:lstStyle/>
          <a:p>
            <a:pPr marL="0" indent="0">
              <a:buNone/>
            </a:pPr>
            <a:r>
              <a:rPr lang="en-US" dirty="0"/>
              <a:t>Sealants are a critical component for aircraft. </a:t>
            </a:r>
            <a:br>
              <a:rPr lang="en-US" dirty="0"/>
            </a:br>
            <a:endParaRPr lang="en-US" sz="100" dirty="0"/>
          </a:p>
          <a:p>
            <a:pPr marL="0" indent="0">
              <a:buNone/>
            </a:pPr>
            <a:r>
              <a:rPr lang="en-US" dirty="0"/>
              <a:t>They provide…</a:t>
            </a:r>
            <a:endParaRPr lang="en-US" sz="2400" dirty="0"/>
          </a:p>
          <a:p>
            <a:pPr lvl="1"/>
            <a:endParaRPr lang="en-US" dirty="0"/>
          </a:p>
        </p:txBody>
      </p:sp>
      <p:sp>
        <p:nvSpPr>
          <p:cNvPr id="2" name="Title 1">
            <a:extLst>
              <a:ext uri="{FF2B5EF4-FFF2-40B4-BE49-F238E27FC236}">
                <a16:creationId xmlns:a16="http://schemas.microsoft.com/office/drawing/2014/main" id="{63F3CEC6-82DF-9AA1-4336-48C3594C62A8}"/>
              </a:ext>
            </a:extLst>
          </p:cNvPr>
          <p:cNvSpPr>
            <a:spLocks noGrp="1"/>
          </p:cNvSpPr>
          <p:nvPr>
            <p:ph type="title"/>
          </p:nvPr>
        </p:nvSpPr>
        <p:spPr>
          <a:xfrm>
            <a:off x="365760" y="365125"/>
            <a:ext cx="10515600" cy="877824"/>
          </a:xfrm>
        </p:spPr>
        <p:txBody>
          <a:bodyPr/>
          <a:lstStyle/>
          <a:p>
            <a:r>
              <a:rPr lang="en-US" dirty="0"/>
              <a:t>Sealant Purposes  </a:t>
            </a:r>
            <a:r>
              <a:rPr lang="en-US" sz="2800" dirty="0">
                <a:solidFill>
                  <a:schemeClr val="tx2">
                    <a:lumMod val="50000"/>
                    <a:lumOff val="50000"/>
                  </a:schemeClr>
                </a:solidFill>
              </a:rPr>
              <a:t>(1 of 2)</a:t>
            </a:r>
            <a:endParaRPr lang="en-US" dirty="0">
              <a:solidFill>
                <a:schemeClr val="tx2">
                  <a:lumMod val="50000"/>
                  <a:lumOff val="50000"/>
                </a:schemeClr>
              </a:solidFill>
            </a:endParaRPr>
          </a:p>
        </p:txBody>
      </p:sp>
      <p:grpSp>
        <p:nvGrpSpPr>
          <p:cNvPr id="8" name="Group 7">
            <a:extLst>
              <a:ext uri="{FF2B5EF4-FFF2-40B4-BE49-F238E27FC236}">
                <a16:creationId xmlns:a16="http://schemas.microsoft.com/office/drawing/2014/main" id="{8F5BC9ED-9888-9026-EF9B-EA3F337DE0B2}"/>
              </a:ext>
            </a:extLst>
          </p:cNvPr>
          <p:cNvGrpSpPr/>
          <p:nvPr/>
        </p:nvGrpSpPr>
        <p:grpSpPr>
          <a:xfrm>
            <a:off x="838200" y="2771494"/>
            <a:ext cx="4498455" cy="3606103"/>
            <a:chOff x="838200" y="2771494"/>
            <a:chExt cx="4498455" cy="3606103"/>
          </a:xfrm>
        </p:grpSpPr>
        <p:pic>
          <p:nvPicPr>
            <p:cNvPr id="6" name="Picture 5">
              <a:extLst>
                <a:ext uri="{FF2B5EF4-FFF2-40B4-BE49-F238E27FC236}">
                  <a16:creationId xmlns:a16="http://schemas.microsoft.com/office/drawing/2014/main" id="{7BE919EC-CBDB-B092-74D1-868E8D1F32AC}"/>
                </a:ext>
              </a:extLst>
            </p:cNvPr>
            <p:cNvPicPr>
              <a:picLocks noChangeAspect="1"/>
            </p:cNvPicPr>
            <p:nvPr/>
          </p:nvPicPr>
          <p:blipFill>
            <a:blip r:embed="rId3"/>
            <a:stretch>
              <a:fillRect/>
            </a:stretch>
          </p:blipFill>
          <p:spPr>
            <a:xfrm>
              <a:off x="892124" y="3183745"/>
              <a:ext cx="4444531" cy="2963020"/>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3" name="Content Placeholder 6">
              <a:extLst>
                <a:ext uri="{FF2B5EF4-FFF2-40B4-BE49-F238E27FC236}">
                  <a16:creationId xmlns:a16="http://schemas.microsoft.com/office/drawing/2014/main" id="{94903C22-5396-74C3-EA20-9E21E2A93999}"/>
                </a:ext>
              </a:extLst>
            </p:cNvPr>
            <p:cNvSpPr txBox="1">
              <a:spLocks/>
            </p:cNvSpPr>
            <p:nvPr/>
          </p:nvSpPr>
          <p:spPr>
            <a:xfrm>
              <a:off x="838200" y="2771494"/>
              <a:ext cx="4493630" cy="3991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0070C0"/>
                  </a:solidFill>
                </a:rPr>
                <a:t>1.  Corrosion Protection</a:t>
              </a:r>
              <a:endParaRPr lang="en-US" sz="2400" dirty="0"/>
            </a:p>
            <a:p>
              <a:endParaRPr lang="en-US" sz="2400" dirty="0"/>
            </a:p>
            <a:p>
              <a:endParaRPr lang="en-US" sz="2400" dirty="0"/>
            </a:p>
            <a:p>
              <a:endParaRPr lang="en-US" sz="2400" dirty="0"/>
            </a:p>
            <a:p>
              <a:pPr lvl="1"/>
              <a:endParaRPr lang="en-US" dirty="0"/>
            </a:p>
          </p:txBody>
        </p:sp>
        <p:sp>
          <p:nvSpPr>
            <p:cNvPr id="4" name="TextBox 3">
              <a:extLst>
                <a:ext uri="{FF2B5EF4-FFF2-40B4-BE49-F238E27FC236}">
                  <a16:creationId xmlns:a16="http://schemas.microsoft.com/office/drawing/2014/main" id="{2A2A754B-E743-B4F4-D294-AF65ADE4B1AC}"/>
                </a:ext>
              </a:extLst>
            </p:cNvPr>
            <p:cNvSpPr txBox="1"/>
            <p:nvPr/>
          </p:nvSpPr>
          <p:spPr>
            <a:xfrm>
              <a:off x="3708971" y="6146765"/>
              <a:ext cx="1617808"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10" name="Group 9">
            <a:extLst>
              <a:ext uri="{FF2B5EF4-FFF2-40B4-BE49-F238E27FC236}">
                <a16:creationId xmlns:a16="http://schemas.microsoft.com/office/drawing/2014/main" id="{DCC82C08-BF8D-FCCF-C233-50AD83DFC449}"/>
              </a:ext>
            </a:extLst>
          </p:cNvPr>
          <p:cNvGrpSpPr/>
          <p:nvPr/>
        </p:nvGrpSpPr>
        <p:grpSpPr>
          <a:xfrm>
            <a:off x="6482580" y="2784590"/>
            <a:ext cx="4439705" cy="3593007"/>
            <a:chOff x="6482580" y="2784590"/>
            <a:chExt cx="4439705" cy="3593007"/>
          </a:xfrm>
        </p:grpSpPr>
        <p:sp>
          <p:nvSpPr>
            <p:cNvPr id="9" name="Content Placeholder 6">
              <a:extLst>
                <a:ext uri="{FF2B5EF4-FFF2-40B4-BE49-F238E27FC236}">
                  <a16:creationId xmlns:a16="http://schemas.microsoft.com/office/drawing/2014/main" id="{05FF85E0-C2CF-BA0B-444E-D7BF2C61DBD4}"/>
                </a:ext>
              </a:extLst>
            </p:cNvPr>
            <p:cNvSpPr txBox="1">
              <a:spLocks/>
            </p:cNvSpPr>
            <p:nvPr/>
          </p:nvSpPr>
          <p:spPr>
            <a:xfrm>
              <a:off x="6482580" y="2784590"/>
              <a:ext cx="4439705" cy="3991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a:solidFill>
                    <a:srgbClr val="0070C0"/>
                  </a:solidFill>
                </a:rPr>
                <a:t>2.  Maintaining Cabin Pressure</a:t>
              </a:r>
            </a:p>
            <a:p>
              <a:endParaRPr lang="en-US" sz="2400" dirty="0"/>
            </a:p>
            <a:p>
              <a:endParaRPr lang="en-US" sz="2400" dirty="0"/>
            </a:p>
            <a:p>
              <a:endParaRPr lang="en-US" sz="2400" dirty="0"/>
            </a:p>
            <a:p>
              <a:endParaRPr lang="en-US" sz="2400" dirty="0"/>
            </a:p>
            <a:p>
              <a:pPr lvl="1"/>
              <a:endParaRPr lang="en-US" dirty="0"/>
            </a:p>
          </p:txBody>
        </p:sp>
        <p:pic>
          <p:nvPicPr>
            <p:cNvPr id="13" name="Picture 12">
              <a:extLst>
                <a:ext uri="{FF2B5EF4-FFF2-40B4-BE49-F238E27FC236}">
                  <a16:creationId xmlns:a16="http://schemas.microsoft.com/office/drawing/2014/main" id="{DB5A6A62-43A3-67D4-778D-45BFE546C4CF}"/>
                </a:ext>
              </a:extLst>
            </p:cNvPr>
            <p:cNvPicPr>
              <a:picLocks noChangeAspect="1"/>
            </p:cNvPicPr>
            <p:nvPr/>
          </p:nvPicPr>
          <p:blipFill>
            <a:blip r:embed="rId4"/>
            <a:stretch>
              <a:fillRect/>
            </a:stretch>
          </p:blipFill>
          <p:spPr>
            <a:xfrm>
              <a:off x="6482580" y="3183745"/>
              <a:ext cx="4439705" cy="2963020"/>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5" name="TextBox 4">
              <a:extLst>
                <a:ext uri="{FF2B5EF4-FFF2-40B4-BE49-F238E27FC236}">
                  <a16:creationId xmlns:a16="http://schemas.microsoft.com/office/drawing/2014/main" id="{C70B3872-5054-0E13-DB34-B09F9E433E86}"/>
                </a:ext>
              </a:extLst>
            </p:cNvPr>
            <p:cNvSpPr txBox="1"/>
            <p:nvPr/>
          </p:nvSpPr>
          <p:spPr>
            <a:xfrm>
              <a:off x="9164547" y="6146765"/>
              <a:ext cx="1757737"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Tree>
    <p:extLst>
      <p:ext uri="{BB962C8B-B14F-4D97-AF65-F5344CB8AC3E}">
        <p14:creationId xmlns:p14="http://schemas.microsoft.com/office/powerpoint/2010/main" val="316854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DD3EDDA9-1A4C-BD29-91EA-E2B54E8B4CEE}"/>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DEFBF91-C7B9-FF1D-CAC8-7B1D36A9162F}"/>
              </a:ext>
            </a:extLst>
          </p:cNvPr>
          <p:cNvSpPr>
            <a:spLocks noGrp="1"/>
          </p:cNvSpPr>
          <p:nvPr>
            <p:ph idx="1"/>
          </p:nvPr>
        </p:nvSpPr>
        <p:spPr>
          <a:xfrm>
            <a:off x="719443" y="1713261"/>
            <a:ext cx="5179608" cy="399154"/>
          </a:xfrm>
        </p:spPr>
        <p:txBody>
          <a:bodyPr>
            <a:normAutofit/>
          </a:bodyPr>
          <a:lstStyle/>
          <a:p>
            <a:pPr marL="0" indent="0">
              <a:buNone/>
            </a:pPr>
            <a:r>
              <a:rPr lang="en-US" sz="2200" b="1" dirty="0">
                <a:solidFill>
                  <a:srgbClr val="0070C0"/>
                </a:solidFill>
              </a:rPr>
              <a:t>3. Preventing Fuel Tank Leaks</a:t>
            </a:r>
          </a:p>
          <a:p>
            <a:endParaRPr lang="en-US" sz="2400" dirty="0"/>
          </a:p>
          <a:p>
            <a:endParaRPr lang="en-US" sz="2400" dirty="0"/>
          </a:p>
          <a:p>
            <a:endParaRPr lang="en-US" sz="2400" dirty="0"/>
          </a:p>
          <a:p>
            <a:endParaRPr lang="en-US" sz="2400" dirty="0"/>
          </a:p>
          <a:p>
            <a:pPr lvl="1"/>
            <a:endParaRPr lang="en-US" dirty="0"/>
          </a:p>
        </p:txBody>
      </p:sp>
      <p:sp>
        <p:nvSpPr>
          <p:cNvPr id="2" name="Title 1">
            <a:extLst>
              <a:ext uri="{FF2B5EF4-FFF2-40B4-BE49-F238E27FC236}">
                <a16:creationId xmlns:a16="http://schemas.microsoft.com/office/drawing/2014/main" id="{EC948EFF-6C2D-112F-021D-4D7FA9287FBE}"/>
              </a:ext>
            </a:extLst>
          </p:cNvPr>
          <p:cNvSpPr>
            <a:spLocks noGrp="1"/>
          </p:cNvSpPr>
          <p:nvPr>
            <p:ph type="title"/>
          </p:nvPr>
        </p:nvSpPr>
        <p:spPr>
          <a:xfrm>
            <a:off x="365760" y="365125"/>
            <a:ext cx="10515600" cy="877824"/>
          </a:xfrm>
        </p:spPr>
        <p:txBody>
          <a:bodyPr/>
          <a:lstStyle/>
          <a:p>
            <a:r>
              <a:rPr lang="en-US" dirty="0"/>
              <a:t>Sealant Purposes  </a:t>
            </a:r>
            <a:r>
              <a:rPr lang="en-US" sz="2800" dirty="0">
                <a:solidFill>
                  <a:schemeClr val="tx2">
                    <a:lumMod val="50000"/>
                    <a:lumOff val="50000"/>
                  </a:schemeClr>
                </a:solidFill>
              </a:rPr>
              <a:t>(2 of 2)</a:t>
            </a:r>
            <a:endParaRPr lang="en-US" dirty="0">
              <a:solidFill>
                <a:schemeClr val="tx2">
                  <a:lumMod val="50000"/>
                  <a:lumOff val="50000"/>
                </a:schemeClr>
              </a:solidFill>
            </a:endParaRPr>
          </a:p>
        </p:txBody>
      </p:sp>
      <p:grpSp>
        <p:nvGrpSpPr>
          <p:cNvPr id="16" name="Group 15">
            <a:extLst>
              <a:ext uri="{FF2B5EF4-FFF2-40B4-BE49-F238E27FC236}">
                <a16:creationId xmlns:a16="http://schemas.microsoft.com/office/drawing/2014/main" id="{42BC63BB-B4A8-E4C4-5597-14C4CEDCB851}"/>
              </a:ext>
            </a:extLst>
          </p:cNvPr>
          <p:cNvGrpSpPr/>
          <p:nvPr/>
        </p:nvGrpSpPr>
        <p:grpSpPr>
          <a:xfrm>
            <a:off x="719443" y="2134988"/>
            <a:ext cx="5188196" cy="3455981"/>
            <a:chOff x="719443" y="2134988"/>
            <a:chExt cx="5188196" cy="3455981"/>
          </a:xfrm>
        </p:grpSpPr>
        <p:pic>
          <p:nvPicPr>
            <p:cNvPr id="5" name="Picture 4">
              <a:extLst>
                <a:ext uri="{FF2B5EF4-FFF2-40B4-BE49-F238E27FC236}">
                  <a16:creationId xmlns:a16="http://schemas.microsoft.com/office/drawing/2014/main" id="{214FE24C-AA34-1F75-5298-3E1A1CF8A60B}"/>
                </a:ext>
              </a:extLst>
            </p:cNvPr>
            <p:cNvPicPr>
              <a:picLocks noChangeAspect="1"/>
            </p:cNvPicPr>
            <p:nvPr/>
          </p:nvPicPr>
          <p:blipFill>
            <a:blip r:embed="rId3"/>
            <a:stretch>
              <a:fillRect/>
            </a:stretch>
          </p:blipFill>
          <p:spPr>
            <a:xfrm>
              <a:off x="719443" y="2134988"/>
              <a:ext cx="5188196" cy="3455981"/>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grpSp>
          <p:nvGrpSpPr>
            <p:cNvPr id="11" name="Group 10">
              <a:extLst>
                <a:ext uri="{FF2B5EF4-FFF2-40B4-BE49-F238E27FC236}">
                  <a16:creationId xmlns:a16="http://schemas.microsoft.com/office/drawing/2014/main" id="{C57669AC-BB5C-02F6-83F2-84BAA3F9C3BD}"/>
                </a:ext>
              </a:extLst>
            </p:cNvPr>
            <p:cNvGrpSpPr/>
            <p:nvPr/>
          </p:nvGrpSpPr>
          <p:grpSpPr>
            <a:xfrm>
              <a:off x="4979327" y="4952273"/>
              <a:ext cx="732460" cy="575353"/>
              <a:chOff x="4736388" y="4695290"/>
              <a:chExt cx="732460" cy="575353"/>
            </a:xfrm>
          </p:grpSpPr>
          <p:sp>
            <p:nvSpPr>
              <p:cNvPr id="8" name="Explosion: 14 Points 7">
                <a:extLst>
                  <a:ext uri="{FF2B5EF4-FFF2-40B4-BE49-F238E27FC236}">
                    <a16:creationId xmlns:a16="http://schemas.microsoft.com/office/drawing/2014/main" id="{B158B958-8BA3-012C-0529-A3696BA4697E}"/>
                  </a:ext>
                </a:extLst>
              </p:cNvPr>
              <p:cNvSpPr/>
              <p:nvPr/>
            </p:nvSpPr>
            <p:spPr>
              <a:xfrm>
                <a:off x="4736388" y="4695290"/>
                <a:ext cx="732460" cy="575353"/>
              </a:xfrm>
              <a:prstGeom prst="irregularSeal2">
                <a:avLst/>
              </a:prstGeom>
              <a:solidFill>
                <a:schemeClr val="accent2"/>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xplosion: 14 Points 9">
                <a:extLst>
                  <a:ext uri="{FF2B5EF4-FFF2-40B4-BE49-F238E27FC236}">
                    <a16:creationId xmlns:a16="http://schemas.microsoft.com/office/drawing/2014/main" id="{8264E0B5-ACBB-67B3-3617-F85620EEF122}"/>
                  </a:ext>
                </a:extLst>
              </p:cNvPr>
              <p:cNvSpPr/>
              <p:nvPr/>
            </p:nvSpPr>
            <p:spPr>
              <a:xfrm>
                <a:off x="4933416" y="4880224"/>
                <a:ext cx="338404" cy="205483"/>
              </a:xfrm>
              <a:prstGeom prst="irregularSeal2">
                <a:avLst/>
              </a:prstGeom>
              <a:solidFill>
                <a:schemeClr val="bg1"/>
              </a:solidFill>
              <a:ln w="3492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 name="TextBox 2">
            <a:extLst>
              <a:ext uri="{FF2B5EF4-FFF2-40B4-BE49-F238E27FC236}">
                <a16:creationId xmlns:a16="http://schemas.microsoft.com/office/drawing/2014/main" id="{11B3DFD5-F2AA-EF36-F8EF-D09EA4554FD0}"/>
              </a:ext>
            </a:extLst>
          </p:cNvPr>
          <p:cNvSpPr txBox="1"/>
          <p:nvPr/>
        </p:nvSpPr>
        <p:spPr>
          <a:xfrm>
            <a:off x="4263775" y="5609246"/>
            <a:ext cx="1643864"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nvGrpSpPr>
          <p:cNvPr id="17" name="Group 16">
            <a:extLst>
              <a:ext uri="{FF2B5EF4-FFF2-40B4-BE49-F238E27FC236}">
                <a16:creationId xmlns:a16="http://schemas.microsoft.com/office/drawing/2014/main" id="{103C91F1-B49B-3CE6-BB4E-9E8515F198EF}"/>
              </a:ext>
            </a:extLst>
          </p:cNvPr>
          <p:cNvGrpSpPr/>
          <p:nvPr/>
        </p:nvGrpSpPr>
        <p:grpSpPr>
          <a:xfrm>
            <a:off x="6540384" y="1713261"/>
            <a:ext cx="5357090" cy="4104244"/>
            <a:chOff x="6540384" y="1713261"/>
            <a:chExt cx="5357090" cy="4104244"/>
          </a:xfrm>
        </p:grpSpPr>
        <p:sp>
          <p:nvSpPr>
            <p:cNvPr id="9" name="Content Placeholder 6">
              <a:extLst>
                <a:ext uri="{FF2B5EF4-FFF2-40B4-BE49-F238E27FC236}">
                  <a16:creationId xmlns:a16="http://schemas.microsoft.com/office/drawing/2014/main" id="{7DEE3533-5CE4-B77F-5BDB-3C4BEAB1A336}"/>
                </a:ext>
              </a:extLst>
            </p:cNvPr>
            <p:cNvSpPr txBox="1">
              <a:spLocks/>
            </p:cNvSpPr>
            <p:nvPr/>
          </p:nvSpPr>
          <p:spPr>
            <a:xfrm>
              <a:off x="6540384" y="1713261"/>
              <a:ext cx="5357090" cy="3991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a:solidFill>
                    <a:srgbClr val="0070C0"/>
                  </a:solidFill>
                </a:rPr>
                <a:t>4. Maintaining Adhesion &amp; Aerodynamics</a:t>
              </a:r>
            </a:p>
            <a:p>
              <a:endParaRPr lang="en-US" sz="2400" dirty="0"/>
            </a:p>
            <a:p>
              <a:endParaRPr lang="en-US" sz="2400" dirty="0"/>
            </a:p>
            <a:p>
              <a:endParaRPr lang="en-US" sz="2400" dirty="0"/>
            </a:p>
            <a:p>
              <a:endParaRPr lang="en-US" sz="2400" dirty="0"/>
            </a:p>
            <a:p>
              <a:pPr lvl="1"/>
              <a:endParaRPr lang="en-US" dirty="0"/>
            </a:p>
          </p:txBody>
        </p:sp>
        <p:pic>
          <p:nvPicPr>
            <p:cNvPr id="15" name="Picture 14">
              <a:extLst>
                <a:ext uri="{FF2B5EF4-FFF2-40B4-BE49-F238E27FC236}">
                  <a16:creationId xmlns:a16="http://schemas.microsoft.com/office/drawing/2014/main" id="{B10D412E-1475-708C-6CDB-442AF18E4F9D}"/>
                </a:ext>
              </a:extLst>
            </p:cNvPr>
            <p:cNvPicPr>
              <a:picLocks noChangeAspect="1"/>
            </p:cNvPicPr>
            <p:nvPr/>
          </p:nvPicPr>
          <p:blipFill>
            <a:blip r:embed="rId4"/>
            <a:stretch>
              <a:fillRect/>
            </a:stretch>
          </p:blipFill>
          <p:spPr>
            <a:xfrm>
              <a:off x="6540384" y="2112415"/>
              <a:ext cx="5210654" cy="3473769"/>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4" name="TextBox 3">
              <a:extLst>
                <a:ext uri="{FF2B5EF4-FFF2-40B4-BE49-F238E27FC236}">
                  <a16:creationId xmlns:a16="http://schemas.microsoft.com/office/drawing/2014/main" id="{34DA8D21-181F-7411-0F5E-5E81794097FC}"/>
                </a:ext>
              </a:extLst>
            </p:cNvPr>
            <p:cNvSpPr txBox="1"/>
            <p:nvPr/>
          </p:nvSpPr>
          <p:spPr>
            <a:xfrm>
              <a:off x="10107172" y="5586673"/>
              <a:ext cx="1643865"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Tree>
    <p:extLst>
      <p:ext uri="{BB962C8B-B14F-4D97-AF65-F5344CB8AC3E}">
        <p14:creationId xmlns:p14="http://schemas.microsoft.com/office/powerpoint/2010/main" val="95450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7BB45667-F60C-09F7-1D40-C1DD86832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89CC-6FFF-1BFA-274F-DAC5F31ED7B2}"/>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Q&amp;A</a:t>
            </a:r>
          </a:p>
        </p:txBody>
      </p:sp>
    </p:spTree>
    <p:extLst>
      <p:ext uri="{BB962C8B-B14F-4D97-AF65-F5344CB8AC3E}">
        <p14:creationId xmlns:p14="http://schemas.microsoft.com/office/powerpoint/2010/main" val="194860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156839C2-7BF2-36AE-DF8B-9AD9A2AED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F63DA-D582-3FF9-0739-41B56CC4752C}"/>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(Q1-Q8)</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87F5410E-01CE-A881-32E2-EC2E8F0ACA56}"/>
              </a:ext>
            </a:extLst>
          </p:cNvPr>
          <p:cNvSpPr>
            <a:spLocks noGrp="1"/>
          </p:cNvSpPr>
          <p:nvPr>
            <p:ph idx="1"/>
          </p:nvPr>
        </p:nvSpPr>
        <p:spPr>
          <a:xfrm>
            <a:off x="585627" y="1242950"/>
            <a:ext cx="5650786" cy="5353058"/>
          </a:xfrm>
        </p:spPr>
        <p:txBody>
          <a:bodyPr>
            <a:normAutofit fontScale="92500" lnSpcReduction="10000"/>
          </a:bodyPr>
          <a:lstStyle/>
          <a:p>
            <a:pPr marL="0" indent="0">
              <a:buNone/>
              <a:tabLst>
                <a:tab pos="574675" algn="l"/>
              </a:tabLst>
            </a:pPr>
            <a:r>
              <a:rPr lang="en-US" sz="2000" b="1" dirty="0"/>
              <a:t>Q1: How do you apply sealant over fastener heads?</a:t>
            </a:r>
          </a:p>
          <a:p>
            <a:pPr marL="0" indent="0">
              <a:buNone/>
              <a:tabLst>
                <a:tab pos="574675" algn="l"/>
              </a:tabLst>
            </a:pPr>
            <a:r>
              <a:rPr lang="en-US" sz="2000" b="1" dirty="0"/>
              <a:t>A: </a:t>
            </a:r>
            <a:r>
              <a:rPr lang="en-US" sz="2000" dirty="0"/>
              <a:t>Using a brush</a:t>
            </a:r>
          </a:p>
          <a:p>
            <a:pPr marL="0" indent="0">
              <a:buNone/>
              <a:tabLst>
                <a:tab pos="574675" algn="l"/>
              </a:tabLst>
            </a:pPr>
            <a:endParaRPr lang="en-US" sz="2000" dirty="0"/>
          </a:p>
          <a:p>
            <a:pPr marL="0" indent="0">
              <a:buNone/>
              <a:tabLst>
                <a:tab pos="574675" algn="l"/>
              </a:tabLst>
            </a:pPr>
            <a:r>
              <a:rPr lang="en-US" sz="2000" b="1" dirty="0"/>
              <a:t>Q2:</a:t>
            </a:r>
            <a:r>
              <a:rPr lang="en-US" sz="2000" dirty="0"/>
              <a:t> </a:t>
            </a:r>
            <a:r>
              <a:rPr lang="en-US" sz="2000" b="1" dirty="0"/>
              <a:t>How does sealant protect at and around metal fasteners?</a:t>
            </a:r>
          </a:p>
          <a:p>
            <a:pPr marL="0" indent="0">
              <a:buNone/>
              <a:tabLst>
                <a:tab pos="574675" algn="l"/>
              </a:tabLst>
            </a:pPr>
            <a:r>
              <a:rPr lang="en-US" sz="2000" b="1" dirty="0"/>
              <a:t>A:</a:t>
            </a:r>
            <a:r>
              <a:rPr lang="en-US" sz="2000" dirty="0"/>
              <a:t> Corrosion Protection </a:t>
            </a:r>
          </a:p>
          <a:p>
            <a:pPr marL="0" indent="0">
              <a:buNone/>
              <a:tabLst>
                <a:tab pos="574675" algn="l"/>
              </a:tabLst>
            </a:pPr>
            <a:endParaRPr lang="en-US" sz="2000" dirty="0"/>
          </a:p>
          <a:p>
            <a:pPr marL="0" indent="0">
              <a:buNone/>
              <a:tabLst>
                <a:tab pos="574675" algn="l"/>
              </a:tabLst>
            </a:pPr>
            <a:r>
              <a:rPr lang="en-US" sz="2000" b="1" dirty="0"/>
              <a:t>Q3: How does sealant protect gaps and holes in metal surfaces?</a:t>
            </a:r>
          </a:p>
          <a:p>
            <a:pPr marL="0" indent="0">
              <a:buNone/>
              <a:tabLst>
                <a:tab pos="574675" algn="l"/>
              </a:tabLst>
            </a:pPr>
            <a:r>
              <a:rPr lang="en-US" sz="2000" b="1" dirty="0"/>
              <a:t>A:</a:t>
            </a:r>
            <a:r>
              <a:rPr lang="en-US" sz="2000" dirty="0"/>
              <a:t> Corrosion Protection</a:t>
            </a:r>
            <a:br>
              <a:rPr lang="en-US" sz="2000" dirty="0"/>
            </a:br>
            <a:endParaRPr lang="en-US" sz="2000" dirty="0"/>
          </a:p>
          <a:p>
            <a:pPr marL="0" indent="0">
              <a:buNone/>
            </a:pPr>
            <a:r>
              <a:rPr lang="en-US" sz="2000" b="1" dirty="0"/>
              <a:t>Q4: How does sealant protect the air in a cabin and flight deck?</a:t>
            </a:r>
          </a:p>
          <a:p>
            <a:pPr marL="0" indent="0">
              <a:buNone/>
            </a:pPr>
            <a:r>
              <a:rPr lang="en-US" sz="2000" b="1" dirty="0"/>
              <a:t>A:</a:t>
            </a:r>
            <a:r>
              <a:rPr lang="en-US" sz="2000" dirty="0"/>
              <a:t> Maintains Cabin Pressure</a:t>
            </a:r>
            <a:br>
              <a:rPr lang="en-US" sz="2000" dirty="0"/>
            </a:br>
            <a:endParaRPr lang="en-US" sz="2000" dirty="0"/>
          </a:p>
          <a:p>
            <a:pPr marL="0" indent="0">
              <a:buNone/>
            </a:pPr>
            <a:endParaRPr lang="en-US" sz="2000" dirty="0"/>
          </a:p>
          <a:p>
            <a:pPr marL="0" indent="0">
              <a:buNone/>
            </a:pPr>
            <a:endParaRPr lang="en-US" sz="2000" dirty="0"/>
          </a:p>
          <a:p>
            <a:endParaRPr lang="en-US" sz="2000" dirty="0"/>
          </a:p>
        </p:txBody>
      </p:sp>
      <p:sp>
        <p:nvSpPr>
          <p:cNvPr id="12" name="Content Placeholder 2">
            <a:extLst>
              <a:ext uri="{FF2B5EF4-FFF2-40B4-BE49-F238E27FC236}">
                <a16:creationId xmlns:a16="http://schemas.microsoft.com/office/drawing/2014/main" id="{D1DE07E9-686C-16E6-DE07-31A3DC967A79}"/>
              </a:ext>
            </a:extLst>
          </p:cNvPr>
          <p:cNvSpPr txBox="1">
            <a:spLocks/>
          </p:cNvSpPr>
          <p:nvPr/>
        </p:nvSpPr>
        <p:spPr>
          <a:xfrm>
            <a:off x="6236413" y="557176"/>
            <a:ext cx="5650786" cy="61312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Q5: How does sealant protect liquid containing vessels (fuel tanks, lavatory floors, etc.)?</a:t>
            </a:r>
          </a:p>
          <a:p>
            <a:pPr marL="0" indent="0">
              <a:buNone/>
              <a:tabLst>
                <a:tab pos="574675" algn="l"/>
              </a:tabLst>
            </a:pPr>
            <a:r>
              <a:rPr lang="en-US" sz="2000" b="1" dirty="0"/>
              <a:t>A: </a:t>
            </a:r>
            <a:r>
              <a:rPr lang="en-US" sz="2000" dirty="0"/>
              <a:t>Prevents outright leaks, or corrosion that leads to leaks</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Q6: How does sealant improve the skin of an airplane?</a:t>
            </a:r>
          </a:p>
          <a:p>
            <a:pPr marL="0" indent="0">
              <a:buNone/>
              <a:tabLst>
                <a:tab pos="574675" algn="l"/>
              </a:tabLst>
            </a:pPr>
            <a:r>
              <a:rPr lang="en-US" sz="2000" b="1" dirty="0"/>
              <a:t>A:</a:t>
            </a:r>
            <a:r>
              <a:rPr lang="en-US" sz="2000" dirty="0"/>
              <a:t> 1. Smoother airflow, and 2. Better paint adhesion at gaps and fastener heads</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Q7: What does sealant help prevent since there are so many different metal alloys in contact on an airplane?</a:t>
            </a:r>
          </a:p>
          <a:p>
            <a:pPr marL="0" indent="0">
              <a:buNone/>
              <a:tabLst>
                <a:tab pos="574675" algn="l"/>
              </a:tabLst>
            </a:pPr>
            <a:r>
              <a:rPr lang="en-US" sz="2000" b="1" dirty="0"/>
              <a:t>A: </a:t>
            </a:r>
            <a:r>
              <a:rPr lang="en-US" sz="2000" dirty="0"/>
              <a:t>Corrosion</a:t>
            </a:r>
          </a:p>
          <a:p>
            <a:pPr marL="0" indent="0">
              <a:buFont typeface="Arial" panose="020B0604020202020204" pitchFamily="34" charset="0"/>
              <a:buNone/>
            </a:pPr>
            <a:endParaRPr lang="en-US" sz="2000" dirty="0"/>
          </a:p>
          <a:p>
            <a:pPr marL="0" indent="0">
              <a:buNone/>
            </a:pPr>
            <a:r>
              <a:rPr lang="en-US" sz="2000" b="1" dirty="0"/>
              <a:t>Q8: What are the only two tools you can use to safely apply solvents to prep a metal surface?</a:t>
            </a:r>
          </a:p>
          <a:p>
            <a:pPr marL="0" indent="0">
              <a:buNone/>
            </a:pPr>
            <a:r>
              <a:rPr lang="en-US" sz="2000" b="1" dirty="0"/>
              <a:t>A:</a:t>
            </a:r>
            <a:r>
              <a:rPr lang="en-US" sz="2000" dirty="0"/>
              <a:t> 1. Natural cotton cloth, or 2. Natural bristle brush</a:t>
            </a:r>
          </a:p>
          <a:p>
            <a:pPr marL="0" indent="0">
              <a:buNone/>
            </a:pPr>
            <a:endParaRPr lang="en-US" sz="2000" dirty="0"/>
          </a:p>
        </p:txBody>
      </p:sp>
    </p:spTree>
    <p:extLst>
      <p:ext uri="{BB962C8B-B14F-4D97-AF65-F5344CB8AC3E}">
        <p14:creationId xmlns:p14="http://schemas.microsoft.com/office/powerpoint/2010/main" val="164679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E2A9D0D1-9926-4629-9E30-30B52CF20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3D56A-9F75-D108-7683-DCAD5AAB4C6F}"/>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(Q9-Q16)</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8089FFA0-973A-45F3-355F-32D7C0994432}"/>
              </a:ext>
            </a:extLst>
          </p:cNvPr>
          <p:cNvSpPr>
            <a:spLocks noGrp="1"/>
          </p:cNvSpPr>
          <p:nvPr>
            <p:ph idx="1"/>
          </p:nvPr>
        </p:nvSpPr>
        <p:spPr>
          <a:xfrm>
            <a:off x="585627" y="1242950"/>
            <a:ext cx="5650786" cy="5353058"/>
          </a:xfrm>
        </p:spPr>
        <p:txBody>
          <a:bodyPr>
            <a:normAutofit lnSpcReduction="10000"/>
          </a:bodyPr>
          <a:lstStyle/>
          <a:p>
            <a:pPr marL="0" indent="0">
              <a:buNone/>
              <a:tabLst>
                <a:tab pos="574675" algn="l"/>
              </a:tabLst>
            </a:pPr>
            <a:r>
              <a:rPr lang="en-US" sz="2000" b="1" dirty="0"/>
              <a:t>Q9: Name of process to rough-up material surface before applying sealant?</a:t>
            </a:r>
          </a:p>
          <a:p>
            <a:pPr marL="0" indent="0">
              <a:buNone/>
              <a:tabLst>
                <a:tab pos="574675" algn="l"/>
              </a:tabLst>
            </a:pPr>
            <a:r>
              <a:rPr lang="en-US" sz="2000" b="1" dirty="0"/>
              <a:t>A: </a:t>
            </a:r>
            <a:r>
              <a:rPr lang="en-US" sz="2000" dirty="0"/>
              <a:t>Abrading</a:t>
            </a:r>
          </a:p>
          <a:p>
            <a:pPr marL="0" indent="0">
              <a:buNone/>
              <a:tabLst>
                <a:tab pos="574675" algn="l"/>
              </a:tabLst>
            </a:pPr>
            <a:endParaRPr lang="en-US" sz="2000" dirty="0"/>
          </a:p>
          <a:p>
            <a:pPr marL="0" indent="0">
              <a:buNone/>
              <a:tabLst>
                <a:tab pos="574675" algn="l"/>
              </a:tabLst>
            </a:pPr>
            <a:r>
              <a:rPr lang="en-US" sz="2000" b="1" dirty="0"/>
              <a:t>Q10:</a:t>
            </a:r>
            <a:r>
              <a:rPr lang="en-US" sz="2000" dirty="0"/>
              <a:t> </a:t>
            </a:r>
            <a:r>
              <a:rPr lang="en-US" sz="2000" b="1" dirty="0"/>
              <a:t>What common cleaning agent should NEVER be used to prep a surface or clean a tool?</a:t>
            </a:r>
          </a:p>
          <a:p>
            <a:pPr marL="0" indent="0">
              <a:buNone/>
              <a:tabLst>
                <a:tab pos="574675" algn="l"/>
              </a:tabLst>
            </a:pPr>
            <a:r>
              <a:rPr lang="en-US" sz="2000" b="1" dirty="0"/>
              <a:t>A:</a:t>
            </a:r>
            <a:r>
              <a:rPr lang="en-US" sz="2000" dirty="0"/>
              <a:t> Soap!</a:t>
            </a:r>
          </a:p>
          <a:p>
            <a:pPr marL="0" indent="0">
              <a:buNone/>
              <a:tabLst>
                <a:tab pos="574675" algn="l"/>
              </a:tabLst>
            </a:pPr>
            <a:endParaRPr lang="en-US" sz="2000" dirty="0"/>
          </a:p>
          <a:p>
            <a:pPr marL="0" indent="0">
              <a:buNone/>
              <a:tabLst>
                <a:tab pos="574675" algn="l"/>
              </a:tabLst>
            </a:pPr>
            <a:r>
              <a:rPr lang="en-US" sz="2000" b="1" dirty="0"/>
              <a:t>Q11: Does it matter if a cleaning solvent dries before you can wipe it off with a dry cloth?</a:t>
            </a:r>
          </a:p>
          <a:p>
            <a:pPr marL="0" indent="0">
              <a:buNone/>
              <a:tabLst>
                <a:tab pos="574675" algn="l"/>
              </a:tabLst>
            </a:pPr>
            <a:r>
              <a:rPr lang="en-US" sz="2000" b="1" dirty="0"/>
              <a:t>A:</a:t>
            </a:r>
            <a:r>
              <a:rPr lang="en-US" sz="2000" dirty="0"/>
              <a:t> Yes!  Residue = Contamination</a:t>
            </a:r>
            <a:br>
              <a:rPr lang="en-US" sz="2000" dirty="0"/>
            </a:br>
            <a:endParaRPr lang="en-US" sz="2000" dirty="0"/>
          </a:p>
          <a:p>
            <a:pPr marL="0" indent="0">
              <a:buNone/>
            </a:pPr>
            <a:r>
              <a:rPr lang="en-US" sz="2000" b="1" dirty="0"/>
              <a:t>Q12: What are three types of sealants?</a:t>
            </a:r>
          </a:p>
          <a:p>
            <a:pPr marL="0" indent="0">
              <a:buNone/>
            </a:pPr>
            <a:r>
              <a:rPr lang="en-US" sz="2000" b="1" dirty="0"/>
              <a:t>A:</a:t>
            </a:r>
            <a:r>
              <a:rPr lang="en-US" sz="2000" dirty="0"/>
              <a:t> 1. Drying,  2. Curing, and 3. Pliable (like putty)</a:t>
            </a:r>
            <a:br>
              <a:rPr lang="en-US" sz="2000" dirty="0"/>
            </a:br>
            <a:endParaRPr lang="en-US" sz="2000" dirty="0"/>
          </a:p>
          <a:p>
            <a:pPr marL="0" indent="0">
              <a:buNone/>
            </a:pPr>
            <a:endParaRPr lang="en-US" sz="2000" dirty="0"/>
          </a:p>
          <a:p>
            <a:pPr marL="0" indent="0">
              <a:buNone/>
            </a:pPr>
            <a:endParaRPr lang="en-US" sz="2000" dirty="0"/>
          </a:p>
          <a:p>
            <a:endParaRPr lang="en-US" sz="2000" dirty="0"/>
          </a:p>
        </p:txBody>
      </p:sp>
      <p:sp>
        <p:nvSpPr>
          <p:cNvPr id="12" name="Content Placeholder 2">
            <a:extLst>
              <a:ext uri="{FF2B5EF4-FFF2-40B4-BE49-F238E27FC236}">
                <a16:creationId xmlns:a16="http://schemas.microsoft.com/office/drawing/2014/main" id="{7E2E5C66-C624-7FE4-DC51-B4AF61676217}"/>
              </a:ext>
            </a:extLst>
          </p:cNvPr>
          <p:cNvSpPr txBox="1">
            <a:spLocks/>
          </p:cNvSpPr>
          <p:nvPr/>
        </p:nvSpPr>
        <p:spPr>
          <a:xfrm>
            <a:off x="6236413" y="557176"/>
            <a:ext cx="5650786" cy="61312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Q13: What type of sealant shrinks the most?</a:t>
            </a:r>
          </a:p>
          <a:p>
            <a:pPr marL="0" indent="0">
              <a:buNone/>
              <a:tabLst>
                <a:tab pos="574675" algn="l"/>
              </a:tabLst>
            </a:pPr>
            <a:r>
              <a:rPr lang="en-US" sz="2000" b="1" dirty="0"/>
              <a:t>A: </a:t>
            </a:r>
            <a:r>
              <a:rPr lang="en-US" sz="2000" dirty="0"/>
              <a:t>Drying (because moisture evaporates so mass is lost)</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Q14: How are pre-mixed sealants kept fresh?</a:t>
            </a:r>
          </a:p>
          <a:p>
            <a:pPr marL="0" indent="0">
              <a:buNone/>
              <a:tabLst>
                <a:tab pos="574675" algn="l"/>
              </a:tabLst>
            </a:pPr>
            <a:r>
              <a:rPr lang="en-US" sz="2000" b="1" dirty="0"/>
              <a:t>A:</a:t>
            </a:r>
            <a:r>
              <a:rPr lang="en-US" sz="2000" dirty="0"/>
              <a:t> Stored in freezer</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Q15: Name of sealants used on exterior of plane to guarantee aerodynamics of airplane?</a:t>
            </a:r>
          </a:p>
          <a:p>
            <a:pPr marL="0" indent="0">
              <a:buNone/>
              <a:tabLst>
                <a:tab pos="574675" algn="l"/>
              </a:tabLst>
            </a:pPr>
            <a:r>
              <a:rPr lang="en-US" sz="2000" b="1" dirty="0"/>
              <a:t>A: </a:t>
            </a:r>
            <a:r>
              <a:rPr lang="en-US" sz="2000" dirty="0" err="1"/>
              <a:t>Aerosmooth</a:t>
            </a:r>
            <a:r>
              <a:rPr lang="en-US" sz="2000" dirty="0"/>
              <a:t> sealant</a:t>
            </a:r>
          </a:p>
          <a:p>
            <a:pPr marL="0" indent="0">
              <a:buNone/>
              <a:tabLst>
                <a:tab pos="574675" algn="l"/>
              </a:tabLst>
            </a:pPr>
            <a:endParaRPr lang="en-US" sz="2000" dirty="0"/>
          </a:p>
          <a:p>
            <a:pPr marL="0" indent="0">
              <a:buNone/>
              <a:tabLst>
                <a:tab pos="574675" algn="l"/>
              </a:tabLst>
            </a:pPr>
            <a:r>
              <a:rPr lang="en-US" sz="2000" b="1" dirty="0"/>
              <a:t>Q16: What is the lower temperature threshold for sealant to still bond well on  metal?</a:t>
            </a:r>
          </a:p>
          <a:p>
            <a:pPr marL="0" indent="0">
              <a:buNone/>
              <a:tabLst>
                <a:tab pos="574675" algn="l"/>
              </a:tabLst>
            </a:pPr>
            <a:r>
              <a:rPr lang="en-US" sz="2000" b="1" dirty="0"/>
              <a:t>A: </a:t>
            </a:r>
            <a:r>
              <a:rPr lang="en-US" sz="2000" dirty="0"/>
              <a:t>60°F  (guess you need a heater in the plane during winter for proper cure/dry)</a:t>
            </a:r>
          </a:p>
          <a:p>
            <a:pPr marL="0" indent="0">
              <a:buNone/>
              <a:tabLst>
                <a:tab pos="574675" algn="l"/>
              </a:tabLst>
            </a:pPr>
            <a:endParaRPr lang="en-US" sz="2000" dirty="0"/>
          </a:p>
          <a:p>
            <a:pPr marL="0" indent="0">
              <a:buNone/>
              <a:tabLst>
                <a:tab pos="574675" algn="l"/>
              </a:tabLst>
            </a:pPr>
            <a:endParaRPr lang="en-US" sz="2000" dirty="0"/>
          </a:p>
          <a:p>
            <a:pPr marL="0" indent="0">
              <a:buFont typeface="Arial" panose="020B0604020202020204" pitchFamily="34" charset="0"/>
              <a:buNone/>
            </a:pPr>
            <a:endParaRPr lang="en-US" sz="2000" dirty="0"/>
          </a:p>
        </p:txBody>
      </p:sp>
    </p:spTree>
    <p:extLst>
      <p:ext uri="{BB962C8B-B14F-4D97-AF65-F5344CB8AC3E}">
        <p14:creationId xmlns:p14="http://schemas.microsoft.com/office/powerpoint/2010/main" val="65875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C2D309-79B3-0066-BB56-E79235F3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AC3B1-808A-C5C9-BBB6-F06FDC830E2E}"/>
              </a:ext>
            </a:extLst>
          </p:cNvPr>
          <p:cNvSpPr>
            <a:spLocks noGrp="1"/>
          </p:cNvSpPr>
          <p:nvPr>
            <p:ph type="ctrTitle"/>
          </p:nvPr>
        </p:nvSpPr>
        <p:spPr>
          <a:xfrm>
            <a:off x="1612696" y="1893712"/>
            <a:ext cx="8966607" cy="1535288"/>
          </a:xfrm>
        </p:spPr>
        <p:txBody>
          <a:bodyPr>
            <a:noAutofit/>
          </a:bodyPr>
          <a:lstStyle/>
          <a:p>
            <a:r>
              <a:rPr lang="en-US" sz="9600" b="1" dirty="0">
                <a:solidFill>
                  <a:schemeClr val="bg1"/>
                </a:solidFill>
              </a:rPr>
              <a:t>Thank You</a:t>
            </a:r>
          </a:p>
        </p:txBody>
      </p:sp>
      <p:sp>
        <p:nvSpPr>
          <p:cNvPr id="3" name="Subtitle 2">
            <a:extLst>
              <a:ext uri="{FF2B5EF4-FFF2-40B4-BE49-F238E27FC236}">
                <a16:creationId xmlns:a16="http://schemas.microsoft.com/office/drawing/2014/main" id="{49C9C698-DE27-F888-6BAA-48C0C4FED236}"/>
              </a:ext>
            </a:extLst>
          </p:cNvPr>
          <p:cNvSpPr>
            <a:spLocks noGrp="1"/>
          </p:cNvSpPr>
          <p:nvPr>
            <p:ph type="subTitle" idx="1"/>
          </p:nvPr>
        </p:nvSpPr>
        <p:spPr>
          <a:xfrm>
            <a:off x="1490133" y="5258927"/>
            <a:ext cx="8966607" cy="1090775"/>
          </a:xfrm>
          <a:noFill/>
          <a:effectLst>
            <a:glow rad="228600">
              <a:schemeClr val="accent1">
                <a:satMod val="175000"/>
                <a:alpha val="40000"/>
              </a:schemeClr>
            </a:glow>
          </a:effectLst>
        </p:spPr>
        <p:txBody>
          <a:bodyPr>
            <a:normAutofit/>
          </a:bodyPr>
          <a:lstStyle/>
          <a:p>
            <a:pPr algn="l"/>
            <a:r>
              <a:rPr lang="pl-PL" sz="2000" dirty="0">
                <a:solidFill>
                  <a:schemeClr val="bg1"/>
                </a:solidFill>
              </a:rPr>
              <a:t>Matt Pierce  </a:t>
            </a:r>
            <a:r>
              <a:rPr lang="en-US" sz="2000" dirty="0">
                <a:solidFill>
                  <a:schemeClr val="bg1"/>
                </a:solidFill>
              </a:rPr>
              <a:t> - </a:t>
            </a:r>
            <a:r>
              <a:rPr lang="pl-PL" sz="2000" dirty="0">
                <a:solidFill>
                  <a:schemeClr val="bg1"/>
                </a:solidFill>
              </a:rPr>
              <a:t>  mpierce710006@gmail.com  </a:t>
            </a:r>
            <a:r>
              <a:rPr lang="en-US" sz="2000" dirty="0">
                <a:solidFill>
                  <a:schemeClr val="bg1"/>
                </a:solidFill>
              </a:rPr>
              <a:t> - </a:t>
            </a:r>
            <a:r>
              <a:rPr lang="pl-PL" sz="2000" dirty="0">
                <a:solidFill>
                  <a:schemeClr val="bg1"/>
                </a:solidFill>
              </a:rPr>
              <a:t>  linkedin.com/in/mpiercead576/</a:t>
            </a:r>
          </a:p>
          <a:p>
            <a:pPr algn="l"/>
            <a:r>
              <a:rPr lang="pl-PL" sz="2000" dirty="0">
                <a:solidFill>
                  <a:schemeClr val="bg1"/>
                </a:solidFill>
                <a:hlinkClick r:id="rId3"/>
              </a:rPr>
              <a:t>https://github.com/DataResearchLabs/study_guide_intro_aerospace_mfg</a:t>
            </a:r>
            <a:endParaRPr lang="en-US" sz="2000" dirty="0">
              <a:solidFill>
                <a:schemeClr val="bg1"/>
              </a:solidFill>
            </a:endParaRPr>
          </a:p>
          <a:p>
            <a:pPr algn="l"/>
            <a:endParaRPr lang="en-US" sz="2000" dirty="0">
              <a:solidFill>
                <a:schemeClr val="bg1"/>
              </a:solidFill>
            </a:endParaRPr>
          </a:p>
        </p:txBody>
      </p:sp>
      <p:cxnSp>
        <p:nvCxnSpPr>
          <p:cNvPr id="7" name="Straight Connector 6">
            <a:extLst>
              <a:ext uri="{FF2B5EF4-FFF2-40B4-BE49-F238E27FC236}">
                <a16:creationId xmlns:a16="http://schemas.microsoft.com/office/drawing/2014/main" id="{47439251-0FA5-4222-2534-EC4CD92AB89C}"/>
              </a:ext>
            </a:extLst>
          </p:cNvPr>
          <p:cNvCxnSpPr>
            <a:cxnSpLocks/>
          </p:cNvCxnSpPr>
          <p:nvPr/>
        </p:nvCxnSpPr>
        <p:spPr>
          <a:xfrm>
            <a:off x="0" y="4727225"/>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227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3501</TotalTime>
  <Words>1024</Words>
  <Application>Microsoft Office PowerPoint</Application>
  <PresentationFormat>Widescreen</PresentationFormat>
  <Paragraphs>103</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Sealing</vt:lpstr>
      <vt:lpstr>Sealing</vt:lpstr>
      <vt:lpstr>Everybody Knows What Sealant Is, Right?</vt:lpstr>
      <vt:lpstr>Sealant Purposes  (1 of 2)</vt:lpstr>
      <vt:lpstr>Sealant Purposes  (2 of 2)</vt:lpstr>
      <vt:lpstr>Q&amp;A</vt:lpstr>
      <vt:lpstr>Practice Q&amp;A’s  (Q1-Q8)</vt:lpstr>
      <vt:lpstr>Practice Q&amp;A’s  (Q9-Q16)</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Pierce</dc:creator>
  <cp:lastModifiedBy>Matt Pierce</cp:lastModifiedBy>
  <cp:revision>116</cp:revision>
  <dcterms:created xsi:type="dcterms:W3CDTF">2026-02-02T22:48:01Z</dcterms:created>
  <dcterms:modified xsi:type="dcterms:W3CDTF">2026-02-27T02:48:13Z</dcterms:modified>
</cp:coreProperties>
</file>