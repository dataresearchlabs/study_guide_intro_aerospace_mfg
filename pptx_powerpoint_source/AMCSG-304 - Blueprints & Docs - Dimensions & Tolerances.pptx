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21" r:id="rId2"/>
    <p:sldId id="299" r:id="rId3"/>
    <p:sldId id="302" r:id="rId4"/>
    <p:sldId id="295" r:id="rId5"/>
    <p:sldId id="296" r:id="rId6"/>
    <p:sldId id="304" r:id="rId7"/>
    <p:sldId id="297" r:id="rId8"/>
    <p:sldId id="300" r:id="rId9"/>
    <p:sldId id="298" r:id="rId10"/>
    <p:sldId id="301" r:id="rId11"/>
    <p:sldId id="303" r:id="rId12"/>
    <p:sldId id="322" r:id="rId13"/>
    <p:sldId id="318" r:id="rId14"/>
    <p:sldId id="323" r:id="rId15"/>
    <p:sldId id="32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1" autoAdjust="0"/>
    <p:restoredTop sz="89003" autoAdjust="0"/>
  </p:normalViewPr>
  <p:slideViewPr>
    <p:cSldViewPr snapToGrid="0">
      <p:cViewPr varScale="1">
        <p:scale>
          <a:sx n="61" d="100"/>
          <a:sy n="61" d="100"/>
        </p:scale>
        <p:origin x="87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98CB6-2C88-401C-AAD5-2FFED2D64E9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D55C3-6A65-407E-9BFF-B66438A65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8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7E61-82F2-CC2D-52D9-8E96550D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D1242-484C-5A66-5547-E6C97B7B1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9062E-F3E0-DFA7-CE4F-880A8955F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https://media.defense.gov/2017/Nov/03/2002658619/-1/-1/1/171103-N-ZY182-15347.pdf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C5D51-DDDF-8130-2508-CED15D881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04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A047-DF39-0333-D2E3-8B787AA4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9C020-893E-2FED-BB89-3D947B455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0AC9E-08AE-8DB6-2FFC-AB896ECD0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Google: ”describe types of dimensions on a blueprint: size, position, and angle. show examples.”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D3504-5BF9-FAE9-9770-C68ED56A1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2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0FF8-C758-89FB-EA2E-E5585877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3A09E-B3AA-92EE-A7F4-37B394393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BAA60-0E12-BD86-4F8E-467ABDD8E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A4D06-8691-44D6-3AE9-3C785C4BA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51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AFB48-2478-F8A1-DFFC-1255047A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E65F8-06C5-86D0-83F2-204B75B66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82374-B9A5-5F27-A008-C0CAB3663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0BC34-7FF3-AE20-48B6-541822CF6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85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130E-3361-B9DA-2A30-33EFE530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C5C72-C390-7923-7F7F-821981EDF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E8E98-1E1B-3349-8714-C33809A54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 in a single diagram, show the difference between "chain dimensioning" and "datum dimensioning"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FBA9A-673C-A007-5AD3-25D241590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6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7103-6F29-1DA5-64DF-FE0D5B80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78C4E-E411-88FF-E967-4E715A544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31C5F-3005-563B-A2FE-7E3DC860D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3EAAB-E806-06A0-8647-4B8F6BF24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09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DB5A-1985-97B6-C42B-23CD415C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ECCD7-BA59-9666-AA29-C96F8AAA8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B0027-E8D0-7BF6-8728-A0552C30B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https://media.defense.gov/2017/Nov/03/2002658619/-1/-1/1/171103-N-ZY182-15347.pdf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pg</a:t>
            </a:r>
            <a:r>
              <a:rPr lang="en-US" dirty="0"/>
              <a:t> 69)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103A3-12BF-4D8D-3F2C-F1FAB1BD6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9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A270-60BB-2180-FA8D-6DC9AAEEA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BBD04-DB6D-9CBC-07ED-B2EFF89C1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4FFAB-87A9-2D78-D9AC-997395A1F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 use diagrams to show the different types of tolerances on aerospace blueprints. In particular, "plus and minus tolerances", "limit dimensions", "maximum tolerances" and "minimum tolerances"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448D3-0268-E843-EEFA-B42681415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08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E57-7CA1-1F08-40B4-7752B89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B1B3-B826-C16C-582D-0AF1300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F43A-92BE-B2AD-DE41-70701A51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B0F8-DF6E-284F-F4D7-5190108C3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7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C8FEA-3E77-7D4D-C948-A27D354D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F6E29-FBA4-2479-FAFD-219DAF453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EB06A-5C6F-7DEE-6018-FAA1F24F0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EDB71-E3C1-CA03-A910-02EE6BBEB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16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6A15-4627-A2B7-B23E-2AC252B8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1D323-39FD-6977-01F7-412F0DE6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1F59-B048-3D2A-8AFA-5907E8E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2962-9A43-C2C2-7107-AD8564EA2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8604-8C4F-A976-286B-E17FB7C14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D2EB9-B6C1-80A3-7C6D-D35E38A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8A0F-A558-BEB7-6231-6925F33C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166D-3B41-FC46-B527-118F3460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53BE-7379-C725-CF26-CC6B4582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079D-5F59-ED52-BFF6-108D0B4B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64D4-320F-5BA1-287F-1810736A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46D3-7E3E-A3F7-278E-3551B22E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261CB-A869-1544-C0A7-CC8604F4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4C245-FC94-FA83-E5F4-3A9F814E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ABCD-A3C6-53C0-24E3-954C9A82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5E699-7560-7EDA-7B99-F59CD0C3A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2B8C-062D-E298-1EAA-A52D35FA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3F7A-D347-901F-0C3A-87475B63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49654-0078-975F-CED4-0DEF4EB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5F63-6558-5286-61E4-A5490977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9B79C-BB11-0D88-C0DC-1C491C75A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EF498-1470-A152-8DBA-089FF363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FBD9-D87E-39CB-A355-14D4BB93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95F7-406E-D075-8B39-623D2BBE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CC82C-F922-EC87-9017-EF7F35AA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0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6EFA-DCF2-0F96-3716-78160812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353F8-35CE-B547-928A-196E0C4D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5914-9D20-1CD8-A86D-5F4A2F02E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884EB-0E59-5F47-4379-943FF84F9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CA68-CFD3-9870-4F97-476B9FC18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52665-A037-02EF-95D2-5C9DFE8C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B38FF-5536-D966-C235-F1789960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1FCDF-1DBF-2AA3-93C1-61400BA1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E56-0CE0-D5B3-0EDA-8FADF7BA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CBFB5-D851-3D9D-F332-47B43608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273FA-2457-4385-2E37-2A272905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2ED07-57CD-AF06-DD3A-2454B3CD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6715A-586C-FF87-D16B-76C507D1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8C50A-ACA0-E39C-BF1E-1AB606A2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AEB16-9EB9-619F-5C07-329C7663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1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819-C7CB-8577-D68F-9DDA148B1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50A4-3F7D-2D71-A9D4-74036330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536D9-2523-D955-F38D-FE976F44E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2DA0F-A8B3-4CF1-B679-C5B0D39B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69CA2-A42A-833D-BC7C-967D1EFF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0A10A-141E-2590-DD32-0F38164C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238C-F95A-85C6-EF95-6192D455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BEC10-9D21-E83F-7164-A85385A8D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50E-BFB2-B49D-B13D-37BFAC1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22970-B70C-CFBD-3CC4-D601161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D507F-6489-85D6-C731-7346630A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88480-DC24-2467-A79D-74622277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2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787E-C838-836F-52EE-50D8BB58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1598B-9911-A386-F7AA-97913A488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A08D-38E1-D7DC-F94F-51768EFD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829E-AB80-5C6B-0D61-A0DFC109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7A8F-5B78-B4B6-09FE-0993C94C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8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9024B-25BF-EA72-BD35-65EF808FF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796C1-A9AD-51B1-9E18-4C968025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1A7B-3E4E-45E3-2613-EBBE7B7A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0DA0-1A51-9958-DA38-0E0EC8FF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903E-BE2A-59C5-B220-A6582E61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6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8F4C7-2F11-26ED-32BD-E758D190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DBA8-3E2E-A76B-065E-87B75977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6856E-F249-64F9-2B63-8358883D7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75684-5E0C-B3A4-431A-05A010826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5A29-6651-182C-206F-17AE0616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a.defense.gov/2017/Nov/03/2002658619/-1/-1/1/171103-N-ZY182-15347.pd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a.defense.gov/2017/Nov/03/2002658619/-1/-1/1/171103-N-ZY182-15347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ResearchLabs/study_guide_intro_aerospace_mf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69CFF-BAE7-BF73-632D-A9101B28F0D2}"/>
              </a:ext>
            </a:extLst>
          </p:cNvPr>
          <p:cNvSpPr/>
          <p:nvPr/>
        </p:nvSpPr>
        <p:spPr>
          <a:xfrm>
            <a:off x="1009648" y="2242335"/>
            <a:ext cx="10172700" cy="237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237A-1769-2D18-56A2-B3690631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40599"/>
            <a:ext cx="12192000" cy="1145996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Dimensions &amp; Tolerances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83414-9557-9971-74AE-0E0F206E6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4882" y="768846"/>
            <a:ext cx="3862232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Aerospace Manufacturing Core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Study Guide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“AMCSG-304”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361BB-91A4-6234-4565-06CC792AA8FE}"/>
              </a:ext>
            </a:extLst>
          </p:cNvPr>
          <p:cNvSpPr txBox="1">
            <a:spLocks/>
          </p:cNvSpPr>
          <p:nvPr/>
        </p:nvSpPr>
        <p:spPr>
          <a:xfrm>
            <a:off x="-1" y="2592083"/>
            <a:ext cx="12191999" cy="74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Blueprints &amp; Documents</a:t>
            </a:r>
          </a:p>
        </p:txBody>
      </p:sp>
    </p:spTree>
    <p:extLst>
      <p:ext uri="{BB962C8B-B14F-4D97-AF65-F5344CB8AC3E}">
        <p14:creationId xmlns:p14="http://schemas.microsoft.com/office/powerpoint/2010/main" val="124129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B6925-8E3F-FE80-B2B0-D41DD26D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8701-EB8B-50EA-A8E2-BA96D9EF0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8420"/>
            <a:ext cx="10086975" cy="78116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Dimensions</a:t>
            </a:r>
          </a:p>
        </p:txBody>
      </p:sp>
    </p:spTree>
    <p:extLst>
      <p:ext uri="{BB962C8B-B14F-4D97-AF65-F5344CB8AC3E}">
        <p14:creationId xmlns:p14="http://schemas.microsoft.com/office/powerpoint/2010/main" val="2563634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DB10B-CB20-F126-8B4F-29DD142E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6567DE-B03E-BB8B-0270-46DCB04986A9}"/>
              </a:ext>
            </a:extLst>
          </p:cNvPr>
          <p:cNvSpPr/>
          <p:nvPr/>
        </p:nvSpPr>
        <p:spPr>
          <a:xfrm>
            <a:off x="2857503" y="2140226"/>
            <a:ext cx="5926413" cy="35851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289A1AB-C761-0B06-015B-55465BCFF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190" y="2441106"/>
            <a:ext cx="5644082" cy="28979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A72CF6-7C67-4C27-64F7-8CE39E90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Dimensions: Overview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A58982B-D947-0AFD-6156-179AF2C970DC}"/>
              </a:ext>
            </a:extLst>
          </p:cNvPr>
          <p:cNvGrpSpPr/>
          <p:nvPr/>
        </p:nvGrpSpPr>
        <p:grpSpPr>
          <a:xfrm>
            <a:off x="6594767" y="1548379"/>
            <a:ext cx="1704975" cy="966221"/>
            <a:chOff x="3562350" y="5401389"/>
            <a:chExt cx="1704975" cy="9662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183E7B-5DC2-E673-DFB8-708BB1A75DEA}"/>
                </a:ext>
              </a:extLst>
            </p:cNvPr>
            <p:cNvSpPr txBox="1"/>
            <p:nvPr/>
          </p:nvSpPr>
          <p:spPr>
            <a:xfrm>
              <a:off x="3816081" y="5401389"/>
              <a:ext cx="1451244" cy="3693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Tolerances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855694D-FE4D-8CF6-4FEF-6482BC5145F3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3562350" y="5770721"/>
              <a:ext cx="979353" cy="59688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163D80-D874-E463-3152-7E2A1FFCC707}"/>
              </a:ext>
            </a:extLst>
          </p:cNvPr>
          <p:cNvGrpSpPr/>
          <p:nvPr/>
        </p:nvGrpSpPr>
        <p:grpSpPr>
          <a:xfrm>
            <a:off x="3164522" y="1548379"/>
            <a:ext cx="1900523" cy="1416123"/>
            <a:chOff x="4323982" y="1548379"/>
            <a:chExt cx="1900523" cy="141612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26BC824-C71B-011B-BED6-4E0E656B6E6C}"/>
                </a:ext>
              </a:extLst>
            </p:cNvPr>
            <p:cNvSpPr txBox="1"/>
            <p:nvPr/>
          </p:nvSpPr>
          <p:spPr>
            <a:xfrm>
              <a:off x="4323982" y="1548379"/>
              <a:ext cx="190052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Dimension Line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E840858-4B9B-22BF-0C99-9B0F1C706260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5274244" y="1917711"/>
              <a:ext cx="663501" cy="1046791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4AABD3-8415-EA24-2AE3-C096E475D614}"/>
              </a:ext>
            </a:extLst>
          </p:cNvPr>
          <p:cNvGrpSpPr/>
          <p:nvPr/>
        </p:nvGrpSpPr>
        <p:grpSpPr>
          <a:xfrm>
            <a:off x="7453840" y="1548379"/>
            <a:ext cx="2455726" cy="1347221"/>
            <a:chOff x="2811599" y="5401389"/>
            <a:chExt cx="2455726" cy="134722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A083E6D-02CC-8B23-260B-94536D8F98CD}"/>
                </a:ext>
              </a:extLst>
            </p:cNvPr>
            <p:cNvSpPr txBox="1"/>
            <p:nvPr/>
          </p:nvSpPr>
          <p:spPr>
            <a:xfrm>
              <a:off x="3816081" y="5401389"/>
              <a:ext cx="1451244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Arrowhead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1C32590-4935-33F1-B608-E056D7210EEC}"/>
                </a:ext>
              </a:extLst>
            </p:cNvPr>
            <p:cNvCxnSpPr>
              <a:cxnSpLocks/>
              <a:stCxn id="31" idx="2"/>
            </p:cNvCxnSpPr>
            <p:nvPr/>
          </p:nvCxnSpPr>
          <p:spPr>
            <a:xfrm flipH="1">
              <a:off x="2811599" y="5770721"/>
              <a:ext cx="1730104" cy="97788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B71BDC-90BC-6BCE-2E96-8371D7A3BEA6}"/>
              </a:ext>
            </a:extLst>
          </p:cNvPr>
          <p:cNvGrpSpPr/>
          <p:nvPr/>
        </p:nvGrpSpPr>
        <p:grpSpPr>
          <a:xfrm>
            <a:off x="7612420" y="1964814"/>
            <a:ext cx="3339928" cy="1226061"/>
            <a:chOff x="2206257" y="5401389"/>
            <a:chExt cx="3339928" cy="122606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2A2772-40C9-21C1-2A35-088A981AC35E}"/>
                </a:ext>
              </a:extLst>
            </p:cNvPr>
            <p:cNvSpPr txBox="1"/>
            <p:nvPr/>
          </p:nvSpPr>
          <p:spPr>
            <a:xfrm>
              <a:off x="3816081" y="5401389"/>
              <a:ext cx="1730104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Extension Line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AEEFACD-75B4-536B-60ED-C3A95C3B03C7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flipH="1">
              <a:off x="2206257" y="5770721"/>
              <a:ext cx="2474876" cy="85672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D9E80C0-3D09-97C0-E351-BFF48BE3E4EA}"/>
              </a:ext>
            </a:extLst>
          </p:cNvPr>
          <p:cNvSpPr/>
          <p:nvPr/>
        </p:nvSpPr>
        <p:spPr>
          <a:xfrm>
            <a:off x="4113505" y="3805238"/>
            <a:ext cx="3509962" cy="900112"/>
          </a:xfrm>
          <a:custGeom>
            <a:avLst/>
            <a:gdLst>
              <a:gd name="csX0" fmla="*/ 0 w 3509962"/>
              <a:gd name="csY0" fmla="*/ 4762 h 881062"/>
              <a:gd name="csX1" fmla="*/ 3505200 w 3509962"/>
              <a:gd name="csY1" fmla="*/ 0 h 881062"/>
              <a:gd name="csX2" fmla="*/ 3509962 w 3509962"/>
              <a:gd name="csY2" fmla="*/ 385762 h 881062"/>
              <a:gd name="csX3" fmla="*/ 3157537 w 3509962"/>
              <a:gd name="csY3" fmla="*/ 485775 h 881062"/>
              <a:gd name="csX4" fmla="*/ 3005137 w 3509962"/>
              <a:gd name="csY4" fmla="*/ 881062 h 881062"/>
              <a:gd name="csX5" fmla="*/ 0 w 3509962"/>
              <a:gd name="csY5" fmla="*/ 847725 h 881062"/>
              <a:gd name="csX6" fmla="*/ 0 w 3509962"/>
              <a:gd name="csY6" fmla="*/ 4762 h 881062"/>
              <a:gd name="csX0" fmla="*/ 0 w 3509962"/>
              <a:gd name="csY0" fmla="*/ 4762 h 881062"/>
              <a:gd name="csX1" fmla="*/ 3505200 w 3509962"/>
              <a:gd name="csY1" fmla="*/ 0 h 881062"/>
              <a:gd name="csX2" fmla="*/ 3509962 w 3509962"/>
              <a:gd name="csY2" fmla="*/ 385762 h 881062"/>
              <a:gd name="csX3" fmla="*/ 3338512 w 3509962"/>
              <a:gd name="csY3" fmla="*/ 438150 h 881062"/>
              <a:gd name="csX4" fmla="*/ 3157537 w 3509962"/>
              <a:gd name="csY4" fmla="*/ 485775 h 881062"/>
              <a:gd name="csX5" fmla="*/ 3005137 w 3509962"/>
              <a:gd name="csY5" fmla="*/ 881062 h 881062"/>
              <a:gd name="csX6" fmla="*/ 0 w 3509962"/>
              <a:gd name="csY6" fmla="*/ 847725 h 881062"/>
              <a:gd name="csX7" fmla="*/ 0 w 3509962"/>
              <a:gd name="csY7" fmla="*/ 4762 h 881062"/>
              <a:gd name="csX0" fmla="*/ 0 w 3509962"/>
              <a:gd name="csY0" fmla="*/ 4762 h 881062"/>
              <a:gd name="csX1" fmla="*/ 3505200 w 3509962"/>
              <a:gd name="csY1" fmla="*/ 0 h 881062"/>
              <a:gd name="csX2" fmla="*/ 3509962 w 3509962"/>
              <a:gd name="csY2" fmla="*/ 385762 h 881062"/>
              <a:gd name="csX3" fmla="*/ 3338512 w 3509962"/>
              <a:gd name="csY3" fmla="*/ 438150 h 881062"/>
              <a:gd name="csX4" fmla="*/ 3157537 w 3509962"/>
              <a:gd name="csY4" fmla="*/ 485775 h 881062"/>
              <a:gd name="csX5" fmla="*/ 3081337 w 3509962"/>
              <a:gd name="csY5" fmla="*/ 681037 h 881062"/>
              <a:gd name="csX6" fmla="*/ 3005137 w 3509962"/>
              <a:gd name="csY6" fmla="*/ 881062 h 881062"/>
              <a:gd name="csX7" fmla="*/ 0 w 3509962"/>
              <a:gd name="csY7" fmla="*/ 847725 h 881062"/>
              <a:gd name="csX8" fmla="*/ 0 w 3509962"/>
              <a:gd name="csY8" fmla="*/ 4762 h 881062"/>
              <a:gd name="csX0" fmla="*/ 0 w 3509962"/>
              <a:gd name="csY0" fmla="*/ 4762 h 881062"/>
              <a:gd name="csX1" fmla="*/ 3505200 w 3509962"/>
              <a:gd name="csY1" fmla="*/ 0 h 881062"/>
              <a:gd name="csX2" fmla="*/ 3509962 w 3509962"/>
              <a:gd name="csY2" fmla="*/ 385762 h 881062"/>
              <a:gd name="csX3" fmla="*/ 3338512 w 3509962"/>
              <a:gd name="csY3" fmla="*/ 438150 h 881062"/>
              <a:gd name="csX4" fmla="*/ 3138487 w 3509962"/>
              <a:gd name="csY4" fmla="*/ 533400 h 881062"/>
              <a:gd name="csX5" fmla="*/ 3081337 w 3509962"/>
              <a:gd name="csY5" fmla="*/ 681037 h 881062"/>
              <a:gd name="csX6" fmla="*/ 3005137 w 3509962"/>
              <a:gd name="csY6" fmla="*/ 881062 h 881062"/>
              <a:gd name="csX7" fmla="*/ 0 w 3509962"/>
              <a:gd name="csY7" fmla="*/ 847725 h 881062"/>
              <a:gd name="csX8" fmla="*/ 0 w 3509962"/>
              <a:gd name="csY8" fmla="*/ 4762 h 881062"/>
              <a:gd name="csX0" fmla="*/ 0 w 3509962"/>
              <a:gd name="csY0" fmla="*/ 4762 h 881062"/>
              <a:gd name="csX1" fmla="*/ 3505200 w 3509962"/>
              <a:gd name="csY1" fmla="*/ 0 h 881062"/>
              <a:gd name="csX2" fmla="*/ 3509962 w 3509962"/>
              <a:gd name="csY2" fmla="*/ 385762 h 881062"/>
              <a:gd name="csX3" fmla="*/ 3338512 w 3509962"/>
              <a:gd name="csY3" fmla="*/ 438150 h 881062"/>
              <a:gd name="csX4" fmla="*/ 3138487 w 3509962"/>
              <a:gd name="csY4" fmla="*/ 533400 h 881062"/>
              <a:gd name="csX5" fmla="*/ 3081337 w 3509962"/>
              <a:gd name="csY5" fmla="*/ 681037 h 881062"/>
              <a:gd name="csX6" fmla="*/ 3005137 w 3509962"/>
              <a:gd name="csY6" fmla="*/ 881062 h 881062"/>
              <a:gd name="csX7" fmla="*/ 0 w 3509962"/>
              <a:gd name="csY7" fmla="*/ 847725 h 881062"/>
              <a:gd name="csX8" fmla="*/ 0 w 3509962"/>
              <a:gd name="csY8" fmla="*/ 4762 h 881062"/>
              <a:gd name="csX0" fmla="*/ 0 w 3509962"/>
              <a:gd name="csY0" fmla="*/ 4762 h 881062"/>
              <a:gd name="csX1" fmla="*/ 3505200 w 3509962"/>
              <a:gd name="csY1" fmla="*/ 0 h 881062"/>
              <a:gd name="csX2" fmla="*/ 3509962 w 3509962"/>
              <a:gd name="csY2" fmla="*/ 385762 h 881062"/>
              <a:gd name="csX3" fmla="*/ 3338512 w 3509962"/>
              <a:gd name="csY3" fmla="*/ 438150 h 881062"/>
              <a:gd name="csX4" fmla="*/ 3138487 w 3509962"/>
              <a:gd name="csY4" fmla="*/ 533400 h 881062"/>
              <a:gd name="csX5" fmla="*/ 3067049 w 3509962"/>
              <a:gd name="csY5" fmla="*/ 681037 h 881062"/>
              <a:gd name="csX6" fmla="*/ 3005137 w 3509962"/>
              <a:gd name="csY6" fmla="*/ 881062 h 881062"/>
              <a:gd name="csX7" fmla="*/ 0 w 3509962"/>
              <a:gd name="csY7" fmla="*/ 847725 h 881062"/>
              <a:gd name="csX8" fmla="*/ 0 w 3509962"/>
              <a:gd name="csY8" fmla="*/ 4762 h 88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09962" h="881062">
                <a:moveTo>
                  <a:pt x="0" y="4762"/>
                </a:moveTo>
                <a:lnTo>
                  <a:pt x="3505200" y="0"/>
                </a:lnTo>
                <a:cubicBezTo>
                  <a:pt x="3506787" y="128587"/>
                  <a:pt x="3508375" y="257175"/>
                  <a:pt x="3509962" y="385762"/>
                </a:cubicBezTo>
                <a:lnTo>
                  <a:pt x="3338512" y="438150"/>
                </a:lnTo>
                <a:cubicBezTo>
                  <a:pt x="3276600" y="462756"/>
                  <a:pt x="3183731" y="492919"/>
                  <a:pt x="3138487" y="533400"/>
                </a:cubicBezTo>
                <a:cubicBezTo>
                  <a:pt x="3093243" y="573881"/>
                  <a:pt x="3089274" y="623093"/>
                  <a:pt x="3067049" y="681037"/>
                </a:cubicBezTo>
                <a:lnTo>
                  <a:pt x="3005137" y="881062"/>
                </a:lnTo>
                <a:lnTo>
                  <a:pt x="0" y="847725"/>
                </a:lnTo>
                <a:lnTo>
                  <a:pt x="0" y="4762"/>
                </a:lnTo>
                <a:close/>
              </a:path>
            </a:pathLst>
          </a:cu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0F35208-F873-89F1-3077-3D85BC199AFA}"/>
              </a:ext>
            </a:extLst>
          </p:cNvPr>
          <p:cNvGrpSpPr/>
          <p:nvPr/>
        </p:nvGrpSpPr>
        <p:grpSpPr>
          <a:xfrm>
            <a:off x="6459796" y="4518830"/>
            <a:ext cx="994044" cy="1096158"/>
            <a:chOff x="3532154" y="4747462"/>
            <a:chExt cx="994044" cy="109615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EE4FD1-C19E-2593-11F7-15C7CED06370}"/>
                </a:ext>
              </a:extLst>
            </p:cNvPr>
            <p:cNvSpPr txBox="1"/>
            <p:nvPr/>
          </p:nvSpPr>
          <p:spPr>
            <a:xfrm>
              <a:off x="3532154" y="5474288"/>
              <a:ext cx="994044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Object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B81C07A-F88B-9088-B7D3-DE374597F34A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V="1">
              <a:off x="4029176" y="4747462"/>
              <a:ext cx="0" cy="726826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DE70F683-2BC8-26C4-B506-4C8D2F407F3A}"/>
              </a:ext>
            </a:extLst>
          </p:cNvPr>
          <p:cNvGrpSpPr/>
          <p:nvPr/>
        </p:nvGrpSpPr>
        <p:grpSpPr>
          <a:xfrm>
            <a:off x="1777203" y="3244334"/>
            <a:ext cx="2336302" cy="560904"/>
            <a:chOff x="1164136" y="3244334"/>
            <a:chExt cx="2336302" cy="56090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D6E4846-DB07-7767-073C-0E02EC10BD75}"/>
                </a:ext>
              </a:extLst>
            </p:cNvPr>
            <p:cNvGrpSpPr/>
            <p:nvPr/>
          </p:nvGrpSpPr>
          <p:grpSpPr>
            <a:xfrm>
              <a:off x="1164136" y="3244334"/>
              <a:ext cx="2117226" cy="522804"/>
              <a:chOff x="5072062" y="1610708"/>
              <a:chExt cx="2117226" cy="522804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E88C9E0-9A37-20E3-5B15-7FC200764F50}"/>
                  </a:ext>
                </a:extLst>
              </p:cNvPr>
              <p:cNvSpPr txBox="1"/>
              <p:nvPr/>
            </p:nvSpPr>
            <p:spPr>
              <a:xfrm>
                <a:off x="5072062" y="1610708"/>
                <a:ext cx="1406480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Visible Gap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0F440B21-11F0-817C-37BF-3A02B97110A6}"/>
                  </a:ext>
                </a:extLst>
              </p:cNvPr>
              <p:cNvCxnSpPr>
                <a:cxnSpLocks/>
                <a:stCxn id="56" idx="3"/>
              </p:cNvCxnSpPr>
              <p:nvPr/>
            </p:nvCxnSpPr>
            <p:spPr>
              <a:xfrm>
                <a:off x="6478542" y="1795374"/>
                <a:ext cx="710746" cy="33813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ABF0954-6B68-7862-BBD7-94DEDD0D60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7400" y="3805238"/>
              <a:ext cx="17303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Arrow Connector 1025">
              <a:extLst>
                <a:ext uri="{FF2B5EF4-FFF2-40B4-BE49-F238E27FC236}">
                  <a16:creationId xmlns:a16="http://schemas.microsoft.com/office/drawing/2014/main" id="{62BA85EC-B8CB-EBA0-3D96-8F471C4224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7400" y="3748088"/>
              <a:ext cx="17303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C87C5201-71F4-1A06-930D-B857B59CE4D0}"/>
              </a:ext>
            </a:extLst>
          </p:cNvPr>
          <p:cNvGrpSpPr/>
          <p:nvPr/>
        </p:nvGrpSpPr>
        <p:grpSpPr>
          <a:xfrm>
            <a:off x="1698993" y="2023021"/>
            <a:ext cx="2414512" cy="953542"/>
            <a:chOff x="1085926" y="2023021"/>
            <a:chExt cx="2414512" cy="953542"/>
          </a:xfrm>
        </p:grpSpPr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A766B1E0-BB8F-E3FB-2692-A06C3D5EAA15}"/>
                </a:ext>
              </a:extLst>
            </p:cNvPr>
            <p:cNvGrpSpPr/>
            <p:nvPr/>
          </p:nvGrpSpPr>
          <p:grpSpPr>
            <a:xfrm>
              <a:off x="3327400" y="2905127"/>
              <a:ext cx="173038" cy="71436"/>
              <a:chOff x="3327400" y="2905127"/>
              <a:chExt cx="173038" cy="71436"/>
            </a:xfrm>
          </p:grpSpPr>
          <p:cxnSp>
            <p:nvCxnSpPr>
              <p:cNvPr id="1031" name="Straight Arrow Connector 1030">
                <a:extLst>
                  <a:ext uri="{FF2B5EF4-FFF2-40B4-BE49-F238E27FC236}">
                    <a16:creationId xmlns:a16="http://schemas.microsoft.com/office/drawing/2014/main" id="{0E309B10-56D8-FC2C-D1F2-6EE7E74204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27400" y="2976563"/>
                <a:ext cx="17303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2" name="Straight Arrow Connector 1031">
                <a:extLst>
                  <a:ext uri="{FF2B5EF4-FFF2-40B4-BE49-F238E27FC236}">
                    <a16:creationId xmlns:a16="http://schemas.microsoft.com/office/drawing/2014/main" id="{AD050A0C-FD2F-EDD8-4304-2F825FAF5B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27400" y="2905127"/>
                <a:ext cx="17303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5" name="Group 1034">
              <a:extLst>
                <a:ext uri="{FF2B5EF4-FFF2-40B4-BE49-F238E27FC236}">
                  <a16:creationId xmlns:a16="http://schemas.microsoft.com/office/drawing/2014/main" id="{7C5D8329-1656-47FD-CE4A-C025CF657030}"/>
                </a:ext>
              </a:extLst>
            </p:cNvPr>
            <p:cNvGrpSpPr/>
            <p:nvPr/>
          </p:nvGrpSpPr>
          <p:grpSpPr>
            <a:xfrm>
              <a:off x="1085926" y="2023021"/>
              <a:ext cx="2204453" cy="923330"/>
              <a:chOff x="5018518" y="1610708"/>
              <a:chExt cx="2204453" cy="923330"/>
            </a:xfrm>
          </p:grpSpPr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38826BAF-4E0C-04DE-6E48-4F043E5E4301}"/>
                  </a:ext>
                </a:extLst>
              </p:cNvPr>
              <p:cNvSpPr txBox="1"/>
              <p:nvPr/>
            </p:nvSpPr>
            <p:spPr>
              <a:xfrm>
                <a:off x="5018518" y="1610708"/>
                <a:ext cx="1859119" cy="92333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Extension Line Beyond</a:t>
                </a:r>
              </a:p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Dimension Line</a:t>
                </a:r>
              </a:p>
            </p:txBody>
          </p:sp>
          <p:cxnSp>
            <p:nvCxnSpPr>
              <p:cNvPr id="1039" name="Straight Arrow Connector 1038">
                <a:extLst>
                  <a:ext uri="{FF2B5EF4-FFF2-40B4-BE49-F238E27FC236}">
                    <a16:creationId xmlns:a16="http://schemas.microsoft.com/office/drawing/2014/main" id="{53B21BF1-24D7-2E4F-168F-C6A696DE9C49}"/>
                  </a:ext>
                </a:extLst>
              </p:cNvPr>
              <p:cNvCxnSpPr>
                <a:cxnSpLocks/>
                <a:stCxn id="1038" idx="3"/>
              </p:cNvCxnSpPr>
              <p:nvPr/>
            </p:nvCxnSpPr>
            <p:spPr>
              <a:xfrm>
                <a:off x="6877637" y="2072373"/>
                <a:ext cx="345334" cy="46166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96438B06-EC31-4B95-63A3-BCD7B4FADAF7}"/>
              </a:ext>
            </a:extLst>
          </p:cNvPr>
          <p:cNvGrpSpPr/>
          <p:nvPr/>
        </p:nvGrpSpPr>
        <p:grpSpPr>
          <a:xfrm>
            <a:off x="3178756" y="1548379"/>
            <a:ext cx="5448516" cy="4683376"/>
            <a:chOff x="2565689" y="1548379"/>
            <a:chExt cx="5448516" cy="468337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DDD6B9C-36BD-D267-8079-10CB2C05A988}"/>
                </a:ext>
              </a:extLst>
            </p:cNvPr>
            <p:cNvGrpSpPr/>
            <p:nvPr/>
          </p:nvGrpSpPr>
          <p:grpSpPr>
            <a:xfrm>
              <a:off x="4625606" y="1548379"/>
              <a:ext cx="1451244" cy="1090046"/>
              <a:chOff x="4403591" y="1548379"/>
              <a:chExt cx="1451244" cy="109004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543B02-BF47-C679-AE76-B703DC5D64F6}"/>
                  </a:ext>
                </a:extLst>
              </p:cNvPr>
              <p:cNvSpPr txBox="1"/>
              <p:nvPr/>
            </p:nvSpPr>
            <p:spPr>
              <a:xfrm>
                <a:off x="4403591" y="1548379"/>
                <a:ext cx="1451244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Dimension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E194843-26C1-39F4-7B79-00DDE977ED0F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>
                <a:off x="5129213" y="1917711"/>
                <a:ext cx="0" cy="72071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8" name="Rectangle 1057">
              <a:extLst>
                <a:ext uri="{FF2B5EF4-FFF2-40B4-BE49-F238E27FC236}">
                  <a16:creationId xmlns:a16="http://schemas.microsoft.com/office/drawing/2014/main" id="{88EB7385-941A-870B-5681-F585EA7BBBFB}"/>
                </a:ext>
              </a:extLst>
            </p:cNvPr>
            <p:cNvSpPr/>
            <p:nvPr/>
          </p:nvSpPr>
          <p:spPr>
            <a:xfrm>
              <a:off x="4924425" y="2638425"/>
              <a:ext cx="715225" cy="26670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8D64825D-BE6B-FECB-99D7-952AD5F95468}"/>
                </a:ext>
              </a:extLst>
            </p:cNvPr>
            <p:cNvSpPr/>
            <p:nvPr/>
          </p:nvSpPr>
          <p:spPr>
            <a:xfrm>
              <a:off x="5193014" y="3281844"/>
              <a:ext cx="883836" cy="369331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E994DED9-D01B-0C8D-66AF-BD23768BD09E}"/>
                </a:ext>
              </a:extLst>
            </p:cNvPr>
            <p:cNvSpPr/>
            <p:nvPr/>
          </p:nvSpPr>
          <p:spPr>
            <a:xfrm>
              <a:off x="7258050" y="3868334"/>
              <a:ext cx="756155" cy="275041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3533E162-8D23-3162-199D-AA0F7D39EAC8}"/>
                </a:ext>
              </a:extLst>
            </p:cNvPr>
            <p:cNvSpPr/>
            <p:nvPr/>
          </p:nvSpPr>
          <p:spPr>
            <a:xfrm>
              <a:off x="4436009" y="4717015"/>
              <a:ext cx="1799422" cy="275041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20DA63F2-D3FD-2126-FD5C-8EF2882FDC8F}"/>
                </a:ext>
              </a:extLst>
            </p:cNvPr>
            <p:cNvSpPr/>
            <p:nvPr/>
          </p:nvSpPr>
          <p:spPr>
            <a:xfrm>
              <a:off x="2565689" y="4085803"/>
              <a:ext cx="687100" cy="338138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CC4530CF-8695-3BF5-E09B-76CFE4DD27FD}"/>
                </a:ext>
              </a:extLst>
            </p:cNvPr>
            <p:cNvGrpSpPr/>
            <p:nvPr/>
          </p:nvGrpSpPr>
          <p:grpSpPr>
            <a:xfrm>
              <a:off x="3760871" y="5030336"/>
              <a:ext cx="2475599" cy="1201419"/>
              <a:chOff x="3768977" y="741146"/>
              <a:chExt cx="2475599" cy="1201419"/>
            </a:xfrm>
          </p:grpSpPr>
          <p:sp>
            <p:nvSpPr>
              <p:cNvPr id="1064" name="TextBox 1063">
                <a:extLst>
                  <a:ext uri="{FF2B5EF4-FFF2-40B4-BE49-F238E27FC236}">
                    <a16:creationId xmlns:a16="http://schemas.microsoft.com/office/drawing/2014/main" id="{A2BEBEA9-5CB0-0905-7FEB-BA2288233DC4}"/>
                  </a:ext>
                </a:extLst>
              </p:cNvPr>
              <p:cNvSpPr txBox="1"/>
              <p:nvPr/>
            </p:nvSpPr>
            <p:spPr>
              <a:xfrm>
                <a:off x="3768977" y="1573233"/>
                <a:ext cx="2475599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Dimension and Note</a:t>
                </a:r>
              </a:p>
            </p:txBody>
          </p:sp>
          <p:cxnSp>
            <p:nvCxnSpPr>
              <p:cNvPr id="1065" name="Straight Arrow Connector 1064">
                <a:extLst>
                  <a:ext uri="{FF2B5EF4-FFF2-40B4-BE49-F238E27FC236}">
                    <a16:creationId xmlns:a16="http://schemas.microsoft.com/office/drawing/2014/main" id="{A4143825-F64B-F3A1-6B2F-CE5791BFC282}"/>
                  </a:ext>
                </a:extLst>
              </p:cNvPr>
              <p:cNvCxnSpPr>
                <a:cxnSpLocks/>
                <a:stCxn id="1064" idx="0"/>
              </p:cNvCxnSpPr>
              <p:nvPr/>
            </p:nvCxnSpPr>
            <p:spPr>
              <a:xfrm flipH="1" flipV="1">
                <a:off x="5006776" y="741146"/>
                <a:ext cx="1" cy="8320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218C1603-842A-9CCA-239B-FA9DD263CDD1}"/>
              </a:ext>
            </a:extLst>
          </p:cNvPr>
          <p:cNvGrpSpPr/>
          <p:nvPr/>
        </p:nvGrpSpPr>
        <p:grpSpPr>
          <a:xfrm>
            <a:off x="7653146" y="4717015"/>
            <a:ext cx="2475140" cy="631016"/>
            <a:chOff x="3071045" y="5139705"/>
            <a:chExt cx="2475140" cy="631016"/>
          </a:xfrm>
        </p:grpSpPr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65456DCF-313E-2CEC-8C31-3DCB05CB0605}"/>
                </a:ext>
              </a:extLst>
            </p:cNvPr>
            <p:cNvSpPr txBox="1"/>
            <p:nvPr/>
          </p:nvSpPr>
          <p:spPr>
            <a:xfrm>
              <a:off x="3816081" y="5401389"/>
              <a:ext cx="1730104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Center Mark</a:t>
              </a:r>
            </a:p>
          </p:txBody>
        </p:sp>
        <p:cxnSp>
          <p:nvCxnSpPr>
            <p:cNvPr id="1072" name="Straight Arrow Connector 1071">
              <a:extLst>
                <a:ext uri="{FF2B5EF4-FFF2-40B4-BE49-F238E27FC236}">
                  <a16:creationId xmlns:a16="http://schemas.microsoft.com/office/drawing/2014/main" id="{314E3A3D-1828-6612-A489-52A3B6DA4B3F}"/>
                </a:ext>
              </a:extLst>
            </p:cNvPr>
            <p:cNvCxnSpPr>
              <a:cxnSpLocks/>
              <a:stCxn id="1071" idx="1"/>
            </p:cNvCxnSpPr>
            <p:nvPr/>
          </p:nvCxnSpPr>
          <p:spPr>
            <a:xfrm flipH="1" flipV="1">
              <a:off x="3071045" y="5139705"/>
              <a:ext cx="745036" cy="44635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0E38EE59-8B43-F398-E4C4-5BA4A28C09CA}"/>
              </a:ext>
            </a:extLst>
          </p:cNvPr>
          <p:cNvGrpSpPr/>
          <p:nvPr/>
        </p:nvGrpSpPr>
        <p:grpSpPr>
          <a:xfrm>
            <a:off x="2661435" y="4812310"/>
            <a:ext cx="2158551" cy="535721"/>
            <a:chOff x="4635478" y="1333845"/>
            <a:chExt cx="2158551" cy="535721"/>
          </a:xfrm>
        </p:grpSpPr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7AD4A57F-8D31-F805-A983-D52872C06F59}"/>
                </a:ext>
              </a:extLst>
            </p:cNvPr>
            <p:cNvSpPr txBox="1"/>
            <p:nvPr/>
          </p:nvSpPr>
          <p:spPr>
            <a:xfrm>
              <a:off x="4635478" y="1500234"/>
              <a:ext cx="149325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Leader Line</a:t>
              </a:r>
            </a:p>
          </p:txBody>
        </p:sp>
        <p:cxnSp>
          <p:nvCxnSpPr>
            <p:cNvPr id="1079" name="Straight Arrow Connector 1078">
              <a:extLst>
                <a:ext uri="{FF2B5EF4-FFF2-40B4-BE49-F238E27FC236}">
                  <a16:creationId xmlns:a16="http://schemas.microsoft.com/office/drawing/2014/main" id="{5234B0AF-594C-39C0-EA70-4CB9B9BA4DF7}"/>
                </a:ext>
              </a:extLst>
            </p:cNvPr>
            <p:cNvCxnSpPr>
              <a:cxnSpLocks/>
              <a:stCxn id="1078" idx="3"/>
            </p:cNvCxnSpPr>
            <p:nvPr/>
          </p:nvCxnSpPr>
          <p:spPr>
            <a:xfrm flipV="1">
              <a:off x="6128737" y="1333845"/>
              <a:ext cx="665292" cy="351055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hlinkClick r:id="rId4"/>
            <a:extLst>
              <a:ext uri="{FF2B5EF4-FFF2-40B4-BE49-F238E27FC236}">
                <a16:creationId xmlns:a16="http://schemas.microsoft.com/office/drawing/2014/main" id="{DDD5057F-2880-1184-34AE-B0A764B0DA51}"/>
              </a:ext>
            </a:extLst>
          </p:cNvPr>
          <p:cNvSpPr txBox="1"/>
          <p:nvPr/>
        </p:nvSpPr>
        <p:spPr>
          <a:xfrm rot="16200000">
            <a:off x="7724965" y="3722561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(PD) U.S. Gov – NAVEDTRA14040A, 2015 </a:t>
            </a:r>
          </a:p>
        </p:txBody>
      </p:sp>
    </p:spTree>
    <p:extLst>
      <p:ext uri="{BB962C8B-B14F-4D97-AF65-F5344CB8AC3E}">
        <p14:creationId xmlns:p14="http://schemas.microsoft.com/office/powerpoint/2010/main" val="151242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275F7-CD88-9FB1-87CB-477D4980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Rectangle 1172">
            <a:extLst>
              <a:ext uri="{FF2B5EF4-FFF2-40B4-BE49-F238E27FC236}">
                <a16:creationId xmlns:a16="http://schemas.microsoft.com/office/drawing/2014/main" id="{0EF3484E-766D-A72D-72C6-975EEBD8DFB9}"/>
              </a:ext>
            </a:extLst>
          </p:cNvPr>
          <p:cNvSpPr/>
          <p:nvPr/>
        </p:nvSpPr>
        <p:spPr>
          <a:xfrm>
            <a:off x="1596989" y="1736149"/>
            <a:ext cx="1606620" cy="1120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Rectangle 1167">
            <a:extLst>
              <a:ext uri="{FF2B5EF4-FFF2-40B4-BE49-F238E27FC236}">
                <a16:creationId xmlns:a16="http://schemas.microsoft.com/office/drawing/2014/main" id="{C99CC09C-E14A-F5BF-1D89-F7740EBBCF6A}"/>
              </a:ext>
            </a:extLst>
          </p:cNvPr>
          <p:cNvSpPr/>
          <p:nvPr/>
        </p:nvSpPr>
        <p:spPr>
          <a:xfrm>
            <a:off x="3210791" y="1736150"/>
            <a:ext cx="7211291" cy="42697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8E929C0-4FB1-4254-B05B-2F48E12C74B2}"/>
              </a:ext>
            </a:extLst>
          </p:cNvPr>
          <p:cNvSpPr/>
          <p:nvPr/>
        </p:nvSpPr>
        <p:spPr>
          <a:xfrm>
            <a:off x="6096000" y="3429000"/>
            <a:ext cx="3902500" cy="19905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18DE1-FE7C-3F64-8431-C7F73C42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Dimension Types: “Size”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(1 of 3)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6C10513-60D7-F8BA-4EBC-FEF01EE606E4}"/>
              </a:ext>
            </a:extLst>
          </p:cNvPr>
          <p:cNvCxnSpPr>
            <a:cxnSpLocks/>
          </p:cNvCxnSpPr>
          <p:nvPr/>
        </p:nvCxnSpPr>
        <p:spPr>
          <a:xfrm>
            <a:off x="6499829" y="3631726"/>
            <a:ext cx="0" cy="17161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 w="sm" len="lg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2CCBA11-7D10-E53B-3091-AB8DC1514A95}"/>
              </a:ext>
            </a:extLst>
          </p:cNvPr>
          <p:cNvCxnSpPr>
            <a:cxnSpLocks/>
          </p:cNvCxnSpPr>
          <p:nvPr/>
        </p:nvCxnSpPr>
        <p:spPr>
          <a:xfrm>
            <a:off x="6499218" y="3971029"/>
            <a:ext cx="0" cy="17161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 w="sm" len="lg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DF563065-BDC6-BB5D-8484-FC08BD1A4980}"/>
              </a:ext>
            </a:extLst>
          </p:cNvPr>
          <p:cNvGrpSpPr/>
          <p:nvPr/>
        </p:nvGrpSpPr>
        <p:grpSpPr>
          <a:xfrm>
            <a:off x="6451898" y="3838287"/>
            <a:ext cx="94640" cy="97796"/>
            <a:chOff x="4781245" y="3429000"/>
            <a:chExt cx="94640" cy="97796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4E03278-B697-699A-B1A7-F16D4BD7846E}"/>
                </a:ext>
              </a:extLst>
            </p:cNvPr>
            <p:cNvCxnSpPr>
              <a:cxnSpLocks/>
            </p:cNvCxnSpPr>
            <p:nvPr/>
          </p:nvCxnSpPr>
          <p:spPr>
            <a:xfrm>
              <a:off x="4828565" y="3429000"/>
              <a:ext cx="0" cy="9779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ADD14DE-E75C-4D20-0931-47E9C82A24C0}"/>
                </a:ext>
              </a:extLst>
            </p:cNvPr>
            <p:cNvCxnSpPr>
              <a:cxnSpLocks/>
            </p:cNvCxnSpPr>
            <p:nvPr/>
          </p:nvCxnSpPr>
          <p:spPr>
            <a:xfrm>
              <a:off x="4781245" y="3478063"/>
              <a:ext cx="94640" cy="0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01BAE6A6-183E-9E53-01B5-9E8220419CDB}"/>
              </a:ext>
            </a:extLst>
          </p:cNvPr>
          <p:cNvCxnSpPr>
            <a:cxnSpLocks/>
          </p:cNvCxnSpPr>
          <p:nvPr/>
        </p:nvCxnSpPr>
        <p:spPr>
          <a:xfrm flipH="1">
            <a:off x="6578593" y="3885911"/>
            <a:ext cx="14409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 w="sm" len="lg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35B5BED-F069-AAF8-3A93-3A82941106BA}"/>
              </a:ext>
            </a:extLst>
          </p:cNvPr>
          <p:cNvSpPr/>
          <p:nvPr/>
        </p:nvSpPr>
        <p:spPr>
          <a:xfrm>
            <a:off x="6376614" y="3762696"/>
            <a:ext cx="246429" cy="246429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9" name="Group 1168">
            <a:extLst>
              <a:ext uri="{FF2B5EF4-FFF2-40B4-BE49-F238E27FC236}">
                <a16:creationId xmlns:a16="http://schemas.microsoft.com/office/drawing/2014/main" id="{FD19EB88-C28C-8277-74D8-5EE5A79838ED}"/>
              </a:ext>
            </a:extLst>
          </p:cNvPr>
          <p:cNvGrpSpPr/>
          <p:nvPr/>
        </p:nvGrpSpPr>
        <p:grpSpPr>
          <a:xfrm>
            <a:off x="3942024" y="2097707"/>
            <a:ext cx="6058155" cy="1522114"/>
            <a:chOff x="3942024" y="2097707"/>
            <a:chExt cx="6058155" cy="1522114"/>
          </a:xfrm>
        </p:grpSpPr>
        <p:grpSp>
          <p:nvGrpSpPr>
            <p:cNvPr id="1060" name="Group 1059">
              <a:extLst>
                <a:ext uri="{FF2B5EF4-FFF2-40B4-BE49-F238E27FC236}">
                  <a16:creationId xmlns:a16="http://schemas.microsoft.com/office/drawing/2014/main" id="{E0B913D5-AD76-F9EE-C084-F0C70F59FC4C}"/>
                </a:ext>
              </a:extLst>
            </p:cNvPr>
            <p:cNvGrpSpPr/>
            <p:nvPr/>
          </p:nvGrpSpPr>
          <p:grpSpPr>
            <a:xfrm>
              <a:off x="6096000" y="3059668"/>
              <a:ext cx="3904179" cy="560153"/>
              <a:chOff x="4119936" y="2630722"/>
              <a:chExt cx="3904179" cy="560153"/>
            </a:xfrm>
          </p:grpSpPr>
          <p:cxnSp>
            <p:nvCxnSpPr>
              <p:cNvPr id="1116" name="Straight Connector 1115">
                <a:extLst>
                  <a:ext uri="{FF2B5EF4-FFF2-40B4-BE49-F238E27FC236}">
                    <a16:creationId xmlns:a16="http://schemas.microsoft.com/office/drawing/2014/main" id="{2F3FC839-9350-A3BF-A476-AEE3122B1F40}"/>
                  </a:ext>
                </a:extLst>
              </p:cNvPr>
              <p:cNvCxnSpPr>
                <a:cxnSpLocks/>
                <a:endCxn id="1118" idx="1"/>
              </p:cNvCxnSpPr>
              <p:nvPr/>
            </p:nvCxnSpPr>
            <p:spPr>
              <a:xfrm>
                <a:off x="4119936" y="2815388"/>
                <a:ext cx="163107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8" name="TextBox 1117">
                <a:extLst>
                  <a:ext uri="{FF2B5EF4-FFF2-40B4-BE49-F238E27FC236}">
                    <a16:creationId xmlns:a16="http://schemas.microsoft.com/office/drawing/2014/main" id="{F88B81D3-D88C-C125-4CC9-45B2BDFAF71F}"/>
                  </a:ext>
                </a:extLst>
              </p:cNvPr>
              <p:cNvSpPr txBox="1"/>
              <p:nvPr/>
            </p:nvSpPr>
            <p:spPr>
              <a:xfrm>
                <a:off x="5751013" y="2630722"/>
                <a:ext cx="641758" cy="369332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dirty="0"/>
                  <a:t>6.75”</a:t>
                </a:r>
              </a:p>
            </p:txBody>
          </p:sp>
          <p:cxnSp>
            <p:nvCxnSpPr>
              <p:cNvPr id="1121" name="Straight Connector 1120">
                <a:extLst>
                  <a:ext uri="{FF2B5EF4-FFF2-40B4-BE49-F238E27FC236}">
                    <a16:creationId xmlns:a16="http://schemas.microsoft.com/office/drawing/2014/main" id="{57D3A6A1-309F-40A0-A4A8-658D0BE86B57}"/>
                  </a:ext>
                </a:extLst>
              </p:cNvPr>
              <p:cNvCxnSpPr>
                <a:cxnSpLocks/>
                <a:endCxn id="1118" idx="3"/>
              </p:cNvCxnSpPr>
              <p:nvPr/>
            </p:nvCxnSpPr>
            <p:spPr>
              <a:xfrm flipH="1" flipV="1">
                <a:off x="6392771" y="2815388"/>
                <a:ext cx="1631342" cy="322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4" name="Straight Connector 1123">
                <a:extLst>
                  <a:ext uri="{FF2B5EF4-FFF2-40B4-BE49-F238E27FC236}">
                    <a16:creationId xmlns:a16="http://schemas.microsoft.com/office/drawing/2014/main" id="{1452B668-D513-803D-0FA2-86AF4CCED7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5072" y="2648059"/>
                <a:ext cx="0" cy="54281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5" name="Straight Connector 1124">
                <a:extLst>
                  <a:ext uri="{FF2B5EF4-FFF2-40B4-BE49-F238E27FC236}">
                    <a16:creationId xmlns:a16="http://schemas.microsoft.com/office/drawing/2014/main" id="{9977B45D-C2BB-2B2D-CBCF-4FB400CDAA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22436" y="2648059"/>
                <a:ext cx="1679" cy="54281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53AD66-DF06-987D-0019-AF0712BDFE79}"/>
                </a:ext>
              </a:extLst>
            </p:cNvPr>
            <p:cNvSpPr txBox="1"/>
            <p:nvPr/>
          </p:nvSpPr>
          <p:spPr>
            <a:xfrm>
              <a:off x="3942024" y="2097707"/>
              <a:ext cx="130016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Linear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7590B1E-422A-FFD0-4F51-6701DE926165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5242193" y="2282373"/>
              <a:ext cx="1336400" cy="961961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2" name="Group 1171">
            <a:extLst>
              <a:ext uri="{FF2B5EF4-FFF2-40B4-BE49-F238E27FC236}">
                <a16:creationId xmlns:a16="http://schemas.microsoft.com/office/drawing/2014/main" id="{063B71FA-ECD3-28CC-6C05-99D2F0CCA8B8}"/>
              </a:ext>
            </a:extLst>
          </p:cNvPr>
          <p:cNvGrpSpPr/>
          <p:nvPr/>
        </p:nvGrpSpPr>
        <p:grpSpPr>
          <a:xfrm>
            <a:off x="3942024" y="3384782"/>
            <a:ext cx="2434590" cy="822837"/>
            <a:chOff x="3942024" y="3384782"/>
            <a:chExt cx="2434590" cy="822837"/>
          </a:xfrm>
        </p:grpSpPr>
        <p:cxnSp>
          <p:nvCxnSpPr>
            <p:cNvPr id="1047" name="Straight Arrow Connector 1046">
              <a:extLst>
                <a:ext uri="{FF2B5EF4-FFF2-40B4-BE49-F238E27FC236}">
                  <a16:creationId xmlns:a16="http://schemas.microsoft.com/office/drawing/2014/main" id="{BEB71EE0-714E-A430-922A-6E8B6C8E2432}"/>
                </a:ext>
              </a:extLst>
            </p:cNvPr>
            <p:cNvCxnSpPr>
              <a:cxnSpLocks/>
              <a:stCxn id="1068" idx="3"/>
              <a:endCxn id="40" idx="2"/>
            </p:cNvCxnSpPr>
            <p:nvPr/>
          </p:nvCxnSpPr>
          <p:spPr>
            <a:xfrm flipV="1">
              <a:off x="5242193" y="3754114"/>
              <a:ext cx="239628" cy="26883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0" name="Group 1169">
              <a:extLst>
                <a:ext uri="{FF2B5EF4-FFF2-40B4-BE49-F238E27FC236}">
                  <a16:creationId xmlns:a16="http://schemas.microsoft.com/office/drawing/2014/main" id="{FE114EC2-2246-9284-61C9-BEC043CAE7B7}"/>
                </a:ext>
              </a:extLst>
            </p:cNvPr>
            <p:cNvGrpSpPr/>
            <p:nvPr/>
          </p:nvGrpSpPr>
          <p:grpSpPr>
            <a:xfrm>
              <a:off x="3942024" y="3384782"/>
              <a:ext cx="2434590" cy="822837"/>
              <a:chOff x="3942024" y="3384782"/>
              <a:chExt cx="2434590" cy="822837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EED4B55-F5CF-D9F1-1562-08E9ABC1CA59}"/>
                  </a:ext>
                </a:extLst>
              </p:cNvPr>
              <p:cNvSpPr txBox="1"/>
              <p:nvPr/>
            </p:nvSpPr>
            <p:spPr>
              <a:xfrm>
                <a:off x="5069786" y="3384782"/>
                <a:ext cx="8240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Ø .50”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F59733A-EF84-CDC3-F34C-156E3929D87C}"/>
                  </a:ext>
                </a:extLst>
              </p:cNvPr>
              <p:cNvCxnSpPr>
                <a:cxnSpLocks/>
                <a:stCxn id="24" idx="2"/>
              </p:cNvCxnSpPr>
              <p:nvPr/>
            </p:nvCxnSpPr>
            <p:spPr>
              <a:xfrm flipH="1">
                <a:off x="5909889" y="3885911"/>
                <a:ext cx="466725" cy="8651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triangle" w="sm" len="lg"/>
                <a:tailEnd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6F80187-CE7B-404C-32CF-4C2B40A60A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8959" y="3690843"/>
                <a:ext cx="275693" cy="204593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sm" len="lg"/>
                <a:tailEnd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9D42565A-547D-D7BB-C029-9F5208B4F1AB}"/>
                  </a:ext>
                </a:extLst>
              </p:cNvPr>
              <p:cNvSpPr txBox="1"/>
              <p:nvPr/>
            </p:nvSpPr>
            <p:spPr>
              <a:xfrm>
                <a:off x="3942024" y="3838287"/>
                <a:ext cx="1300169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Diameter</a:t>
                </a:r>
              </a:p>
            </p:txBody>
          </p:sp>
        </p:grpSp>
      </p:grp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B04C256A-9DE1-BBE5-E75D-FC64E854ED0A}"/>
              </a:ext>
            </a:extLst>
          </p:cNvPr>
          <p:cNvGrpSpPr/>
          <p:nvPr/>
        </p:nvGrpSpPr>
        <p:grpSpPr>
          <a:xfrm rot="2842994">
            <a:off x="6277461" y="5040882"/>
            <a:ext cx="94640" cy="310176"/>
            <a:chOff x="4390720" y="4647590"/>
            <a:chExt cx="94640" cy="310176"/>
          </a:xfrm>
        </p:grpSpPr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45F0CC34-10B8-D7FA-AD37-667F653D4C76}"/>
                </a:ext>
              </a:extLst>
            </p:cNvPr>
            <p:cNvCxnSpPr>
              <a:cxnSpLocks/>
            </p:cNvCxnSpPr>
            <p:nvPr/>
          </p:nvCxnSpPr>
          <p:spPr>
            <a:xfrm>
              <a:off x="4438040" y="4773964"/>
              <a:ext cx="0" cy="183802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0" name="Group 1079">
              <a:extLst>
                <a:ext uri="{FF2B5EF4-FFF2-40B4-BE49-F238E27FC236}">
                  <a16:creationId xmlns:a16="http://schemas.microsoft.com/office/drawing/2014/main" id="{473A12EF-7838-9299-78ED-B30472C274C3}"/>
                </a:ext>
              </a:extLst>
            </p:cNvPr>
            <p:cNvGrpSpPr/>
            <p:nvPr/>
          </p:nvGrpSpPr>
          <p:grpSpPr>
            <a:xfrm>
              <a:off x="4390720" y="4647590"/>
              <a:ext cx="94640" cy="97796"/>
              <a:chOff x="4781245" y="3429000"/>
              <a:chExt cx="94640" cy="97796"/>
            </a:xfrm>
          </p:grpSpPr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950A8B27-8EF2-1277-12DC-84136C1FC6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65" y="3429000"/>
                <a:ext cx="0" cy="97796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headEnd type="none" w="sm" len="lg"/>
                <a:tailEnd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2" name="Straight Connector 1081">
                <a:extLst>
                  <a:ext uri="{FF2B5EF4-FFF2-40B4-BE49-F238E27FC236}">
                    <a16:creationId xmlns:a16="http://schemas.microsoft.com/office/drawing/2014/main" id="{DBF4B1AC-4AE3-0113-1FC0-F24119CEF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1245" y="3478063"/>
                <a:ext cx="94640" cy="0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headEnd type="none" w="sm" len="lg"/>
                <a:tailEnd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EA2B034E-3924-8103-DA4E-AA1400C56995}"/>
              </a:ext>
            </a:extLst>
          </p:cNvPr>
          <p:cNvGrpSpPr/>
          <p:nvPr/>
        </p:nvGrpSpPr>
        <p:grpSpPr>
          <a:xfrm>
            <a:off x="3930347" y="4654128"/>
            <a:ext cx="2383466" cy="839508"/>
            <a:chOff x="3930347" y="4654128"/>
            <a:chExt cx="2383466" cy="839508"/>
          </a:xfrm>
        </p:grpSpPr>
        <p:cxnSp>
          <p:nvCxnSpPr>
            <p:cNvPr id="1127" name="Straight Arrow Connector 1126">
              <a:extLst>
                <a:ext uri="{FF2B5EF4-FFF2-40B4-BE49-F238E27FC236}">
                  <a16:creationId xmlns:a16="http://schemas.microsoft.com/office/drawing/2014/main" id="{B897A64F-A61F-0B9B-F30A-95A0DA3D246E}"/>
                </a:ext>
              </a:extLst>
            </p:cNvPr>
            <p:cNvCxnSpPr>
              <a:cxnSpLocks/>
              <a:stCxn id="1131" idx="3"/>
              <a:endCxn id="1146" idx="2"/>
            </p:cNvCxnSpPr>
            <p:nvPr/>
          </p:nvCxnSpPr>
          <p:spPr>
            <a:xfrm flipV="1">
              <a:off x="5230516" y="5023460"/>
              <a:ext cx="245169" cy="28551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1" name="TextBox 1130">
              <a:extLst>
                <a:ext uri="{FF2B5EF4-FFF2-40B4-BE49-F238E27FC236}">
                  <a16:creationId xmlns:a16="http://schemas.microsoft.com/office/drawing/2014/main" id="{052BA4CA-6DE7-AF96-DB83-782C7279A33A}"/>
                </a:ext>
              </a:extLst>
            </p:cNvPr>
            <p:cNvSpPr txBox="1"/>
            <p:nvPr/>
          </p:nvSpPr>
          <p:spPr>
            <a:xfrm>
              <a:off x="3930347" y="5124304"/>
              <a:ext cx="130016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Radius</a:t>
              </a: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BD8D498A-806B-FE32-E220-D3CBF85E2D21}"/>
                </a:ext>
              </a:extLst>
            </p:cNvPr>
            <p:cNvSpPr txBox="1"/>
            <p:nvPr/>
          </p:nvSpPr>
          <p:spPr>
            <a:xfrm>
              <a:off x="5063650" y="4654128"/>
              <a:ext cx="824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 .45”</a:t>
              </a:r>
            </a:p>
          </p:txBody>
        </p:sp>
        <p:cxnSp>
          <p:nvCxnSpPr>
            <p:cNvPr id="1147" name="Straight Connector 1146">
              <a:extLst>
                <a:ext uri="{FF2B5EF4-FFF2-40B4-BE49-F238E27FC236}">
                  <a16:creationId xmlns:a16="http://schemas.microsoft.com/office/drawing/2014/main" id="{558DB0F9-CCCD-8DB1-0262-BFA58B726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9475" y="4868157"/>
              <a:ext cx="304338" cy="33100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Straight Connector 1147">
              <a:extLst>
                <a:ext uri="{FF2B5EF4-FFF2-40B4-BE49-F238E27FC236}">
                  <a16:creationId xmlns:a16="http://schemas.microsoft.com/office/drawing/2014/main" id="{610F6A10-896A-62ED-93FA-DDCEA21C31ED}"/>
                </a:ext>
              </a:extLst>
            </p:cNvPr>
            <p:cNvCxnSpPr>
              <a:cxnSpLocks/>
            </p:cNvCxnSpPr>
            <p:nvPr/>
          </p:nvCxnSpPr>
          <p:spPr>
            <a:xfrm>
              <a:off x="5772517" y="4868157"/>
              <a:ext cx="239932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5" name="TextBox 1164">
            <a:extLst>
              <a:ext uri="{FF2B5EF4-FFF2-40B4-BE49-F238E27FC236}">
                <a16:creationId xmlns:a16="http://schemas.microsoft.com/office/drawing/2014/main" id="{CA52C522-D3BE-6567-3EF5-5E5250E60CBF}"/>
              </a:ext>
            </a:extLst>
          </p:cNvPr>
          <p:cNvSpPr txBox="1"/>
          <p:nvPr/>
        </p:nvSpPr>
        <p:spPr>
          <a:xfrm>
            <a:off x="1606513" y="1745564"/>
            <a:ext cx="167990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1. Size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C99DD04C-47BA-2F23-D352-DAE7626FAC45}"/>
              </a:ext>
            </a:extLst>
          </p:cNvPr>
          <p:cNvSpPr txBox="1"/>
          <p:nvPr/>
        </p:nvSpPr>
        <p:spPr>
          <a:xfrm>
            <a:off x="1596121" y="2114896"/>
            <a:ext cx="1607487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2. Position</a:t>
            </a: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49ECE2FC-B6A8-DD19-B067-1D73D41868F3}"/>
              </a:ext>
            </a:extLst>
          </p:cNvPr>
          <p:cNvSpPr txBox="1"/>
          <p:nvPr/>
        </p:nvSpPr>
        <p:spPr>
          <a:xfrm>
            <a:off x="1596121" y="2487447"/>
            <a:ext cx="1607487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dirty="0"/>
              <a:t>3. Angle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2194-58D9-C34A-9F80-209D0330BCC2}"/>
              </a:ext>
            </a:extLst>
          </p:cNvPr>
          <p:cNvSpPr txBox="1"/>
          <p:nvPr/>
        </p:nvSpPr>
        <p:spPr>
          <a:xfrm>
            <a:off x="8508229" y="5419509"/>
            <a:ext cx="13001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</p:spTree>
    <p:extLst>
      <p:ext uri="{BB962C8B-B14F-4D97-AF65-F5344CB8AC3E}">
        <p14:creationId xmlns:p14="http://schemas.microsoft.com/office/powerpoint/2010/main" val="121660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FD5F7-3D9E-0FE5-C33E-D56116C5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CEFB33E-74E5-0D8F-851C-E2C549B7BD13}"/>
              </a:ext>
            </a:extLst>
          </p:cNvPr>
          <p:cNvSpPr/>
          <p:nvPr/>
        </p:nvSpPr>
        <p:spPr>
          <a:xfrm>
            <a:off x="1586595" y="1736149"/>
            <a:ext cx="1626603" cy="1120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8A31F63E-280F-F3AC-BC88-58219D355381}"/>
              </a:ext>
            </a:extLst>
          </p:cNvPr>
          <p:cNvSpPr/>
          <p:nvPr/>
        </p:nvSpPr>
        <p:spPr>
          <a:xfrm>
            <a:off x="3209544" y="1736149"/>
            <a:ext cx="7214616" cy="42702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10A240FE-2611-6AB4-6689-62B688C4F2B9}"/>
              </a:ext>
            </a:extLst>
          </p:cNvPr>
          <p:cNvSpPr txBox="1"/>
          <p:nvPr/>
        </p:nvSpPr>
        <p:spPr>
          <a:xfrm>
            <a:off x="1585730" y="1745564"/>
            <a:ext cx="1607486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dirty="0"/>
              <a:t>1. Size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A3E8CB04-BE1B-D78B-8FFA-09766588EDCA}"/>
              </a:ext>
            </a:extLst>
          </p:cNvPr>
          <p:cNvSpPr txBox="1"/>
          <p:nvPr/>
        </p:nvSpPr>
        <p:spPr>
          <a:xfrm>
            <a:off x="1603739" y="2114896"/>
            <a:ext cx="162660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dirty="0"/>
              <a:t>2. Position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F4837F0-B7D9-B5B9-F7C1-3C3B3495B3EA}"/>
              </a:ext>
            </a:extLst>
          </p:cNvPr>
          <p:cNvSpPr txBox="1"/>
          <p:nvPr/>
        </p:nvSpPr>
        <p:spPr>
          <a:xfrm>
            <a:off x="1585728" y="2487447"/>
            <a:ext cx="1607487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dirty="0"/>
              <a:t>3. Angle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69E4D8-8A52-02D0-CF2C-D0E292EE9878}"/>
              </a:ext>
            </a:extLst>
          </p:cNvPr>
          <p:cNvSpPr/>
          <p:nvPr/>
        </p:nvSpPr>
        <p:spPr>
          <a:xfrm>
            <a:off x="6096000" y="3429000"/>
            <a:ext cx="3902500" cy="19905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BBCF0-E564-7A3B-91C6-71BBCE41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Dimension Types: “Position”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(2 of 3)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D711523B-D6A3-B504-9A59-384956AA4DFD}"/>
              </a:ext>
            </a:extLst>
          </p:cNvPr>
          <p:cNvSpPr txBox="1"/>
          <p:nvPr/>
        </p:nvSpPr>
        <p:spPr>
          <a:xfrm>
            <a:off x="6089743" y="2961599"/>
            <a:ext cx="641758" cy="369332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r>
              <a:rPr lang="en-US" dirty="0"/>
              <a:t>.75”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4C8EA3-0966-68E0-3EE3-35B06D8C5E62}"/>
              </a:ext>
            </a:extLst>
          </p:cNvPr>
          <p:cNvGrpSpPr/>
          <p:nvPr/>
        </p:nvGrpSpPr>
        <p:grpSpPr>
          <a:xfrm>
            <a:off x="6101136" y="3188269"/>
            <a:ext cx="403218" cy="615073"/>
            <a:chOff x="6101136" y="3188269"/>
            <a:chExt cx="403218" cy="615073"/>
          </a:xfrm>
        </p:grpSpPr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E91B1E05-B298-5A81-DF80-E01EE4EE6C74}"/>
                </a:ext>
              </a:extLst>
            </p:cNvPr>
            <p:cNvCxnSpPr>
              <a:cxnSpLocks/>
            </p:cNvCxnSpPr>
            <p:nvPr/>
          </p:nvCxnSpPr>
          <p:spPr>
            <a:xfrm>
              <a:off x="6101136" y="3281336"/>
              <a:ext cx="403218" cy="0"/>
            </a:xfrm>
            <a:prstGeom prst="line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CD7D2FC5-FC30-7AE7-81CC-64F68E8BF0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1136" y="3188269"/>
              <a:ext cx="4120" cy="431552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B6FBEEC-EB63-FE7B-1947-11E9F7D1F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9829" y="3209388"/>
              <a:ext cx="4525" cy="593954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E45A9D3-49B8-049C-365E-C51315ED83CC}"/>
              </a:ext>
            </a:extLst>
          </p:cNvPr>
          <p:cNvCxnSpPr>
            <a:cxnSpLocks/>
          </p:cNvCxnSpPr>
          <p:nvPr/>
        </p:nvCxnSpPr>
        <p:spPr>
          <a:xfrm>
            <a:off x="6499218" y="3971029"/>
            <a:ext cx="0" cy="17161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 w="sm" len="lg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F941EB53-B341-3222-688D-5991378F6B75}"/>
              </a:ext>
            </a:extLst>
          </p:cNvPr>
          <p:cNvGrpSpPr/>
          <p:nvPr/>
        </p:nvGrpSpPr>
        <p:grpSpPr>
          <a:xfrm>
            <a:off x="6451898" y="3838287"/>
            <a:ext cx="94640" cy="97796"/>
            <a:chOff x="4781245" y="3429000"/>
            <a:chExt cx="94640" cy="97796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C4F50F9-B7B9-0D82-FB6D-E18A251EDBEB}"/>
                </a:ext>
              </a:extLst>
            </p:cNvPr>
            <p:cNvCxnSpPr>
              <a:cxnSpLocks/>
            </p:cNvCxnSpPr>
            <p:nvPr/>
          </p:nvCxnSpPr>
          <p:spPr>
            <a:xfrm>
              <a:off x="4828565" y="3429000"/>
              <a:ext cx="0" cy="9779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D5534D6-6A28-13C3-DA20-35B74AFEADE3}"/>
                </a:ext>
              </a:extLst>
            </p:cNvPr>
            <p:cNvCxnSpPr>
              <a:cxnSpLocks/>
            </p:cNvCxnSpPr>
            <p:nvPr/>
          </p:nvCxnSpPr>
          <p:spPr>
            <a:xfrm>
              <a:off x="4781245" y="3478063"/>
              <a:ext cx="94640" cy="0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781AE736-D7B7-37E6-BA70-E4B3B044D64D}"/>
              </a:ext>
            </a:extLst>
          </p:cNvPr>
          <p:cNvCxnSpPr>
            <a:cxnSpLocks/>
          </p:cNvCxnSpPr>
          <p:nvPr/>
        </p:nvCxnSpPr>
        <p:spPr>
          <a:xfrm flipH="1">
            <a:off x="6578593" y="3885911"/>
            <a:ext cx="14409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 w="sm" len="lg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D4AD664-D76F-A49F-EC41-7199A12CDC7C}"/>
              </a:ext>
            </a:extLst>
          </p:cNvPr>
          <p:cNvSpPr/>
          <p:nvPr/>
        </p:nvSpPr>
        <p:spPr>
          <a:xfrm>
            <a:off x="6376614" y="3762696"/>
            <a:ext cx="246429" cy="246429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4A6502CE-800C-3EF8-A0BC-869457C1A6ED}"/>
              </a:ext>
            </a:extLst>
          </p:cNvPr>
          <p:cNvGrpSpPr/>
          <p:nvPr/>
        </p:nvGrpSpPr>
        <p:grpSpPr>
          <a:xfrm rot="2842994">
            <a:off x="6277461" y="5040882"/>
            <a:ext cx="94640" cy="310176"/>
            <a:chOff x="4390720" y="4647590"/>
            <a:chExt cx="94640" cy="310176"/>
          </a:xfrm>
        </p:grpSpPr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74C63785-BD9F-C698-CF72-2EB2574AA487}"/>
                </a:ext>
              </a:extLst>
            </p:cNvPr>
            <p:cNvCxnSpPr>
              <a:cxnSpLocks/>
            </p:cNvCxnSpPr>
            <p:nvPr/>
          </p:nvCxnSpPr>
          <p:spPr>
            <a:xfrm>
              <a:off x="4438040" y="4773964"/>
              <a:ext cx="0" cy="183802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0" name="Group 1079">
              <a:extLst>
                <a:ext uri="{FF2B5EF4-FFF2-40B4-BE49-F238E27FC236}">
                  <a16:creationId xmlns:a16="http://schemas.microsoft.com/office/drawing/2014/main" id="{791A1A87-66B2-0585-655E-68418FBBD484}"/>
                </a:ext>
              </a:extLst>
            </p:cNvPr>
            <p:cNvGrpSpPr/>
            <p:nvPr/>
          </p:nvGrpSpPr>
          <p:grpSpPr>
            <a:xfrm>
              <a:off x="4390720" y="4647590"/>
              <a:ext cx="94640" cy="97796"/>
              <a:chOff x="4781245" y="3429000"/>
              <a:chExt cx="94640" cy="97796"/>
            </a:xfrm>
          </p:grpSpPr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0B527A6B-D20E-964F-7B3D-5E0335133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565" y="3429000"/>
                <a:ext cx="0" cy="97796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headEnd type="none" w="sm" len="lg"/>
                <a:tailEnd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2" name="Straight Connector 1081">
                <a:extLst>
                  <a:ext uri="{FF2B5EF4-FFF2-40B4-BE49-F238E27FC236}">
                    <a16:creationId xmlns:a16="http://schemas.microsoft.com/office/drawing/2014/main" id="{2192F639-48B8-0F43-FE51-0CE99F029F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1245" y="3478063"/>
                <a:ext cx="94640" cy="0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headEnd type="none" w="sm" len="lg"/>
                <a:tailEnd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4AD3D66-9CC9-498E-A5E9-0EB295A3D3F2}"/>
              </a:ext>
            </a:extLst>
          </p:cNvPr>
          <p:cNvGrpSpPr/>
          <p:nvPr/>
        </p:nvGrpSpPr>
        <p:grpSpPr>
          <a:xfrm>
            <a:off x="5790933" y="3431092"/>
            <a:ext cx="643911" cy="453926"/>
            <a:chOff x="5775667" y="3431092"/>
            <a:chExt cx="659177" cy="45392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6C2B29B-BD12-7A55-1523-826EE58DD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5668" y="3885018"/>
              <a:ext cx="659177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A5C7A36-F4AF-E95D-E418-13D81BABF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1775" y="3431092"/>
              <a:ext cx="515834" cy="892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12F3A8C-365E-BC6B-C15C-0E6FB821721B}"/>
              </a:ext>
            </a:extLst>
          </p:cNvPr>
          <p:cNvGrpSpPr/>
          <p:nvPr/>
        </p:nvGrpSpPr>
        <p:grpSpPr>
          <a:xfrm>
            <a:off x="3345180" y="2097707"/>
            <a:ext cx="2955608" cy="1504508"/>
            <a:chOff x="3345180" y="2097707"/>
            <a:chExt cx="2955608" cy="150450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F47AB0-49C8-A2BF-1CF3-B1F3F91598C5}"/>
                </a:ext>
              </a:extLst>
            </p:cNvPr>
            <p:cNvSpPr txBox="1"/>
            <p:nvPr/>
          </p:nvSpPr>
          <p:spPr>
            <a:xfrm>
              <a:off x="3345180" y="2097707"/>
              <a:ext cx="189701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Hole Placement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425A680-D45C-9EB0-0D4B-C1F96DFB1736}"/>
                </a:ext>
              </a:extLst>
            </p:cNvPr>
            <p:cNvCxnSpPr>
              <a:cxnSpLocks/>
            </p:cNvCxnSpPr>
            <p:nvPr/>
          </p:nvCxnSpPr>
          <p:spPr>
            <a:xfrm>
              <a:off x="4797425" y="2693709"/>
              <a:ext cx="1503363" cy="30672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FBB8EF3-3825-3B29-69FE-113BC66D0743}"/>
                </a:ext>
              </a:extLst>
            </p:cNvPr>
            <p:cNvCxnSpPr>
              <a:cxnSpLocks/>
              <a:endCxn id="47" idx="0"/>
            </p:cNvCxnSpPr>
            <p:nvPr/>
          </p:nvCxnSpPr>
          <p:spPr>
            <a:xfrm>
              <a:off x="4612197" y="2467039"/>
              <a:ext cx="985003" cy="1135176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DCC75A9-A958-7E9A-C273-A0413D5990D4}"/>
              </a:ext>
            </a:extLst>
          </p:cNvPr>
          <p:cNvGrpSpPr/>
          <p:nvPr/>
        </p:nvGrpSpPr>
        <p:grpSpPr>
          <a:xfrm rot="16200000">
            <a:off x="5460987" y="3417549"/>
            <a:ext cx="641758" cy="369332"/>
            <a:chOff x="4307426" y="3341144"/>
            <a:chExt cx="641758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E238EA8-9C9A-12F5-5657-98E15CBFBA5B}"/>
                </a:ext>
              </a:extLst>
            </p:cNvPr>
            <p:cNvSpPr txBox="1"/>
            <p:nvPr/>
          </p:nvSpPr>
          <p:spPr>
            <a:xfrm>
              <a:off x="4307426" y="3341144"/>
              <a:ext cx="641758" cy="369332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dirty="0"/>
                <a:t>.75”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D32F9C1-219A-3150-E455-281D707C903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567061" y="3461974"/>
              <a:ext cx="0" cy="443126"/>
            </a:xfrm>
            <a:prstGeom prst="line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FE438D-55D6-95E0-77C8-188CB3E8CD04}"/>
              </a:ext>
            </a:extLst>
          </p:cNvPr>
          <p:cNvSpPr txBox="1"/>
          <p:nvPr/>
        </p:nvSpPr>
        <p:spPr>
          <a:xfrm>
            <a:off x="8801099" y="5419509"/>
            <a:ext cx="1107843" cy="23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</p:spTree>
    <p:extLst>
      <p:ext uri="{BB962C8B-B14F-4D97-AF65-F5344CB8AC3E}">
        <p14:creationId xmlns:p14="http://schemas.microsoft.com/office/powerpoint/2010/main" val="383171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E6A65-4F2D-40BF-5C46-1B2F6C91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738527-C74C-8DB0-4C46-73BD5DDB358D}"/>
              </a:ext>
            </a:extLst>
          </p:cNvPr>
          <p:cNvSpPr/>
          <p:nvPr/>
        </p:nvSpPr>
        <p:spPr>
          <a:xfrm>
            <a:off x="3209544" y="1736149"/>
            <a:ext cx="7214616" cy="42702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108232-E318-E0A1-F06A-ECD5362BE2B5}"/>
              </a:ext>
            </a:extLst>
          </p:cNvPr>
          <p:cNvSpPr/>
          <p:nvPr/>
        </p:nvSpPr>
        <p:spPr>
          <a:xfrm>
            <a:off x="1576203" y="1736149"/>
            <a:ext cx="1626603" cy="1120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B477F-8BCD-0F9C-E585-BD46655ABAC6}"/>
              </a:ext>
            </a:extLst>
          </p:cNvPr>
          <p:cNvSpPr txBox="1"/>
          <p:nvPr/>
        </p:nvSpPr>
        <p:spPr>
          <a:xfrm>
            <a:off x="1585727" y="2481097"/>
            <a:ext cx="170530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dirty="0"/>
              <a:t>3. Angle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B3D12-436B-534D-FE15-5F34CFC78196}"/>
              </a:ext>
            </a:extLst>
          </p:cNvPr>
          <p:cNvSpPr txBox="1"/>
          <p:nvPr/>
        </p:nvSpPr>
        <p:spPr>
          <a:xfrm>
            <a:off x="1575338" y="1745564"/>
            <a:ext cx="1617010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dirty="0"/>
              <a:t>1. 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FD5EB-1627-CEF3-A7D8-A2C336CE8AF6}"/>
              </a:ext>
            </a:extLst>
          </p:cNvPr>
          <p:cNvSpPr txBox="1"/>
          <p:nvPr/>
        </p:nvSpPr>
        <p:spPr>
          <a:xfrm>
            <a:off x="1575336" y="2114896"/>
            <a:ext cx="1617012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2. Position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AA478C7-E723-03C4-C68F-0FCCCFD8F6C5}"/>
              </a:ext>
            </a:extLst>
          </p:cNvPr>
          <p:cNvSpPr/>
          <p:nvPr/>
        </p:nvSpPr>
        <p:spPr>
          <a:xfrm>
            <a:off x="6096000" y="3429000"/>
            <a:ext cx="3902500" cy="19905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53FBE-693A-A986-D19C-1D3FEAB37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Dimension Types: “Angle”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(3 of 3)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14AD415-6843-9FC4-7E3F-5F32C907A7F5}"/>
              </a:ext>
            </a:extLst>
          </p:cNvPr>
          <p:cNvCxnSpPr>
            <a:cxnSpLocks/>
          </p:cNvCxnSpPr>
          <p:nvPr/>
        </p:nvCxnSpPr>
        <p:spPr>
          <a:xfrm>
            <a:off x="6499218" y="3971029"/>
            <a:ext cx="0" cy="17161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 w="sm" len="lg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9D91A1E3-3666-710A-9EB4-6A2B7F5D74BD}"/>
              </a:ext>
            </a:extLst>
          </p:cNvPr>
          <p:cNvGrpSpPr/>
          <p:nvPr/>
        </p:nvGrpSpPr>
        <p:grpSpPr>
          <a:xfrm>
            <a:off x="6451898" y="3838287"/>
            <a:ext cx="94640" cy="97796"/>
            <a:chOff x="4781245" y="3429000"/>
            <a:chExt cx="94640" cy="97796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4C0F5A8-3111-995B-4CB4-F0DDAE6A5864}"/>
                </a:ext>
              </a:extLst>
            </p:cNvPr>
            <p:cNvCxnSpPr>
              <a:cxnSpLocks/>
            </p:cNvCxnSpPr>
            <p:nvPr/>
          </p:nvCxnSpPr>
          <p:spPr>
            <a:xfrm>
              <a:off x="4828565" y="3429000"/>
              <a:ext cx="0" cy="9779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FA2CD90-EBAD-A5DD-38E0-7809BE12A193}"/>
                </a:ext>
              </a:extLst>
            </p:cNvPr>
            <p:cNvCxnSpPr>
              <a:cxnSpLocks/>
            </p:cNvCxnSpPr>
            <p:nvPr/>
          </p:nvCxnSpPr>
          <p:spPr>
            <a:xfrm>
              <a:off x="4781245" y="3478063"/>
              <a:ext cx="94640" cy="0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80AC1508-DDEC-C93E-7517-8814053A8C30}"/>
              </a:ext>
            </a:extLst>
          </p:cNvPr>
          <p:cNvCxnSpPr>
            <a:cxnSpLocks/>
          </p:cNvCxnSpPr>
          <p:nvPr/>
        </p:nvCxnSpPr>
        <p:spPr>
          <a:xfrm flipH="1">
            <a:off x="6578593" y="3885911"/>
            <a:ext cx="14409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headEnd type="none" w="sm" len="lg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C321E5F-85C1-7265-2F29-1090E8459ABB}"/>
              </a:ext>
            </a:extLst>
          </p:cNvPr>
          <p:cNvSpPr/>
          <p:nvPr/>
        </p:nvSpPr>
        <p:spPr>
          <a:xfrm>
            <a:off x="6376614" y="3762696"/>
            <a:ext cx="246429" cy="246429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2D840F9-5319-3A07-24CF-43475230B88A}"/>
              </a:ext>
            </a:extLst>
          </p:cNvPr>
          <p:cNvGrpSpPr/>
          <p:nvPr/>
        </p:nvGrpSpPr>
        <p:grpSpPr>
          <a:xfrm>
            <a:off x="3708296" y="4056837"/>
            <a:ext cx="1897013" cy="893241"/>
            <a:chOff x="4116194" y="2708974"/>
            <a:chExt cx="1897013" cy="89324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DB1DAE-5E15-3282-1AC6-FBC3EE6659AF}"/>
                </a:ext>
              </a:extLst>
            </p:cNvPr>
            <p:cNvSpPr txBox="1"/>
            <p:nvPr/>
          </p:nvSpPr>
          <p:spPr>
            <a:xfrm>
              <a:off x="4116194" y="2708974"/>
              <a:ext cx="189701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Angle of Cutout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5155248-8EAF-FE56-2F14-0AB60889571C}"/>
                </a:ext>
              </a:extLst>
            </p:cNvPr>
            <p:cNvCxnSpPr>
              <a:cxnSpLocks/>
              <a:stCxn id="14" idx="2"/>
              <a:endCxn id="27" idx="0"/>
            </p:cNvCxnSpPr>
            <p:nvPr/>
          </p:nvCxnSpPr>
          <p:spPr>
            <a:xfrm>
              <a:off x="5064701" y="3078306"/>
              <a:ext cx="660629" cy="52390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E5EB37CC-6AC6-16EC-BB71-FE7D1B24F702}"/>
              </a:ext>
            </a:extLst>
          </p:cNvPr>
          <p:cNvSpPr/>
          <p:nvPr/>
        </p:nvSpPr>
        <p:spPr>
          <a:xfrm rot="19021692">
            <a:off x="6438889" y="4637415"/>
            <a:ext cx="711512" cy="241901"/>
          </a:xfrm>
          <a:prstGeom prst="rect">
            <a:avLst/>
          </a:prstGeom>
          <a:pattFill prst="ltVert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0745BDB-B6C3-4E82-843F-F7610C4D9E26}"/>
              </a:ext>
            </a:extLst>
          </p:cNvPr>
          <p:cNvGrpSpPr/>
          <p:nvPr/>
        </p:nvGrpSpPr>
        <p:grpSpPr>
          <a:xfrm>
            <a:off x="5848350" y="5019913"/>
            <a:ext cx="1092200" cy="629956"/>
            <a:chOff x="5848350" y="5019913"/>
            <a:chExt cx="1092200" cy="629956"/>
          </a:xfrm>
        </p:grpSpPr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A44AC4CB-8267-8992-3C1B-2F6B100D57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8350" y="5019913"/>
              <a:ext cx="666942" cy="629956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148FD4-C428-A3BD-D2EE-7D89C93112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8350" y="5649869"/>
              <a:ext cx="1092200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D3C88A-968B-FDDC-D69D-1D629746A2CE}"/>
              </a:ext>
            </a:extLst>
          </p:cNvPr>
          <p:cNvGrpSpPr/>
          <p:nvPr/>
        </p:nvGrpSpPr>
        <p:grpSpPr>
          <a:xfrm>
            <a:off x="5052848" y="4950078"/>
            <a:ext cx="973791" cy="534836"/>
            <a:chOff x="5052848" y="4950078"/>
            <a:chExt cx="973791" cy="53483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FE6CDA-E8C2-A76B-B97B-B0989F305427}"/>
                </a:ext>
              </a:extLst>
            </p:cNvPr>
            <p:cNvSpPr txBox="1"/>
            <p:nvPr/>
          </p:nvSpPr>
          <p:spPr>
            <a:xfrm>
              <a:off x="5052848" y="4950078"/>
              <a:ext cx="529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45°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2855684-281C-6C53-C40C-4266F0FA2F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2301" y="5153907"/>
              <a:ext cx="304338" cy="33100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EF836B-4952-09B5-7C2A-642F9F1C88C1}"/>
                </a:ext>
              </a:extLst>
            </p:cNvPr>
            <p:cNvCxnSpPr>
              <a:cxnSpLocks/>
            </p:cNvCxnSpPr>
            <p:nvPr/>
          </p:nvCxnSpPr>
          <p:spPr>
            <a:xfrm>
              <a:off x="5485343" y="5153907"/>
              <a:ext cx="239932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2D49DF5-1271-D33A-A149-CEBB3812B247}"/>
              </a:ext>
            </a:extLst>
          </p:cNvPr>
          <p:cNvSpPr txBox="1"/>
          <p:nvPr/>
        </p:nvSpPr>
        <p:spPr>
          <a:xfrm>
            <a:off x="8665444" y="5421051"/>
            <a:ext cx="1187969" cy="228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</p:spTree>
    <p:extLst>
      <p:ext uri="{BB962C8B-B14F-4D97-AF65-F5344CB8AC3E}">
        <p14:creationId xmlns:p14="http://schemas.microsoft.com/office/powerpoint/2010/main" val="395143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ABC5F-F879-8143-9D02-8A04638D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FE5E-988B-A0EB-90D5-EB1C552A7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>
            <a:normAutofit/>
          </a:bodyPr>
          <a:lstStyle/>
          <a:p>
            <a:r>
              <a:rPr lang="en-US" dirty="0"/>
              <a:t>“Chain” vs. “Baseline/Datum” Dimensioning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92FADD-576C-1EE9-45BD-A9C31D7C46F0}"/>
              </a:ext>
            </a:extLst>
          </p:cNvPr>
          <p:cNvSpPr/>
          <p:nvPr/>
        </p:nvSpPr>
        <p:spPr>
          <a:xfrm>
            <a:off x="227924" y="1414568"/>
            <a:ext cx="5724918" cy="480931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B00F62-6217-25D7-276D-BAF403D602F1}"/>
              </a:ext>
            </a:extLst>
          </p:cNvPr>
          <p:cNvSpPr txBox="1"/>
          <p:nvPr/>
        </p:nvSpPr>
        <p:spPr>
          <a:xfrm>
            <a:off x="221028" y="1403638"/>
            <a:ext cx="5736588" cy="43304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Chain Dimensioning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181C1E7-B989-486D-4E84-42FCBD6B0BEF}"/>
              </a:ext>
            </a:extLst>
          </p:cNvPr>
          <p:cNvGrpSpPr/>
          <p:nvPr/>
        </p:nvGrpSpPr>
        <p:grpSpPr>
          <a:xfrm>
            <a:off x="6227488" y="1433152"/>
            <a:ext cx="5736588" cy="4790727"/>
            <a:chOff x="448455" y="1394314"/>
            <a:chExt cx="5271241" cy="408584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57CDD48-F724-1E6E-1627-602CC78546D2}"/>
                </a:ext>
              </a:extLst>
            </p:cNvPr>
            <p:cNvSpPr/>
            <p:nvPr/>
          </p:nvSpPr>
          <p:spPr>
            <a:xfrm>
              <a:off x="454792" y="1403636"/>
              <a:ext cx="5260518" cy="40765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50800" dist="63500" dir="2700000" algn="tl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622C5E8-2548-590A-DF8C-418771A8CA4D}"/>
                </a:ext>
              </a:extLst>
            </p:cNvPr>
            <p:cNvSpPr txBox="1"/>
            <p:nvPr/>
          </p:nvSpPr>
          <p:spPr>
            <a:xfrm>
              <a:off x="448455" y="1394314"/>
              <a:ext cx="5271241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Baseline/Datum Dimensioning</a:t>
              </a:r>
            </a:p>
          </p:txBody>
        </p:sp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66CF42A8-9694-1B95-473C-23B71613AB43}"/>
              </a:ext>
            </a:extLst>
          </p:cNvPr>
          <p:cNvGrpSpPr/>
          <p:nvPr/>
        </p:nvGrpSpPr>
        <p:grpSpPr>
          <a:xfrm>
            <a:off x="1198619" y="3583173"/>
            <a:ext cx="895341" cy="2300657"/>
            <a:chOff x="1198619" y="3583173"/>
            <a:chExt cx="895341" cy="230065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3264452-E7D1-5890-D3AD-EED76544FFE9}"/>
                </a:ext>
              </a:extLst>
            </p:cNvPr>
            <p:cNvSpPr/>
            <p:nvPr/>
          </p:nvSpPr>
          <p:spPr>
            <a:xfrm>
              <a:off x="1198619" y="4260513"/>
              <a:ext cx="759863" cy="1623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E7EE42D4-B49B-9E76-C7D0-9F7F3CA2F6A2}"/>
                </a:ext>
              </a:extLst>
            </p:cNvPr>
            <p:cNvGrpSpPr/>
            <p:nvPr/>
          </p:nvGrpSpPr>
          <p:grpSpPr>
            <a:xfrm>
              <a:off x="1198619" y="3583173"/>
              <a:ext cx="895341" cy="614061"/>
              <a:chOff x="6292178" y="1905384"/>
              <a:chExt cx="895341" cy="498429"/>
            </a:xfrm>
          </p:grpSpPr>
          <p:cxnSp>
            <p:nvCxnSpPr>
              <p:cNvPr id="1026" name="Straight Connector 1025">
                <a:extLst>
                  <a:ext uri="{FF2B5EF4-FFF2-40B4-BE49-F238E27FC236}">
                    <a16:creationId xmlns:a16="http://schemas.microsoft.com/office/drawing/2014/main" id="{375432B2-3C69-EE24-87A1-D172474378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178" y="2161450"/>
                <a:ext cx="759863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A9E833E8-116D-6236-B7C4-A484464FBF84}"/>
                  </a:ext>
                </a:extLst>
              </p:cNvPr>
              <p:cNvSpPr txBox="1"/>
              <p:nvPr/>
            </p:nvSpPr>
            <p:spPr>
              <a:xfrm>
                <a:off x="6318420" y="1905384"/>
                <a:ext cx="869099" cy="338554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sz="1600" dirty="0"/>
                  <a:t>10</a:t>
                </a:r>
                <a:r>
                  <a:rPr lang="en-US" sz="1600" dirty="0">
                    <a:latin typeface="Aptos" panose="020B0004020202020204" pitchFamily="34" charset="0"/>
                  </a:rPr>
                  <a:t>±.05</a:t>
                </a:r>
                <a:endParaRPr lang="en-US" sz="1600" dirty="0"/>
              </a:p>
            </p:txBody>
          </p:sp>
          <p:cxnSp>
            <p:nvCxnSpPr>
              <p:cNvPr id="1028" name="Straight Connector 1027">
                <a:extLst>
                  <a:ext uri="{FF2B5EF4-FFF2-40B4-BE49-F238E27FC236}">
                    <a16:creationId xmlns:a16="http://schemas.microsoft.com/office/drawing/2014/main" id="{EAD02DBE-F5A9-130A-C41F-53248C95F6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92178" y="1915542"/>
                <a:ext cx="6897" cy="4882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" name="Straight Connector 1028">
                <a:extLst>
                  <a:ext uri="{FF2B5EF4-FFF2-40B4-BE49-F238E27FC236}">
                    <a16:creationId xmlns:a16="http://schemas.microsoft.com/office/drawing/2014/main" id="{852256B0-CCCF-1033-F812-2A86A63EF6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45144" y="1915542"/>
                <a:ext cx="6897" cy="488271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5" name="Group 1094">
            <a:extLst>
              <a:ext uri="{FF2B5EF4-FFF2-40B4-BE49-F238E27FC236}">
                <a16:creationId xmlns:a16="http://schemas.microsoft.com/office/drawing/2014/main" id="{DFFA02BC-F480-9951-F5C3-1ACE22907089}"/>
              </a:ext>
            </a:extLst>
          </p:cNvPr>
          <p:cNvGrpSpPr/>
          <p:nvPr/>
        </p:nvGrpSpPr>
        <p:grpSpPr>
          <a:xfrm>
            <a:off x="1955852" y="3580633"/>
            <a:ext cx="1540927" cy="2303197"/>
            <a:chOff x="1955852" y="3580633"/>
            <a:chExt cx="1540927" cy="2303197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CD3C0F-BE45-F230-BA04-ABF21E1763F8}"/>
                </a:ext>
              </a:extLst>
            </p:cNvPr>
            <p:cNvSpPr/>
            <p:nvPr/>
          </p:nvSpPr>
          <p:spPr>
            <a:xfrm>
              <a:off x="1955852" y="4498448"/>
              <a:ext cx="1524500" cy="13853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35" name="Group 1034">
              <a:extLst>
                <a:ext uri="{FF2B5EF4-FFF2-40B4-BE49-F238E27FC236}">
                  <a16:creationId xmlns:a16="http://schemas.microsoft.com/office/drawing/2014/main" id="{CB90ECBA-6695-014E-D1B4-5B3054B9DDF2}"/>
                </a:ext>
              </a:extLst>
            </p:cNvPr>
            <p:cNvGrpSpPr/>
            <p:nvPr/>
          </p:nvGrpSpPr>
          <p:grpSpPr>
            <a:xfrm>
              <a:off x="1965381" y="3580633"/>
              <a:ext cx="1531398" cy="862778"/>
              <a:chOff x="6292178" y="1903323"/>
              <a:chExt cx="771773" cy="700311"/>
            </a:xfrm>
          </p:grpSpPr>
          <p:cxnSp>
            <p:nvCxnSpPr>
              <p:cNvPr id="1036" name="Straight Connector 1035">
                <a:extLst>
                  <a:ext uri="{FF2B5EF4-FFF2-40B4-BE49-F238E27FC236}">
                    <a16:creationId xmlns:a16="http://schemas.microsoft.com/office/drawing/2014/main" id="{6AFD0FE7-9BC2-6670-E613-89556A4334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178" y="2161450"/>
                <a:ext cx="76829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7" name="TextBox 1036">
                <a:extLst>
                  <a:ext uri="{FF2B5EF4-FFF2-40B4-BE49-F238E27FC236}">
                    <a16:creationId xmlns:a16="http://schemas.microsoft.com/office/drawing/2014/main" id="{AA2571E9-CF2A-9662-BDDB-1203BD4414ED}"/>
                  </a:ext>
                </a:extLst>
              </p:cNvPr>
              <p:cNvSpPr txBox="1"/>
              <p:nvPr/>
            </p:nvSpPr>
            <p:spPr>
              <a:xfrm>
                <a:off x="6496460" y="1903323"/>
                <a:ext cx="362146" cy="274802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sz="1600" dirty="0"/>
                  <a:t>20</a:t>
                </a:r>
                <a:r>
                  <a:rPr lang="en-US" sz="1600" dirty="0">
                    <a:latin typeface="Aptos" panose="020B0004020202020204" pitchFamily="34" charset="0"/>
                  </a:rPr>
                  <a:t>±.05</a:t>
                </a:r>
                <a:endParaRPr lang="en-US" sz="1600" dirty="0"/>
              </a:p>
            </p:txBody>
          </p:sp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8248B675-5ECD-4142-0225-85C6CE032B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61642" y="1925316"/>
                <a:ext cx="2309" cy="678318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6" name="Group 1095">
            <a:extLst>
              <a:ext uri="{FF2B5EF4-FFF2-40B4-BE49-F238E27FC236}">
                <a16:creationId xmlns:a16="http://schemas.microsoft.com/office/drawing/2014/main" id="{4B685311-F9E5-6D1C-6D04-2CF77C0DCCD7}"/>
              </a:ext>
            </a:extLst>
          </p:cNvPr>
          <p:cNvGrpSpPr/>
          <p:nvPr/>
        </p:nvGrpSpPr>
        <p:grpSpPr>
          <a:xfrm>
            <a:off x="3482485" y="3575519"/>
            <a:ext cx="888000" cy="2308311"/>
            <a:chOff x="3482485" y="3575519"/>
            <a:chExt cx="888000" cy="230831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01A6C74-FF7A-A809-20E0-238ED4811920}"/>
                </a:ext>
              </a:extLst>
            </p:cNvPr>
            <p:cNvSpPr/>
            <p:nvPr/>
          </p:nvSpPr>
          <p:spPr>
            <a:xfrm>
              <a:off x="3482485" y="4745028"/>
              <a:ext cx="759863" cy="1138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45" name="Group 1044">
              <a:extLst>
                <a:ext uri="{FF2B5EF4-FFF2-40B4-BE49-F238E27FC236}">
                  <a16:creationId xmlns:a16="http://schemas.microsoft.com/office/drawing/2014/main" id="{62C7C2B5-1D19-8C25-2C57-E340156AF5EB}"/>
                </a:ext>
              </a:extLst>
            </p:cNvPr>
            <p:cNvGrpSpPr/>
            <p:nvPr/>
          </p:nvGrpSpPr>
          <p:grpSpPr>
            <a:xfrm>
              <a:off x="3494488" y="3575519"/>
              <a:ext cx="875997" cy="1125067"/>
              <a:chOff x="6292178" y="1899173"/>
              <a:chExt cx="875997" cy="913209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56188089-795C-CD28-D947-C44A7D4E05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178" y="2161450"/>
                <a:ext cx="759863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7" name="TextBox 1046">
                <a:extLst>
                  <a:ext uri="{FF2B5EF4-FFF2-40B4-BE49-F238E27FC236}">
                    <a16:creationId xmlns:a16="http://schemas.microsoft.com/office/drawing/2014/main" id="{2379E1E4-7DBA-4960-53DF-02C112BA808C}"/>
                  </a:ext>
                </a:extLst>
              </p:cNvPr>
              <p:cNvSpPr txBox="1"/>
              <p:nvPr/>
            </p:nvSpPr>
            <p:spPr>
              <a:xfrm>
                <a:off x="6299076" y="1899173"/>
                <a:ext cx="869099" cy="338554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sz="1600" dirty="0"/>
                  <a:t>10</a:t>
                </a:r>
                <a:r>
                  <a:rPr lang="en-US" sz="1600" dirty="0">
                    <a:latin typeface="Aptos" panose="020B0004020202020204" pitchFamily="34" charset="0"/>
                  </a:rPr>
                  <a:t>±.05</a:t>
                </a:r>
                <a:endParaRPr lang="en-US" sz="1600" dirty="0"/>
              </a:p>
            </p:txBody>
          </p: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17252063-CA50-AC91-8FCD-0C216136A4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45144" y="1915542"/>
                <a:ext cx="0" cy="89684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7" name="Group 1096">
            <a:extLst>
              <a:ext uri="{FF2B5EF4-FFF2-40B4-BE49-F238E27FC236}">
                <a16:creationId xmlns:a16="http://schemas.microsoft.com/office/drawing/2014/main" id="{B5A4C75B-4178-960F-5698-F678947E9000}"/>
              </a:ext>
            </a:extLst>
          </p:cNvPr>
          <p:cNvGrpSpPr/>
          <p:nvPr/>
        </p:nvGrpSpPr>
        <p:grpSpPr>
          <a:xfrm>
            <a:off x="4245679" y="3584310"/>
            <a:ext cx="912535" cy="2299520"/>
            <a:chOff x="4245679" y="3584310"/>
            <a:chExt cx="912535" cy="229952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94CAC19-04F5-C684-F00B-A6005280A542}"/>
                </a:ext>
              </a:extLst>
            </p:cNvPr>
            <p:cNvSpPr/>
            <p:nvPr/>
          </p:nvSpPr>
          <p:spPr>
            <a:xfrm>
              <a:off x="4245679" y="5053252"/>
              <a:ext cx="759863" cy="8305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F1D3EB76-3891-537A-4763-59003C6F5B62}"/>
                </a:ext>
              </a:extLst>
            </p:cNvPr>
            <p:cNvGrpSpPr/>
            <p:nvPr/>
          </p:nvGrpSpPr>
          <p:grpSpPr>
            <a:xfrm>
              <a:off x="4254351" y="3584310"/>
              <a:ext cx="903863" cy="1430603"/>
              <a:chOff x="6292178" y="1906308"/>
              <a:chExt cx="903863" cy="1161210"/>
            </a:xfrm>
          </p:grpSpPr>
          <p:cxnSp>
            <p:nvCxnSpPr>
              <p:cNvPr id="1052" name="Straight Connector 1051">
                <a:extLst>
                  <a:ext uri="{FF2B5EF4-FFF2-40B4-BE49-F238E27FC236}">
                    <a16:creationId xmlns:a16="http://schemas.microsoft.com/office/drawing/2014/main" id="{15D40C05-4910-4CB2-5B24-7A24DCD2EE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178" y="2161450"/>
                <a:ext cx="759863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3" name="TextBox 1052">
                <a:extLst>
                  <a:ext uri="{FF2B5EF4-FFF2-40B4-BE49-F238E27FC236}">
                    <a16:creationId xmlns:a16="http://schemas.microsoft.com/office/drawing/2014/main" id="{4D0FBDCD-5666-8753-D328-C51661F505B2}"/>
                  </a:ext>
                </a:extLst>
              </p:cNvPr>
              <p:cNvSpPr txBox="1"/>
              <p:nvPr/>
            </p:nvSpPr>
            <p:spPr>
              <a:xfrm>
                <a:off x="6326942" y="1906308"/>
                <a:ext cx="869099" cy="338554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sz="1600" dirty="0"/>
                  <a:t>10</a:t>
                </a:r>
                <a:r>
                  <a:rPr lang="en-US" sz="1600" dirty="0">
                    <a:latin typeface="Aptos" panose="020B0004020202020204" pitchFamily="34" charset="0"/>
                  </a:rPr>
                  <a:t>±.05</a:t>
                </a:r>
                <a:endParaRPr lang="en-US" sz="1600" dirty="0"/>
              </a:p>
            </p:txBody>
          </p: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id="{92150BB2-6DB0-C71A-46E1-CAE6EE8E8E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43369" y="1915542"/>
                <a:ext cx="1775" cy="115197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4972E683-C2F3-CDC2-B9F0-18C39E743284}"/>
              </a:ext>
            </a:extLst>
          </p:cNvPr>
          <p:cNvGrpSpPr/>
          <p:nvPr/>
        </p:nvGrpSpPr>
        <p:grpSpPr>
          <a:xfrm>
            <a:off x="7182785" y="2409157"/>
            <a:ext cx="895341" cy="3474673"/>
            <a:chOff x="7182785" y="2409157"/>
            <a:chExt cx="895341" cy="347467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8E1873-8963-54E9-2424-C1F82CF7E4CC}"/>
                </a:ext>
              </a:extLst>
            </p:cNvPr>
            <p:cNvSpPr/>
            <p:nvPr/>
          </p:nvSpPr>
          <p:spPr>
            <a:xfrm>
              <a:off x="7182785" y="4260513"/>
              <a:ext cx="759863" cy="1623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57" name="Group 1056">
              <a:extLst>
                <a:ext uri="{FF2B5EF4-FFF2-40B4-BE49-F238E27FC236}">
                  <a16:creationId xmlns:a16="http://schemas.microsoft.com/office/drawing/2014/main" id="{33A45AF0-2ED1-B5C2-1313-D1A72EBA9C0D}"/>
                </a:ext>
              </a:extLst>
            </p:cNvPr>
            <p:cNvGrpSpPr/>
            <p:nvPr/>
          </p:nvGrpSpPr>
          <p:grpSpPr>
            <a:xfrm>
              <a:off x="7182785" y="2409157"/>
              <a:ext cx="895341" cy="1788078"/>
              <a:chOff x="6292178" y="952443"/>
              <a:chExt cx="895341" cy="1451370"/>
            </a:xfrm>
          </p:grpSpPr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7E166A99-75EF-4174-A68A-3E6E57183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178" y="2161450"/>
                <a:ext cx="759863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9" name="TextBox 1058">
                <a:extLst>
                  <a:ext uri="{FF2B5EF4-FFF2-40B4-BE49-F238E27FC236}">
                    <a16:creationId xmlns:a16="http://schemas.microsoft.com/office/drawing/2014/main" id="{0333EFE5-C43E-C3CE-0BEC-27081B596CBE}"/>
                  </a:ext>
                </a:extLst>
              </p:cNvPr>
              <p:cNvSpPr txBox="1"/>
              <p:nvPr/>
            </p:nvSpPr>
            <p:spPr>
              <a:xfrm>
                <a:off x="6318420" y="1905384"/>
                <a:ext cx="869099" cy="338554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sz="1600" dirty="0"/>
                  <a:t>10</a:t>
                </a:r>
                <a:r>
                  <a:rPr lang="en-US" sz="1600" dirty="0">
                    <a:latin typeface="Aptos" panose="020B0004020202020204" pitchFamily="34" charset="0"/>
                  </a:rPr>
                  <a:t>±.05</a:t>
                </a:r>
                <a:endParaRPr lang="en-US" sz="1600" dirty="0"/>
              </a:p>
            </p:txBody>
          </p: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id="{0A8C84B5-247F-7497-9C93-A9D28EE3DE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92178" y="952443"/>
                <a:ext cx="0" cy="145137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1" name="Straight Connector 1060">
                <a:extLst>
                  <a:ext uri="{FF2B5EF4-FFF2-40B4-BE49-F238E27FC236}">
                    <a16:creationId xmlns:a16="http://schemas.microsoft.com/office/drawing/2014/main" id="{71D264F9-0774-B416-1009-0AD9F3824C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52041" y="2089497"/>
                <a:ext cx="0" cy="314316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9" name="Group 1098">
            <a:extLst>
              <a:ext uri="{FF2B5EF4-FFF2-40B4-BE49-F238E27FC236}">
                <a16:creationId xmlns:a16="http://schemas.microsoft.com/office/drawing/2014/main" id="{49B7ACCE-CBA1-60CC-CCE7-1E600E4ACD87}"/>
              </a:ext>
            </a:extLst>
          </p:cNvPr>
          <p:cNvGrpSpPr/>
          <p:nvPr/>
        </p:nvGrpSpPr>
        <p:grpSpPr>
          <a:xfrm>
            <a:off x="7175628" y="3216932"/>
            <a:ext cx="2293653" cy="2666898"/>
            <a:chOff x="7175628" y="3216932"/>
            <a:chExt cx="2293653" cy="266689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B833D29-71BB-35E5-44C1-889DC459522E}"/>
                </a:ext>
              </a:extLst>
            </p:cNvPr>
            <p:cNvSpPr/>
            <p:nvPr/>
          </p:nvSpPr>
          <p:spPr>
            <a:xfrm>
              <a:off x="7944781" y="4498448"/>
              <a:ext cx="1524500" cy="13853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1619F3FA-D80F-EE94-EEDC-BA19FC4B6C0F}"/>
                </a:ext>
              </a:extLst>
            </p:cNvPr>
            <p:cNvGrpSpPr/>
            <p:nvPr/>
          </p:nvGrpSpPr>
          <p:grpSpPr>
            <a:xfrm>
              <a:off x="7175628" y="3216932"/>
              <a:ext cx="2280698" cy="1226478"/>
              <a:chOff x="6292178" y="1936272"/>
              <a:chExt cx="768297" cy="995524"/>
            </a:xfrm>
          </p:grpSpPr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9A0D58D4-3375-5688-ED22-F93351D0F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178" y="2161450"/>
                <a:ext cx="76829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5" name="TextBox 1064">
                <a:extLst>
                  <a:ext uri="{FF2B5EF4-FFF2-40B4-BE49-F238E27FC236}">
                    <a16:creationId xmlns:a16="http://schemas.microsoft.com/office/drawing/2014/main" id="{6B9B9B49-9994-9E54-F27A-E436C77753DE}"/>
                  </a:ext>
                </a:extLst>
              </p:cNvPr>
              <p:cNvSpPr txBox="1"/>
              <p:nvPr/>
            </p:nvSpPr>
            <p:spPr>
              <a:xfrm>
                <a:off x="6576636" y="1936272"/>
                <a:ext cx="362146" cy="274802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sz="1600" dirty="0"/>
                  <a:t>30</a:t>
                </a:r>
                <a:r>
                  <a:rPr lang="en-US" sz="1600" dirty="0">
                    <a:latin typeface="Aptos" panose="020B0004020202020204" pitchFamily="34" charset="0"/>
                  </a:rPr>
                  <a:t>±.05</a:t>
                </a:r>
                <a:endParaRPr lang="en-US" sz="1600" dirty="0"/>
              </a:p>
            </p:txBody>
          </p: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6D324865-D4C2-E33C-CE5C-5F9B42DCED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53480" y="2108406"/>
                <a:ext cx="577" cy="82339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4480EF34-CF75-F6FD-F0EE-B3D77890AC83}"/>
              </a:ext>
            </a:extLst>
          </p:cNvPr>
          <p:cNvGrpSpPr/>
          <p:nvPr/>
        </p:nvGrpSpPr>
        <p:grpSpPr>
          <a:xfrm>
            <a:off x="7175630" y="2831913"/>
            <a:ext cx="3050888" cy="3051917"/>
            <a:chOff x="7175630" y="2831913"/>
            <a:chExt cx="3050888" cy="3051917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650C17F-D197-A640-4221-D77694BA54E8}"/>
                </a:ext>
              </a:extLst>
            </p:cNvPr>
            <p:cNvSpPr/>
            <p:nvPr/>
          </p:nvSpPr>
          <p:spPr>
            <a:xfrm>
              <a:off x="9466651" y="4745028"/>
              <a:ext cx="759863" cy="1138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4" name="Group 1073">
              <a:extLst>
                <a:ext uri="{FF2B5EF4-FFF2-40B4-BE49-F238E27FC236}">
                  <a16:creationId xmlns:a16="http://schemas.microsoft.com/office/drawing/2014/main" id="{2C0F9D44-AEDE-0B21-3A83-E2525CE53569}"/>
                </a:ext>
              </a:extLst>
            </p:cNvPr>
            <p:cNvGrpSpPr/>
            <p:nvPr/>
          </p:nvGrpSpPr>
          <p:grpSpPr>
            <a:xfrm>
              <a:off x="7175630" y="2831913"/>
              <a:ext cx="3050888" cy="1868673"/>
              <a:chOff x="6292178" y="1935904"/>
              <a:chExt cx="769523" cy="1516790"/>
            </a:xfrm>
          </p:grpSpPr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E682F8DA-4971-EC70-CCAE-92D51F3E3C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2178" y="2161450"/>
                <a:ext cx="76829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6" name="TextBox 1075">
                <a:extLst>
                  <a:ext uri="{FF2B5EF4-FFF2-40B4-BE49-F238E27FC236}">
                    <a16:creationId xmlns:a16="http://schemas.microsoft.com/office/drawing/2014/main" id="{0CD7DD2C-544D-2836-C79E-70AB7C311615}"/>
                  </a:ext>
                </a:extLst>
              </p:cNvPr>
              <p:cNvSpPr txBox="1"/>
              <p:nvPr/>
            </p:nvSpPr>
            <p:spPr>
              <a:xfrm>
                <a:off x="6596847" y="1935904"/>
                <a:ext cx="199683" cy="274802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sz="1600" dirty="0"/>
                  <a:t>40</a:t>
                </a:r>
                <a:r>
                  <a:rPr lang="en-US" sz="1600" dirty="0">
                    <a:latin typeface="Aptos" panose="020B0004020202020204" pitchFamily="34" charset="0"/>
                  </a:rPr>
                  <a:t>±.05</a:t>
                </a:r>
                <a:endParaRPr lang="en-US" sz="1600" dirty="0"/>
              </a:p>
            </p:txBody>
          </p: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9C0E59D0-230F-094F-5B9B-CE35051AA3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60475" y="2108407"/>
                <a:ext cx="1226" cy="1344287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3F88E21A-C5B5-7BA3-BDC7-07925D05BDE1}"/>
              </a:ext>
            </a:extLst>
          </p:cNvPr>
          <p:cNvGrpSpPr/>
          <p:nvPr/>
        </p:nvGrpSpPr>
        <p:grpSpPr>
          <a:xfrm>
            <a:off x="7170635" y="2448833"/>
            <a:ext cx="3814310" cy="3434997"/>
            <a:chOff x="7170635" y="2448833"/>
            <a:chExt cx="3814310" cy="343499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5F06AAB-9B9B-893E-0CB5-075315219865}"/>
                </a:ext>
              </a:extLst>
            </p:cNvPr>
            <p:cNvSpPr/>
            <p:nvPr/>
          </p:nvSpPr>
          <p:spPr>
            <a:xfrm>
              <a:off x="10225082" y="5053252"/>
              <a:ext cx="759863" cy="8305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907E087E-B9FC-5786-E3AD-31F3435C90A9}"/>
                </a:ext>
              </a:extLst>
            </p:cNvPr>
            <p:cNvGrpSpPr/>
            <p:nvPr/>
          </p:nvGrpSpPr>
          <p:grpSpPr>
            <a:xfrm>
              <a:off x="7170635" y="2448833"/>
              <a:ext cx="3803404" cy="2542968"/>
              <a:chOff x="6288262" y="1943562"/>
              <a:chExt cx="781853" cy="2064110"/>
            </a:xfrm>
          </p:grpSpPr>
          <p:cxnSp>
            <p:nvCxnSpPr>
              <p:cNvPr id="1086" name="Straight Connector 1085">
                <a:extLst>
                  <a:ext uri="{FF2B5EF4-FFF2-40B4-BE49-F238E27FC236}">
                    <a16:creationId xmlns:a16="http://schemas.microsoft.com/office/drawing/2014/main" id="{0DD51AE1-1ED4-5568-E4B5-7B25B00641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262" y="2161450"/>
                <a:ext cx="7804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24520785-902A-388C-915D-32296D92B49D}"/>
                  </a:ext>
                </a:extLst>
              </p:cNvPr>
              <p:cNvSpPr txBox="1"/>
              <p:nvPr/>
            </p:nvSpPr>
            <p:spPr>
              <a:xfrm>
                <a:off x="6605904" y="1943562"/>
                <a:ext cx="175802" cy="274802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sz="1600" dirty="0"/>
                  <a:t>50</a:t>
                </a:r>
                <a:r>
                  <a:rPr lang="en-US" sz="1600" dirty="0">
                    <a:latin typeface="Aptos" panose="020B0004020202020204" pitchFamily="34" charset="0"/>
                  </a:rPr>
                  <a:t>±.05</a:t>
                </a:r>
                <a:endParaRPr lang="en-US" sz="1600" dirty="0"/>
              </a:p>
            </p:txBody>
          </p: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F031F256-F5FA-5CFB-C031-DB04CF51DE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68697" y="2108409"/>
                <a:ext cx="1418" cy="189926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5A3847EB-87D1-E565-6AAD-E054AAD4AFCB}"/>
              </a:ext>
            </a:extLst>
          </p:cNvPr>
          <p:cNvGrpSpPr/>
          <p:nvPr/>
        </p:nvGrpSpPr>
        <p:grpSpPr>
          <a:xfrm>
            <a:off x="7178011" y="1968768"/>
            <a:ext cx="1613564" cy="553998"/>
            <a:chOff x="7178011" y="1968768"/>
            <a:chExt cx="1613564" cy="553998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C67BCD9C-720C-F513-FF5A-E5D49A7A083D}"/>
                </a:ext>
              </a:extLst>
            </p:cNvPr>
            <p:cNvSpPr txBox="1"/>
            <p:nvPr/>
          </p:nvSpPr>
          <p:spPr>
            <a:xfrm>
              <a:off x="7723512" y="1968768"/>
              <a:ext cx="106806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Datum</a:t>
              </a:r>
            </a:p>
          </p:txBody>
        </p:sp>
        <p:cxnSp>
          <p:nvCxnSpPr>
            <p:cNvPr id="1103" name="Straight Arrow Connector 1102">
              <a:extLst>
                <a:ext uri="{FF2B5EF4-FFF2-40B4-BE49-F238E27FC236}">
                  <a16:creationId xmlns:a16="http://schemas.microsoft.com/office/drawing/2014/main" id="{007BBF66-E7ED-CEC7-4015-2CE2C7138EE2}"/>
                </a:ext>
              </a:extLst>
            </p:cNvPr>
            <p:cNvCxnSpPr>
              <a:cxnSpLocks/>
              <a:stCxn id="1102" idx="1"/>
            </p:cNvCxnSpPr>
            <p:nvPr/>
          </p:nvCxnSpPr>
          <p:spPr>
            <a:xfrm flipH="1">
              <a:off x="7178011" y="2153434"/>
              <a:ext cx="545501" cy="369332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DC63E9-EBDA-70B4-C08F-139C5A066A7A}"/>
              </a:ext>
            </a:extLst>
          </p:cNvPr>
          <p:cNvSpPr txBox="1"/>
          <p:nvPr/>
        </p:nvSpPr>
        <p:spPr>
          <a:xfrm>
            <a:off x="10752247" y="6261408"/>
            <a:ext cx="12070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42F7C-C993-6708-992C-A460AC0EAE5B}"/>
              </a:ext>
            </a:extLst>
          </p:cNvPr>
          <p:cNvSpPr txBox="1"/>
          <p:nvPr/>
        </p:nvSpPr>
        <p:spPr>
          <a:xfrm>
            <a:off x="4745787" y="6261408"/>
            <a:ext cx="12070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</p:spTree>
    <p:extLst>
      <p:ext uri="{BB962C8B-B14F-4D97-AF65-F5344CB8AC3E}">
        <p14:creationId xmlns:p14="http://schemas.microsoft.com/office/powerpoint/2010/main" val="31414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48C7B-0E29-57D3-E3C2-C0450047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3972B-4C5F-308E-4842-2EAF2720E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22834"/>
            <a:ext cx="10086975" cy="81233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Tolerances</a:t>
            </a:r>
          </a:p>
        </p:txBody>
      </p:sp>
    </p:spTree>
    <p:extLst>
      <p:ext uri="{BB962C8B-B14F-4D97-AF65-F5344CB8AC3E}">
        <p14:creationId xmlns:p14="http://schemas.microsoft.com/office/powerpoint/2010/main" val="313226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F4070-A2CE-AD28-A19E-B9766531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D556A-1DFD-0B49-8B85-F0D8F062F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4"/>
            <a:ext cx="10958538" cy="4384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“Tolerances are the allowable variations in a measurement”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               - Dr. Google</a:t>
            </a:r>
          </a:p>
          <a:p>
            <a:endParaRPr lang="en-US" b="1" dirty="0"/>
          </a:p>
          <a:p>
            <a:r>
              <a:rPr lang="en-US" b="1" dirty="0"/>
              <a:t>Example:</a:t>
            </a:r>
            <a:r>
              <a:rPr lang="en-US" dirty="0"/>
              <a:t>  34” +/- 0.02”   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  = 34 inches </a:t>
            </a:r>
          </a:p>
          <a:p>
            <a:pPr marL="0" indent="0">
              <a:buNone/>
            </a:pPr>
            <a:r>
              <a:rPr lang="en-US" dirty="0"/>
              <a:t>       with a tolerance of plus or minus two-one-hundredths of an inch</a:t>
            </a:r>
          </a:p>
          <a:p>
            <a:pPr lvl="1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04F033-0CCB-F7E7-2BBA-797B7F6935C9}"/>
              </a:ext>
            </a:extLst>
          </p:cNvPr>
          <p:cNvSpPr/>
          <p:nvPr/>
        </p:nvSpPr>
        <p:spPr>
          <a:xfrm>
            <a:off x="5800725" y="2971800"/>
            <a:ext cx="4953000" cy="10477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EEE81-C786-318C-EC0E-CD234445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Definition of Tolerances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821A25-0129-5D05-B36A-EA5A5EA2B29E}"/>
              </a:ext>
            </a:extLst>
          </p:cNvPr>
          <p:cNvGrpSpPr/>
          <p:nvPr/>
        </p:nvGrpSpPr>
        <p:grpSpPr>
          <a:xfrm>
            <a:off x="6314584" y="3173647"/>
            <a:ext cx="3904179" cy="560153"/>
            <a:chOff x="4119936" y="2630722"/>
            <a:chExt cx="3904179" cy="560153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AB042D2-413E-B06A-112F-E505DC67F1F6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4119936" y="2815388"/>
              <a:ext cx="1333991" cy="0"/>
            </a:xfrm>
            <a:prstGeom prst="line">
              <a:avLst/>
            </a:prstGeom>
            <a:ln>
              <a:solidFill>
                <a:schemeClr val="tx1"/>
              </a:solidFill>
              <a:headEnd type="triangle" w="med" len="lg"/>
              <a:tailEnd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F5A919-52A5-BA43-202B-69EDD2A319C7}"/>
                </a:ext>
              </a:extLst>
            </p:cNvPr>
            <p:cNvSpPr txBox="1"/>
            <p:nvPr/>
          </p:nvSpPr>
          <p:spPr>
            <a:xfrm>
              <a:off x="5453927" y="2630722"/>
              <a:ext cx="1133475" cy="369332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dirty="0"/>
                <a:t>34 +/-0.02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31310F9-0E9F-E863-4B58-1D6A3965628B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flipH="1" flipV="1">
              <a:off x="6587402" y="2815388"/>
              <a:ext cx="1436711" cy="3225"/>
            </a:xfrm>
            <a:prstGeom prst="line">
              <a:avLst/>
            </a:prstGeom>
            <a:ln>
              <a:solidFill>
                <a:schemeClr val="tx1"/>
              </a:solidFill>
              <a:headEnd type="triangle" w="med" len="lg"/>
              <a:tailEnd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E39411-DA05-BB95-FBAC-84F9169C83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5072" y="2648059"/>
              <a:ext cx="0" cy="54281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CF8E606-40BD-869B-BA5D-13EF407B9B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2436" y="2648059"/>
              <a:ext cx="1679" cy="542816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48302E9-16C9-EE60-C3A0-E003184A8378}"/>
              </a:ext>
            </a:extLst>
          </p:cNvPr>
          <p:cNvSpPr txBox="1"/>
          <p:nvPr/>
        </p:nvSpPr>
        <p:spPr>
          <a:xfrm>
            <a:off x="9024131" y="4019550"/>
            <a:ext cx="17295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</p:spTree>
    <p:extLst>
      <p:ext uri="{BB962C8B-B14F-4D97-AF65-F5344CB8AC3E}">
        <p14:creationId xmlns:p14="http://schemas.microsoft.com/office/powerpoint/2010/main" val="93491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197F4-DB2C-10A1-F0BF-2059F62C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3E639BD-8E36-88E4-37C5-5FD0D7619E80}"/>
              </a:ext>
            </a:extLst>
          </p:cNvPr>
          <p:cNvSpPr/>
          <p:nvPr/>
        </p:nvSpPr>
        <p:spPr>
          <a:xfrm>
            <a:off x="2720760" y="1586417"/>
            <a:ext cx="6415037" cy="4892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2BF5-5AF9-9A15-E40F-B5CC674B5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00" y="1690924"/>
            <a:ext cx="10958538" cy="4384296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2B960-38B0-65F7-1106-95FE5A108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Location of Tolerances on Blueprint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7CBD4-63E6-A05A-2650-183EBF6C96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701637" y="1573664"/>
            <a:ext cx="6438901" cy="4911131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22F34DA4-70BB-FFDE-3A30-48C5FA6DBE22}"/>
              </a:ext>
            </a:extLst>
          </p:cNvPr>
          <p:cNvGrpSpPr/>
          <p:nvPr/>
        </p:nvGrpSpPr>
        <p:grpSpPr>
          <a:xfrm>
            <a:off x="4216113" y="1882620"/>
            <a:ext cx="3086100" cy="2673362"/>
            <a:chOff x="4029075" y="1674800"/>
            <a:chExt cx="3086100" cy="267336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F1650F-A070-6BC0-645F-1C20311F9FC1}"/>
                </a:ext>
              </a:extLst>
            </p:cNvPr>
            <p:cNvSpPr/>
            <p:nvPr/>
          </p:nvSpPr>
          <p:spPr>
            <a:xfrm>
              <a:off x="6181725" y="2305050"/>
              <a:ext cx="933450" cy="247650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902537-5A68-89C2-1BED-E572C828420A}"/>
                </a:ext>
              </a:extLst>
            </p:cNvPr>
            <p:cNvSpPr/>
            <p:nvPr/>
          </p:nvSpPr>
          <p:spPr>
            <a:xfrm>
              <a:off x="4029075" y="4000500"/>
              <a:ext cx="447675" cy="323850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E228CB-7DCA-D46B-7684-E149391C064C}"/>
                </a:ext>
              </a:extLst>
            </p:cNvPr>
            <p:cNvSpPr/>
            <p:nvPr/>
          </p:nvSpPr>
          <p:spPr>
            <a:xfrm>
              <a:off x="5894412" y="4048125"/>
              <a:ext cx="447675" cy="276225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8AD350-DCD6-E8EF-0325-97E3D209DE1A}"/>
                </a:ext>
              </a:extLst>
            </p:cNvPr>
            <p:cNvSpPr/>
            <p:nvPr/>
          </p:nvSpPr>
          <p:spPr>
            <a:xfrm>
              <a:off x="6380187" y="4071937"/>
              <a:ext cx="447675" cy="276225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4D7F82F-1659-1A40-0B2B-28C0A8AE18F3}"/>
                </a:ext>
              </a:extLst>
            </p:cNvPr>
            <p:cNvGrpSpPr/>
            <p:nvPr/>
          </p:nvGrpSpPr>
          <p:grpSpPr>
            <a:xfrm>
              <a:off x="4476750" y="1674800"/>
              <a:ext cx="2530366" cy="2487625"/>
              <a:chOff x="4476750" y="1674800"/>
              <a:chExt cx="2530366" cy="248762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8503218-6EA0-539A-1D94-86098517FEBD}"/>
                  </a:ext>
                </a:extLst>
              </p:cNvPr>
              <p:cNvGrpSpPr/>
              <p:nvPr/>
            </p:nvGrpSpPr>
            <p:grpSpPr>
              <a:xfrm>
                <a:off x="4841498" y="1674800"/>
                <a:ext cx="2165618" cy="2397137"/>
                <a:chOff x="1587232" y="5964612"/>
                <a:chExt cx="2165618" cy="2397137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59044BE-2D00-56F2-A69E-4051814E33BB}"/>
                    </a:ext>
                  </a:extLst>
                </p:cNvPr>
                <p:cNvSpPr txBox="1"/>
                <p:nvPr/>
              </p:nvSpPr>
              <p:spPr>
                <a:xfrm>
                  <a:off x="1587232" y="5964612"/>
                  <a:ext cx="2165618" cy="3693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</a:rPr>
                    <a:t>With Dimensions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5DD4B88B-8DBE-5A88-204C-03CABB1E7A56}"/>
                    </a:ext>
                  </a:extLst>
                </p:cNvPr>
                <p:cNvCxnSpPr>
                  <a:cxnSpLocks/>
                  <a:stCxn id="7" idx="2"/>
                </p:cNvCxnSpPr>
                <p:nvPr/>
              </p:nvCxnSpPr>
              <p:spPr>
                <a:xfrm>
                  <a:off x="2670041" y="6333944"/>
                  <a:ext cx="0" cy="20278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oval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0127E92-C04D-590A-6949-69F17A92F0EC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 flipH="1">
                <a:off x="4476750" y="3429000"/>
                <a:ext cx="1447557" cy="73342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63B89BE-9F2A-6378-C5E8-B085B51E4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4307" y="3795712"/>
                <a:ext cx="514594" cy="28575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79A03BD2-2CE7-313C-F335-2B534EE664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5628" y="2332945"/>
                <a:ext cx="313491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244EA15-F308-C625-0792-3D6E8595DD6F}"/>
              </a:ext>
            </a:extLst>
          </p:cNvPr>
          <p:cNvGrpSpPr/>
          <p:nvPr/>
        </p:nvGrpSpPr>
        <p:grpSpPr>
          <a:xfrm>
            <a:off x="418021" y="1422533"/>
            <a:ext cx="3862236" cy="717261"/>
            <a:chOff x="230983" y="1214713"/>
            <a:chExt cx="3862236" cy="71726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3E7E7BD-333A-1163-0475-40DC08D4817C}"/>
                </a:ext>
              </a:extLst>
            </p:cNvPr>
            <p:cNvGrpSpPr/>
            <p:nvPr/>
          </p:nvGrpSpPr>
          <p:grpSpPr>
            <a:xfrm>
              <a:off x="230983" y="1214713"/>
              <a:ext cx="3299739" cy="470273"/>
              <a:chOff x="-1089294" y="1349664"/>
              <a:chExt cx="3299739" cy="470273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B12FFE-149C-04AE-2840-F16332C2A5D1}"/>
                  </a:ext>
                </a:extLst>
              </p:cNvPr>
              <p:cNvSpPr txBox="1"/>
              <p:nvPr/>
            </p:nvSpPr>
            <p:spPr>
              <a:xfrm>
                <a:off x="-1089294" y="1349664"/>
                <a:ext cx="1950242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In Separate Note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37EB756-9733-305C-6CD4-39B4997AA90E}"/>
                  </a:ext>
                </a:extLst>
              </p:cNvPr>
              <p:cNvCxnSpPr>
                <a:cxnSpLocks/>
                <a:stCxn id="36" idx="3"/>
              </p:cNvCxnSpPr>
              <p:nvPr/>
            </p:nvCxnSpPr>
            <p:spPr>
              <a:xfrm>
                <a:off x="860948" y="1534330"/>
                <a:ext cx="1349497" cy="28560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6FD57ED-E133-8E5F-467A-36442B51C73C}"/>
                </a:ext>
              </a:extLst>
            </p:cNvPr>
            <p:cNvSpPr/>
            <p:nvPr/>
          </p:nvSpPr>
          <p:spPr>
            <a:xfrm>
              <a:off x="3529012" y="1674799"/>
              <a:ext cx="564207" cy="257175"/>
            </a:xfrm>
            <a:prstGeom prst="rect">
              <a:avLst/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7B12BF1-4218-A367-3A91-1C00277EC3A2}"/>
              </a:ext>
            </a:extLst>
          </p:cNvPr>
          <p:cNvGrpSpPr/>
          <p:nvPr/>
        </p:nvGrpSpPr>
        <p:grpSpPr>
          <a:xfrm>
            <a:off x="437145" y="5032390"/>
            <a:ext cx="5560143" cy="1042830"/>
            <a:chOff x="230983" y="1214713"/>
            <a:chExt cx="5560143" cy="104283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72DEFCC-95AB-CB0D-C0EA-1693D12B8DD0}"/>
                </a:ext>
              </a:extLst>
            </p:cNvPr>
            <p:cNvGrpSpPr/>
            <p:nvPr/>
          </p:nvGrpSpPr>
          <p:grpSpPr>
            <a:xfrm>
              <a:off x="230983" y="1214713"/>
              <a:ext cx="4591391" cy="686720"/>
              <a:chOff x="-1089294" y="1349664"/>
              <a:chExt cx="4591391" cy="68672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8A9243F-69C2-0FCD-E2E7-EFA125A13B58}"/>
                  </a:ext>
                </a:extLst>
              </p:cNvPr>
              <p:cNvSpPr txBox="1"/>
              <p:nvPr/>
            </p:nvSpPr>
            <p:spPr>
              <a:xfrm>
                <a:off x="-1089294" y="1349664"/>
                <a:ext cx="1950242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In Title Block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30522F4B-40F3-CDDA-B82F-BE8E24A29451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>
                <a:off x="860948" y="1534330"/>
                <a:ext cx="2641149" cy="50205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809ACCB-E171-7CD7-FCAF-DA4F5B6BE060}"/>
                </a:ext>
              </a:extLst>
            </p:cNvPr>
            <p:cNvSpPr/>
            <p:nvPr/>
          </p:nvSpPr>
          <p:spPr>
            <a:xfrm>
              <a:off x="4822374" y="1863249"/>
              <a:ext cx="968752" cy="394294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5F54750-D60A-C5D7-5F6A-C7BDC1183D65}"/>
              </a:ext>
            </a:extLst>
          </p:cNvPr>
          <p:cNvGrpSpPr/>
          <p:nvPr/>
        </p:nvGrpSpPr>
        <p:grpSpPr>
          <a:xfrm>
            <a:off x="7194154" y="1892806"/>
            <a:ext cx="4590353" cy="369332"/>
            <a:chOff x="7194154" y="1684986"/>
            <a:chExt cx="4590353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2A1C4D9-A029-7177-089E-2C9C3998C2BC}"/>
                </a:ext>
              </a:extLst>
            </p:cNvPr>
            <p:cNvSpPr txBox="1"/>
            <p:nvPr/>
          </p:nvSpPr>
          <p:spPr>
            <a:xfrm>
              <a:off x="9223846" y="1684986"/>
              <a:ext cx="2560661" cy="369332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For Critical Tolerances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3555325-E3FB-D8AD-92F7-59783E5493C9}"/>
                </a:ext>
              </a:extLst>
            </p:cNvPr>
            <p:cNvCxnSpPr>
              <a:cxnSpLocks/>
              <a:stCxn id="7" idx="3"/>
              <a:endCxn id="48" idx="1"/>
            </p:cNvCxnSpPr>
            <p:nvPr/>
          </p:nvCxnSpPr>
          <p:spPr>
            <a:xfrm>
              <a:off x="7194154" y="1859466"/>
              <a:ext cx="2029692" cy="10186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hlinkClick r:id="rId4"/>
            <a:extLst>
              <a:ext uri="{FF2B5EF4-FFF2-40B4-BE49-F238E27FC236}">
                <a16:creationId xmlns:a16="http://schemas.microsoft.com/office/drawing/2014/main" id="{DAF38921-2AB8-7466-F2CD-6FC61E322B02}"/>
              </a:ext>
            </a:extLst>
          </p:cNvPr>
          <p:cNvSpPr txBox="1"/>
          <p:nvPr/>
        </p:nvSpPr>
        <p:spPr>
          <a:xfrm rot="16200000">
            <a:off x="8084720" y="5197485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(PD) U.S. Gov – NAVEDTRA14040A, 2015 </a:t>
            </a:r>
          </a:p>
        </p:txBody>
      </p:sp>
    </p:spTree>
    <p:extLst>
      <p:ext uri="{BB962C8B-B14F-4D97-AF65-F5344CB8AC3E}">
        <p14:creationId xmlns:p14="http://schemas.microsoft.com/office/powerpoint/2010/main" val="320968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38A40-00C6-D7DF-4F73-67985128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FED72D-5A50-7320-AD32-720F3F13D207}"/>
              </a:ext>
            </a:extLst>
          </p:cNvPr>
          <p:cNvSpPr/>
          <p:nvPr/>
        </p:nvSpPr>
        <p:spPr>
          <a:xfrm>
            <a:off x="724958" y="1590674"/>
            <a:ext cx="5260518" cy="407652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0B781-4600-5253-EC81-E6D01B58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Types of Tolerances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3F06D-1ACA-7F00-B7E3-49E192806326}"/>
              </a:ext>
            </a:extLst>
          </p:cNvPr>
          <p:cNvSpPr txBox="1"/>
          <p:nvPr/>
        </p:nvSpPr>
        <p:spPr>
          <a:xfrm>
            <a:off x="724958" y="1581352"/>
            <a:ext cx="5264904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Plus Minus Tolerances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F11F4-B7B2-DAE2-5975-C920F09D6113}"/>
              </a:ext>
            </a:extLst>
          </p:cNvPr>
          <p:cNvSpPr/>
          <p:nvPr/>
        </p:nvSpPr>
        <p:spPr>
          <a:xfrm>
            <a:off x="6797881" y="1581352"/>
            <a:ext cx="4541863" cy="408584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50800" dist="63500" dir="2700000" algn="t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C7835-6A5C-141F-16B6-107A0640846A}"/>
              </a:ext>
            </a:extLst>
          </p:cNvPr>
          <p:cNvSpPr txBox="1"/>
          <p:nvPr/>
        </p:nvSpPr>
        <p:spPr>
          <a:xfrm>
            <a:off x="6797881" y="1590674"/>
            <a:ext cx="4541862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Limit Dimensions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4C921D-9E00-65E0-B715-AC949A230650}"/>
              </a:ext>
            </a:extLst>
          </p:cNvPr>
          <p:cNvSpPr txBox="1"/>
          <p:nvPr/>
        </p:nvSpPr>
        <p:spPr>
          <a:xfrm>
            <a:off x="724959" y="2519288"/>
            <a:ext cx="2630257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Maximum Tolerance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3A06C-A069-7F8F-0226-B109A5796288}"/>
              </a:ext>
            </a:extLst>
          </p:cNvPr>
          <p:cNvSpPr txBox="1"/>
          <p:nvPr/>
        </p:nvSpPr>
        <p:spPr>
          <a:xfrm>
            <a:off x="729344" y="1957103"/>
            <a:ext cx="2630260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Unilateral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DB04DC-8699-F080-A382-306F74A80BEE}"/>
              </a:ext>
            </a:extLst>
          </p:cNvPr>
          <p:cNvGrpSpPr/>
          <p:nvPr/>
        </p:nvGrpSpPr>
        <p:grpSpPr>
          <a:xfrm>
            <a:off x="1160907" y="2975586"/>
            <a:ext cx="1555905" cy="523220"/>
            <a:chOff x="615142" y="2353705"/>
            <a:chExt cx="1555905" cy="52322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55A4159-E5CA-54D5-8BA4-3A2B10E6A1C8}"/>
                </a:ext>
              </a:extLst>
            </p:cNvPr>
            <p:cNvGrpSpPr/>
            <p:nvPr/>
          </p:nvGrpSpPr>
          <p:grpSpPr>
            <a:xfrm>
              <a:off x="615142" y="2434089"/>
              <a:ext cx="1555905" cy="370206"/>
              <a:chOff x="4119936" y="2639643"/>
              <a:chExt cx="1555905" cy="370206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1F0E107-01E9-926E-5470-09C59C86F0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9936" y="2815388"/>
                <a:ext cx="327833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C5125E9-5DF7-3B61-618F-8D55FAED9DD2}"/>
                  </a:ext>
                </a:extLst>
              </p:cNvPr>
              <p:cNvSpPr txBox="1"/>
              <p:nvPr/>
            </p:nvSpPr>
            <p:spPr>
              <a:xfrm>
                <a:off x="4447770" y="2640517"/>
                <a:ext cx="506642" cy="369332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dirty="0"/>
                  <a:t>18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CF41ACF-EC31-EC46-00AE-08EC68EA23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6444" y="2821123"/>
                <a:ext cx="39939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3A4929DA-4952-F875-94B1-1EE40856BC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5072" y="2648059"/>
                <a:ext cx="0" cy="35199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4533D54-ACAD-6B10-B678-31AED2D305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841" y="2639643"/>
                <a:ext cx="0" cy="359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8220577-CC86-EE66-73E4-381980DCA127}"/>
                </a:ext>
              </a:extLst>
            </p:cNvPr>
            <p:cNvSpPr txBox="1"/>
            <p:nvPr/>
          </p:nvSpPr>
          <p:spPr>
            <a:xfrm>
              <a:off x="1232254" y="2353705"/>
              <a:ext cx="658052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sz="1400" dirty="0"/>
                <a:t>+0.03</a:t>
              </a:r>
            </a:p>
            <a:p>
              <a:r>
                <a:rPr lang="en-US" sz="1400" dirty="0"/>
                <a:t>   0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4DC3AC1-6799-9B89-C6DC-F4F3E3882522}"/>
              </a:ext>
            </a:extLst>
          </p:cNvPr>
          <p:cNvGrpSpPr/>
          <p:nvPr/>
        </p:nvGrpSpPr>
        <p:grpSpPr>
          <a:xfrm>
            <a:off x="1198727" y="4452140"/>
            <a:ext cx="1698559" cy="1093526"/>
            <a:chOff x="681815" y="3217594"/>
            <a:chExt cx="1698559" cy="1093526"/>
          </a:xfrm>
        </p:grpSpPr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870EA8A6-DE81-0926-0830-8A9F482C22E0}"/>
                </a:ext>
              </a:extLst>
            </p:cNvPr>
            <p:cNvSpPr/>
            <p:nvPr/>
          </p:nvSpPr>
          <p:spPr>
            <a:xfrm>
              <a:off x="681815" y="3230535"/>
              <a:ext cx="724789" cy="1080585"/>
            </a:xfrm>
            <a:prstGeom prst="arc">
              <a:avLst>
                <a:gd name="adj1" fmla="val 17444213"/>
                <a:gd name="adj2" fmla="val 487352"/>
              </a:avLst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BDF04B6-D220-58F6-43FF-B437EE1B88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817" y="3239147"/>
              <a:ext cx="584257" cy="583461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AECF66E-B4E5-614D-2778-0C0732796A0E}"/>
                </a:ext>
              </a:extLst>
            </p:cNvPr>
            <p:cNvCxnSpPr>
              <a:cxnSpLocks/>
            </p:cNvCxnSpPr>
            <p:nvPr/>
          </p:nvCxnSpPr>
          <p:spPr>
            <a:xfrm>
              <a:off x="681817" y="3822608"/>
              <a:ext cx="80240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9AE0803-5F2B-891C-A281-68EC4EAA57C6}"/>
                </a:ext>
              </a:extLst>
            </p:cNvPr>
            <p:cNvSpPr txBox="1"/>
            <p:nvPr/>
          </p:nvSpPr>
          <p:spPr>
            <a:xfrm>
              <a:off x="1345249" y="3326266"/>
              <a:ext cx="506642" cy="369332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dirty="0"/>
                <a:t>45°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F8B5A00-6945-5917-9489-6E9DFCFFFD4A}"/>
                </a:ext>
              </a:extLst>
            </p:cNvPr>
            <p:cNvSpPr txBox="1"/>
            <p:nvPr/>
          </p:nvSpPr>
          <p:spPr>
            <a:xfrm>
              <a:off x="1722322" y="3217594"/>
              <a:ext cx="658052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sz="1400" dirty="0"/>
                <a:t> 0</a:t>
              </a:r>
            </a:p>
            <a:p>
              <a:r>
                <a:rPr lang="en-US" sz="1400" dirty="0"/>
                <a:t>-0.03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57FE22D-7158-6390-8C1F-F92FC970EC37}"/>
              </a:ext>
            </a:extLst>
          </p:cNvPr>
          <p:cNvSpPr txBox="1"/>
          <p:nvPr/>
        </p:nvSpPr>
        <p:spPr>
          <a:xfrm>
            <a:off x="3359604" y="1957103"/>
            <a:ext cx="2630260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Bilateral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9F65C0F-DCC8-7C23-0686-606334C00C6E}"/>
              </a:ext>
            </a:extLst>
          </p:cNvPr>
          <p:cNvGrpSpPr/>
          <p:nvPr/>
        </p:nvGrpSpPr>
        <p:grpSpPr>
          <a:xfrm>
            <a:off x="3752995" y="3098666"/>
            <a:ext cx="1636184" cy="369332"/>
            <a:chOff x="615142" y="2434963"/>
            <a:chExt cx="1636184" cy="36933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416AC55-11DF-039B-7231-4E559A62F85D}"/>
                </a:ext>
              </a:extLst>
            </p:cNvPr>
            <p:cNvGrpSpPr/>
            <p:nvPr/>
          </p:nvGrpSpPr>
          <p:grpSpPr>
            <a:xfrm>
              <a:off x="615142" y="2434963"/>
              <a:ext cx="1636184" cy="369332"/>
              <a:chOff x="4119936" y="2640517"/>
              <a:chExt cx="1636184" cy="369332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04CF808-02E8-D484-25E0-FF4DAA07B1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9936" y="2815388"/>
                <a:ext cx="327833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D38AF58-7BC1-9018-20CC-6E239F9B06EF}"/>
                  </a:ext>
                </a:extLst>
              </p:cNvPr>
              <p:cNvSpPr txBox="1"/>
              <p:nvPr/>
            </p:nvSpPr>
            <p:spPr>
              <a:xfrm>
                <a:off x="4447770" y="2640517"/>
                <a:ext cx="506642" cy="369332"/>
              </a:xfrm>
              <a:prstGeom prst="rect">
                <a:avLst/>
              </a:prstGeom>
              <a:noFill/>
            </p:spPr>
            <p:txBody>
              <a:bodyPr wrap="square" lIns="45720" rIns="45720" rtlCol="0">
                <a:spAutoFit/>
              </a:bodyPr>
              <a:lstStyle/>
              <a:p>
                <a:r>
                  <a:rPr lang="en-US" dirty="0"/>
                  <a:t>18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0DE4A28-C154-7BB9-DA19-8DE71884AC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56723" y="2824055"/>
                <a:ext cx="39939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  <a:tailEnd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22FE4D0-E465-E398-708D-A305D0CADF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5072" y="2648059"/>
                <a:ext cx="0" cy="351993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08F4FD9-365E-E8B0-7697-FCDD7FD463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56120" y="2642575"/>
                <a:ext cx="0" cy="359535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BA2971F-A45E-EABF-AA73-5A5A125D0600}"/>
                </a:ext>
              </a:extLst>
            </p:cNvPr>
            <p:cNvSpPr txBox="1"/>
            <p:nvPr/>
          </p:nvSpPr>
          <p:spPr>
            <a:xfrm>
              <a:off x="1193877" y="2449016"/>
              <a:ext cx="658052" cy="307777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sz="1400" dirty="0"/>
                <a:t>+/-0.02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B0B7E0D-D3B3-A538-D81E-B94F04DCC751}"/>
              </a:ext>
            </a:extLst>
          </p:cNvPr>
          <p:cNvGrpSpPr/>
          <p:nvPr/>
        </p:nvGrpSpPr>
        <p:grpSpPr>
          <a:xfrm>
            <a:off x="3756762" y="4435067"/>
            <a:ext cx="1756988" cy="1080585"/>
            <a:chOff x="534102" y="3268664"/>
            <a:chExt cx="1756988" cy="1080585"/>
          </a:xfrm>
        </p:grpSpPr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A36384CC-3FB2-1EAF-B567-959A8EE54195}"/>
                </a:ext>
              </a:extLst>
            </p:cNvPr>
            <p:cNvSpPr/>
            <p:nvPr/>
          </p:nvSpPr>
          <p:spPr>
            <a:xfrm>
              <a:off x="534102" y="3268664"/>
              <a:ext cx="724789" cy="1080585"/>
            </a:xfrm>
            <a:prstGeom prst="arc">
              <a:avLst>
                <a:gd name="adj1" fmla="val 17444213"/>
                <a:gd name="adj2" fmla="val 487352"/>
              </a:avLst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9189688A-3FCA-CD8F-5C57-B2A7BDBCE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104" y="3277276"/>
              <a:ext cx="584257" cy="583461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D2A0101-6E7F-4F4F-6234-44E587A3D615}"/>
                </a:ext>
              </a:extLst>
            </p:cNvPr>
            <p:cNvCxnSpPr>
              <a:cxnSpLocks/>
            </p:cNvCxnSpPr>
            <p:nvPr/>
          </p:nvCxnSpPr>
          <p:spPr>
            <a:xfrm>
              <a:off x="534104" y="3860737"/>
              <a:ext cx="80240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B121767-035A-5859-89BA-1E1BF4B52363}"/>
                </a:ext>
              </a:extLst>
            </p:cNvPr>
            <p:cNvSpPr txBox="1"/>
            <p:nvPr/>
          </p:nvSpPr>
          <p:spPr>
            <a:xfrm>
              <a:off x="1197535" y="3364395"/>
              <a:ext cx="1093555" cy="369332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dirty="0"/>
                <a:t>45° </a:t>
              </a:r>
              <a:r>
                <a:rPr lang="en-US" sz="1400" dirty="0"/>
                <a:t>+/-0.02</a:t>
              </a:r>
              <a:endParaRPr lang="en-US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3B6A2FE-3C63-8365-DA4B-482ABBFBB6D1}"/>
              </a:ext>
            </a:extLst>
          </p:cNvPr>
          <p:cNvGrpSpPr/>
          <p:nvPr/>
        </p:nvGrpSpPr>
        <p:grpSpPr>
          <a:xfrm>
            <a:off x="7118643" y="2380788"/>
            <a:ext cx="1406383" cy="646331"/>
            <a:chOff x="6292178" y="1854247"/>
            <a:chExt cx="1406383" cy="646331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0DB9E2C-F14C-F075-8FD3-F37B028D0A37}"/>
                </a:ext>
              </a:extLst>
            </p:cNvPr>
            <p:cNvCxnSpPr>
              <a:cxnSpLocks/>
            </p:cNvCxnSpPr>
            <p:nvPr/>
          </p:nvCxnSpPr>
          <p:spPr>
            <a:xfrm>
              <a:off x="6292178" y="2161450"/>
              <a:ext cx="1404022" cy="0"/>
            </a:xfrm>
            <a:prstGeom prst="line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C0BDF3D-B6EE-1EB9-5666-F18059882A70}"/>
                </a:ext>
              </a:extLst>
            </p:cNvPr>
            <p:cNvSpPr txBox="1"/>
            <p:nvPr/>
          </p:nvSpPr>
          <p:spPr>
            <a:xfrm>
              <a:off x="6704677" y="1854247"/>
              <a:ext cx="579024" cy="646331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dirty="0"/>
                <a:t>26.9</a:t>
              </a:r>
            </a:p>
            <a:p>
              <a:r>
                <a:rPr lang="en-US" dirty="0"/>
                <a:t>26.6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FB0CC52-3E98-6D70-BADF-8A4F039E3F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2178" y="2086928"/>
              <a:ext cx="0" cy="31688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0D5BAB4-08EC-2224-54FC-86EBCC0EE7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5020" y="2086928"/>
              <a:ext cx="3541" cy="316885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" name="Picture 107">
            <a:extLst>
              <a:ext uri="{FF2B5EF4-FFF2-40B4-BE49-F238E27FC236}">
                <a16:creationId xmlns:a16="http://schemas.microsoft.com/office/drawing/2014/main" id="{19B1997B-2819-69F7-C113-26EB42DE4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87" y="2918031"/>
            <a:ext cx="2397804" cy="2597621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F9F490D-E24E-6EF1-159C-88D168E4223D}"/>
              </a:ext>
            </a:extLst>
          </p:cNvPr>
          <p:cNvCxnSpPr>
            <a:cxnSpLocks/>
            <a:stCxn id="4" idx="2"/>
            <a:endCxn id="5" idx="2"/>
          </p:cNvCxnSpPr>
          <p:nvPr/>
        </p:nvCxnSpPr>
        <p:spPr>
          <a:xfrm flipV="1">
            <a:off x="3355217" y="1950684"/>
            <a:ext cx="2193" cy="3716511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848D1EE7-C263-87D3-F9F6-33E2936B6EFD}"/>
              </a:ext>
            </a:extLst>
          </p:cNvPr>
          <p:cNvSpPr txBox="1"/>
          <p:nvPr/>
        </p:nvSpPr>
        <p:spPr>
          <a:xfrm>
            <a:off x="726667" y="3933511"/>
            <a:ext cx="2630257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Minimum Tolerance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A824B-29FF-D1E9-669D-0237E36181FB}"/>
              </a:ext>
            </a:extLst>
          </p:cNvPr>
          <p:cNvSpPr txBox="1"/>
          <p:nvPr/>
        </p:nvSpPr>
        <p:spPr>
          <a:xfrm>
            <a:off x="10183204" y="5702509"/>
            <a:ext cx="1156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24A252-D43D-AC38-EB9C-BBB660FABECA}"/>
              </a:ext>
            </a:extLst>
          </p:cNvPr>
          <p:cNvSpPr txBox="1"/>
          <p:nvPr/>
        </p:nvSpPr>
        <p:spPr>
          <a:xfrm>
            <a:off x="4828937" y="5702509"/>
            <a:ext cx="1156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</p:spTree>
    <p:extLst>
      <p:ext uri="{BB962C8B-B14F-4D97-AF65-F5344CB8AC3E}">
        <p14:creationId xmlns:p14="http://schemas.microsoft.com/office/powerpoint/2010/main" val="190914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26" grpId="0" animBg="1"/>
      <p:bldP spid="27" grpId="0" animBg="1"/>
      <p:bldP spid="116" grpId="0" animBg="1"/>
      <p:bldP spid="3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667-F60C-09F7-1D40-C1DD8683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89CC-6FFF-1BFA-274F-DAC5F31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1099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39C2-7BF2-36AE-DF8B-9AD9A2AE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63DA-D582-3FF9-0739-41B56CC4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10E-01CE-A881-32E2-EC2E8F0A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43000"/>
            <a:ext cx="5650786" cy="578773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Q1: What are numeric distance measurements on a blueprint called?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Dimensions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Q2:</a:t>
            </a:r>
            <a:r>
              <a:rPr lang="en-US" sz="2000" dirty="0"/>
              <a:t> </a:t>
            </a:r>
            <a:r>
              <a:rPr lang="en-US" sz="2000" b="1" dirty="0"/>
              <a:t>What is the type of line connecting a note to a drawing object (e.g.: a to a hole)?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Leader Line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Q3: What type of dimension shows linear length, or diameter, or radius?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</a:t>
            </a:r>
            <a:r>
              <a:rPr lang="en-US" sz="2000" dirty="0"/>
              <a:t>: Size Dimensions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Q4: What type of dimension shows where the center of a hole is relative to the corner of an object?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Position Dimensions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07E9-686C-16E6-DE07-31A3DC967A79}"/>
              </a:ext>
            </a:extLst>
          </p:cNvPr>
          <p:cNvSpPr txBox="1">
            <a:spLocks/>
          </p:cNvSpPr>
          <p:nvPr/>
        </p:nvSpPr>
        <p:spPr>
          <a:xfrm>
            <a:off x="6236413" y="365126"/>
            <a:ext cx="5650786" cy="6492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Q5: What type of dimension shows the angle of one element relative to another?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Angle Dimensions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Q6: What type of dimensioning shows relative size, one piece to another in a single set of connected lines?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Chain Dimensioning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Q7: What type of dimensioning shows absolute size from a single reference point or surface for each piece?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it-IT" sz="2000" dirty="0"/>
              <a:t>Baseline Dimensioning </a:t>
            </a:r>
            <a:br>
              <a:rPr lang="it-IT" sz="2000" dirty="0"/>
            </a:br>
            <a:r>
              <a:rPr lang="it-IT" sz="2000" dirty="0"/>
              <a:t>(or Datum Dimensioning)</a:t>
            </a: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Q8: What are allowable variations in a measurement?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Tolerances</a:t>
            </a:r>
          </a:p>
        </p:txBody>
      </p:sp>
    </p:spTree>
    <p:extLst>
      <p:ext uri="{BB962C8B-B14F-4D97-AF65-F5344CB8AC3E}">
        <p14:creationId xmlns:p14="http://schemas.microsoft.com/office/powerpoint/2010/main" val="164679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BD386-F28D-36DA-9915-C07D9996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15A2-D141-9335-665B-DE44D972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(Q9-Q14)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DA8A2-A073-0314-F356-565FA152A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43000"/>
            <a:ext cx="5650786" cy="57877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Q9: Y/N: Tolerances can be located in the Title Block?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Yes.  Typical tolerances can be listed in the Title Block grid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Q10:</a:t>
            </a:r>
            <a:r>
              <a:rPr lang="en-US" sz="2000" dirty="0"/>
              <a:t> </a:t>
            </a:r>
            <a:r>
              <a:rPr lang="en-US" sz="2000" b="1" dirty="0"/>
              <a:t>Y/N: Tolerances can be located in the Notes?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Yes.  Typical tolerances can also be listed with more detail in the Notes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Q11: Y/N: Tolerances can be listed on the drawing object?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</a:t>
            </a:r>
            <a:r>
              <a:rPr lang="en-US" sz="2000" dirty="0"/>
              <a:t>: Yes.  The critical tolerances are called out specifically with dimension and extension lines in the drawing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Q12: What type of tolerance is "20  0  +0.03"?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Maximum Unilateral Tolerances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FD4F78D-02E3-3963-01A8-81DD9C522EEC}"/>
              </a:ext>
            </a:extLst>
          </p:cNvPr>
          <p:cNvSpPr txBox="1">
            <a:spLocks/>
          </p:cNvSpPr>
          <p:nvPr/>
        </p:nvSpPr>
        <p:spPr>
          <a:xfrm>
            <a:off x="6236413" y="365126"/>
            <a:ext cx="5650786" cy="558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Q13: What type of tolerance is "20  -0.03  0"?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Minimum Unilateral Tolerances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Q14: What type of tolerance is "20 +/- 0.02"?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Bilateral Tolerances</a:t>
            </a:r>
          </a:p>
        </p:txBody>
      </p:sp>
    </p:spTree>
    <p:extLst>
      <p:ext uri="{BB962C8B-B14F-4D97-AF65-F5344CB8AC3E}">
        <p14:creationId xmlns:p14="http://schemas.microsoft.com/office/powerpoint/2010/main" val="409826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309-79B3-0066-BB56-E79235F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C3B1-808A-C5C9-BBB6-F06FDC83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696" y="1893712"/>
            <a:ext cx="8966607" cy="153528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9C698-DE27-F888-6BAA-48C0C4FE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133" y="5258927"/>
            <a:ext cx="8966607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/>
            <a:r>
              <a:rPr lang="pl-PL" sz="2000" dirty="0">
                <a:solidFill>
                  <a:schemeClr val="bg1"/>
                </a:solidFill>
              </a:rPr>
              <a:t>Matt Pierce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mpierce710006@gmail.com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linkedin.com/in/mpiercead576/</a:t>
            </a:r>
          </a:p>
          <a:p>
            <a:pPr algn="l"/>
            <a:r>
              <a:rPr lang="pl-PL" sz="2000" dirty="0">
                <a:solidFill>
                  <a:schemeClr val="bg1"/>
                </a:solidFill>
                <a:hlinkClick r:id="rId3"/>
              </a:rPr>
              <a:t>https://github.com/DataResearchLabs/study_guide_intro_aerospace_mfg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439251-0FA5-4222-2534-EC4CD92AB89C}"/>
              </a:ext>
            </a:extLst>
          </p:cNvPr>
          <p:cNvCxnSpPr>
            <a:cxnSpLocks/>
          </p:cNvCxnSpPr>
          <p:nvPr/>
        </p:nvCxnSpPr>
        <p:spPr>
          <a:xfrm>
            <a:off x="0" y="472722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2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6972</TotalTime>
  <Words>850</Words>
  <Application>Microsoft Office PowerPoint</Application>
  <PresentationFormat>Widescreen</PresentationFormat>
  <Paragraphs>156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Dimensions &amp; Tolerances</vt:lpstr>
      <vt:lpstr>Dimensions</vt:lpstr>
      <vt:lpstr>Dimensions: Overview</vt:lpstr>
      <vt:lpstr>Dimension Types: “Size”  (1 of 3)</vt:lpstr>
      <vt:lpstr>Dimension Types: “Position”  (2 of 3)</vt:lpstr>
      <vt:lpstr>Dimension Types: “Angle”  (3 of 3)</vt:lpstr>
      <vt:lpstr>“Chain” vs. “Baseline/Datum” Dimensioning</vt:lpstr>
      <vt:lpstr>Tolerances</vt:lpstr>
      <vt:lpstr>Definition of Tolerances</vt:lpstr>
      <vt:lpstr>Location of Tolerances on Blueprint</vt:lpstr>
      <vt:lpstr>Types of Tolerances</vt:lpstr>
      <vt:lpstr>Q&amp;A</vt:lpstr>
      <vt:lpstr>Practice Q&amp;A’s  (Q1-Q8)</vt:lpstr>
      <vt:lpstr>Practice Q&amp;A’s  (Q9-Q14)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Pierce</dc:creator>
  <cp:lastModifiedBy>Matt Pierce</cp:lastModifiedBy>
  <cp:revision>259</cp:revision>
  <dcterms:created xsi:type="dcterms:W3CDTF">2026-02-02T22:48:01Z</dcterms:created>
  <dcterms:modified xsi:type="dcterms:W3CDTF">2026-02-27T02:49:51Z</dcterms:modified>
</cp:coreProperties>
</file>