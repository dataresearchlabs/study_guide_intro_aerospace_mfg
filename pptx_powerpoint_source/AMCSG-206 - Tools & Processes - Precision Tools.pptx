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15" r:id="rId2"/>
    <p:sldId id="268" r:id="rId3"/>
    <p:sldId id="257" r:id="rId4"/>
    <p:sldId id="269" r:id="rId5"/>
    <p:sldId id="270" r:id="rId6"/>
    <p:sldId id="271" r:id="rId7"/>
    <p:sldId id="280" r:id="rId8"/>
    <p:sldId id="272" r:id="rId9"/>
    <p:sldId id="273" r:id="rId10"/>
    <p:sldId id="274" r:id="rId11"/>
    <p:sldId id="275" r:id="rId12"/>
    <p:sldId id="276" r:id="rId13"/>
    <p:sldId id="277" r:id="rId14"/>
    <p:sldId id="278" r:id="rId15"/>
    <p:sldId id="279" r:id="rId16"/>
    <p:sldId id="317" r:id="rId17"/>
    <p:sldId id="318" r:id="rId18"/>
    <p:sldId id="319" r:id="rId19"/>
    <p:sldId id="320" r:id="rId20"/>
    <p:sldId id="30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1" autoAdjust="0"/>
    <p:restoredTop sz="89691" autoAdjust="0"/>
  </p:normalViewPr>
  <p:slideViewPr>
    <p:cSldViewPr snapToGrid="0">
      <p:cViewPr varScale="1">
        <p:scale>
          <a:sx n="62" d="100"/>
          <a:sy n="62" d="100"/>
        </p:scale>
        <p:origin x="83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98CB6-2C88-401C-AAD5-2FFED2D64E9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5D55C3-6A65-407E-9BFF-B66438A6525E}" type="slidenum">
              <a:rPr lang="en-US" smtClean="0"/>
              <a:t>‹#›</a:t>
            </a:fld>
            <a:endParaRPr lang="en-US"/>
          </a:p>
        </p:txBody>
      </p:sp>
    </p:spTree>
    <p:extLst>
      <p:ext uri="{BB962C8B-B14F-4D97-AF65-F5344CB8AC3E}">
        <p14:creationId xmlns:p14="http://schemas.microsoft.com/office/powerpoint/2010/main" val="39131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1</a:t>
            </a:fld>
            <a:endParaRPr lang="en-US"/>
          </a:p>
        </p:txBody>
      </p:sp>
    </p:spTree>
    <p:extLst>
      <p:ext uri="{BB962C8B-B14F-4D97-AF65-F5344CB8AC3E}">
        <p14:creationId xmlns:p14="http://schemas.microsoft.com/office/powerpoint/2010/main" val="205662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“write a pictorial guide to the general use of precision instruments in aerospace manufacturing. Define "Precision and Accuracy". Define "Environment" (especially temperature expanding metal). Define "cleanliness" (dirty parts hard to measure). Define "accuracy" and "calibration" and use of "masters". Define "measurement tool discrimination". Define "resolution". Define how to take a measurement from the "reference point" to the "measurement point" to get the "measurement distance“”</a:t>
            </a:r>
            <a:br>
              <a:rPr lang="en-US" dirty="0"/>
            </a:b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diagram showing the difference between (1) Precision (repeatability), (2) Accuracy (Trueness), and (3) Accuracy vs. Precision. Context is aircraft manufacturing precision tools like a caliper or a micrometer.“</a:t>
            </a:r>
            <a:br>
              <a:rPr lang="en-US" dirty="0"/>
            </a:br>
            <a:r>
              <a:rPr lang="en-US" dirty="0"/>
              <a:t>+ Remove the picture of a caliper. Remove the picture of a micrometer. Make the bullseye a green dot everywhere</a:t>
            </a:r>
            <a:br>
              <a:rPr lang="en-US" dirty="0"/>
            </a:br>
            <a:r>
              <a:rPr lang="en-US" dirty="0"/>
              <a:t>+ In picture #2, make the red dot appear dead center in the green dot. Make the title for picture #3 the same red color as pictures #1 an #2.</a:t>
            </a:r>
            <a:br>
              <a:rPr lang="en-US" dirty="0"/>
            </a:br>
            <a:r>
              <a:rPr lang="en-US" dirty="0"/>
              <a:t>+ Remove the red titles. Make the red dot in picture #2 same size as red dots in picture #1.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br>
              <a:rPr lang="en-US" dirty="0"/>
            </a:br>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3</a:t>
            </a:fld>
            <a:endParaRPr lang="en-US"/>
          </a:p>
        </p:txBody>
      </p:sp>
    </p:spTree>
    <p:extLst>
      <p:ext uri="{BB962C8B-B14F-4D97-AF65-F5344CB8AC3E}">
        <p14:creationId xmlns:p14="http://schemas.microsoft.com/office/powerpoint/2010/main" val="2955179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C320-FD65-0165-B51B-658145871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F19D8-B02B-1112-DEAD-3C69B57FB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FC4E7-BDF9-4920-813F-DBFC401D1CEE}"/>
              </a:ext>
            </a:extLst>
          </p:cNvPr>
          <p:cNvSpPr>
            <a:spLocks noGrp="1"/>
          </p:cNvSpPr>
          <p:nvPr>
            <p:ph type="body" idx="1"/>
          </p:nvPr>
        </p:nvSpPr>
        <p:spPr/>
        <p:txBody>
          <a:bodyPr/>
          <a:lstStyle/>
          <a:p>
            <a:r>
              <a:rPr lang="en-US" dirty="0"/>
              <a:t>ChatGPT: Make a diagram showing 4 factors that influence precision and accuracy of aircraft manufacturing precision tools: 1. Temperature (part expands or contracts) 2. Cleanliness (dirt and debris clutter measurement) 3. Instrument Quality (cheap tool = bad measurement) 4. Training (use it wrong or read it wrong = bad measurement)</a:t>
            </a:r>
            <a:br>
              <a:rPr lang="en-US" dirty="0"/>
            </a:br>
            <a:r>
              <a:rPr lang="en-US" dirty="0"/>
              <a:t>+ Remove the blue title. </a:t>
            </a:r>
          </a:p>
          <a:p>
            <a:r>
              <a:rPr lang="en-US" dirty="0"/>
              <a:t>+ Change title from "Use It Wrong or Read it Wrong" to "Use/Read/Do It Wrong".</a:t>
            </a:r>
          </a:p>
          <a:p>
            <a:r>
              <a:rPr lang="en-US" dirty="0"/>
              <a:t>+ Change tool in picture "Instrument Quality" to a really cheap "Micrometer" that is the cheapest model out there with few options and poor quality.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Make the micrometer in the lower left picture made out of plastic and like a kids toy.</a:t>
            </a:r>
          </a:p>
          <a:p>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lang="en-US" dirty="0"/>
            </a:br>
            <a:endParaRPr lang="en-US" dirty="0"/>
          </a:p>
        </p:txBody>
      </p:sp>
      <p:sp>
        <p:nvSpPr>
          <p:cNvPr id="4" name="Slide Number Placeholder 3">
            <a:extLst>
              <a:ext uri="{FF2B5EF4-FFF2-40B4-BE49-F238E27FC236}">
                <a16:creationId xmlns:a16="http://schemas.microsoft.com/office/drawing/2014/main" id="{BF86B816-1481-2FC5-341D-A2C9F9929C09}"/>
              </a:ext>
            </a:extLst>
          </p:cNvPr>
          <p:cNvSpPr>
            <a:spLocks noGrp="1"/>
          </p:cNvSpPr>
          <p:nvPr>
            <p:ph type="sldNum" sz="quarter" idx="5"/>
          </p:nvPr>
        </p:nvSpPr>
        <p:spPr/>
        <p:txBody>
          <a:bodyPr/>
          <a:lstStyle/>
          <a:p>
            <a:fld id="{8D6C5DC3-924D-4CCC-8AC2-C41F495DFCEC}" type="slidenum">
              <a:rPr lang="en-US" smtClean="0"/>
              <a:t>4</a:t>
            </a:fld>
            <a:endParaRPr lang="en-US"/>
          </a:p>
        </p:txBody>
      </p:sp>
    </p:spTree>
    <p:extLst>
      <p:ext uri="{BB962C8B-B14F-4D97-AF65-F5344CB8AC3E}">
        <p14:creationId xmlns:p14="http://schemas.microsoft.com/office/powerpoint/2010/main" val="3698567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084BD-6F4F-AE3C-3651-EDDF4320B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2670F-D205-A07C-DB61-52F3AF7B1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AF0D0A-5680-8CBD-975E-0F4A841BCA66}"/>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diagram using a precision instrument like a caliper or micrometer that shows the difference between "resolution" (smallest readable unit of measure) and "discrimination" (smallest value instrument can measure)</a:t>
            </a:r>
            <a:br>
              <a:rPr lang="en-US" dirty="0"/>
            </a:br>
            <a:r>
              <a:rPr lang="en-US" dirty="0"/>
              <a:t>+ redo the diagram using same instruments, but instead emphasize that an instrument may imply it has great resolution, but its actual discrimination (ability to accurately measure) is less than the resolution. </a:t>
            </a:r>
            <a:br>
              <a:rPr lang="en-US" dirty="0"/>
            </a:br>
            <a:r>
              <a:rPr lang="en-US" dirty="0"/>
              <a:t>+ show the micrometer instrument on the right side measuring the same part as the caliper on the left side. color the part being measured by each tool in bright blue.</a:t>
            </a:r>
          </a:p>
        </p:txBody>
      </p:sp>
      <p:sp>
        <p:nvSpPr>
          <p:cNvPr id="4" name="Slide Number Placeholder 3">
            <a:extLst>
              <a:ext uri="{FF2B5EF4-FFF2-40B4-BE49-F238E27FC236}">
                <a16:creationId xmlns:a16="http://schemas.microsoft.com/office/drawing/2014/main" id="{4179D0CF-E882-D76E-37F1-E19BBE595A21}"/>
              </a:ext>
            </a:extLst>
          </p:cNvPr>
          <p:cNvSpPr>
            <a:spLocks noGrp="1"/>
          </p:cNvSpPr>
          <p:nvPr>
            <p:ph type="sldNum" sz="quarter" idx="5"/>
          </p:nvPr>
        </p:nvSpPr>
        <p:spPr/>
        <p:txBody>
          <a:bodyPr/>
          <a:lstStyle/>
          <a:p>
            <a:fld id="{8D6C5DC3-924D-4CCC-8AC2-C41F495DFCEC}" type="slidenum">
              <a:rPr lang="en-US" smtClean="0"/>
              <a:t>5</a:t>
            </a:fld>
            <a:endParaRPr lang="en-US"/>
          </a:p>
        </p:txBody>
      </p:sp>
    </p:spTree>
    <p:extLst>
      <p:ext uri="{BB962C8B-B14F-4D97-AF65-F5344CB8AC3E}">
        <p14:creationId xmlns:p14="http://schemas.microsoft.com/office/powerpoint/2010/main" val="434972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76D6-9237-2FA9-23FC-C9E1D48AB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73CFF-05C1-D85B-E03B-0E75192B5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67CD-2346-7B74-B7E9-D408089337E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diagram comparing a micrometer measuring a bright blue cylinder on the right, and a caliper measuring the same blue cylinder on the left. </a:t>
            </a:r>
          </a:p>
        </p:txBody>
      </p:sp>
      <p:sp>
        <p:nvSpPr>
          <p:cNvPr id="4" name="Slide Number Placeholder 3">
            <a:extLst>
              <a:ext uri="{FF2B5EF4-FFF2-40B4-BE49-F238E27FC236}">
                <a16:creationId xmlns:a16="http://schemas.microsoft.com/office/drawing/2014/main" id="{200E9470-C012-4D07-0419-82A2281906E8}"/>
              </a:ext>
            </a:extLst>
          </p:cNvPr>
          <p:cNvSpPr>
            <a:spLocks noGrp="1"/>
          </p:cNvSpPr>
          <p:nvPr>
            <p:ph type="sldNum" sz="quarter" idx="5"/>
          </p:nvPr>
        </p:nvSpPr>
        <p:spPr/>
        <p:txBody>
          <a:bodyPr/>
          <a:lstStyle/>
          <a:p>
            <a:fld id="{8D6C5DC3-924D-4CCC-8AC2-C41F495DFCEC}" type="slidenum">
              <a:rPr lang="en-US" smtClean="0"/>
              <a:t>6</a:t>
            </a:fld>
            <a:endParaRPr lang="en-US"/>
          </a:p>
        </p:txBody>
      </p:sp>
    </p:spTree>
    <p:extLst>
      <p:ext uri="{BB962C8B-B14F-4D97-AF65-F5344CB8AC3E}">
        <p14:creationId xmlns:p14="http://schemas.microsoft.com/office/powerpoint/2010/main" val="2382092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3D910-E4B4-36C4-A0E6-20BCA607B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C511C-A7B3-346C-69E0-6CC21B507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A400C-7F70-A020-AA33-553413BC905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diagram of a metal rule (not a ruler).  make it standing vertical.  make the digits increment from 1" to 12" in one inch increments.</a:t>
            </a:r>
          </a:p>
        </p:txBody>
      </p:sp>
      <p:sp>
        <p:nvSpPr>
          <p:cNvPr id="4" name="Slide Number Placeholder 3">
            <a:extLst>
              <a:ext uri="{FF2B5EF4-FFF2-40B4-BE49-F238E27FC236}">
                <a16:creationId xmlns:a16="http://schemas.microsoft.com/office/drawing/2014/main" id="{CC4F7917-8F2B-78DF-D8B3-F0B335DF4F76}"/>
              </a:ext>
            </a:extLst>
          </p:cNvPr>
          <p:cNvSpPr>
            <a:spLocks noGrp="1"/>
          </p:cNvSpPr>
          <p:nvPr>
            <p:ph type="sldNum" sz="quarter" idx="5"/>
          </p:nvPr>
        </p:nvSpPr>
        <p:spPr/>
        <p:txBody>
          <a:bodyPr/>
          <a:lstStyle/>
          <a:p>
            <a:fld id="{8D6C5DC3-924D-4CCC-8AC2-C41F495DFCEC}" type="slidenum">
              <a:rPr lang="en-US" smtClean="0"/>
              <a:t>8</a:t>
            </a:fld>
            <a:endParaRPr lang="en-US"/>
          </a:p>
        </p:txBody>
      </p:sp>
    </p:spTree>
    <p:extLst>
      <p:ext uri="{BB962C8B-B14F-4D97-AF65-F5344CB8AC3E}">
        <p14:creationId xmlns:p14="http://schemas.microsoft.com/office/powerpoint/2010/main" val="1752813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73C7-4E79-11C3-31B7-62DA58CBA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9CDA9-06C1-CB74-8412-20DC2BC9E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8E44D-9625-81AA-AAC5-C9F4C3AFB04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single diagram showing the parts of a dial caliper</a:t>
            </a:r>
            <a:br>
              <a:rPr lang="en-US" dirty="0"/>
            </a:br>
            <a:r>
              <a:rPr lang="en-US" dirty="0"/>
              <a:t>+ Use picture #3. Remove metrics measurements everywhere.</a:t>
            </a:r>
            <a:br>
              <a:rPr lang="en-US" dirty="0"/>
            </a:br>
            <a:r>
              <a:rPr lang="en-US" dirty="0"/>
              <a:t>+ Remove all labels and arrows.</a:t>
            </a:r>
            <a:br>
              <a:rPr lang="en-US" dirty="0"/>
            </a:br>
            <a:r>
              <a:rPr lang="en-US" dirty="0"/>
              <a:t>+ Add a blowup image showing the value measured, including the vernier scale, the main scale and how the reading is taken</a:t>
            </a:r>
            <a:br>
              <a:rPr lang="en-US" dirty="0"/>
            </a:br>
            <a:r>
              <a:rPr lang="en-US" dirty="0"/>
              <a:t>+ make the yellow dial background all white</a:t>
            </a:r>
            <a:br>
              <a:rPr lang="en-US" dirty="0"/>
            </a:br>
            <a:r>
              <a:rPr lang="en-US" dirty="0"/>
              <a:t>+ make the dial indicator go from 0 to 100</a:t>
            </a:r>
            <a:br>
              <a:rPr lang="en-US" dirty="0"/>
            </a:br>
            <a:r>
              <a:rPr lang="en-US" dirty="0"/>
              <a:t>+ change the dial indicator numeric values to the following in clockwise order starting from 0 at the top: 10, 20, 30, 40, 50, 60, 70, 80, 90.   Use only 10 numbers (not 11 as is currently shown)</a:t>
            </a:r>
          </a:p>
        </p:txBody>
      </p:sp>
      <p:sp>
        <p:nvSpPr>
          <p:cNvPr id="4" name="Slide Number Placeholder 3">
            <a:extLst>
              <a:ext uri="{FF2B5EF4-FFF2-40B4-BE49-F238E27FC236}">
                <a16:creationId xmlns:a16="http://schemas.microsoft.com/office/drawing/2014/main" id="{15570198-01ED-A4DF-4E58-DDFE826AACC3}"/>
              </a:ext>
            </a:extLst>
          </p:cNvPr>
          <p:cNvSpPr>
            <a:spLocks noGrp="1"/>
          </p:cNvSpPr>
          <p:nvPr>
            <p:ph type="sldNum" sz="quarter" idx="5"/>
          </p:nvPr>
        </p:nvSpPr>
        <p:spPr/>
        <p:txBody>
          <a:bodyPr/>
          <a:lstStyle/>
          <a:p>
            <a:fld id="{8D6C5DC3-924D-4CCC-8AC2-C41F495DFCEC}" type="slidenum">
              <a:rPr lang="en-US" smtClean="0"/>
              <a:t>9</a:t>
            </a:fld>
            <a:endParaRPr lang="en-US"/>
          </a:p>
        </p:txBody>
      </p:sp>
    </p:spTree>
    <p:extLst>
      <p:ext uri="{BB962C8B-B14F-4D97-AF65-F5344CB8AC3E}">
        <p14:creationId xmlns:p14="http://schemas.microsoft.com/office/powerpoint/2010/main" val="1761373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3472D-B7A2-98EB-3D1A-2DB05CF63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3C947-1A38-396B-5273-C074EBB39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E0C4D-5C09-774F-C61A-37AED6DB6AD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“how to read a dial caliper”</a:t>
            </a:r>
          </a:p>
        </p:txBody>
      </p:sp>
      <p:sp>
        <p:nvSpPr>
          <p:cNvPr id="4" name="Slide Number Placeholder 3">
            <a:extLst>
              <a:ext uri="{FF2B5EF4-FFF2-40B4-BE49-F238E27FC236}">
                <a16:creationId xmlns:a16="http://schemas.microsoft.com/office/drawing/2014/main" id="{53EB429F-5EEE-244B-07A1-9B1535FE25C2}"/>
              </a:ext>
            </a:extLst>
          </p:cNvPr>
          <p:cNvSpPr>
            <a:spLocks noGrp="1"/>
          </p:cNvSpPr>
          <p:nvPr>
            <p:ph type="sldNum" sz="quarter" idx="5"/>
          </p:nvPr>
        </p:nvSpPr>
        <p:spPr/>
        <p:txBody>
          <a:bodyPr/>
          <a:lstStyle/>
          <a:p>
            <a:fld id="{8D6C5DC3-924D-4CCC-8AC2-C41F495DFCEC}" type="slidenum">
              <a:rPr lang="en-US" smtClean="0"/>
              <a:t>10</a:t>
            </a:fld>
            <a:endParaRPr lang="en-US"/>
          </a:p>
        </p:txBody>
      </p:sp>
    </p:spTree>
    <p:extLst>
      <p:ext uri="{BB962C8B-B14F-4D97-AF65-F5344CB8AC3E}">
        <p14:creationId xmlns:p14="http://schemas.microsoft.com/office/powerpoint/2010/main" val="2314553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94C8D-C54D-E48D-D3E2-CDFECD7FCA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BECC7-4234-5500-E740-D6108AC86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DC0AE-F0DB-757F-0EE2-6C2AADBA246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single diagram showing the parts of a micrometer</a:t>
            </a:r>
            <a:br>
              <a:rPr lang="en-US" dirty="0"/>
            </a:br>
            <a:r>
              <a:rPr lang="en-US" dirty="0"/>
              <a:t>+ Remove all labels, show only the micrometer for picture #2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DEE86727-028B-2C4D-74E6-41C4CA8FA6B6}"/>
              </a:ext>
            </a:extLst>
          </p:cNvPr>
          <p:cNvSpPr>
            <a:spLocks noGrp="1"/>
          </p:cNvSpPr>
          <p:nvPr>
            <p:ph type="sldNum" sz="quarter" idx="5"/>
          </p:nvPr>
        </p:nvSpPr>
        <p:spPr/>
        <p:txBody>
          <a:bodyPr/>
          <a:lstStyle/>
          <a:p>
            <a:fld id="{8D6C5DC3-924D-4CCC-8AC2-C41F495DFCEC}" type="slidenum">
              <a:rPr lang="en-US" smtClean="0"/>
              <a:t>11</a:t>
            </a:fld>
            <a:endParaRPr lang="en-US"/>
          </a:p>
        </p:txBody>
      </p:sp>
    </p:spTree>
    <p:extLst>
      <p:ext uri="{BB962C8B-B14F-4D97-AF65-F5344CB8AC3E}">
        <p14:creationId xmlns:p14="http://schemas.microsoft.com/office/powerpoint/2010/main" val="2606486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2315D-E4FC-40B1-5F2E-58C952EDA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275C2-A495-BDAE-BF0A-87CA9881C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B1233-98E4-3302-693B-E3FDD8D3923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“how to read a micrometer”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“how to zero out a micrometer”</a:t>
            </a:r>
          </a:p>
        </p:txBody>
      </p:sp>
      <p:sp>
        <p:nvSpPr>
          <p:cNvPr id="4" name="Slide Number Placeholder 3">
            <a:extLst>
              <a:ext uri="{FF2B5EF4-FFF2-40B4-BE49-F238E27FC236}">
                <a16:creationId xmlns:a16="http://schemas.microsoft.com/office/drawing/2014/main" id="{2785C10D-12AA-0416-AF26-8EBE4450C0EF}"/>
              </a:ext>
            </a:extLst>
          </p:cNvPr>
          <p:cNvSpPr>
            <a:spLocks noGrp="1"/>
          </p:cNvSpPr>
          <p:nvPr>
            <p:ph type="sldNum" sz="quarter" idx="5"/>
          </p:nvPr>
        </p:nvSpPr>
        <p:spPr/>
        <p:txBody>
          <a:bodyPr/>
          <a:lstStyle/>
          <a:p>
            <a:fld id="{8D6C5DC3-924D-4CCC-8AC2-C41F495DFCEC}" type="slidenum">
              <a:rPr lang="en-US" smtClean="0"/>
              <a:t>12</a:t>
            </a:fld>
            <a:endParaRPr lang="en-US"/>
          </a:p>
        </p:txBody>
      </p:sp>
    </p:spTree>
    <p:extLst>
      <p:ext uri="{BB962C8B-B14F-4D97-AF65-F5344CB8AC3E}">
        <p14:creationId xmlns:p14="http://schemas.microsoft.com/office/powerpoint/2010/main" val="2749969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5796-1487-3932-A423-F93FC0724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F3DAE-A1F2-003E-A082-E178BC4B2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93BE99-FCD1-CAFB-0811-71B6E35FFCE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photo of a split ball gauge used to measure small hole diameter</a:t>
            </a:r>
            <a:br>
              <a:rPr lang="en-US" dirty="0"/>
            </a:br>
            <a:r>
              <a:rPr lang="en-US" dirty="0"/>
              <a:t>+ remove all the backdrop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749CDCB0-FBC9-96BF-4C3E-AC8810B9CF8A}"/>
              </a:ext>
            </a:extLst>
          </p:cNvPr>
          <p:cNvSpPr>
            <a:spLocks noGrp="1"/>
          </p:cNvSpPr>
          <p:nvPr>
            <p:ph type="sldNum" sz="quarter" idx="5"/>
          </p:nvPr>
        </p:nvSpPr>
        <p:spPr/>
        <p:txBody>
          <a:bodyPr/>
          <a:lstStyle/>
          <a:p>
            <a:fld id="{8D6C5DC3-924D-4CCC-8AC2-C41F495DFCEC}" type="slidenum">
              <a:rPr lang="en-US" smtClean="0"/>
              <a:t>13</a:t>
            </a:fld>
            <a:endParaRPr lang="en-US"/>
          </a:p>
        </p:txBody>
      </p:sp>
    </p:spTree>
    <p:extLst>
      <p:ext uri="{BB962C8B-B14F-4D97-AF65-F5344CB8AC3E}">
        <p14:creationId xmlns:p14="http://schemas.microsoft.com/office/powerpoint/2010/main" val="1486972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9693D-7A1F-37A0-0276-765FC41B9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146FF-127C-9181-B4A2-BD5EA021D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CE473-D898-2040-FD27-CD6E255834AC}"/>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“how to read a micrometer”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Google AI: “how to zero out a micrometer”</a:t>
            </a:r>
          </a:p>
        </p:txBody>
      </p:sp>
      <p:sp>
        <p:nvSpPr>
          <p:cNvPr id="4" name="Slide Number Placeholder 3">
            <a:extLst>
              <a:ext uri="{FF2B5EF4-FFF2-40B4-BE49-F238E27FC236}">
                <a16:creationId xmlns:a16="http://schemas.microsoft.com/office/drawing/2014/main" id="{BD2C82EB-455D-4584-C758-FF2E88946BAD}"/>
              </a:ext>
            </a:extLst>
          </p:cNvPr>
          <p:cNvSpPr>
            <a:spLocks noGrp="1"/>
          </p:cNvSpPr>
          <p:nvPr>
            <p:ph type="sldNum" sz="quarter" idx="5"/>
          </p:nvPr>
        </p:nvSpPr>
        <p:spPr/>
        <p:txBody>
          <a:bodyPr/>
          <a:lstStyle/>
          <a:p>
            <a:fld id="{8D6C5DC3-924D-4CCC-8AC2-C41F495DFCEC}" type="slidenum">
              <a:rPr lang="en-US" smtClean="0"/>
              <a:t>14</a:t>
            </a:fld>
            <a:endParaRPr lang="en-US"/>
          </a:p>
        </p:txBody>
      </p:sp>
    </p:spTree>
    <p:extLst>
      <p:ext uri="{BB962C8B-B14F-4D97-AF65-F5344CB8AC3E}">
        <p14:creationId xmlns:p14="http://schemas.microsoft.com/office/powerpoint/2010/main" val="768957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14274-0BA9-2E99-B4C7-6C6D583CE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259EC-70B7-D565-F78A-934EF202B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925AA-D17C-DF11-0C1C-F6F85CE5190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show me a picture of Go/</a:t>
            </a:r>
            <a:r>
              <a:rPr lang="en-US" dirty="0" err="1"/>
              <a:t>NoGo</a:t>
            </a:r>
            <a:r>
              <a:rPr lang="en-US" dirty="0"/>
              <a:t> Plug Gauge.  Heavily manually edited.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show me a picture of Rivet Inspection Guage.  Took two pictures, one for rivet head gauge set, other for swage style rivet gauges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show me a picture of a pin protrusion gauge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29477530-5F61-A749-F9B5-0652CA7DE74A}"/>
              </a:ext>
            </a:extLst>
          </p:cNvPr>
          <p:cNvSpPr>
            <a:spLocks noGrp="1"/>
          </p:cNvSpPr>
          <p:nvPr>
            <p:ph type="sldNum" sz="quarter" idx="5"/>
          </p:nvPr>
        </p:nvSpPr>
        <p:spPr/>
        <p:txBody>
          <a:bodyPr/>
          <a:lstStyle/>
          <a:p>
            <a:fld id="{8D6C5DC3-924D-4CCC-8AC2-C41F495DFCEC}" type="slidenum">
              <a:rPr lang="en-US" smtClean="0"/>
              <a:t>15</a:t>
            </a:fld>
            <a:endParaRPr lang="en-US"/>
          </a:p>
        </p:txBody>
      </p:sp>
    </p:spTree>
    <p:extLst>
      <p:ext uri="{BB962C8B-B14F-4D97-AF65-F5344CB8AC3E}">
        <p14:creationId xmlns:p14="http://schemas.microsoft.com/office/powerpoint/2010/main" val="1032790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FE57-7CA1-1F08-40B4-7752B89CF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3B1B3-B826-C16C-582D-0AF1300AB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EF43A-92BE-B2AD-DE41-70701A51790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08BB0F8-DF6E-284F-F4D7-5190108C3E1E}"/>
              </a:ext>
            </a:extLst>
          </p:cNvPr>
          <p:cNvSpPr>
            <a:spLocks noGrp="1"/>
          </p:cNvSpPr>
          <p:nvPr>
            <p:ph type="sldNum" sz="quarter" idx="5"/>
          </p:nvPr>
        </p:nvSpPr>
        <p:spPr/>
        <p:txBody>
          <a:bodyPr/>
          <a:lstStyle/>
          <a:p>
            <a:fld id="{8D6C5DC3-924D-4CCC-8AC2-C41F495DFCEC}" type="slidenum">
              <a:rPr lang="en-US" smtClean="0"/>
              <a:t>17</a:t>
            </a:fld>
            <a:endParaRPr lang="en-US"/>
          </a:p>
        </p:txBody>
      </p:sp>
    </p:spTree>
    <p:extLst>
      <p:ext uri="{BB962C8B-B14F-4D97-AF65-F5344CB8AC3E}">
        <p14:creationId xmlns:p14="http://schemas.microsoft.com/office/powerpoint/2010/main" val="3036167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9E5B4-1E98-ADE0-F1EA-439614C8C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C35C94-74E9-52C8-D6CD-D8DD2BF519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2BD6C-921C-5053-7CD9-3A0750219AB1}"/>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56CC15A-D36E-A6E7-13E2-1F9F2F714FD9}"/>
              </a:ext>
            </a:extLst>
          </p:cNvPr>
          <p:cNvSpPr>
            <a:spLocks noGrp="1"/>
          </p:cNvSpPr>
          <p:nvPr>
            <p:ph type="sldNum" sz="quarter" idx="5"/>
          </p:nvPr>
        </p:nvSpPr>
        <p:spPr/>
        <p:txBody>
          <a:bodyPr/>
          <a:lstStyle/>
          <a:p>
            <a:fld id="{8D6C5DC3-924D-4CCC-8AC2-C41F495DFCEC}" type="slidenum">
              <a:rPr lang="en-US" smtClean="0"/>
              <a:t>18</a:t>
            </a:fld>
            <a:endParaRPr lang="en-US"/>
          </a:p>
        </p:txBody>
      </p:sp>
    </p:spTree>
    <p:extLst>
      <p:ext uri="{BB962C8B-B14F-4D97-AF65-F5344CB8AC3E}">
        <p14:creationId xmlns:p14="http://schemas.microsoft.com/office/powerpoint/2010/main" val="621061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1C167-B65B-A2D0-3301-47AF1A066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9D068-5801-2D20-4A57-1264AC466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97F6B-6189-94E0-B5E8-44CA1B34B168}"/>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E5B9DFF7-27BB-2DDB-E56D-6180C35A28EB}"/>
              </a:ext>
            </a:extLst>
          </p:cNvPr>
          <p:cNvSpPr>
            <a:spLocks noGrp="1"/>
          </p:cNvSpPr>
          <p:nvPr>
            <p:ph type="sldNum" sz="quarter" idx="5"/>
          </p:nvPr>
        </p:nvSpPr>
        <p:spPr/>
        <p:txBody>
          <a:bodyPr/>
          <a:lstStyle/>
          <a:p>
            <a:fld id="{8D6C5DC3-924D-4CCC-8AC2-C41F495DFCEC}" type="slidenum">
              <a:rPr lang="en-US" smtClean="0"/>
              <a:t>19</a:t>
            </a:fld>
            <a:endParaRPr lang="en-US"/>
          </a:p>
        </p:txBody>
      </p:sp>
    </p:spTree>
    <p:extLst>
      <p:ext uri="{BB962C8B-B14F-4D97-AF65-F5344CB8AC3E}">
        <p14:creationId xmlns:p14="http://schemas.microsoft.com/office/powerpoint/2010/main" val="2586408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6A15-4627-A2B7-B23E-2AC252B87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323-39FD-6977-01F7-412F0DE61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71F59-B048-3D2A-8AFA-5907E8E6E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2962-9A43-C2C2-7107-AD8564EA2217}"/>
              </a:ext>
            </a:extLst>
          </p:cNvPr>
          <p:cNvSpPr>
            <a:spLocks noGrp="1"/>
          </p:cNvSpPr>
          <p:nvPr>
            <p:ph type="sldNum" sz="quarter" idx="5"/>
          </p:nvPr>
        </p:nvSpPr>
        <p:spPr/>
        <p:txBody>
          <a:bodyPr/>
          <a:lstStyle/>
          <a:p>
            <a:fld id="{8D6C5DC3-924D-4CCC-8AC2-C41F495DFCEC}" type="slidenum">
              <a:rPr lang="en-US" smtClean="0"/>
              <a:t>20</a:t>
            </a:fld>
            <a:endParaRPr lang="en-US"/>
          </a:p>
        </p:txBody>
      </p:sp>
    </p:spTree>
    <p:extLst>
      <p:ext uri="{BB962C8B-B14F-4D97-AF65-F5344CB8AC3E}">
        <p14:creationId xmlns:p14="http://schemas.microsoft.com/office/powerpoint/2010/main" val="190666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8604-8C4F-A976-286B-E17FB7C14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D2EB9-B6C1-80A3-7C6D-D35E38A03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5B8A0F-A558-BEB7-6231-6925F33CD57C}"/>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52A1166D-3B41-FC46-B527-118F3460E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153BE-7379-C725-CF26-CC6B4582A0B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46196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079D-5F59-ED52-BFF6-108D0B4B7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464D4-320F-5BA1-287F-1810736ABE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F46D3-7E3E-A3F7-278E-3551B22E92BA}"/>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B8261CB-A869-1544-C0A7-CC8604F47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44C245-FC94-FA83-E5F4-3A9F814E9F6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770838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BCD-A3C6-53C0-24E3-954C9A8274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5E699-7560-7EDA-7B99-F59CD0C3A3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B2B8C-062D-E298-1EAA-A52D35FA24B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EB0F3F7A-D347-901F-0C3A-87475B63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49654-0078-975F-CED4-0DEF4EBA123D}"/>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42161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5F63-6558-5286-61E4-A54909772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9B79C-BB11-0D88-C0DC-1C491C75A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FEF498-1470-A152-8DBA-089FF3635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EFBD9-D87E-39CB-A355-14D4BB93BB95}"/>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678A95F7-406E-D075-8B39-623D2BBE1E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CC82C-F922-EC87-9017-EF7F35AA4EA8}"/>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57590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6EFA-DCF2-0F96-3716-78160812E8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A353F8-35CE-B547-928A-196E0C4D5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65914-9D20-1CD8-A86D-5F4A2F02E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884EB-0E59-5F47-4379-943FF84F9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FCA68-CFD3-9870-4F97-476B9FC182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F52665-A037-02EF-95D2-5C9DFE8C36CD}"/>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8" name="Footer Placeholder 7">
            <a:extLst>
              <a:ext uri="{FF2B5EF4-FFF2-40B4-BE49-F238E27FC236}">
                <a16:creationId xmlns:a16="http://schemas.microsoft.com/office/drawing/2014/main" id="{97FB38FF-5536-D966-C235-F1789960D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1FCDF-1DBF-2AA3-93C1-61400BA163D6}"/>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2288093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DE56-0CE0-D5B3-0EDA-8FADF7BAAE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CBFB5-D851-3D9D-F332-47B4360892B2}"/>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4" name="Footer Placeholder 3">
            <a:extLst>
              <a:ext uri="{FF2B5EF4-FFF2-40B4-BE49-F238E27FC236}">
                <a16:creationId xmlns:a16="http://schemas.microsoft.com/office/drawing/2014/main" id="{1A3273FA-2457-4385-2E37-2A2729051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2ED07-57CD-AF06-DD3A-2454B3CDA961}"/>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7968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6715A-586C-FF87-D16B-76C507D12DE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3" name="Footer Placeholder 2">
            <a:extLst>
              <a:ext uri="{FF2B5EF4-FFF2-40B4-BE49-F238E27FC236}">
                <a16:creationId xmlns:a16="http://schemas.microsoft.com/office/drawing/2014/main" id="{6A48C50A-ACA0-E39C-BF1E-1AB606A2E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8AEB16-9EB9-619F-5C07-329C76637AF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61481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819-C7CB-8577-D68F-9DDA148B1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950A4-3F7D-2D71-A9D4-740363302C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A536D9-2523-D955-F38D-FE976F44E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2DA0F-A8B3-4CF1-B679-C5B0D39B929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D8C69CA2-A42A-833D-BC7C-967D1EFF9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0A10A-141E-2590-DD32-0F38164C025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838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238C-F95A-85C6-EF95-6192D45516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EBEC10-9D21-E83F-7164-A85385A8D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A3150E-BFB2-B49D-B13D-37BFAC11E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22970-B70C-CFBD-3CC4-D601161A0FAF}"/>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3B7D507F-6489-85D6-C731-7346630A9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88480-DC24-2467-A79D-74622277917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735023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787E-C838-836F-52EE-50D8BB587F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1598B-9911-A386-F7AA-97913A488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5A08D-38E1-D7DC-F94F-51768EFD81D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F4B7829E-AB80-5C6B-0D61-A0DFC10904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A7A8F-5B78-B4B6-09FE-0993C94C9A2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62628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D9024B-25BF-EA72-BD35-65EF808FFF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5796C1-A9AD-51B1-9E18-4C9680259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D1A7B-3E4E-45E3-2613-EBBE7B7AEF88}"/>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D220DA0-1A51-9958-DA38-0E0EC8FF4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7903E-BE2A-59C5-B220-A6582E61665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52256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8F4C7-2F11-26ED-32BD-E758D1900A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E9DBA8-3E2E-A76B-065E-87B759776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6856E-F249-64F9-2B63-8358883D7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0DE75684-5E0C-B3A4-431A-05A010826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EB5A29-6651-182C-206F-17AE0616C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F9D7E-22CD-4029-926F-9304E46059D1}" type="slidenum">
              <a:rPr lang="en-US" smtClean="0"/>
              <a:t>‹#›</a:t>
            </a:fld>
            <a:endParaRPr lang="en-US"/>
          </a:p>
        </p:txBody>
      </p:sp>
    </p:spTree>
    <p:extLst>
      <p:ext uri="{BB962C8B-B14F-4D97-AF65-F5344CB8AC3E}">
        <p14:creationId xmlns:p14="http://schemas.microsoft.com/office/powerpoint/2010/main" val="62365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DataResearchLabs/study_guide_intro_aerospace_mf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969CFF-BAE7-BF73-632D-A9101B28F0D2}"/>
              </a:ext>
            </a:extLst>
          </p:cNvPr>
          <p:cNvSpPr/>
          <p:nvPr/>
        </p:nvSpPr>
        <p:spPr>
          <a:xfrm>
            <a:off x="1272284" y="2242335"/>
            <a:ext cx="9647433" cy="237333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5E0237A-1769-2D18-56A2-B36906319656}"/>
              </a:ext>
            </a:extLst>
          </p:cNvPr>
          <p:cNvSpPr>
            <a:spLocks noGrp="1"/>
          </p:cNvSpPr>
          <p:nvPr>
            <p:ph type="ctrTitle"/>
          </p:nvPr>
        </p:nvSpPr>
        <p:spPr>
          <a:xfrm>
            <a:off x="0" y="3340599"/>
            <a:ext cx="12192000" cy="1145996"/>
          </a:xfrm>
        </p:spPr>
        <p:txBody>
          <a:bodyPr>
            <a:normAutofit/>
          </a:bodyPr>
          <a:lstStyle/>
          <a:p>
            <a:r>
              <a:rPr lang="en-US" sz="6600" b="1" dirty="0">
                <a:solidFill>
                  <a:schemeClr val="bg1"/>
                </a:solidFill>
              </a:rPr>
              <a:t>Precision Instruments</a:t>
            </a:r>
            <a:endParaRPr lang="en-US" b="1" dirty="0">
              <a:solidFill>
                <a:schemeClr val="bg1"/>
              </a:solidFill>
            </a:endParaRPr>
          </a:p>
        </p:txBody>
      </p:sp>
      <p:sp>
        <p:nvSpPr>
          <p:cNvPr id="3" name="Subtitle 2">
            <a:extLst>
              <a:ext uri="{FF2B5EF4-FFF2-40B4-BE49-F238E27FC236}">
                <a16:creationId xmlns:a16="http://schemas.microsoft.com/office/drawing/2014/main" id="{88E83414-9557-9971-74AE-0E0F206E6AD9}"/>
              </a:ext>
            </a:extLst>
          </p:cNvPr>
          <p:cNvSpPr>
            <a:spLocks noGrp="1"/>
          </p:cNvSpPr>
          <p:nvPr>
            <p:ph type="subTitle" idx="1"/>
          </p:nvPr>
        </p:nvSpPr>
        <p:spPr>
          <a:xfrm>
            <a:off x="4164882" y="768846"/>
            <a:ext cx="3862232" cy="1090775"/>
          </a:xfrm>
          <a:noFill/>
          <a:effectLst>
            <a:glow rad="228600">
              <a:schemeClr val="accent1">
                <a:satMod val="175000"/>
                <a:alpha val="40000"/>
              </a:schemeClr>
            </a:glow>
          </a:effectLst>
        </p:spPr>
        <p:txBody>
          <a:bodyPr>
            <a:normAutofit/>
          </a:bodyPr>
          <a:lstStyle/>
          <a:p>
            <a:r>
              <a:rPr lang="en-US" sz="2000" dirty="0">
                <a:solidFill>
                  <a:schemeClr val="bg1"/>
                </a:solidFill>
              </a:rPr>
              <a:t>Aerospace Manufacturing Core </a:t>
            </a:r>
            <a:br>
              <a:rPr lang="en-US" sz="2000" dirty="0">
                <a:solidFill>
                  <a:schemeClr val="bg1"/>
                </a:solidFill>
              </a:rPr>
            </a:br>
            <a:r>
              <a:rPr lang="en-US" sz="2000" dirty="0">
                <a:solidFill>
                  <a:schemeClr val="bg1"/>
                </a:solidFill>
              </a:rPr>
              <a:t>Study Guide </a:t>
            </a:r>
          </a:p>
          <a:p>
            <a:r>
              <a:rPr lang="en-US" sz="2000" dirty="0">
                <a:solidFill>
                  <a:schemeClr val="bg1"/>
                </a:solidFill>
              </a:rPr>
              <a:t>“AMCSG-206”</a:t>
            </a:r>
          </a:p>
        </p:txBody>
      </p:sp>
      <p:sp>
        <p:nvSpPr>
          <p:cNvPr id="4" name="Subtitle 2">
            <a:extLst>
              <a:ext uri="{FF2B5EF4-FFF2-40B4-BE49-F238E27FC236}">
                <a16:creationId xmlns:a16="http://schemas.microsoft.com/office/drawing/2014/main" id="{72A361BB-91A4-6234-4565-06CC792AA8FE}"/>
              </a:ext>
            </a:extLst>
          </p:cNvPr>
          <p:cNvSpPr txBox="1">
            <a:spLocks/>
          </p:cNvSpPr>
          <p:nvPr/>
        </p:nvSpPr>
        <p:spPr>
          <a:xfrm>
            <a:off x="-1" y="2592083"/>
            <a:ext cx="12191999" cy="74851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bg1"/>
                </a:solidFill>
              </a:rPr>
              <a:t>Tools &amp; Processes</a:t>
            </a:r>
          </a:p>
        </p:txBody>
      </p:sp>
    </p:spTree>
    <p:extLst>
      <p:ext uri="{BB962C8B-B14F-4D97-AF65-F5344CB8AC3E}">
        <p14:creationId xmlns:p14="http://schemas.microsoft.com/office/powerpoint/2010/main" val="124129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F7C642FE-6ECF-E3D8-7D9D-39E0DB0F1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CD3C8-4444-8DF5-BBB4-962EEF7F1F7C}"/>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Intro to Precision Instruments</a:t>
            </a:r>
          </a:p>
        </p:txBody>
      </p:sp>
    </p:spTree>
    <p:extLst>
      <p:ext uri="{BB962C8B-B14F-4D97-AF65-F5344CB8AC3E}">
        <p14:creationId xmlns:p14="http://schemas.microsoft.com/office/powerpoint/2010/main" val="1254583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DF33-068F-CE4C-8F42-3F734AD89AFD}"/>
              </a:ext>
            </a:extLst>
          </p:cNvPr>
          <p:cNvSpPr>
            <a:spLocks noGrp="1"/>
          </p:cNvSpPr>
          <p:nvPr>
            <p:ph type="title"/>
          </p:nvPr>
        </p:nvSpPr>
        <p:spPr>
          <a:xfrm>
            <a:off x="365760" y="365125"/>
            <a:ext cx="10742638" cy="877824"/>
          </a:xfrm>
        </p:spPr>
        <p:txBody>
          <a:bodyPr/>
          <a:lstStyle/>
          <a:p>
            <a:r>
              <a:rPr lang="en-US" dirty="0"/>
              <a:t>Fundamental Concepts</a:t>
            </a:r>
          </a:p>
        </p:txBody>
      </p:sp>
      <p:sp>
        <p:nvSpPr>
          <p:cNvPr id="3" name="Content Placeholder 2">
            <a:extLst>
              <a:ext uri="{FF2B5EF4-FFF2-40B4-BE49-F238E27FC236}">
                <a16:creationId xmlns:a16="http://schemas.microsoft.com/office/drawing/2014/main" id="{2D988B93-DE49-678F-11A2-863E3DC96711}"/>
              </a:ext>
            </a:extLst>
          </p:cNvPr>
          <p:cNvSpPr>
            <a:spLocks noGrp="1"/>
          </p:cNvSpPr>
          <p:nvPr>
            <p:ph idx="1"/>
          </p:nvPr>
        </p:nvSpPr>
        <p:spPr>
          <a:xfrm>
            <a:off x="611162" y="1483104"/>
            <a:ext cx="10958538" cy="1629966"/>
          </a:xfrm>
        </p:spPr>
        <p:txBody>
          <a:bodyPr/>
          <a:lstStyle/>
          <a:p>
            <a:r>
              <a:rPr lang="en-US" b="1" dirty="0"/>
              <a:t>Precision</a:t>
            </a:r>
            <a:r>
              <a:rPr lang="en-US" dirty="0"/>
              <a:t> = Repeatability  -  How consistent is tool.</a:t>
            </a:r>
          </a:p>
          <a:p>
            <a:r>
              <a:rPr lang="en-US" b="1" dirty="0"/>
              <a:t>Accuracy</a:t>
            </a:r>
            <a:r>
              <a:rPr lang="en-US" dirty="0"/>
              <a:t> = Trueness  -  How close Measured value is to Real value.</a:t>
            </a:r>
          </a:p>
          <a:p>
            <a:r>
              <a:rPr lang="en-US" dirty="0"/>
              <a:t>“Accuracy vs. Precision”  -  Must be both in aircraft manufacturing</a:t>
            </a:r>
          </a:p>
          <a:p>
            <a:pPr lvl="1"/>
            <a:endParaRPr lang="en-US" dirty="0"/>
          </a:p>
        </p:txBody>
      </p:sp>
      <p:grpSp>
        <p:nvGrpSpPr>
          <p:cNvPr id="7" name="Group 6">
            <a:extLst>
              <a:ext uri="{FF2B5EF4-FFF2-40B4-BE49-F238E27FC236}">
                <a16:creationId xmlns:a16="http://schemas.microsoft.com/office/drawing/2014/main" id="{9CBAA2CE-1637-24F5-452C-95309412F21C}"/>
              </a:ext>
            </a:extLst>
          </p:cNvPr>
          <p:cNvGrpSpPr/>
          <p:nvPr/>
        </p:nvGrpSpPr>
        <p:grpSpPr>
          <a:xfrm>
            <a:off x="1122840" y="3220959"/>
            <a:ext cx="2446371" cy="3395061"/>
            <a:chOff x="1122840" y="3220959"/>
            <a:chExt cx="2446371" cy="3395061"/>
          </a:xfrm>
        </p:grpSpPr>
        <p:grpSp>
          <p:nvGrpSpPr>
            <p:cNvPr id="58" name="Group 57">
              <a:extLst>
                <a:ext uri="{FF2B5EF4-FFF2-40B4-BE49-F238E27FC236}">
                  <a16:creationId xmlns:a16="http://schemas.microsoft.com/office/drawing/2014/main" id="{9C285445-017D-423E-1E50-0A750716372A}"/>
                </a:ext>
              </a:extLst>
            </p:cNvPr>
            <p:cNvGrpSpPr/>
            <p:nvPr/>
          </p:nvGrpSpPr>
          <p:grpSpPr>
            <a:xfrm>
              <a:off x="1122840" y="3220959"/>
              <a:ext cx="2216261" cy="3377570"/>
              <a:chOff x="1122840" y="3220959"/>
              <a:chExt cx="2216261" cy="3377570"/>
            </a:xfrm>
          </p:grpSpPr>
          <p:grpSp>
            <p:nvGrpSpPr>
              <p:cNvPr id="45" name="Group 44">
                <a:extLst>
                  <a:ext uri="{FF2B5EF4-FFF2-40B4-BE49-F238E27FC236}">
                    <a16:creationId xmlns:a16="http://schemas.microsoft.com/office/drawing/2014/main" id="{CBEC6842-630E-4B40-B6E9-0751C1CE920F}"/>
                  </a:ext>
                </a:extLst>
              </p:cNvPr>
              <p:cNvGrpSpPr/>
              <p:nvPr/>
            </p:nvGrpSpPr>
            <p:grpSpPr>
              <a:xfrm>
                <a:off x="1122840" y="3220959"/>
                <a:ext cx="2216261" cy="2762873"/>
                <a:chOff x="838200" y="3265139"/>
                <a:chExt cx="2100209" cy="2557050"/>
              </a:xfrm>
            </p:grpSpPr>
            <p:pic>
              <p:nvPicPr>
                <p:cNvPr id="31" name="Picture 30">
                  <a:extLst>
                    <a:ext uri="{FF2B5EF4-FFF2-40B4-BE49-F238E27FC236}">
                      <a16:creationId xmlns:a16="http://schemas.microsoft.com/office/drawing/2014/main" id="{8B126654-4EF7-4AF2-1F23-45D24107F9F8}"/>
                    </a:ext>
                  </a:extLst>
                </p:cNvPr>
                <p:cNvPicPr>
                  <a:picLocks noChangeAspect="1"/>
                </p:cNvPicPr>
                <p:nvPr/>
              </p:nvPicPr>
              <p:blipFill>
                <a:blip r:embed="rId3"/>
                <a:stretch>
                  <a:fillRect/>
                </a:stretch>
              </p:blipFill>
              <p:spPr>
                <a:xfrm>
                  <a:off x="838200" y="3634471"/>
                  <a:ext cx="2100209" cy="2187718"/>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35" name="TextBox 34">
                  <a:extLst>
                    <a:ext uri="{FF2B5EF4-FFF2-40B4-BE49-F238E27FC236}">
                      <a16:creationId xmlns:a16="http://schemas.microsoft.com/office/drawing/2014/main" id="{4AE9714D-65FB-4E15-1A14-7738B9A04B2D}"/>
                    </a:ext>
                  </a:extLst>
                </p:cNvPr>
                <p:cNvSpPr txBox="1"/>
                <p:nvPr/>
              </p:nvSpPr>
              <p:spPr>
                <a:xfrm>
                  <a:off x="838200" y="3265139"/>
                  <a:ext cx="2100209" cy="369332"/>
                </a:xfrm>
                <a:prstGeom prst="rect">
                  <a:avLst/>
                </a:prstGeom>
                <a:solidFill>
                  <a:srgbClr val="0070C0"/>
                </a:solidFill>
              </p:spPr>
              <p:txBody>
                <a:bodyPr wrap="square" rtlCol="0">
                  <a:spAutoFit/>
                </a:bodyPr>
                <a:lstStyle/>
                <a:p>
                  <a:pPr algn="ctr"/>
                  <a:r>
                    <a:rPr lang="en-US" b="1" dirty="0">
                      <a:solidFill>
                        <a:schemeClr val="bg1"/>
                      </a:solidFill>
                    </a:rPr>
                    <a:t>Precision</a:t>
                  </a:r>
                </a:p>
              </p:txBody>
            </p:sp>
          </p:grpSp>
          <p:pic>
            <p:nvPicPr>
              <p:cNvPr id="20" name="Picture 19">
                <a:extLst>
                  <a:ext uri="{FF2B5EF4-FFF2-40B4-BE49-F238E27FC236}">
                    <a16:creationId xmlns:a16="http://schemas.microsoft.com/office/drawing/2014/main" id="{B4CB1A36-2A60-DA3D-BA24-4AA1EECF53F7}"/>
                  </a:ext>
                </a:extLst>
              </p:cNvPr>
              <p:cNvPicPr>
                <a:picLocks noChangeAspect="1"/>
              </p:cNvPicPr>
              <p:nvPr/>
            </p:nvPicPr>
            <p:blipFill>
              <a:blip r:embed="rId4"/>
              <a:stretch>
                <a:fillRect/>
              </a:stretch>
            </p:blipFill>
            <p:spPr>
              <a:xfrm>
                <a:off x="1122840" y="5983833"/>
                <a:ext cx="2216261" cy="61469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grpSp>
        <p:sp>
          <p:nvSpPr>
            <p:cNvPr id="4" name="TextBox 3">
              <a:extLst>
                <a:ext uri="{FF2B5EF4-FFF2-40B4-BE49-F238E27FC236}">
                  <a16:creationId xmlns:a16="http://schemas.microsoft.com/office/drawing/2014/main" id="{F82438E9-BF53-35C2-E978-9D47E4231DAF}"/>
                </a:ext>
              </a:extLst>
            </p:cNvPr>
            <p:cNvSpPr txBox="1"/>
            <p:nvPr/>
          </p:nvSpPr>
          <p:spPr>
            <a:xfrm rot="16200000">
              <a:off x="2638812" y="5685621"/>
              <a:ext cx="1629966"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grpSp>
        <p:nvGrpSpPr>
          <p:cNvPr id="8" name="Group 7">
            <a:extLst>
              <a:ext uri="{FF2B5EF4-FFF2-40B4-BE49-F238E27FC236}">
                <a16:creationId xmlns:a16="http://schemas.microsoft.com/office/drawing/2014/main" id="{97A80E0D-02B4-D073-FE8D-1EBA2DF9C755}"/>
              </a:ext>
            </a:extLst>
          </p:cNvPr>
          <p:cNvGrpSpPr/>
          <p:nvPr/>
        </p:nvGrpSpPr>
        <p:grpSpPr>
          <a:xfrm>
            <a:off x="3863104" y="3220960"/>
            <a:ext cx="2435887" cy="2780364"/>
            <a:chOff x="3863104" y="3220960"/>
            <a:chExt cx="2435887" cy="2780364"/>
          </a:xfrm>
        </p:grpSpPr>
        <p:grpSp>
          <p:nvGrpSpPr>
            <p:cNvPr id="46" name="Group 45">
              <a:extLst>
                <a:ext uri="{FF2B5EF4-FFF2-40B4-BE49-F238E27FC236}">
                  <a16:creationId xmlns:a16="http://schemas.microsoft.com/office/drawing/2014/main" id="{2EF185E0-BFB2-C95E-4B2D-EBFB829AEE50}"/>
                </a:ext>
              </a:extLst>
            </p:cNvPr>
            <p:cNvGrpSpPr/>
            <p:nvPr/>
          </p:nvGrpSpPr>
          <p:grpSpPr>
            <a:xfrm>
              <a:off x="3863104" y="3220960"/>
              <a:ext cx="2232895" cy="2780364"/>
              <a:chOff x="3425535" y="3265139"/>
              <a:chExt cx="2139530" cy="2573239"/>
            </a:xfrm>
          </p:grpSpPr>
          <p:pic>
            <p:nvPicPr>
              <p:cNvPr id="38" name="Picture 37">
                <a:extLst>
                  <a:ext uri="{FF2B5EF4-FFF2-40B4-BE49-F238E27FC236}">
                    <a16:creationId xmlns:a16="http://schemas.microsoft.com/office/drawing/2014/main" id="{08A076F8-BA8D-3F98-FD3C-686214F2FE87}"/>
                  </a:ext>
                </a:extLst>
              </p:cNvPr>
              <p:cNvPicPr>
                <a:picLocks noChangeAspect="1"/>
              </p:cNvPicPr>
              <p:nvPr/>
            </p:nvPicPr>
            <p:blipFill>
              <a:blip r:embed="rId5"/>
              <a:stretch>
                <a:fillRect/>
              </a:stretch>
            </p:blipFill>
            <p:spPr>
              <a:xfrm>
                <a:off x="3425536" y="3634471"/>
                <a:ext cx="2123591" cy="2203907"/>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40" name="TextBox 39">
                <a:extLst>
                  <a:ext uri="{FF2B5EF4-FFF2-40B4-BE49-F238E27FC236}">
                    <a16:creationId xmlns:a16="http://schemas.microsoft.com/office/drawing/2014/main" id="{00A8553B-646C-7071-D576-56B3696EBC98}"/>
                  </a:ext>
                </a:extLst>
              </p:cNvPr>
              <p:cNvSpPr txBox="1"/>
              <p:nvPr/>
            </p:nvSpPr>
            <p:spPr>
              <a:xfrm>
                <a:off x="3425535" y="3265139"/>
                <a:ext cx="2139530" cy="369332"/>
              </a:xfrm>
              <a:prstGeom prst="rect">
                <a:avLst/>
              </a:prstGeom>
              <a:solidFill>
                <a:srgbClr val="0070C0"/>
              </a:solidFill>
            </p:spPr>
            <p:txBody>
              <a:bodyPr wrap="square" rtlCol="0">
                <a:spAutoFit/>
              </a:bodyPr>
              <a:lstStyle/>
              <a:p>
                <a:pPr algn="ctr"/>
                <a:r>
                  <a:rPr lang="en-US" b="1" dirty="0">
                    <a:solidFill>
                      <a:schemeClr val="bg1"/>
                    </a:solidFill>
                  </a:rPr>
                  <a:t>Accuracy</a:t>
                </a:r>
              </a:p>
            </p:txBody>
          </p:sp>
        </p:grpSp>
        <p:sp>
          <p:nvSpPr>
            <p:cNvPr id="5" name="TextBox 4">
              <a:extLst>
                <a:ext uri="{FF2B5EF4-FFF2-40B4-BE49-F238E27FC236}">
                  <a16:creationId xmlns:a16="http://schemas.microsoft.com/office/drawing/2014/main" id="{F263707E-1547-E21E-967C-98B178E559D6}"/>
                </a:ext>
              </a:extLst>
            </p:cNvPr>
            <p:cNvSpPr txBox="1"/>
            <p:nvPr/>
          </p:nvSpPr>
          <p:spPr>
            <a:xfrm rot="16200000">
              <a:off x="5368592" y="5070925"/>
              <a:ext cx="1629966"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grpSp>
        <p:nvGrpSpPr>
          <p:cNvPr id="9" name="Group 8">
            <a:extLst>
              <a:ext uri="{FF2B5EF4-FFF2-40B4-BE49-F238E27FC236}">
                <a16:creationId xmlns:a16="http://schemas.microsoft.com/office/drawing/2014/main" id="{7439C77A-5E65-57AA-B941-766A14B0C1CC}"/>
              </a:ext>
            </a:extLst>
          </p:cNvPr>
          <p:cNvGrpSpPr/>
          <p:nvPr/>
        </p:nvGrpSpPr>
        <p:grpSpPr>
          <a:xfrm>
            <a:off x="6642692" y="3220960"/>
            <a:ext cx="3954805" cy="3439552"/>
            <a:chOff x="6642692" y="3220960"/>
            <a:chExt cx="3954805" cy="3439552"/>
          </a:xfrm>
        </p:grpSpPr>
        <p:grpSp>
          <p:nvGrpSpPr>
            <p:cNvPr id="56" name="Group 55">
              <a:extLst>
                <a:ext uri="{FF2B5EF4-FFF2-40B4-BE49-F238E27FC236}">
                  <a16:creationId xmlns:a16="http://schemas.microsoft.com/office/drawing/2014/main" id="{A1CD21BE-A338-1091-E195-80397F0B3270}"/>
                </a:ext>
              </a:extLst>
            </p:cNvPr>
            <p:cNvGrpSpPr/>
            <p:nvPr/>
          </p:nvGrpSpPr>
          <p:grpSpPr>
            <a:xfrm>
              <a:off x="6642692" y="3220960"/>
              <a:ext cx="3723973" cy="3395060"/>
              <a:chOff x="6642692" y="3220960"/>
              <a:chExt cx="3723973" cy="3395060"/>
            </a:xfrm>
          </p:grpSpPr>
          <p:sp>
            <p:nvSpPr>
              <p:cNvPr id="44" name="TextBox 43">
                <a:extLst>
                  <a:ext uri="{FF2B5EF4-FFF2-40B4-BE49-F238E27FC236}">
                    <a16:creationId xmlns:a16="http://schemas.microsoft.com/office/drawing/2014/main" id="{C2AAFD6C-435D-3C6E-DA36-459B81E8B9DD}"/>
                  </a:ext>
                </a:extLst>
              </p:cNvPr>
              <p:cNvSpPr txBox="1"/>
              <p:nvPr/>
            </p:nvSpPr>
            <p:spPr>
              <a:xfrm>
                <a:off x="6642692" y="3220960"/>
                <a:ext cx="3723973" cy="369332"/>
              </a:xfrm>
              <a:prstGeom prst="rect">
                <a:avLst/>
              </a:prstGeom>
              <a:solidFill>
                <a:srgbClr val="0070C0"/>
              </a:solidFill>
            </p:spPr>
            <p:txBody>
              <a:bodyPr wrap="square" rtlCol="0">
                <a:spAutoFit/>
              </a:bodyPr>
              <a:lstStyle/>
              <a:p>
                <a:pPr algn="ctr"/>
                <a:r>
                  <a:rPr lang="en-US" b="1" dirty="0">
                    <a:solidFill>
                      <a:schemeClr val="bg1"/>
                    </a:solidFill>
                  </a:rPr>
                  <a:t>Accuracy  vs.  Precision</a:t>
                </a:r>
              </a:p>
            </p:txBody>
          </p:sp>
          <p:pic>
            <p:nvPicPr>
              <p:cNvPr id="54" name="Picture 53">
                <a:extLst>
                  <a:ext uri="{FF2B5EF4-FFF2-40B4-BE49-F238E27FC236}">
                    <a16:creationId xmlns:a16="http://schemas.microsoft.com/office/drawing/2014/main" id="{95908346-1457-60E0-C5D0-255FD9CBF883}"/>
                  </a:ext>
                </a:extLst>
              </p:cNvPr>
              <p:cNvPicPr>
                <a:picLocks noChangeAspect="1"/>
              </p:cNvPicPr>
              <p:nvPr/>
            </p:nvPicPr>
            <p:blipFill>
              <a:blip r:embed="rId6"/>
              <a:stretch>
                <a:fillRect/>
              </a:stretch>
            </p:blipFill>
            <p:spPr>
              <a:xfrm>
                <a:off x="6642692" y="3590292"/>
                <a:ext cx="3723973" cy="3025728"/>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grpSp>
        <p:sp>
          <p:nvSpPr>
            <p:cNvPr id="6" name="TextBox 5">
              <a:extLst>
                <a:ext uri="{FF2B5EF4-FFF2-40B4-BE49-F238E27FC236}">
                  <a16:creationId xmlns:a16="http://schemas.microsoft.com/office/drawing/2014/main" id="{7D0B7129-12B7-6E3B-11F4-9A74F7577D13}"/>
                </a:ext>
              </a:extLst>
            </p:cNvPr>
            <p:cNvSpPr txBox="1"/>
            <p:nvPr/>
          </p:nvSpPr>
          <p:spPr>
            <a:xfrm rot="16200000">
              <a:off x="9667097" y="5730113"/>
              <a:ext cx="1629967"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sp>
        <p:nvSpPr>
          <p:cNvPr id="10" name="TextBox 7">
            <a:extLst>
              <a:ext uri="{FF2B5EF4-FFF2-40B4-BE49-F238E27FC236}">
                <a16:creationId xmlns:a16="http://schemas.microsoft.com/office/drawing/2014/main" id="{DB442429-884A-E581-395F-F67D18E18B12}"/>
              </a:ext>
            </a:extLst>
          </p:cNvPr>
          <p:cNvSpPr txBox="1"/>
          <p:nvPr/>
        </p:nvSpPr>
        <p:spPr>
          <a:xfrm>
            <a:off x="10199136" y="103346"/>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187647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B2DE1E58-1DBD-864F-8D90-EAAC1679A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82AB64-23A6-DB24-BE88-FBD164A7278C}"/>
              </a:ext>
            </a:extLst>
          </p:cNvPr>
          <p:cNvSpPr>
            <a:spLocks noGrp="1"/>
          </p:cNvSpPr>
          <p:nvPr>
            <p:ph type="title"/>
          </p:nvPr>
        </p:nvSpPr>
        <p:spPr>
          <a:xfrm>
            <a:off x="365760" y="365125"/>
            <a:ext cx="10809749" cy="877824"/>
          </a:xfrm>
        </p:spPr>
        <p:txBody>
          <a:bodyPr/>
          <a:lstStyle/>
          <a:p>
            <a:r>
              <a:rPr lang="en-US" dirty="0"/>
              <a:t>Factors Influencing Precision &amp; Accuracy</a:t>
            </a:r>
          </a:p>
        </p:txBody>
      </p:sp>
      <p:sp>
        <p:nvSpPr>
          <p:cNvPr id="3" name="Content Placeholder 2">
            <a:extLst>
              <a:ext uri="{FF2B5EF4-FFF2-40B4-BE49-F238E27FC236}">
                <a16:creationId xmlns:a16="http://schemas.microsoft.com/office/drawing/2014/main" id="{28213E1C-08A2-A520-A714-5715E0CDCB3E}"/>
              </a:ext>
            </a:extLst>
          </p:cNvPr>
          <p:cNvSpPr>
            <a:spLocks noGrp="1"/>
          </p:cNvSpPr>
          <p:nvPr>
            <p:ph idx="1"/>
          </p:nvPr>
        </p:nvSpPr>
        <p:spPr>
          <a:xfrm>
            <a:off x="242911" y="1534805"/>
            <a:ext cx="4648200" cy="4075215"/>
          </a:xfrm>
        </p:spPr>
        <p:txBody>
          <a:bodyPr>
            <a:normAutofit/>
          </a:bodyPr>
          <a:lstStyle/>
          <a:p>
            <a:r>
              <a:rPr lang="en-US" sz="2400" b="1" dirty="0"/>
              <a:t>Temperature</a:t>
            </a:r>
            <a:r>
              <a:rPr lang="en-US" sz="2400" dirty="0"/>
              <a:t>: </a:t>
            </a:r>
          </a:p>
          <a:p>
            <a:pPr lvl="1"/>
            <a:r>
              <a:rPr lang="en-US" sz="2000" dirty="0"/>
              <a:t>Metal parts expand or contract</a:t>
            </a:r>
          </a:p>
          <a:p>
            <a:r>
              <a:rPr lang="en-US" sz="2400" b="1" dirty="0"/>
              <a:t>Cleanliness</a:t>
            </a:r>
            <a:r>
              <a:rPr lang="en-US" sz="2400" dirty="0"/>
              <a:t>:  </a:t>
            </a:r>
          </a:p>
          <a:p>
            <a:pPr lvl="1"/>
            <a:r>
              <a:rPr lang="en-US" sz="2000" dirty="0"/>
              <a:t>Dirty part or gauge = bad measure</a:t>
            </a:r>
          </a:p>
          <a:p>
            <a:pPr lvl="1"/>
            <a:r>
              <a:rPr lang="en-US" sz="2000" dirty="0"/>
              <a:t>Use solvents, wipe clean</a:t>
            </a:r>
          </a:p>
          <a:p>
            <a:r>
              <a:rPr lang="en-US" sz="2400" b="1" dirty="0"/>
              <a:t>Instrument Quality</a:t>
            </a:r>
            <a:r>
              <a:rPr lang="en-US" sz="2400" dirty="0"/>
              <a:t>: </a:t>
            </a:r>
          </a:p>
          <a:p>
            <a:pPr lvl="1"/>
            <a:r>
              <a:rPr lang="en-US" sz="2000" dirty="0"/>
              <a:t>Cheap tool = bad measure</a:t>
            </a:r>
          </a:p>
          <a:p>
            <a:r>
              <a:rPr lang="en-US" sz="2400" b="1" dirty="0"/>
              <a:t>Training  &amp; Usage</a:t>
            </a:r>
            <a:r>
              <a:rPr lang="en-US" sz="2400" dirty="0"/>
              <a:t>: </a:t>
            </a:r>
          </a:p>
          <a:p>
            <a:pPr lvl="1"/>
            <a:r>
              <a:rPr lang="en-US" sz="2000" dirty="0"/>
              <a:t>Use it wrong, Read it wrong, </a:t>
            </a:r>
            <a:br>
              <a:rPr lang="en-US" sz="2000" dirty="0"/>
            </a:br>
            <a:r>
              <a:rPr lang="en-US" sz="2000" dirty="0"/>
              <a:t>Do it wrong = bad measure</a:t>
            </a:r>
          </a:p>
          <a:p>
            <a:pPr lvl="1"/>
            <a:endParaRPr lang="en-US" sz="2000" dirty="0"/>
          </a:p>
        </p:txBody>
      </p:sp>
      <p:pic>
        <p:nvPicPr>
          <p:cNvPr id="5" name="Picture 4">
            <a:extLst>
              <a:ext uri="{FF2B5EF4-FFF2-40B4-BE49-F238E27FC236}">
                <a16:creationId xmlns:a16="http://schemas.microsoft.com/office/drawing/2014/main" id="{0C09B747-0D14-A443-7BAB-8C4E3C730AC7}"/>
              </a:ext>
            </a:extLst>
          </p:cNvPr>
          <p:cNvPicPr>
            <a:picLocks noChangeAspect="1"/>
          </p:cNvPicPr>
          <p:nvPr/>
        </p:nvPicPr>
        <p:blipFill>
          <a:blip r:embed="rId3"/>
          <a:stretch>
            <a:fillRect/>
          </a:stretch>
        </p:blipFill>
        <p:spPr>
          <a:xfrm>
            <a:off x="4883651" y="1534805"/>
            <a:ext cx="3533603" cy="2287182"/>
          </a:xfrm>
          <a:prstGeom prst="rect">
            <a:avLst/>
          </a:prstGeom>
        </p:spPr>
      </p:pic>
      <p:pic>
        <p:nvPicPr>
          <p:cNvPr id="7" name="Picture 6">
            <a:extLst>
              <a:ext uri="{FF2B5EF4-FFF2-40B4-BE49-F238E27FC236}">
                <a16:creationId xmlns:a16="http://schemas.microsoft.com/office/drawing/2014/main" id="{D5229A4A-1E41-149B-3E82-14A57B5A3D9E}"/>
              </a:ext>
            </a:extLst>
          </p:cNvPr>
          <p:cNvPicPr>
            <a:picLocks noChangeAspect="1"/>
          </p:cNvPicPr>
          <p:nvPr/>
        </p:nvPicPr>
        <p:blipFill>
          <a:blip r:embed="rId4"/>
          <a:stretch>
            <a:fillRect/>
          </a:stretch>
        </p:blipFill>
        <p:spPr>
          <a:xfrm>
            <a:off x="8409255" y="1534805"/>
            <a:ext cx="3539835" cy="2287182"/>
          </a:xfrm>
          <a:prstGeom prst="rect">
            <a:avLst/>
          </a:prstGeom>
        </p:spPr>
      </p:pic>
      <p:pic>
        <p:nvPicPr>
          <p:cNvPr id="9" name="Picture 8">
            <a:extLst>
              <a:ext uri="{FF2B5EF4-FFF2-40B4-BE49-F238E27FC236}">
                <a16:creationId xmlns:a16="http://schemas.microsoft.com/office/drawing/2014/main" id="{C7229B94-EA7A-0E3A-001F-DCE566D12BD7}"/>
              </a:ext>
            </a:extLst>
          </p:cNvPr>
          <p:cNvPicPr>
            <a:picLocks noChangeAspect="1"/>
          </p:cNvPicPr>
          <p:nvPr/>
        </p:nvPicPr>
        <p:blipFill>
          <a:blip r:embed="rId5"/>
          <a:stretch>
            <a:fillRect/>
          </a:stretch>
        </p:blipFill>
        <p:spPr>
          <a:xfrm>
            <a:off x="8402217" y="3806980"/>
            <a:ext cx="3546872" cy="2267706"/>
          </a:xfrm>
          <a:prstGeom prst="rect">
            <a:avLst/>
          </a:prstGeom>
        </p:spPr>
      </p:pic>
      <p:pic>
        <p:nvPicPr>
          <p:cNvPr id="11" name="Picture 10">
            <a:extLst>
              <a:ext uri="{FF2B5EF4-FFF2-40B4-BE49-F238E27FC236}">
                <a16:creationId xmlns:a16="http://schemas.microsoft.com/office/drawing/2014/main" id="{CBA96047-E833-EF27-9374-0FA1BE33DBE6}"/>
              </a:ext>
            </a:extLst>
          </p:cNvPr>
          <p:cNvPicPr>
            <a:picLocks noChangeAspect="1"/>
          </p:cNvPicPr>
          <p:nvPr/>
        </p:nvPicPr>
        <p:blipFill>
          <a:blip r:embed="rId6"/>
          <a:stretch>
            <a:fillRect/>
          </a:stretch>
        </p:blipFill>
        <p:spPr>
          <a:xfrm>
            <a:off x="4882182" y="3806980"/>
            <a:ext cx="3533602" cy="2267706"/>
          </a:xfrm>
          <a:prstGeom prst="rect">
            <a:avLst/>
          </a:prstGeom>
        </p:spPr>
      </p:pic>
      <p:sp>
        <p:nvSpPr>
          <p:cNvPr id="4" name="TextBox 3">
            <a:extLst>
              <a:ext uri="{FF2B5EF4-FFF2-40B4-BE49-F238E27FC236}">
                <a16:creationId xmlns:a16="http://schemas.microsoft.com/office/drawing/2014/main" id="{D482576C-8073-1BC9-B1E3-23D5F5C41042}"/>
              </a:ext>
            </a:extLst>
          </p:cNvPr>
          <p:cNvSpPr txBox="1"/>
          <p:nvPr/>
        </p:nvSpPr>
        <p:spPr>
          <a:xfrm>
            <a:off x="10284430" y="6074685"/>
            <a:ext cx="1652733"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6" name="TextBox 7">
            <a:extLst>
              <a:ext uri="{FF2B5EF4-FFF2-40B4-BE49-F238E27FC236}">
                <a16:creationId xmlns:a16="http://schemas.microsoft.com/office/drawing/2014/main" id="{8D91844F-F8CE-3E89-6951-5F90064B0390}"/>
              </a:ext>
            </a:extLst>
          </p:cNvPr>
          <p:cNvSpPr txBox="1"/>
          <p:nvPr/>
        </p:nvSpPr>
        <p:spPr>
          <a:xfrm>
            <a:off x="10199136" y="103346"/>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4224459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988D10B5-8960-E1A7-E4F4-3E8E0CE6D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19948-CF45-45A7-C148-F36CB28DB032}"/>
              </a:ext>
            </a:extLst>
          </p:cNvPr>
          <p:cNvSpPr>
            <a:spLocks noGrp="1"/>
          </p:cNvSpPr>
          <p:nvPr>
            <p:ph type="title"/>
          </p:nvPr>
        </p:nvSpPr>
        <p:spPr>
          <a:xfrm>
            <a:off x="365760" y="365125"/>
            <a:ext cx="10731500" cy="877824"/>
          </a:xfrm>
        </p:spPr>
        <p:txBody>
          <a:bodyPr/>
          <a:lstStyle/>
          <a:p>
            <a:r>
              <a:rPr lang="en-US" dirty="0"/>
              <a:t>Resolution vs. Discrimination</a:t>
            </a:r>
          </a:p>
        </p:txBody>
      </p:sp>
      <p:sp>
        <p:nvSpPr>
          <p:cNvPr id="3" name="Content Placeholder 2">
            <a:extLst>
              <a:ext uri="{FF2B5EF4-FFF2-40B4-BE49-F238E27FC236}">
                <a16:creationId xmlns:a16="http://schemas.microsoft.com/office/drawing/2014/main" id="{1D6CAF73-7278-AD96-C0E5-9289728FD7F4}"/>
              </a:ext>
            </a:extLst>
          </p:cNvPr>
          <p:cNvSpPr>
            <a:spLocks noGrp="1"/>
          </p:cNvSpPr>
          <p:nvPr>
            <p:ph idx="1"/>
          </p:nvPr>
        </p:nvSpPr>
        <p:spPr>
          <a:xfrm>
            <a:off x="611162" y="1483104"/>
            <a:ext cx="10958538" cy="1107696"/>
          </a:xfrm>
        </p:spPr>
        <p:txBody>
          <a:bodyPr/>
          <a:lstStyle/>
          <a:p>
            <a:r>
              <a:rPr lang="en-US" b="1" dirty="0"/>
              <a:t>Resolution</a:t>
            </a:r>
            <a:r>
              <a:rPr lang="en-US" dirty="0"/>
              <a:t> = Smallest unit of measure readable from instrument</a:t>
            </a:r>
          </a:p>
          <a:p>
            <a:r>
              <a:rPr lang="en-US" b="1" dirty="0"/>
              <a:t>Discrimination</a:t>
            </a:r>
            <a:r>
              <a:rPr lang="en-US" dirty="0"/>
              <a:t> = Smallest value instrument can accurately measure</a:t>
            </a:r>
          </a:p>
          <a:p>
            <a:endParaRPr lang="en-US" dirty="0"/>
          </a:p>
          <a:p>
            <a:pPr lvl="1"/>
            <a:endParaRPr lang="en-US" dirty="0"/>
          </a:p>
        </p:txBody>
      </p:sp>
      <p:grpSp>
        <p:nvGrpSpPr>
          <p:cNvPr id="7" name="Group 6">
            <a:extLst>
              <a:ext uri="{FF2B5EF4-FFF2-40B4-BE49-F238E27FC236}">
                <a16:creationId xmlns:a16="http://schemas.microsoft.com/office/drawing/2014/main" id="{320F2253-52DD-42AC-D8CC-0CAEF9BA7F0F}"/>
              </a:ext>
            </a:extLst>
          </p:cNvPr>
          <p:cNvGrpSpPr/>
          <p:nvPr/>
        </p:nvGrpSpPr>
        <p:grpSpPr>
          <a:xfrm>
            <a:off x="2200275" y="3178636"/>
            <a:ext cx="2772162" cy="3343750"/>
            <a:chOff x="2200275" y="3178636"/>
            <a:chExt cx="2772162" cy="3343750"/>
          </a:xfrm>
        </p:grpSpPr>
        <p:grpSp>
          <p:nvGrpSpPr>
            <p:cNvPr id="13" name="Group 12">
              <a:extLst>
                <a:ext uri="{FF2B5EF4-FFF2-40B4-BE49-F238E27FC236}">
                  <a16:creationId xmlns:a16="http://schemas.microsoft.com/office/drawing/2014/main" id="{57695050-A3EF-F757-313B-C81FFDEE17FD}"/>
                </a:ext>
              </a:extLst>
            </p:cNvPr>
            <p:cNvGrpSpPr/>
            <p:nvPr/>
          </p:nvGrpSpPr>
          <p:grpSpPr>
            <a:xfrm>
              <a:off x="2200275" y="3178636"/>
              <a:ext cx="2772162" cy="3112918"/>
              <a:chOff x="838200" y="2907244"/>
              <a:chExt cx="2772162" cy="3112918"/>
            </a:xfrm>
          </p:grpSpPr>
          <p:pic>
            <p:nvPicPr>
              <p:cNvPr id="8" name="Picture 7">
                <a:extLst>
                  <a:ext uri="{FF2B5EF4-FFF2-40B4-BE49-F238E27FC236}">
                    <a16:creationId xmlns:a16="http://schemas.microsoft.com/office/drawing/2014/main" id="{FB208067-77ED-25C5-B58F-E891E7B3EBF4}"/>
                  </a:ext>
                </a:extLst>
              </p:cNvPr>
              <p:cNvPicPr>
                <a:picLocks noChangeAspect="1"/>
              </p:cNvPicPr>
              <p:nvPr/>
            </p:nvPicPr>
            <p:blipFill>
              <a:blip r:embed="rId3"/>
              <a:stretch>
                <a:fillRect/>
              </a:stretch>
            </p:blipFill>
            <p:spPr>
              <a:xfrm>
                <a:off x="838200" y="3257526"/>
                <a:ext cx="2772162" cy="276263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11" name="TextBox 10">
                <a:extLst>
                  <a:ext uri="{FF2B5EF4-FFF2-40B4-BE49-F238E27FC236}">
                    <a16:creationId xmlns:a16="http://schemas.microsoft.com/office/drawing/2014/main" id="{732C2C00-8E6A-5593-B414-52BB77E65684}"/>
                  </a:ext>
                </a:extLst>
              </p:cNvPr>
              <p:cNvSpPr txBox="1"/>
              <p:nvPr/>
            </p:nvSpPr>
            <p:spPr>
              <a:xfrm>
                <a:off x="838200" y="2907244"/>
                <a:ext cx="2772162" cy="369332"/>
              </a:xfrm>
              <a:prstGeom prst="rect">
                <a:avLst/>
              </a:prstGeom>
              <a:solidFill>
                <a:srgbClr val="0070C0"/>
              </a:solidFill>
            </p:spPr>
            <p:txBody>
              <a:bodyPr wrap="square" rtlCol="0">
                <a:spAutoFit/>
              </a:bodyPr>
              <a:lstStyle/>
              <a:p>
                <a:pPr algn="ctr"/>
                <a:r>
                  <a:rPr lang="en-US" b="1" dirty="0">
                    <a:solidFill>
                      <a:schemeClr val="bg1"/>
                    </a:solidFill>
                  </a:rPr>
                  <a:t>Implied Resolution</a:t>
                </a:r>
              </a:p>
            </p:txBody>
          </p:sp>
        </p:grpSp>
        <p:sp>
          <p:nvSpPr>
            <p:cNvPr id="4" name="TextBox 3">
              <a:extLst>
                <a:ext uri="{FF2B5EF4-FFF2-40B4-BE49-F238E27FC236}">
                  <a16:creationId xmlns:a16="http://schemas.microsoft.com/office/drawing/2014/main" id="{CAE7F3EA-45EB-79F5-5C49-FE3103290BA1}"/>
                </a:ext>
              </a:extLst>
            </p:cNvPr>
            <p:cNvSpPr txBox="1"/>
            <p:nvPr/>
          </p:nvSpPr>
          <p:spPr>
            <a:xfrm>
              <a:off x="3400745" y="6291554"/>
              <a:ext cx="1571691"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9" name="Group 8">
            <a:extLst>
              <a:ext uri="{FF2B5EF4-FFF2-40B4-BE49-F238E27FC236}">
                <a16:creationId xmlns:a16="http://schemas.microsoft.com/office/drawing/2014/main" id="{A47B8D8F-AE94-3C6D-BC46-69FF0FEAC2CE}"/>
              </a:ext>
            </a:extLst>
          </p:cNvPr>
          <p:cNvGrpSpPr/>
          <p:nvPr/>
        </p:nvGrpSpPr>
        <p:grpSpPr>
          <a:xfrm>
            <a:off x="2715518" y="2733700"/>
            <a:ext cx="6591772" cy="3788686"/>
            <a:chOff x="2715518" y="2733700"/>
            <a:chExt cx="6591772" cy="3788686"/>
          </a:xfrm>
        </p:grpSpPr>
        <p:grpSp>
          <p:nvGrpSpPr>
            <p:cNvPr id="23" name="Group 22">
              <a:extLst>
                <a:ext uri="{FF2B5EF4-FFF2-40B4-BE49-F238E27FC236}">
                  <a16:creationId xmlns:a16="http://schemas.microsoft.com/office/drawing/2014/main" id="{F9A36D39-63EE-E035-1820-C0482FDE0F5F}"/>
                </a:ext>
              </a:extLst>
            </p:cNvPr>
            <p:cNvGrpSpPr/>
            <p:nvPr/>
          </p:nvGrpSpPr>
          <p:grpSpPr>
            <a:xfrm>
              <a:off x="2715518" y="2733700"/>
              <a:ext cx="6591772" cy="3557854"/>
              <a:chOff x="2715518" y="2733700"/>
              <a:chExt cx="6591772" cy="3557854"/>
            </a:xfrm>
          </p:grpSpPr>
          <p:pic>
            <p:nvPicPr>
              <p:cNvPr id="6" name="Picture 5">
                <a:extLst>
                  <a:ext uri="{FF2B5EF4-FFF2-40B4-BE49-F238E27FC236}">
                    <a16:creationId xmlns:a16="http://schemas.microsoft.com/office/drawing/2014/main" id="{92EB6D90-F635-2BB2-9A15-ADDD886F1503}"/>
                  </a:ext>
                </a:extLst>
              </p:cNvPr>
              <p:cNvPicPr>
                <a:picLocks noChangeAspect="1"/>
              </p:cNvPicPr>
              <p:nvPr/>
            </p:nvPicPr>
            <p:blipFill>
              <a:blip r:embed="rId4"/>
              <a:stretch>
                <a:fillRect/>
              </a:stretch>
            </p:blipFill>
            <p:spPr>
              <a:xfrm>
                <a:off x="5620601" y="2733700"/>
                <a:ext cx="3686689" cy="342948"/>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grpSp>
            <p:nvGrpSpPr>
              <p:cNvPr id="15" name="Group 14">
                <a:extLst>
                  <a:ext uri="{FF2B5EF4-FFF2-40B4-BE49-F238E27FC236}">
                    <a16:creationId xmlns:a16="http://schemas.microsoft.com/office/drawing/2014/main" id="{66AAD40D-51E7-2327-70A9-0F15D0E2F777}"/>
                  </a:ext>
                </a:extLst>
              </p:cNvPr>
              <p:cNvGrpSpPr/>
              <p:nvPr/>
            </p:nvGrpSpPr>
            <p:grpSpPr>
              <a:xfrm>
                <a:off x="5993830" y="3169111"/>
                <a:ext cx="2940235" cy="3122443"/>
                <a:chOff x="4803205" y="2916769"/>
                <a:chExt cx="2940235" cy="3122443"/>
              </a:xfrm>
            </p:grpSpPr>
            <p:pic>
              <p:nvPicPr>
                <p:cNvPr id="10" name="Picture 9">
                  <a:extLst>
                    <a:ext uri="{FF2B5EF4-FFF2-40B4-BE49-F238E27FC236}">
                      <a16:creationId xmlns:a16="http://schemas.microsoft.com/office/drawing/2014/main" id="{D7FBB9B5-AD85-7324-C4D8-4A4A39A7B281}"/>
                    </a:ext>
                  </a:extLst>
                </p:cNvPr>
                <p:cNvPicPr>
                  <a:picLocks noChangeAspect="1"/>
                </p:cNvPicPr>
                <p:nvPr/>
              </p:nvPicPr>
              <p:blipFill>
                <a:blip r:embed="rId5"/>
                <a:stretch>
                  <a:fillRect/>
                </a:stretch>
              </p:blipFill>
              <p:spPr>
                <a:xfrm>
                  <a:off x="4803206" y="3276576"/>
                  <a:ext cx="2940234" cy="276263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14" name="TextBox 13">
                  <a:extLst>
                    <a:ext uri="{FF2B5EF4-FFF2-40B4-BE49-F238E27FC236}">
                      <a16:creationId xmlns:a16="http://schemas.microsoft.com/office/drawing/2014/main" id="{98AFFE12-045F-086D-BEE3-AB47BDB97A65}"/>
                    </a:ext>
                  </a:extLst>
                </p:cNvPr>
                <p:cNvSpPr txBox="1"/>
                <p:nvPr/>
              </p:nvSpPr>
              <p:spPr>
                <a:xfrm>
                  <a:off x="4803205" y="2916769"/>
                  <a:ext cx="2940233" cy="369332"/>
                </a:xfrm>
                <a:prstGeom prst="rect">
                  <a:avLst/>
                </a:prstGeom>
                <a:solidFill>
                  <a:srgbClr val="C00000"/>
                </a:solidFill>
              </p:spPr>
              <p:txBody>
                <a:bodyPr wrap="square" rtlCol="0">
                  <a:spAutoFit/>
                </a:bodyPr>
                <a:lstStyle/>
                <a:p>
                  <a:pPr algn="ctr"/>
                  <a:r>
                    <a:rPr lang="en-US" b="1" dirty="0">
                      <a:solidFill>
                        <a:schemeClr val="bg1"/>
                      </a:solidFill>
                    </a:rPr>
                    <a:t>Fails Verification</a:t>
                  </a:r>
                </a:p>
              </p:txBody>
            </p:sp>
          </p:grpSp>
          <p:sp>
            <p:nvSpPr>
              <p:cNvPr id="22" name="Freeform: Shape 21">
                <a:extLst>
                  <a:ext uri="{FF2B5EF4-FFF2-40B4-BE49-F238E27FC236}">
                    <a16:creationId xmlns:a16="http://schemas.microsoft.com/office/drawing/2014/main" id="{48C3F665-EB82-893B-E960-34837BE5CE82}"/>
                  </a:ext>
                </a:extLst>
              </p:cNvPr>
              <p:cNvSpPr/>
              <p:nvPr/>
            </p:nvSpPr>
            <p:spPr>
              <a:xfrm>
                <a:off x="2715518" y="3602010"/>
                <a:ext cx="3904357" cy="1201656"/>
              </a:xfrm>
              <a:custGeom>
                <a:avLst/>
                <a:gdLst>
                  <a:gd name="csX0" fmla="*/ 37207 w 3618607"/>
                  <a:gd name="csY0" fmla="*/ 993732 h 1201656"/>
                  <a:gd name="csX1" fmla="*/ 75307 w 3618607"/>
                  <a:gd name="csY1" fmla="*/ 1174707 h 1201656"/>
                  <a:gd name="csX2" fmla="*/ 713482 w 3618607"/>
                  <a:gd name="csY2" fmla="*/ 1174707 h 1201656"/>
                  <a:gd name="csX3" fmla="*/ 2180332 w 3618607"/>
                  <a:gd name="csY3" fmla="*/ 927057 h 1201656"/>
                  <a:gd name="csX4" fmla="*/ 2704207 w 3618607"/>
                  <a:gd name="csY4" fmla="*/ 241257 h 1201656"/>
                  <a:gd name="csX5" fmla="*/ 3018532 w 3618607"/>
                  <a:gd name="csY5" fmla="*/ 50757 h 1201656"/>
                  <a:gd name="csX6" fmla="*/ 3504307 w 3618607"/>
                  <a:gd name="csY6" fmla="*/ 3132 h 1201656"/>
                  <a:gd name="csX7" fmla="*/ 3599557 w 3618607"/>
                  <a:gd name="csY7" fmla="*/ 117432 h 1201656"/>
                  <a:gd name="csX8" fmla="*/ 3618607 w 3618607"/>
                  <a:gd name="csY8" fmla="*/ 203157 h 12016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18607" h="1201656">
                    <a:moveTo>
                      <a:pt x="37207" y="993732"/>
                    </a:moveTo>
                    <a:cubicBezTo>
                      <a:pt x="-99" y="1069138"/>
                      <a:pt x="-37405" y="1144545"/>
                      <a:pt x="75307" y="1174707"/>
                    </a:cubicBezTo>
                    <a:cubicBezTo>
                      <a:pt x="188019" y="1204869"/>
                      <a:pt x="362645" y="1215982"/>
                      <a:pt x="713482" y="1174707"/>
                    </a:cubicBezTo>
                    <a:cubicBezTo>
                      <a:pt x="1064319" y="1133432"/>
                      <a:pt x="1848545" y="1082632"/>
                      <a:pt x="2180332" y="927057"/>
                    </a:cubicBezTo>
                    <a:cubicBezTo>
                      <a:pt x="2512119" y="771482"/>
                      <a:pt x="2564507" y="387307"/>
                      <a:pt x="2704207" y="241257"/>
                    </a:cubicBezTo>
                    <a:cubicBezTo>
                      <a:pt x="2843907" y="95207"/>
                      <a:pt x="2885182" y="90444"/>
                      <a:pt x="3018532" y="50757"/>
                    </a:cubicBezTo>
                    <a:cubicBezTo>
                      <a:pt x="3151882" y="11070"/>
                      <a:pt x="3407470" y="-7980"/>
                      <a:pt x="3504307" y="3132"/>
                    </a:cubicBezTo>
                    <a:cubicBezTo>
                      <a:pt x="3601144" y="14244"/>
                      <a:pt x="3580507" y="84094"/>
                      <a:pt x="3599557" y="117432"/>
                    </a:cubicBezTo>
                    <a:cubicBezTo>
                      <a:pt x="3618607" y="150769"/>
                      <a:pt x="3618607" y="176963"/>
                      <a:pt x="3618607" y="203157"/>
                    </a:cubicBezTo>
                  </a:path>
                </a:pathLst>
              </a:custGeom>
              <a:noFill/>
              <a:ln>
                <a:solidFill>
                  <a:schemeClr val="accent2"/>
                </a:solidFill>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8CC0B849-DBF8-8425-E743-E3DA4B882912}"/>
                </a:ext>
              </a:extLst>
            </p:cNvPr>
            <p:cNvSpPr txBox="1"/>
            <p:nvPr/>
          </p:nvSpPr>
          <p:spPr>
            <a:xfrm>
              <a:off x="7362371" y="6291554"/>
              <a:ext cx="1571692"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12" name="TextBox 7">
            <a:extLst>
              <a:ext uri="{FF2B5EF4-FFF2-40B4-BE49-F238E27FC236}">
                <a16:creationId xmlns:a16="http://schemas.microsoft.com/office/drawing/2014/main" id="{0D22BAE5-9273-4112-046D-58D8BCBA2F70}"/>
              </a:ext>
            </a:extLst>
          </p:cNvPr>
          <p:cNvSpPr txBox="1"/>
          <p:nvPr/>
        </p:nvSpPr>
        <p:spPr>
          <a:xfrm>
            <a:off x="10199136" y="103346"/>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63685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1BFCF4C4-31FB-FF3C-0141-8A70ABC4527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B2BB5C8-91B5-A361-DCBD-8B25B63BF3F0}"/>
              </a:ext>
            </a:extLst>
          </p:cNvPr>
          <p:cNvPicPr>
            <a:picLocks noChangeAspect="1"/>
          </p:cNvPicPr>
          <p:nvPr/>
        </p:nvPicPr>
        <p:blipFill>
          <a:blip r:embed="rId3"/>
          <a:stretch>
            <a:fillRect/>
          </a:stretch>
        </p:blipFill>
        <p:spPr>
          <a:xfrm>
            <a:off x="7379239" y="3227694"/>
            <a:ext cx="2000529" cy="3143689"/>
          </a:xfrm>
          <a:prstGeom prst="rect">
            <a:avLst/>
          </a:prstGeom>
        </p:spPr>
      </p:pic>
      <p:pic>
        <p:nvPicPr>
          <p:cNvPr id="8" name="Picture 7">
            <a:extLst>
              <a:ext uri="{FF2B5EF4-FFF2-40B4-BE49-F238E27FC236}">
                <a16:creationId xmlns:a16="http://schemas.microsoft.com/office/drawing/2014/main" id="{2AB31AA0-21A2-2931-F80C-0107699A0BEA}"/>
              </a:ext>
            </a:extLst>
          </p:cNvPr>
          <p:cNvPicPr>
            <a:picLocks noChangeAspect="1"/>
          </p:cNvPicPr>
          <p:nvPr/>
        </p:nvPicPr>
        <p:blipFill>
          <a:blip r:embed="rId4"/>
          <a:stretch>
            <a:fillRect/>
          </a:stretch>
        </p:blipFill>
        <p:spPr>
          <a:xfrm>
            <a:off x="1484967" y="3422985"/>
            <a:ext cx="1857634" cy="2753109"/>
          </a:xfrm>
          <a:prstGeom prst="rect">
            <a:avLst/>
          </a:prstGeom>
        </p:spPr>
      </p:pic>
      <p:sp>
        <p:nvSpPr>
          <p:cNvPr id="2" name="Title 1">
            <a:extLst>
              <a:ext uri="{FF2B5EF4-FFF2-40B4-BE49-F238E27FC236}">
                <a16:creationId xmlns:a16="http://schemas.microsoft.com/office/drawing/2014/main" id="{57001577-2642-2A38-4206-D706AD25459E}"/>
              </a:ext>
            </a:extLst>
          </p:cNvPr>
          <p:cNvSpPr>
            <a:spLocks noGrp="1"/>
          </p:cNvSpPr>
          <p:nvPr>
            <p:ph type="title"/>
          </p:nvPr>
        </p:nvSpPr>
        <p:spPr>
          <a:xfrm>
            <a:off x="365760" y="365125"/>
            <a:ext cx="10742638" cy="877824"/>
          </a:xfrm>
        </p:spPr>
        <p:txBody>
          <a:bodyPr/>
          <a:lstStyle/>
          <a:p>
            <a:r>
              <a:rPr lang="en-US" dirty="0"/>
              <a:t>Measurement Definitions</a:t>
            </a:r>
          </a:p>
        </p:txBody>
      </p:sp>
      <p:sp>
        <p:nvSpPr>
          <p:cNvPr id="3" name="Content Placeholder 2">
            <a:extLst>
              <a:ext uri="{FF2B5EF4-FFF2-40B4-BE49-F238E27FC236}">
                <a16:creationId xmlns:a16="http://schemas.microsoft.com/office/drawing/2014/main" id="{2B3B4B9A-2176-CBE7-9D47-3CF5D05C8A2A}"/>
              </a:ext>
            </a:extLst>
          </p:cNvPr>
          <p:cNvSpPr>
            <a:spLocks noGrp="1"/>
          </p:cNvSpPr>
          <p:nvPr>
            <p:ph idx="1"/>
          </p:nvPr>
        </p:nvSpPr>
        <p:spPr>
          <a:xfrm>
            <a:off x="611162" y="1483103"/>
            <a:ext cx="10958538" cy="1517271"/>
          </a:xfrm>
        </p:spPr>
        <p:txBody>
          <a:bodyPr>
            <a:normAutofit fontScale="92500" lnSpcReduction="10000"/>
          </a:bodyPr>
          <a:lstStyle/>
          <a:p>
            <a:pPr marL="0" indent="0">
              <a:buNone/>
            </a:pPr>
            <a:r>
              <a:rPr lang="en-US" dirty="0"/>
              <a:t>Measurements generally have three parts:</a:t>
            </a:r>
          </a:p>
          <a:p>
            <a:pPr lvl="1"/>
            <a:r>
              <a:rPr lang="en-US" b="1" dirty="0"/>
              <a:t>Reference Point</a:t>
            </a:r>
            <a:r>
              <a:rPr lang="en-US" dirty="0"/>
              <a:t>  </a:t>
            </a:r>
            <a:r>
              <a:rPr lang="en-US" sz="2200" dirty="0">
                <a:solidFill>
                  <a:srgbClr val="0070C0"/>
                </a:solidFill>
              </a:rPr>
              <a:t>(from static / non-moving part of instrument)</a:t>
            </a:r>
            <a:endParaRPr lang="en-US" dirty="0">
              <a:solidFill>
                <a:srgbClr val="0070C0"/>
              </a:solidFill>
            </a:endParaRPr>
          </a:p>
          <a:p>
            <a:pPr lvl="1"/>
            <a:r>
              <a:rPr lang="en-US" b="1" dirty="0"/>
              <a:t>Measurement Point</a:t>
            </a:r>
            <a:r>
              <a:rPr lang="en-US" dirty="0"/>
              <a:t>  </a:t>
            </a:r>
            <a:r>
              <a:rPr lang="en-US" sz="2200" dirty="0">
                <a:solidFill>
                  <a:srgbClr val="0070C0"/>
                </a:solidFill>
              </a:rPr>
              <a:t>(from moving part of instrument)</a:t>
            </a:r>
          </a:p>
          <a:p>
            <a:pPr lvl="1"/>
            <a:r>
              <a:rPr lang="en-US" b="1" dirty="0"/>
              <a:t>Measurement Distance</a:t>
            </a:r>
            <a:r>
              <a:rPr lang="en-US" dirty="0"/>
              <a:t>  </a:t>
            </a:r>
            <a:r>
              <a:rPr lang="en-US" sz="2200" dirty="0">
                <a:solidFill>
                  <a:srgbClr val="0070C0"/>
                </a:solidFill>
              </a:rPr>
              <a:t>(the difference)</a:t>
            </a:r>
            <a:endParaRPr lang="en-US" dirty="0">
              <a:solidFill>
                <a:srgbClr val="0070C0"/>
              </a:solidFill>
            </a:endParaRPr>
          </a:p>
          <a:p>
            <a:endParaRPr lang="en-US" dirty="0"/>
          </a:p>
          <a:p>
            <a:pPr lvl="1"/>
            <a:endParaRPr lang="en-US" dirty="0"/>
          </a:p>
        </p:txBody>
      </p:sp>
      <p:sp>
        <p:nvSpPr>
          <p:cNvPr id="9" name="TextBox 8">
            <a:extLst>
              <a:ext uri="{FF2B5EF4-FFF2-40B4-BE49-F238E27FC236}">
                <a16:creationId xmlns:a16="http://schemas.microsoft.com/office/drawing/2014/main" id="{A365987E-EA11-BD44-2FC6-812D378EAADC}"/>
              </a:ext>
            </a:extLst>
          </p:cNvPr>
          <p:cNvSpPr txBox="1"/>
          <p:nvPr/>
        </p:nvSpPr>
        <p:spPr>
          <a:xfrm>
            <a:off x="4145132" y="3327400"/>
            <a:ext cx="2216261" cy="369332"/>
          </a:xfrm>
          <a:prstGeom prst="rect">
            <a:avLst/>
          </a:prstGeom>
          <a:solidFill>
            <a:srgbClr val="0070C0"/>
          </a:solidFill>
        </p:spPr>
        <p:txBody>
          <a:bodyPr wrap="square" rtlCol="0">
            <a:spAutoFit/>
          </a:bodyPr>
          <a:lstStyle/>
          <a:p>
            <a:pPr algn="ctr"/>
            <a:r>
              <a:rPr lang="en-US" b="1" dirty="0">
                <a:solidFill>
                  <a:schemeClr val="bg1"/>
                </a:solidFill>
              </a:rPr>
              <a:t>Reference Point</a:t>
            </a:r>
          </a:p>
        </p:txBody>
      </p:sp>
      <p:sp>
        <p:nvSpPr>
          <p:cNvPr id="12" name="TextBox 11">
            <a:extLst>
              <a:ext uri="{FF2B5EF4-FFF2-40B4-BE49-F238E27FC236}">
                <a16:creationId xmlns:a16="http://schemas.microsoft.com/office/drawing/2014/main" id="{03566752-6295-AEC6-BFDA-3DEEFE5EC7DC}"/>
              </a:ext>
            </a:extLst>
          </p:cNvPr>
          <p:cNvSpPr txBox="1"/>
          <p:nvPr/>
        </p:nvSpPr>
        <p:spPr>
          <a:xfrm>
            <a:off x="4145132" y="5480050"/>
            <a:ext cx="2216261" cy="369332"/>
          </a:xfrm>
          <a:prstGeom prst="rect">
            <a:avLst/>
          </a:prstGeom>
          <a:solidFill>
            <a:srgbClr val="0070C0"/>
          </a:solidFill>
        </p:spPr>
        <p:txBody>
          <a:bodyPr wrap="square" rtlCol="0">
            <a:spAutoFit/>
          </a:bodyPr>
          <a:lstStyle/>
          <a:p>
            <a:pPr algn="ctr"/>
            <a:r>
              <a:rPr lang="en-US" b="1" dirty="0">
                <a:solidFill>
                  <a:schemeClr val="bg1"/>
                </a:solidFill>
              </a:rPr>
              <a:t>Measurement Point</a:t>
            </a:r>
          </a:p>
        </p:txBody>
      </p:sp>
      <p:sp>
        <p:nvSpPr>
          <p:cNvPr id="16" name="TextBox 15">
            <a:extLst>
              <a:ext uri="{FF2B5EF4-FFF2-40B4-BE49-F238E27FC236}">
                <a16:creationId xmlns:a16="http://schemas.microsoft.com/office/drawing/2014/main" id="{72028F70-3EA3-AB59-3E11-7CE5BD27FF51}"/>
              </a:ext>
            </a:extLst>
          </p:cNvPr>
          <p:cNvSpPr txBox="1"/>
          <p:nvPr/>
        </p:nvSpPr>
        <p:spPr>
          <a:xfrm>
            <a:off x="4145131" y="4265225"/>
            <a:ext cx="2216261" cy="646331"/>
          </a:xfrm>
          <a:prstGeom prst="rect">
            <a:avLst/>
          </a:prstGeom>
          <a:solidFill>
            <a:srgbClr val="0070C0"/>
          </a:solidFill>
        </p:spPr>
        <p:txBody>
          <a:bodyPr wrap="square" rtlCol="0">
            <a:spAutoFit/>
          </a:bodyPr>
          <a:lstStyle/>
          <a:p>
            <a:pPr algn="ctr"/>
            <a:r>
              <a:rPr lang="en-US" b="1" dirty="0">
                <a:solidFill>
                  <a:schemeClr val="bg1"/>
                </a:solidFill>
              </a:rPr>
              <a:t>Measurement Distance</a:t>
            </a:r>
          </a:p>
        </p:txBody>
      </p:sp>
      <p:cxnSp>
        <p:nvCxnSpPr>
          <p:cNvPr id="18" name="Straight Arrow Connector 17">
            <a:extLst>
              <a:ext uri="{FF2B5EF4-FFF2-40B4-BE49-F238E27FC236}">
                <a16:creationId xmlns:a16="http://schemas.microsoft.com/office/drawing/2014/main" id="{F05661C9-3FFD-8898-7A95-AEDBFF9CDBC2}"/>
              </a:ext>
            </a:extLst>
          </p:cNvPr>
          <p:cNvCxnSpPr>
            <a:cxnSpLocks/>
            <a:stCxn id="9" idx="1"/>
          </p:cNvCxnSpPr>
          <p:nvPr/>
        </p:nvCxnSpPr>
        <p:spPr>
          <a:xfrm flipH="1">
            <a:off x="3105452" y="3512066"/>
            <a:ext cx="1039680" cy="39837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3F56AF9-E7C4-26F4-7BB1-548E1F90BDB3}"/>
              </a:ext>
            </a:extLst>
          </p:cNvPr>
          <p:cNvCxnSpPr>
            <a:cxnSpLocks/>
          </p:cNvCxnSpPr>
          <p:nvPr/>
        </p:nvCxnSpPr>
        <p:spPr>
          <a:xfrm>
            <a:off x="6361392" y="3474006"/>
            <a:ext cx="1325283" cy="43643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201FF71-BB08-D570-8C01-A0FFA8CF925B}"/>
              </a:ext>
            </a:extLst>
          </p:cNvPr>
          <p:cNvCxnSpPr>
            <a:cxnSpLocks/>
            <a:stCxn id="12" idx="1"/>
          </p:cNvCxnSpPr>
          <p:nvPr/>
        </p:nvCxnSpPr>
        <p:spPr>
          <a:xfrm flipH="1" flipV="1">
            <a:off x="3105452" y="4981575"/>
            <a:ext cx="1039680" cy="68314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1A542D5B-F8AB-A39D-7B99-D943D82D8162}"/>
              </a:ext>
            </a:extLst>
          </p:cNvPr>
          <p:cNvCxnSpPr>
            <a:cxnSpLocks/>
            <a:stCxn id="12" idx="3"/>
          </p:cNvCxnSpPr>
          <p:nvPr/>
        </p:nvCxnSpPr>
        <p:spPr>
          <a:xfrm flipV="1">
            <a:off x="6361393" y="4981575"/>
            <a:ext cx="1134782" cy="68314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BC2062F6-E92E-3CAF-225C-9A7CF0C2BFFB}"/>
              </a:ext>
            </a:extLst>
          </p:cNvPr>
          <p:cNvGrpSpPr/>
          <p:nvPr/>
        </p:nvGrpSpPr>
        <p:grpSpPr>
          <a:xfrm>
            <a:off x="3143250" y="3910441"/>
            <a:ext cx="371475" cy="1066800"/>
            <a:chOff x="3143250" y="3910441"/>
            <a:chExt cx="371475" cy="1066800"/>
          </a:xfrm>
        </p:grpSpPr>
        <p:cxnSp>
          <p:nvCxnSpPr>
            <p:cNvPr id="38" name="Straight Connector 37">
              <a:extLst>
                <a:ext uri="{FF2B5EF4-FFF2-40B4-BE49-F238E27FC236}">
                  <a16:creationId xmlns:a16="http://schemas.microsoft.com/office/drawing/2014/main" id="{D0CA8AFF-C6F9-1F0B-821B-AE153AF1C0FB}"/>
                </a:ext>
              </a:extLst>
            </p:cNvPr>
            <p:cNvCxnSpPr/>
            <p:nvPr/>
          </p:nvCxnSpPr>
          <p:spPr>
            <a:xfrm>
              <a:off x="3171825" y="3919966"/>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E0CDFA3-3933-AB26-5B8C-703310CC960B}"/>
                </a:ext>
              </a:extLst>
            </p:cNvPr>
            <p:cNvCxnSpPr/>
            <p:nvPr/>
          </p:nvCxnSpPr>
          <p:spPr>
            <a:xfrm>
              <a:off x="3143250" y="4977241"/>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A25FFDA0-1EBD-3806-1BC0-D008B585E65E}"/>
                </a:ext>
              </a:extLst>
            </p:cNvPr>
            <p:cNvCxnSpPr>
              <a:cxnSpLocks/>
            </p:cNvCxnSpPr>
            <p:nvPr/>
          </p:nvCxnSpPr>
          <p:spPr>
            <a:xfrm flipH="1">
              <a:off x="3409950" y="3910441"/>
              <a:ext cx="19657" cy="1047749"/>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57" name="Group 56">
            <a:extLst>
              <a:ext uri="{FF2B5EF4-FFF2-40B4-BE49-F238E27FC236}">
                <a16:creationId xmlns:a16="http://schemas.microsoft.com/office/drawing/2014/main" id="{179EFE06-FFE2-88C9-037F-172EDED19EC7}"/>
              </a:ext>
            </a:extLst>
          </p:cNvPr>
          <p:cNvGrpSpPr/>
          <p:nvPr/>
        </p:nvGrpSpPr>
        <p:grpSpPr>
          <a:xfrm>
            <a:off x="7153275" y="3913466"/>
            <a:ext cx="371475" cy="1059441"/>
            <a:chOff x="7153275" y="3913466"/>
            <a:chExt cx="371475" cy="1059441"/>
          </a:xfrm>
        </p:grpSpPr>
        <p:cxnSp>
          <p:nvCxnSpPr>
            <p:cNvPr id="40" name="Straight Connector 39">
              <a:extLst>
                <a:ext uri="{FF2B5EF4-FFF2-40B4-BE49-F238E27FC236}">
                  <a16:creationId xmlns:a16="http://schemas.microsoft.com/office/drawing/2014/main" id="{383875AF-9930-54DB-3A70-87624C82407D}"/>
                </a:ext>
              </a:extLst>
            </p:cNvPr>
            <p:cNvCxnSpPr/>
            <p:nvPr/>
          </p:nvCxnSpPr>
          <p:spPr>
            <a:xfrm>
              <a:off x="7181850" y="3915632"/>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ACCC724-C127-90AA-94DA-5B73D61278DB}"/>
                </a:ext>
              </a:extLst>
            </p:cNvPr>
            <p:cNvCxnSpPr/>
            <p:nvPr/>
          </p:nvCxnSpPr>
          <p:spPr>
            <a:xfrm>
              <a:off x="7153275" y="4972907"/>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3FAB7BF1-9B55-8FFE-47EA-40D1105791DD}"/>
                </a:ext>
              </a:extLst>
            </p:cNvPr>
            <p:cNvCxnSpPr>
              <a:cxnSpLocks/>
            </p:cNvCxnSpPr>
            <p:nvPr/>
          </p:nvCxnSpPr>
          <p:spPr>
            <a:xfrm flipH="1">
              <a:off x="7238999" y="3913466"/>
              <a:ext cx="19657" cy="1047749"/>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cxnSp>
        <p:nvCxnSpPr>
          <p:cNvPr id="47" name="Straight Arrow Connector 46">
            <a:extLst>
              <a:ext uri="{FF2B5EF4-FFF2-40B4-BE49-F238E27FC236}">
                <a16:creationId xmlns:a16="http://schemas.microsoft.com/office/drawing/2014/main" id="{57D08344-1E7B-E8D9-8920-657020A8B9CD}"/>
              </a:ext>
            </a:extLst>
          </p:cNvPr>
          <p:cNvCxnSpPr>
            <a:cxnSpLocks/>
            <a:stCxn id="16" idx="1"/>
          </p:cNvCxnSpPr>
          <p:nvPr/>
        </p:nvCxnSpPr>
        <p:spPr>
          <a:xfrm flipH="1">
            <a:off x="3409950" y="4588391"/>
            <a:ext cx="735181" cy="0"/>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D259652-D8A5-9190-A4AB-42274FAA2861}"/>
              </a:ext>
            </a:extLst>
          </p:cNvPr>
          <p:cNvCxnSpPr>
            <a:cxnSpLocks/>
            <a:stCxn id="16" idx="3"/>
          </p:cNvCxnSpPr>
          <p:nvPr/>
        </p:nvCxnSpPr>
        <p:spPr>
          <a:xfrm>
            <a:off x="6361392" y="4588391"/>
            <a:ext cx="887435" cy="0"/>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445CCCC-D090-99F9-10F3-C0356EEA6C4A}"/>
              </a:ext>
            </a:extLst>
          </p:cNvPr>
          <p:cNvSpPr txBox="1"/>
          <p:nvPr/>
        </p:nvSpPr>
        <p:spPr>
          <a:xfrm rot="16200000">
            <a:off x="8537534" y="4318899"/>
            <a:ext cx="1624276"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15" name="TextBox 14">
            <a:extLst>
              <a:ext uri="{FF2B5EF4-FFF2-40B4-BE49-F238E27FC236}">
                <a16:creationId xmlns:a16="http://schemas.microsoft.com/office/drawing/2014/main" id="{43AA5277-F137-4BED-C87B-9C84AD29231E}"/>
              </a:ext>
            </a:extLst>
          </p:cNvPr>
          <p:cNvSpPr txBox="1"/>
          <p:nvPr/>
        </p:nvSpPr>
        <p:spPr>
          <a:xfrm rot="16200000">
            <a:off x="645701" y="4265270"/>
            <a:ext cx="1626404" cy="234970"/>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4" name="TextBox 7">
            <a:extLst>
              <a:ext uri="{FF2B5EF4-FFF2-40B4-BE49-F238E27FC236}">
                <a16:creationId xmlns:a16="http://schemas.microsoft.com/office/drawing/2014/main" id="{47CA4E26-8138-19F4-F242-02A7AA38223A}"/>
              </a:ext>
            </a:extLst>
          </p:cNvPr>
          <p:cNvSpPr txBox="1"/>
          <p:nvPr/>
        </p:nvSpPr>
        <p:spPr>
          <a:xfrm>
            <a:off x="10199136" y="103346"/>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283273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4101A804-579A-D94C-F946-FB3E4E6D5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3F771-3AEF-DC65-7B3A-9ED0E4D5B16E}"/>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Types of Precision Instruments</a:t>
            </a:r>
          </a:p>
        </p:txBody>
      </p:sp>
    </p:spTree>
    <p:extLst>
      <p:ext uri="{BB962C8B-B14F-4D97-AF65-F5344CB8AC3E}">
        <p14:creationId xmlns:p14="http://schemas.microsoft.com/office/powerpoint/2010/main" val="2033978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9FDC96BF-E136-446A-EAB2-DE65DBA67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A4AEF-1375-5CB5-1CA8-2DE951AD72F2}"/>
              </a:ext>
            </a:extLst>
          </p:cNvPr>
          <p:cNvSpPr>
            <a:spLocks noGrp="1"/>
          </p:cNvSpPr>
          <p:nvPr>
            <p:ph type="title"/>
          </p:nvPr>
        </p:nvSpPr>
        <p:spPr>
          <a:xfrm>
            <a:off x="365760" y="365125"/>
            <a:ext cx="10942833" cy="877824"/>
          </a:xfrm>
        </p:spPr>
        <p:txBody>
          <a:bodyPr/>
          <a:lstStyle/>
          <a:p>
            <a:r>
              <a:rPr lang="en-US" dirty="0"/>
              <a:t>What is a “Rule”?</a:t>
            </a:r>
            <a:endParaRPr lang="en-US" dirty="0">
              <a:solidFill>
                <a:srgbClr val="00B050"/>
              </a:solidFill>
            </a:endParaRPr>
          </a:p>
        </p:txBody>
      </p:sp>
      <p:grpSp>
        <p:nvGrpSpPr>
          <p:cNvPr id="27" name="Group 26">
            <a:extLst>
              <a:ext uri="{FF2B5EF4-FFF2-40B4-BE49-F238E27FC236}">
                <a16:creationId xmlns:a16="http://schemas.microsoft.com/office/drawing/2014/main" id="{BA5536CD-9658-6F2C-A0FC-EAB669915E21}"/>
              </a:ext>
            </a:extLst>
          </p:cNvPr>
          <p:cNvGrpSpPr/>
          <p:nvPr/>
        </p:nvGrpSpPr>
        <p:grpSpPr>
          <a:xfrm>
            <a:off x="3975931" y="2539397"/>
            <a:ext cx="1685659" cy="2683992"/>
            <a:chOff x="3975931" y="2539397"/>
            <a:chExt cx="1685659" cy="2683992"/>
          </a:xfrm>
        </p:grpSpPr>
        <p:pic>
          <p:nvPicPr>
            <p:cNvPr id="12" name="Picture 11">
              <a:extLst>
                <a:ext uri="{FF2B5EF4-FFF2-40B4-BE49-F238E27FC236}">
                  <a16:creationId xmlns:a16="http://schemas.microsoft.com/office/drawing/2014/main" id="{DE8B376A-76C0-6F93-617E-B5B3522768A7}"/>
                </a:ext>
              </a:extLst>
            </p:cNvPr>
            <p:cNvPicPr>
              <a:picLocks noChangeAspect="1"/>
            </p:cNvPicPr>
            <p:nvPr/>
          </p:nvPicPr>
          <p:blipFill>
            <a:blip r:embed="rId3"/>
            <a:stretch>
              <a:fillRect/>
            </a:stretch>
          </p:blipFill>
          <p:spPr>
            <a:xfrm>
              <a:off x="3975931" y="4346967"/>
              <a:ext cx="1190791" cy="876422"/>
            </a:xfrm>
            <a:prstGeom prst="rect">
              <a:avLst/>
            </a:prstGeom>
          </p:spPr>
        </p:pic>
        <p:grpSp>
          <p:nvGrpSpPr>
            <p:cNvPr id="24" name="Group 23">
              <a:extLst>
                <a:ext uri="{FF2B5EF4-FFF2-40B4-BE49-F238E27FC236}">
                  <a16:creationId xmlns:a16="http://schemas.microsoft.com/office/drawing/2014/main" id="{75287BE0-18F2-7579-8FE3-095269A4FA3E}"/>
                </a:ext>
              </a:extLst>
            </p:cNvPr>
            <p:cNvGrpSpPr/>
            <p:nvPr/>
          </p:nvGrpSpPr>
          <p:grpSpPr>
            <a:xfrm>
              <a:off x="3975931" y="2539397"/>
              <a:ext cx="1685659" cy="2000251"/>
              <a:chOff x="1592800" y="2013825"/>
              <a:chExt cx="1685659" cy="2000251"/>
            </a:xfrm>
          </p:grpSpPr>
          <p:sp>
            <p:nvSpPr>
              <p:cNvPr id="25" name="TextBox 24">
                <a:extLst>
                  <a:ext uri="{FF2B5EF4-FFF2-40B4-BE49-F238E27FC236}">
                    <a16:creationId xmlns:a16="http://schemas.microsoft.com/office/drawing/2014/main" id="{CED310D2-B0D9-4DEC-650F-3F5D26064D4B}"/>
                  </a:ext>
                </a:extLst>
              </p:cNvPr>
              <p:cNvSpPr txBox="1"/>
              <p:nvPr/>
            </p:nvSpPr>
            <p:spPr>
              <a:xfrm>
                <a:off x="1592800" y="2013825"/>
                <a:ext cx="1685659" cy="646331"/>
              </a:xfrm>
              <a:prstGeom prst="rect">
                <a:avLst/>
              </a:prstGeom>
              <a:solidFill>
                <a:srgbClr val="0070C0"/>
              </a:solidFill>
            </p:spPr>
            <p:txBody>
              <a:bodyPr wrap="square" rtlCol="0">
                <a:spAutoFit/>
              </a:bodyPr>
              <a:lstStyle/>
              <a:p>
                <a:pPr algn="ctr"/>
                <a:r>
                  <a:rPr lang="en-US" b="1" dirty="0">
                    <a:solidFill>
                      <a:schemeClr val="bg1"/>
                    </a:solidFill>
                  </a:rPr>
                  <a:t>Measurement Scale</a:t>
                </a:r>
              </a:p>
            </p:txBody>
          </p:sp>
          <p:cxnSp>
            <p:nvCxnSpPr>
              <p:cNvPr id="26" name="Straight Arrow Connector 25">
                <a:extLst>
                  <a:ext uri="{FF2B5EF4-FFF2-40B4-BE49-F238E27FC236}">
                    <a16:creationId xmlns:a16="http://schemas.microsoft.com/office/drawing/2014/main" id="{522D3C48-67A2-E8BD-4069-604CE795E762}"/>
                  </a:ext>
                </a:extLst>
              </p:cNvPr>
              <p:cNvCxnSpPr>
                <a:cxnSpLocks/>
                <a:stCxn id="25" idx="2"/>
              </p:cNvCxnSpPr>
              <p:nvPr/>
            </p:nvCxnSpPr>
            <p:spPr>
              <a:xfrm flipH="1">
                <a:off x="1929393" y="2660156"/>
                <a:ext cx="506237" cy="1353920"/>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grpSp>
        <p:nvGrpSpPr>
          <p:cNvPr id="37" name="Group 36">
            <a:extLst>
              <a:ext uri="{FF2B5EF4-FFF2-40B4-BE49-F238E27FC236}">
                <a16:creationId xmlns:a16="http://schemas.microsoft.com/office/drawing/2014/main" id="{A87B6E63-013C-05E1-2234-48FF3ABDD5FA}"/>
              </a:ext>
            </a:extLst>
          </p:cNvPr>
          <p:cNvGrpSpPr/>
          <p:nvPr/>
        </p:nvGrpSpPr>
        <p:grpSpPr>
          <a:xfrm>
            <a:off x="3797232" y="4805428"/>
            <a:ext cx="1685659" cy="1325754"/>
            <a:chOff x="1978867" y="2286902"/>
            <a:chExt cx="1685659" cy="1325754"/>
          </a:xfrm>
        </p:grpSpPr>
        <p:sp>
          <p:nvSpPr>
            <p:cNvPr id="42" name="TextBox 41">
              <a:extLst>
                <a:ext uri="{FF2B5EF4-FFF2-40B4-BE49-F238E27FC236}">
                  <a16:creationId xmlns:a16="http://schemas.microsoft.com/office/drawing/2014/main" id="{F16C4507-3CB4-97D4-63CD-0CCBD96A7D46}"/>
                </a:ext>
              </a:extLst>
            </p:cNvPr>
            <p:cNvSpPr txBox="1"/>
            <p:nvPr/>
          </p:nvSpPr>
          <p:spPr>
            <a:xfrm>
              <a:off x="1978867" y="2966325"/>
              <a:ext cx="1685659" cy="646331"/>
            </a:xfrm>
            <a:prstGeom prst="rect">
              <a:avLst/>
            </a:prstGeom>
            <a:solidFill>
              <a:srgbClr val="0070C0"/>
            </a:solidFill>
          </p:spPr>
          <p:txBody>
            <a:bodyPr wrap="square" rtlCol="0">
              <a:spAutoFit/>
            </a:bodyPr>
            <a:lstStyle/>
            <a:p>
              <a:pPr algn="ctr"/>
              <a:r>
                <a:rPr lang="en-US" b="1" dirty="0">
                  <a:solidFill>
                    <a:schemeClr val="bg1"/>
                  </a:solidFill>
                </a:rPr>
                <a:t>Graduation Lines</a:t>
              </a:r>
            </a:p>
          </p:txBody>
        </p:sp>
        <p:cxnSp>
          <p:nvCxnSpPr>
            <p:cNvPr id="44" name="Straight Arrow Connector 43">
              <a:extLst>
                <a:ext uri="{FF2B5EF4-FFF2-40B4-BE49-F238E27FC236}">
                  <a16:creationId xmlns:a16="http://schemas.microsoft.com/office/drawing/2014/main" id="{33876540-D8E0-CD17-EE3C-1123A5247593}"/>
                </a:ext>
              </a:extLst>
            </p:cNvPr>
            <p:cNvCxnSpPr>
              <a:cxnSpLocks/>
              <a:stCxn id="42" idx="0"/>
            </p:cNvCxnSpPr>
            <p:nvPr/>
          </p:nvCxnSpPr>
          <p:spPr>
            <a:xfrm flipV="1">
              <a:off x="2821697" y="2286902"/>
              <a:ext cx="205777" cy="67942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CAB8A115-590C-3FFA-E642-BCB9883220D6}"/>
              </a:ext>
            </a:extLst>
          </p:cNvPr>
          <p:cNvSpPr txBox="1"/>
          <p:nvPr/>
        </p:nvSpPr>
        <p:spPr>
          <a:xfrm>
            <a:off x="562678" y="1255006"/>
            <a:ext cx="1572802" cy="646331"/>
          </a:xfrm>
          <a:prstGeom prst="rect">
            <a:avLst/>
          </a:prstGeom>
          <a:solidFill>
            <a:srgbClr val="00B050"/>
          </a:solidFill>
        </p:spPr>
        <p:txBody>
          <a:bodyPr wrap="square" rtlCol="0">
            <a:spAutoFit/>
          </a:bodyPr>
          <a:lstStyle/>
          <a:p>
            <a:r>
              <a:rPr lang="en-US" b="1" u="sng" dirty="0">
                <a:solidFill>
                  <a:schemeClr val="bg1"/>
                </a:solidFill>
              </a:rPr>
              <a:t>Measures</a:t>
            </a:r>
            <a:r>
              <a:rPr lang="en-US" b="1" dirty="0">
                <a:solidFill>
                  <a:schemeClr val="bg1"/>
                </a:solidFill>
              </a:rPr>
              <a:t>:</a:t>
            </a:r>
            <a:br>
              <a:rPr lang="en-US" b="1" dirty="0">
                <a:solidFill>
                  <a:schemeClr val="bg1"/>
                </a:solidFill>
              </a:rPr>
            </a:br>
            <a:r>
              <a:rPr lang="en-US" b="1" dirty="0">
                <a:solidFill>
                  <a:schemeClr val="bg1"/>
                </a:solidFill>
              </a:rPr>
              <a:t> Length</a:t>
            </a:r>
          </a:p>
        </p:txBody>
      </p:sp>
      <p:grpSp>
        <p:nvGrpSpPr>
          <p:cNvPr id="21" name="Group 20">
            <a:extLst>
              <a:ext uri="{FF2B5EF4-FFF2-40B4-BE49-F238E27FC236}">
                <a16:creationId xmlns:a16="http://schemas.microsoft.com/office/drawing/2014/main" id="{B3219A47-5678-CFDB-70A1-44ED03137639}"/>
              </a:ext>
            </a:extLst>
          </p:cNvPr>
          <p:cNvGrpSpPr/>
          <p:nvPr/>
        </p:nvGrpSpPr>
        <p:grpSpPr>
          <a:xfrm>
            <a:off x="1610637" y="2542643"/>
            <a:ext cx="1331868" cy="3653565"/>
            <a:chOff x="1610637" y="2542643"/>
            <a:chExt cx="1331868" cy="3653565"/>
          </a:xfrm>
        </p:grpSpPr>
        <p:pic>
          <p:nvPicPr>
            <p:cNvPr id="9" name="Picture 8">
              <a:extLst>
                <a:ext uri="{FF2B5EF4-FFF2-40B4-BE49-F238E27FC236}">
                  <a16:creationId xmlns:a16="http://schemas.microsoft.com/office/drawing/2014/main" id="{FB7B1A97-7EBD-5A42-FF83-0B14C79C2B1C}"/>
                </a:ext>
              </a:extLst>
            </p:cNvPr>
            <p:cNvPicPr>
              <a:picLocks noChangeAspect="1"/>
            </p:cNvPicPr>
            <p:nvPr/>
          </p:nvPicPr>
          <p:blipFill>
            <a:blip r:embed="rId4"/>
            <a:stretch>
              <a:fillRect/>
            </a:stretch>
          </p:blipFill>
          <p:spPr>
            <a:xfrm>
              <a:off x="2092084" y="3393563"/>
              <a:ext cx="362001" cy="2762636"/>
            </a:xfrm>
            <a:prstGeom prst="rect">
              <a:avLst/>
            </a:prstGeom>
          </p:spPr>
        </p:pic>
        <p:grpSp>
          <p:nvGrpSpPr>
            <p:cNvPr id="23" name="Group 22">
              <a:extLst>
                <a:ext uri="{FF2B5EF4-FFF2-40B4-BE49-F238E27FC236}">
                  <a16:creationId xmlns:a16="http://schemas.microsoft.com/office/drawing/2014/main" id="{B5CB094B-F3B2-1A83-B26E-AC6FD9D44B75}"/>
                </a:ext>
              </a:extLst>
            </p:cNvPr>
            <p:cNvGrpSpPr/>
            <p:nvPr/>
          </p:nvGrpSpPr>
          <p:grpSpPr>
            <a:xfrm>
              <a:off x="1610637" y="2542643"/>
              <a:ext cx="1331868" cy="835431"/>
              <a:chOff x="172266" y="1638521"/>
              <a:chExt cx="1331868" cy="835431"/>
            </a:xfrm>
          </p:grpSpPr>
          <p:sp>
            <p:nvSpPr>
              <p:cNvPr id="15" name="TextBox 14">
                <a:extLst>
                  <a:ext uri="{FF2B5EF4-FFF2-40B4-BE49-F238E27FC236}">
                    <a16:creationId xmlns:a16="http://schemas.microsoft.com/office/drawing/2014/main" id="{2E409BAD-9D1F-43F7-E846-9180E7221BE8}"/>
                  </a:ext>
                </a:extLst>
              </p:cNvPr>
              <p:cNvSpPr txBox="1"/>
              <p:nvPr/>
            </p:nvSpPr>
            <p:spPr>
              <a:xfrm>
                <a:off x="172266" y="1638521"/>
                <a:ext cx="1331868" cy="369332"/>
              </a:xfrm>
              <a:prstGeom prst="rect">
                <a:avLst/>
              </a:prstGeom>
              <a:solidFill>
                <a:srgbClr val="0070C0"/>
              </a:solidFill>
            </p:spPr>
            <p:txBody>
              <a:bodyPr wrap="square" rtlCol="0">
                <a:spAutoFit/>
              </a:bodyPr>
              <a:lstStyle/>
              <a:p>
                <a:pPr algn="ctr"/>
                <a:r>
                  <a:rPr lang="en-US" b="1" dirty="0">
                    <a:solidFill>
                      <a:schemeClr val="bg1"/>
                    </a:solidFill>
                  </a:rPr>
                  <a:t>Rule Body</a:t>
                </a:r>
              </a:p>
            </p:txBody>
          </p:sp>
          <p:cxnSp>
            <p:nvCxnSpPr>
              <p:cNvPr id="17" name="Straight Arrow Connector 16">
                <a:extLst>
                  <a:ext uri="{FF2B5EF4-FFF2-40B4-BE49-F238E27FC236}">
                    <a16:creationId xmlns:a16="http://schemas.microsoft.com/office/drawing/2014/main" id="{DEF1BF3E-1F9C-49D5-C701-01EB15F6E309}"/>
                  </a:ext>
                </a:extLst>
              </p:cNvPr>
              <p:cNvCxnSpPr>
                <a:cxnSpLocks/>
                <a:stCxn id="15" idx="2"/>
              </p:cNvCxnSpPr>
              <p:nvPr/>
            </p:nvCxnSpPr>
            <p:spPr>
              <a:xfrm>
                <a:off x="838200" y="2007853"/>
                <a:ext cx="0" cy="466099"/>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72B0F3FB-AE22-89C2-3BAF-4EB76CF68F8E}"/>
                </a:ext>
              </a:extLst>
            </p:cNvPr>
            <p:cNvSpPr txBox="1"/>
            <p:nvPr/>
          </p:nvSpPr>
          <p:spPr>
            <a:xfrm rot="16200000">
              <a:off x="1668105" y="5225732"/>
              <a:ext cx="1710121"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grpSp>
        <p:nvGrpSpPr>
          <p:cNvPr id="29" name="Group 28">
            <a:extLst>
              <a:ext uri="{FF2B5EF4-FFF2-40B4-BE49-F238E27FC236}">
                <a16:creationId xmlns:a16="http://schemas.microsoft.com/office/drawing/2014/main" id="{DB4EF240-E928-A720-00C6-2683E66FAC42}"/>
              </a:ext>
            </a:extLst>
          </p:cNvPr>
          <p:cNvGrpSpPr/>
          <p:nvPr/>
        </p:nvGrpSpPr>
        <p:grpSpPr>
          <a:xfrm>
            <a:off x="6572959" y="2895191"/>
            <a:ext cx="4672880" cy="1780633"/>
            <a:chOff x="6572959" y="2895191"/>
            <a:chExt cx="4672880" cy="1780633"/>
          </a:xfrm>
        </p:grpSpPr>
        <p:grpSp>
          <p:nvGrpSpPr>
            <p:cNvPr id="28" name="Group 27">
              <a:extLst>
                <a:ext uri="{FF2B5EF4-FFF2-40B4-BE49-F238E27FC236}">
                  <a16:creationId xmlns:a16="http://schemas.microsoft.com/office/drawing/2014/main" id="{7403BF6F-92B8-167B-CBA6-0787547B27DC}"/>
                </a:ext>
              </a:extLst>
            </p:cNvPr>
            <p:cNvGrpSpPr/>
            <p:nvPr/>
          </p:nvGrpSpPr>
          <p:grpSpPr>
            <a:xfrm>
              <a:off x="6617347" y="2895191"/>
              <a:ext cx="4628492" cy="1590897"/>
              <a:chOff x="6617347" y="2895191"/>
              <a:chExt cx="4628492" cy="1590897"/>
            </a:xfrm>
          </p:grpSpPr>
          <p:grpSp>
            <p:nvGrpSpPr>
              <p:cNvPr id="54" name="Group 53">
                <a:extLst>
                  <a:ext uri="{FF2B5EF4-FFF2-40B4-BE49-F238E27FC236}">
                    <a16:creationId xmlns:a16="http://schemas.microsoft.com/office/drawing/2014/main" id="{DEF4997B-C637-422D-C2EC-72A35CFD560D}"/>
                  </a:ext>
                </a:extLst>
              </p:cNvPr>
              <p:cNvGrpSpPr/>
              <p:nvPr/>
            </p:nvGrpSpPr>
            <p:grpSpPr>
              <a:xfrm>
                <a:off x="8645753" y="3749487"/>
                <a:ext cx="342900" cy="95251"/>
                <a:chOff x="3171825" y="3910441"/>
                <a:chExt cx="342900" cy="1066800"/>
              </a:xfrm>
            </p:grpSpPr>
            <p:cxnSp>
              <p:nvCxnSpPr>
                <p:cNvPr id="55" name="Straight Connector 54">
                  <a:extLst>
                    <a:ext uri="{FF2B5EF4-FFF2-40B4-BE49-F238E27FC236}">
                      <a16:creationId xmlns:a16="http://schemas.microsoft.com/office/drawing/2014/main" id="{B2243618-8576-D548-BB2E-26CFCF95FBC2}"/>
                    </a:ext>
                  </a:extLst>
                </p:cNvPr>
                <p:cNvCxnSpPr/>
                <p:nvPr/>
              </p:nvCxnSpPr>
              <p:spPr>
                <a:xfrm>
                  <a:off x="3171825" y="3919966"/>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829EAC3-1C8B-2AFF-7941-741C00A1B5C0}"/>
                    </a:ext>
                  </a:extLst>
                </p:cNvPr>
                <p:cNvCxnSpPr/>
                <p:nvPr/>
              </p:nvCxnSpPr>
              <p:spPr>
                <a:xfrm>
                  <a:off x="3171825" y="4977241"/>
                  <a:ext cx="342900" cy="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AA5485A7-33BB-DE2B-2300-B126266D3155}"/>
                    </a:ext>
                  </a:extLst>
                </p:cNvPr>
                <p:cNvCxnSpPr>
                  <a:cxnSpLocks/>
                </p:cNvCxnSpPr>
                <p:nvPr/>
              </p:nvCxnSpPr>
              <p:spPr>
                <a:xfrm>
                  <a:off x="3458182" y="3910441"/>
                  <a:ext cx="0" cy="1066800"/>
                </a:xfrm>
                <a:prstGeom prst="line">
                  <a:avLst/>
                </a:prstGeom>
                <a:ln w="1587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pic>
            <p:nvPicPr>
              <p:cNvPr id="16" name="Picture 15">
                <a:extLst>
                  <a:ext uri="{FF2B5EF4-FFF2-40B4-BE49-F238E27FC236}">
                    <a16:creationId xmlns:a16="http://schemas.microsoft.com/office/drawing/2014/main" id="{F131F151-2D99-D5E6-2006-792F108E2999}"/>
                  </a:ext>
                </a:extLst>
              </p:cNvPr>
              <p:cNvPicPr>
                <a:picLocks noChangeAspect="1"/>
              </p:cNvPicPr>
              <p:nvPr/>
            </p:nvPicPr>
            <p:blipFill>
              <a:blip r:embed="rId5"/>
              <a:stretch>
                <a:fillRect/>
              </a:stretch>
            </p:blipFill>
            <p:spPr>
              <a:xfrm>
                <a:off x="6617347" y="2895191"/>
                <a:ext cx="2000529" cy="1590897"/>
              </a:xfrm>
              <a:prstGeom prst="rect">
                <a:avLst/>
              </a:prstGeom>
            </p:spPr>
          </p:pic>
          <p:sp>
            <p:nvSpPr>
              <p:cNvPr id="67" name="TextBox 66">
                <a:extLst>
                  <a:ext uri="{FF2B5EF4-FFF2-40B4-BE49-F238E27FC236}">
                    <a16:creationId xmlns:a16="http://schemas.microsoft.com/office/drawing/2014/main" id="{4FE5F733-DC67-48FA-9815-96EEC6CFD7B2}"/>
                  </a:ext>
                </a:extLst>
              </p:cNvPr>
              <p:cNvSpPr txBox="1"/>
              <p:nvPr/>
            </p:nvSpPr>
            <p:spPr>
              <a:xfrm>
                <a:off x="9359757" y="3468286"/>
                <a:ext cx="1886082" cy="646331"/>
              </a:xfrm>
              <a:prstGeom prst="rect">
                <a:avLst/>
              </a:prstGeom>
              <a:solidFill>
                <a:srgbClr val="0070C0"/>
              </a:solidFill>
            </p:spPr>
            <p:txBody>
              <a:bodyPr wrap="square" rtlCol="0">
                <a:spAutoFit/>
              </a:bodyPr>
              <a:lstStyle/>
              <a:p>
                <a:pPr algn="ctr"/>
                <a:r>
                  <a:rPr lang="en-US" b="1" dirty="0">
                    <a:solidFill>
                      <a:schemeClr val="bg1"/>
                    </a:solidFill>
                  </a:rPr>
                  <a:t>Discrimination Value</a:t>
                </a:r>
              </a:p>
            </p:txBody>
          </p:sp>
        </p:grpSp>
        <p:cxnSp>
          <p:nvCxnSpPr>
            <p:cNvPr id="68" name="Straight Arrow Connector 67">
              <a:extLst>
                <a:ext uri="{FF2B5EF4-FFF2-40B4-BE49-F238E27FC236}">
                  <a16:creationId xmlns:a16="http://schemas.microsoft.com/office/drawing/2014/main" id="{342FC365-E801-EDF4-540B-56B261D9A254}"/>
                </a:ext>
              </a:extLst>
            </p:cNvPr>
            <p:cNvCxnSpPr>
              <a:cxnSpLocks/>
              <a:stCxn id="67" idx="1"/>
            </p:cNvCxnSpPr>
            <p:nvPr/>
          </p:nvCxnSpPr>
          <p:spPr>
            <a:xfrm flipH="1" flipV="1">
              <a:off x="8988653" y="3791451"/>
              <a:ext cx="371104" cy="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B6EC524-EC1C-B8E7-788B-F8894ED0CCDC}"/>
                </a:ext>
              </a:extLst>
            </p:cNvPr>
            <p:cNvSpPr txBox="1"/>
            <p:nvPr/>
          </p:nvSpPr>
          <p:spPr>
            <a:xfrm>
              <a:off x="6572959" y="4444992"/>
              <a:ext cx="210214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140893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D649DB35-85C1-9EF4-346E-AC29D3EAE3E2}"/>
            </a:ext>
          </a:extLst>
        </p:cNvPr>
        <p:cNvGrpSpPr/>
        <p:nvPr/>
      </p:nvGrpSpPr>
      <p:grpSpPr>
        <a:xfrm>
          <a:off x="0" y="0"/>
          <a:ext cx="0" cy="0"/>
          <a:chOff x="0" y="0"/>
          <a:chExt cx="0" cy="0"/>
        </a:xfrm>
      </p:grpSpPr>
      <p:pic>
        <p:nvPicPr>
          <p:cNvPr id="39" name="Picture 38">
            <a:extLst>
              <a:ext uri="{FF2B5EF4-FFF2-40B4-BE49-F238E27FC236}">
                <a16:creationId xmlns:a16="http://schemas.microsoft.com/office/drawing/2014/main" id="{1EE0B22A-E854-22CF-2CBD-B3988DC5F0B5}"/>
              </a:ext>
            </a:extLst>
          </p:cNvPr>
          <p:cNvPicPr>
            <a:picLocks noChangeAspect="1"/>
          </p:cNvPicPr>
          <p:nvPr/>
        </p:nvPicPr>
        <p:blipFill>
          <a:blip r:embed="rId3"/>
          <a:stretch>
            <a:fillRect/>
          </a:stretch>
        </p:blipFill>
        <p:spPr>
          <a:xfrm>
            <a:off x="3709889" y="3082244"/>
            <a:ext cx="6734916" cy="2917223"/>
          </a:xfrm>
          <a:prstGeom prst="rect">
            <a:avLst/>
          </a:prstGeom>
          <a:solidFill>
            <a:schemeClr val="bg1"/>
          </a:solidFill>
          <a:ln>
            <a:solidFill>
              <a:schemeClr val="bg1">
                <a:lumMod val="65000"/>
              </a:schemeClr>
            </a:solidFill>
          </a:ln>
          <a:effectLst>
            <a:outerShdw blurRad="50800" dist="88900" dir="2700000" algn="tl" rotWithShape="0">
              <a:prstClr val="black">
                <a:alpha val="40000"/>
              </a:prstClr>
            </a:outerShdw>
          </a:effectLst>
        </p:spPr>
      </p:pic>
      <p:sp>
        <p:nvSpPr>
          <p:cNvPr id="2" name="Title 1">
            <a:extLst>
              <a:ext uri="{FF2B5EF4-FFF2-40B4-BE49-F238E27FC236}">
                <a16:creationId xmlns:a16="http://schemas.microsoft.com/office/drawing/2014/main" id="{A67F7FAE-95B4-5D5E-D205-18F70B1C7A40}"/>
              </a:ext>
            </a:extLst>
          </p:cNvPr>
          <p:cNvSpPr>
            <a:spLocks noGrp="1"/>
          </p:cNvSpPr>
          <p:nvPr>
            <p:ph type="title"/>
          </p:nvPr>
        </p:nvSpPr>
        <p:spPr>
          <a:xfrm>
            <a:off x="365760" y="365125"/>
            <a:ext cx="11480664" cy="877824"/>
          </a:xfrm>
        </p:spPr>
        <p:txBody>
          <a:bodyPr/>
          <a:lstStyle/>
          <a:p>
            <a:r>
              <a:rPr lang="en-US" dirty="0"/>
              <a:t>What is a “Caliper”?</a:t>
            </a:r>
            <a:endParaRPr lang="en-US" dirty="0">
              <a:solidFill>
                <a:schemeClr val="bg1">
                  <a:lumMod val="65000"/>
                </a:schemeClr>
              </a:solidFill>
            </a:endParaRPr>
          </a:p>
        </p:txBody>
      </p:sp>
      <p:sp>
        <p:nvSpPr>
          <p:cNvPr id="21" name="Freeform: Shape 20">
            <a:extLst>
              <a:ext uri="{FF2B5EF4-FFF2-40B4-BE49-F238E27FC236}">
                <a16:creationId xmlns:a16="http://schemas.microsoft.com/office/drawing/2014/main" id="{343D408E-9F27-0CD4-2A28-38BA1F6DDCE5}"/>
              </a:ext>
            </a:extLst>
          </p:cNvPr>
          <p:cNvSpPr/>
          <p:nvPr/>
        </p:nvSpPr>
        <p:spPr>
          <a:xfrm>
            <a:off x="3736034" y="4491037"/>
            <a:ext cx="1436687" cy="1428749"/>
          </a:xfrm>
          <a:custGeom>
            <a:avLst/>
            <a:gdLst>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35100 w 1454150"/>
              <a:gd name="csY5" fmla="*/ 82550 h 1466850"/>
              <a:gd name="csX6" fmla="*/ 533400 w 1454150"/>
              <a:gd name="csY6" fmla="*/ 82550 h 1466850"/>
              <a:gd name="csX7" fmla="*/ 520700 w 1454150"/>
              <a:gd name="csY7" fmla="*/ 469900 h 1466850"/>
              <a:gd name="csX8" fmla="*/ 577850 w 1454150"/>
              <a:gd name="csY8" fmla="*/ 520700 h 1466850"/>
              <a:gd name="csX9" fmla="*/ 584200 w 1454150"/>
              <a:gd name="csY9" fmla="*/ 1466850 h 1466850"/>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35100 w 1454150"/>
              <a:gd name="csY5" fmla="*/ 82550 h 1466850"/>
              <a:gd name="csX6" fmla="*/ 533400 w 1454150"/>
              <a:gd name="csY6" fmla="*/ 82550 h 1466850"/>
              <a:gd name="csX7" fmla="*/ 533400 w 1454150"/>
              <a:gd name="csY7" fmla="*/ 476250 h 1466850"/>
              <a:gd name="csX8" fmla="*/ 577850 w 1454150"/>
              <a:gd name="csY8" fmla="*/ 520700 h 1466850"/>
              <a:gd name="csX9" fmla="*/ 584200 w 1454150"/>
              <a:gd name="csY9" fmla="*/ 1466850 h 1466850"/>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35100 w 1454150"/>
              <a:gd name="csY5" fmla="*/ 82550 h 1466850"/>
              <a:gd name="csX6" fmla="*/ 533400 w 1454150"/>
              <a:gd name="csY6" fmla="*/ 82550 h 1466850"/>
              <a:gd name="csX7" fmla="*/ 539750 w 1454150"/>
              <a:gd name="csY7" fmla="*/ 466725 h 1466850"/>
              <a:gd name="csX8" fmla="*/ 577850 w 1454150"/>
              <a:gd name="csY8" fmla="*/ 520700 h 1466850"/>
              <a:gd name="csX9" fmla="*/ 584200 w 1454150"/>
              <a:gd name="csY9" fmla="*/ 1466850 h 1466850"/>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35100 w 1454150"/>
              <a:gd name="csY5" fmla="*/ 82550 h 1466850"/>
              <a:gd name="csX6" fmla="*/ 546100 w 1454150"/>
              <a:gd name="csY6" fmla="*/ 79375 h 1466850"/>
              <a:gd name="csX7" fmla="*/ 539750 w 1454150"/>
              <a:gd name="csY7" fmla="*/ 466725 h 1466850"/>
              <a:gd name="csX8" fmla="*/ 577850 w 1454150"/>
              <a:gd name="csY8" fmla="*/ 520700 h 1466850"/>
              <a:gd name="csX9" fmla="*/ 584200 w 1454150"/>
              <a:gd name="csY9" fmla="*/ 1466850 h 1466850"/>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47800 w 1454150"/>
              <a:gd name="csY5" fmla="*/ 82550 h 1466850"/>
              <a:gd name="csX6" fmla="*/ 546100 w 1454150"/>
              <a:gd name="csY6" fmla="*/ 79375 h 1466850"/>
              <a:gd name="csX7" fmla="*/ 539750 w 1454150"/>
              <a:gd name="csY7" fmla="*/ 466725 h 1466850"/>
              <a:gd name="csX8" fmla="*/ 577850 w 1454150"/>
              <a:gd name="csY8" fmla="*/ 520700 h 1466850"/>
              <a:gd name="csX9" fmla="*/ 584200 w 1454150"/>
              <a:gd name="csY9" fmla="*/ 1466850 h 1466850"/>
              <a:gd name="csX0" fmla="*/ 584200 w 1457325"/>
              <a:gd name="csY0" fmla="*/ 1466850 h 1466850"/>
              <a:gd name="csX1" fmla="*/ 298450 w 1457325"/>
              <a:gd name="csY1" fmla="*/ 1276350 h 1466850"/>
              <a:gd name="csX2" fmla="*/ 0 w 1457325"/>
              <a:gd name="csY2" fmla="*/ 234950 h 1466850"/>
              <a:gd name="csX3" fmla="*/ 6350 w 1457325"/>
              <a:gd name="csY3" fmla="*/ 0 h 1466850"/>
              <a:gd name="csX4" fmla="*/ 1454150 w 1457325"/>
              <a:gd name="csY4" fmla="*/ 31750 h 1466850"/>
              <a:gd name="csX5" fmla="*/ 1457325 w 1457325"/>
              <a:gd name="csY5" fmla="*/ 85725 h 1466850"/>
              <a:gd name="csX6" fmla="*/ 546100 w 1457325"/>
              <a:gd name="csY6" fmla="*/ 79375 h 1466850"/>
              <a:gd name="csX7" fmla="*/ 539750 w 1457325"/>
              <a:gd name="csY7" fmla="*/ 466725 h 1466850"/>
              <a:gd name="csX8" fmla="*/ 577850 w 1457325"/>
              <a:gd name="csY8" fmla="*/ 520700 h 1466850"/>
              <a:gd name="csX9" fmla="*/ 584200 w 1457325"/>
              <a:gd name="csY9" fmla="*/ 1466850 h 1466850"/>
              <a:gd name="csX0" fmla="*/ 584200 w 1454150"/>
              <a:gd name="csY0" fmla="*/ 1466850 h 1466850"/>
              <a:gd name="csX1" fmla="*/ 298450 w 1454150"/>
              <a:gd name="csY1" fmla="*/ 1276350 h 1466850"/>
              <a:gd name="csX2" fmla="*/ 0 w 1454150"/>
              <a:gd name="csY2" fmla="*/ 234950 h 1466850"/>
              <a:gd name="csX3" fmla="*/ 6350 w 1454150"/>
              <a:gd name="csY3" fmla="*/ 0 h 1466850"/>
              <a:gd name="csX4" fmla="*/ 1454150 w 1454150"/>
              <a:gd name="csY4" fmla="*/ 31750 h 1466850"/>
              <a:gd name="csX5" fmla="*/ 1447800 w 1454150"/>
              <a:gd name="csY5" fmla="*/ 82550 h 1466850"/>
              <a:gd name="csX6" fmla="*/ 546100 w 1454150"/>
              <a:gd name="csY6" fmla="*/ 79375 h 1466850"/>
              <a:gd name="csX7" fmla="*/ 539750 w 1454150"/>
              <a:gd name="csY7" fmla="*/ 466725 h 1466850"/>
              <a:gd name="csX8" fmla="*/ 577850 w 1454150"/>
              <a:gd name="csY8" fmla="*/ 520700 h 1466850"/>
              <a:gd name="csX9" fmla="*/ 584200 w 1454150"/>
              <a:gd name="csY9" fmla="*/ 1466850 h 1466850"/>
              <a:gd name="csX0" fmla="*/ 577850 w 1447800"/>
              <a:gd name="csY0" fmla="*/ 1466850 h 1466850"/>
              <a:gd name="csX1" fmla="*/ 292100 w 1447800"/>
              <a:gd name="csY1" fmla="*/ 1276350 h 1466850"/>
              <a:gd name="csX2" fmla="*/ 7938 w 1447800"/>
              <a:gd name="csY2" fmla="*/ 239713 h 1466850"/>
              <a:gd name="csX3" fmla="*/ 0 w 1447800"/>
              <a:gd name="csY3" fmla="*/ 0 h 1466850"/>
              <a:gd name="csX4" fmla="*/ 1447800 w 1447800"/>
              <a:gd name="csY4" fmla="*/ 31750 h 1466850"/>
              <a:gd name="csX5" fmla="*/ 1441450 w 1447800"/>
              <a:gd name="csY5" fmla="*/ 82550 h 1466850"/>
              <a:gd name="csX6" fmla="*/ 539750 w 1447800"/>
              <a:gd name="csY6" fmla="*/ 79375 h 1466850"/>
              <a:gd name="csX7" fmla="*/ 533400 w 1447800"/>
              <a:gd name="csY7" fmla="*/ 466725 h 1466850"/>
              <a:gd name="csX8" fmla="*/ 571500 w 1447800"/>
              <a:gd name="csY8" fmla="*/ 520700 h 1466850"/>
              <a:gd name="csX9" fmla="*/ 577850 w 1447800"/>
              <a:gd name="csY9" fmla="*/ 1466850 h 1466850"/>
              <a:gd name="csX0" fmla="*/ 573087 w 1443037"/>
              <a:gd name="csY0" fmla="*/ 1452562 h 1452562"/>
              <a:gd name="csX1" fmla="*/ 287337 w 1443037"/>
              <a:gd name="csY1" fmla="*/ 1262062 h 1452562"/>
              <a:gd name="csX2" fmla="*/ 3175 w 1443037"/>
              <a:gd name="csY2" fmla="*/ 225425 h 1452562"/>
              <a:gd name="csX3" fmla="*/ 0 w 1443037"/>
              <a:gd name="csY3" fmla="*/ 0 h 1452562"/>
              <a:gd name="csX4" fmla="*/ 1443037 w 1443037"/>
              <a:gd name="csY4" fmla="*/ 17462 h 1452562"/>
              <a:gd name="csX5" fmla="*/ 1436687 w 1443037"/>
              <a:gd name="csY5" fmla="*/ 68262 h 1452562"/>
              <a:gd name="csX6" fmla="*/ 534987 w 1443037"/>
              <a:gd name="csY6" fmla="*/ 65087 h 1452562"/>
              <a:gd name="csX7" fmla="*/ 528637 w 1443037"/>
              <a:gd name="csY7" fmla="*/ 452437 h 1452562"/>
              <a:gd name="csX8" fmla="*/ 566737 w 1443037"/>
              <a:gd name="csY8" fmla="*/ 506412 h 1452562"/>
              <a:gd name="csX9" fmla="*/ 573087 w 1443037"/>
              <a:gd name="csY9" fmla="*/ 1452562 h 1452562"/>
              <a:gd name="csX0" fmla="*/ 573087 w 1436687"/>
              <a:gd name="csY0" fmla="*/ 1452562 h 1452562"/>
              <a:gd name="csX1" fmla="*/ 287337 w 1436687"/>
              <a:gd name="csY1" fmla="*/ 1262062 h 1452562"/>
              <a:gd name="csX2" fmla="*/ 3175 w 1436687"/>
              <a:gd name="csY2" fmla="*/ 225425 h 1452562"/>
              <a:gd name="csX3" fmla="*/ 0 w 1436687"/>
              <a:gd name="csY3" fmla="*/ 0 h 1452562"/>
              <a:gd name="csX4" fmla="*/ 1433512 w 1436687"/>
              <a:gd name="csY4" fmla="*/ 7937 h 1452562"/>
              <a:gd name="csX5" fmla="*/ 1436687 w 1436687"/>
              <a:gd name="csY5" fmla="*/ 68262 h 1452562"/>
              <a:gd name="csX6" fmla="*/ 534987 w 1436687"/>
              <a:gd name="csY6" fmla="*/ 65087 h 1452562"/>
              <a:gd name="csX7" fmla="*/ 528637 w 1436687"/>
              <a:gd name="csY7" fmla="*/ 452437 h 1452562"/>
              <a:gd name="csX8" fmla="*/ 566737 w 1436687"/>
              <a:gd name="csY8" fmla="*/ 506412 h 1452562"/>
              <a:gd name="csX9" fmla="*/ 573087 w 1436687"/>
              <a:gd name="csY9" fmla="*/ 1452562 h 1452562"/>
              <a:gd name="csX0" fmla="*/ 582612 w 1436687"/>
              <a:gd name="csY0" fmla="*/ 1428749 h 1428749"/>
              <a:gd name="csX1" fmla="*/ 287337 w 1436687"/>
              <a:gd name="csY1" fmla="*/ 1262062 h 1428749"/>
              <a:gd name="csX2" fmla="*/ 3175 w 1436687"/>
              <a:gd name="csY2" fmla="*/ 225425 h 1428749"/>
              <a:gd name="csX3" fmla="*/ 0 w 1436687"/>
              <a:gd name="csY3" fmla="*/ 0 h 1428749"/>
              <a:gd name="csX4" fmla="*/ 1433512 w 1436687"/>
              <a:gd name="csY4" fmla="*/ 7937 h 1428749"/>
              <a:gd name="csX5" fmla="*/ 1436687 w 1436687"/>
              <a:gd name="csY5" fmla="*/ 68262 h 1428749"/>
              <a:gd name="csX6" fmla="*/ 534987 w 1436687"/>
              <a:gd name="csY6" fmla="*/ 65087 h 1428749"/>
              <a:gd name="csX7" fmla="*/ 528637 w 1436687"/>
              <a:gd name="csY7" fmla="*/ 452437 h 1428749"/>
              <a:gd name="csX8" fmla="*/ 566737 w 1436687"/>
              <a:gd name="csY8" fmla="*/ 506412 h 1428749"/>
              <a:gd name="csX9" fmla="*/ 582612 w 1436687"/>
              <a:gd name="csY9" fmla="*/ 1428749 h 1428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36687" h="1428749">
                <a:moveTo>
                  <a:pt x="582612" y="1428749"/>
                </a:moveTo>
                <a:lnTo>
                  <a:pt x="287337" y="1262062"/>
                </a:lnTo>
                <a:lnTo>
                  <a:pt x="3175" y="225425"/>
                </a:lnTo>
                <a:cubicBezTo>
                  <a:pt x="2117" y="150283"/>
                  <a:pt x="1058" y="75142"/>
                  <a:pt x="0" y="0"/>
                </a:cubicBezTo>
                <a:lnTo>
                  <a:pt x="1433512" y="7937"/>
                </a:lnTo>
                <a:lnTo>
                  <a:pt x="1436687" y="68262"/>
                </a:lnTo>
                <a:lnTo>
                  <a:pt x="534987" y="65087"/>
                </a:lnTo>
                <a:lnTo>
                  <a:pt x="528637" y="452437"/>
                </a:lnTo>
                <a:cubicBezTo>
                  <a:pt x="547687" y="469370"/>
                  <a:pt x="547687" y="489479"/>
                  <a:pt x="566737" y="506412"/>
                </a:cubicBezTo>
                <a:cubicBezTo>
                  <a:pt x="568854" y="821795"/>
                  <a:pt x="580495" y="1113366"/>
                  <a:pt x="582612" y="1428749"/>
                </a:cubicBezTo>
                <a:close/>
              </a:path>
            </a:pathLst>
          </a:cu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24E05CEB-CBA8-6568-0520-6E42120E26B0}"/>
              </a:ext>
            </a:extLst>
          </p:cNvPr>
          <p:cNvSpPr/>
          <p:nvPr/>
        </p:nvSpPr>
        <p:spPr>
          <a:xfrm>
            <a:off x="3739209" y="3171825"/>
            <a:ext cx="1443038" cy="885825"/>
          </a:xfrm>
          <a:custGeom>
            <a:avLst/>
            <a:gdLst>
              <a:gd name="csX0" fmla="*/ 1454150 w 1454150"/>
              <a:gd name="csY0" fmla="*/ 885825 h 885825"/>
              <a:gd name="csX1" fmla="*/ 1447800 w 1454150"/>
              <a:gd name="csY1" fmla="*/ 822325 h 885825"/>
              <a:gd name="csX2" fmla="*/ 517525 w 1454150"/>
              <a:gd name="csY2" fmla="*/ 815975 h 885825"/>
              <a:gd name="csX3" fmla="*/ 533400 w 1454150"/>
              <a:gd name="csY3" fmla="*/ 600075 h 885825"/>
              <a:gd name="csX4" fmla="*/ 381000 w 1454150"/>
              <a:gd name="csY4" fmla="*/ 73025 h 885825"/>
              <a:gd name="csX5" fmla="*/ 269875 w 1454150"/>
              <a:gd name="csY5" fmla="*/ 0 h 885825"/>
              <a:gd name="csX6" fmla="*/ 273050 w 1454150"/>
              <a:gd name="csY6" fmla="*/ 606425 h 885825"/>
              <a:gd name="csX7" fmla="*/ 0 w 1454150"/>
              <a:gd name="csY7" fmla="*/ 603250 h 885825"/>
              <a:gd name="csX8" fmla="*/ 0 w 1454150"/>
              <a:gd name="csY8" fmla="*/ 869950 h 885825"/>
              <a:gd name="csX9" fmla="*/ 1454150 w 1454150"/>
              <a:gd name="csY9" fmla="*/ 885825 h 885825"/>
              <a:gd name="csX0" fmla="*/ 1454150 w 1454150"/>
              <a:gd name="csY0" fmla="*/ 885825 h 885825"/>
              <a:gd name="csX1" fmla="*/ 1447800 w 1454150"/>
              <a:gd name="csY1" fmla="*/ 822325 h 885825"/>
              <a:gd name="csX2" fmla="*/ 533400 w 1454150"/>
              <a:gd name="csY2" fmla="*/ 815975 h 885825"/>
              <a:gd name="csX3" fmla="*/ 533400 w 1454150"/>
              <a:gd name="csY3" fmla="*/ 600075 h 885825"/>
              <a:gd name="csX4" fmla="*/ 381000 w 1454150"/>
              <a:gd name="csY4" fmla="*/ 73025 h 885825"/>
              <a:gd name="csX5" fmla="*/ 269875 w 1454150"/>
              <a:gd name="csY5" fmla="*/ 0 h 885825"/>
              <a:gd name="csX6" fmla="*/ 273050 w 1454150"/>
              <a:gd name="csY6" fmla="*/ 606425 h 885825"/>
              <a:gd name="csX7" fmla="*/ 0 w 1454150"/>
              <a:gd name="csY7" fmla="*/ 603250 h 885825"/>
              <a:gd name="csX8" fmla="*/ 0 w 1454150"/>
              <a:gd name="csY8" fmla="*/ 869950 h 885825"/>
              <a:gd name="csX9" fmla="*/ 1454150 w 1454150"/>
              <a:gd name="csY9" fmla="*/ 885825 h 885825"/>
              <a:gd name="csX0" fmla="*/ 1454150 w 1457325"/>
              <a:gd name="csY0" fmla="*/ 885825 h 885825"/>
              <a:gd name="csX1" fmla="*/ 1457325 w 1457325"/>
              <a:gd name="csY1" fmla="*/ 822325 h 885825"/>
              <a:gd name="csX2" fmla="*/ 533400 w 1457325"/>
              <a:gd name="csY2" fmla="*/ 815975 h 885825"/>
              <a:gd name="csX3" fmla="*/ 533400 w 1457325"/>
              <a:gd name="csY3" fmla="*/ 600075 h 885825"/>
              <a:gd name="csX4" fmla="*/ 381000 w 1457325"/>
              <a:gd name="csY4" fmla="*/ 73025 h 885825"/>
              <a:gd name="csX5" fmla="*/ 269875 w 1457325"/>
              <a:gd name="csY5" fmla="*/ 0 h 885825"/>
              <a:gd name="csX6" fmla="*/ 273050 w 1457325"/>
              <a:gd name="csY6" fmla="*/ 606425 h 885825"/>
              <a:gd name="csX7" fmla="*/ 0 w 1457325"/>
              <a:gd name="csY7" fmla="*/ 603250 h 885825"/>
              <a:gd name="csX8" fmla="*/ 0 w 1457325"/>
              <a:gd name="csY8" fmla="*/ 869950 h 885825"/>
              <a:gd name="csX9" fmla="*/ 1454150 w 1457325"/>
              <a:gd name="csY9" fmla="*/ 885825 h 885825"/>
              <a:gd name="csX0" fmla="*/ 1454150 w 1457325"/>
              <a:gd name="csY0" fmla="*/ 885825 h 885825"/>
              <a:gd name="csX1" fmla="*/ 1457325 w 1457325"/>
              <a:gd name="csY1" fmla="*/ 822325 h 885825"/>
              <a:gd name="csX2" fmla="*/ 533400 w 1457325"/>
              <a:gd name="csY2" fmla="*/ 815975 h 885825"/>
              <a:gd name="csX3" fmla="*/ 533400 w 1457325"/>
              <a:gd name="csY3" fmla="*/ 600075 h 885825"/>
              <a:gd name="csX4" fmla="*/ 381000 w 1457325"/>
              <a:gd name="csY4" fmla="*/ 73025 h 885825"/>
              <a:gd name="csX5" fmla="*/ 269875 w 1457325"/>
              <a:gd name="csY5" fmla="*/ 0 h 885825"/>
              <a:gd name="csX6" fmla="*/ 273050 w 1457325"/>
              <a:gd name="csY6" fmla="*/ 606425 h 885825"/>
              <a:gd name="csX7" fmla="*/ 0 w 1457325"/>
              <a:gd name="csY7" fmla="*/ 603250 h 885825"/>
              <a:gd name="csX8" fmla="*/ 14287 w 1457325"/>
              <a:gd name="csY8" fmla="*/ 869950 h 885825"/>
              <a:gd name="csX9" fmla="*/ 1454150 w 1457325"/>
              <a:gd name="csY9" fmla="*/ 885825 h 885825"/>
              <a:gd name="csX0" fmla="*/ 1439863 w 1443038"/>
              <a:gd name="csY0" fmla="*/ 885825 h 885825"/>
              <a:gd name="csX1" fmla="*/ 1443038 w 1443038"/>
              <a:gd name="csY1" fmla="*/ 822325 h 885825"/>
              <a:gd name="csX2" fmla="*/ 519113 w 1443038"/>
              <a:gd name="csY2" fmla="*/ 815975 h 885825"/>
              <a:gd name="csX3" fmla="*/ 519113 w 1443038"/>
              <a:gd name="csY3" fmla="*/ 600075 h 885825"/>
              <a:gd name="csX4" fmla="*/ 366713 w 1443038"/>
              <a:gd name="csY4" fmla="*/ 73025 h 885825"/>
              <a:gd name="csX5" fmla="*/ 255588 w 1443038"/>
              <a:gd name="csY5" fmla="*/ 0 h 885825"/>
              <a:gd name="csX6" fmla="*/ 258763 w 1443038"/>
              <a:gd name="csY6" fmla="*/ 606425 h 885825"/>
              <a:gd name="csX7" fmla="*/ 4763 w 1443038"/>
              <a:gd name="csY7" fmla="*/ 603250 h 885825"/>
              <a:gd name="csX8" fmla="*/ 0 w 1443038"/>
              <a:gd name="csY8" fmla="*/ 869950 h 885825"/>
              <a:gd name="csX9" fmla="*/ 1439863 w 1443038"/>
              <a:gd name="csY9" fmla="*/ 885825 h 885825"/>
              <a:gd name="csX0" fmla="*/ 1439863 w 1443038"/>
              <a:gd name="csY0" fmla="*/ 885825 h 885825"/>
              <a:gd name="csX1" fmla="*/ 1443038 w 1443038"/>
              <a:gd name="csY1" fmla="*/ 822325 h 885825"/>
              <a:gd name="csX2" fmla="*/ 519113 w 1443038"/>
              <a:gd name="csY2" fmla="*/ 815975 h 885825"/>
              <a:gd name="csX3" fmla="*/ 538163 w 1443038"/>
              <a:gd name="csY3" fmla="*/ 642937 h 885825"/>
              <a:gd name="csX4" fmla="*/ 366713 w 1443038"/>
              <a:gd name="csY4" fmla="*/ 73025 h 885825"/>
              <a:gd name="csX5" fmla="*/ 255588 w 1443038"/>
              <a:gd name="csY5" fmla="*/ 0 h 885825"/>
              <a:gd name="csX6" fmla="*/ 258763 w 1443038"/>
              <a:gd name="csY6" fmla="*/ 606425 h 885825"/>
              <a:gd name="csX7" fmla="*/ 4763 w 1443038"/>
              <a:gd name="csY7" fmla="*/ 603250 h 885825"/>
              <a:gd name="csX8" fmla="*/ 0 w 1443038"/>
              <a:gd name="csY8" fmla="*/ 869950 h 885825"/>
              <a:gd name="csX9" fmla="*/ 1439863 w 1443038"/>
              <a:gd name="csY9" fmla="*/ 885825 h 885825"/>
              <a:gd name="csX0" fmla="*/ 1439863 w 1443038"/>
              <a:gd name="csY0" fmla="*/ 885825 h 885825"/>
              <a:gd name="csX1" fmla="*/ 1443038 w 1443038"/>
              <a:gd name="csY1" fmla="*/ 822325 h 885825"/>
              <a:gd name="csX2" fmla="*/ 533401 w 1443038"/>
              <a:gd name="csY2" fmla="*/ 815975 h 885825"/>
              <a:gd name="csX3" fmla="*/ 538163 w 1443038"/>
              <a:gd name="csY3" fmla="*/ 642937 h 885825"/>
              <a:gd name="csX4" fmla="*/ 366713 w 1443038"/>
              <a:gd name="csY4" fmla="*/ 73025 h 885825"/>
              <a:gd name="csX5" fmla="*/ 255588 w 1443038"/>
              <a:gd name="csY5" fmla="*/ 0 h 885825"/>
              <a:gd name="csX6" fmla="*/ 258763 w 1443038"/>
              <a:gd name="csY6" fmla="*/ 606425 h 885825"/>
              <a:gd name="csX7" fmla="*/ 4763 w 1443038"/>
              <a:gd name="csY7" fmla="*/ 603250 h 885825"/>
              <a:gd name="csX8" fmla="*/ 0 w 1443038"/>
              <a:gd name="csY8" fmla="*/ 869950 h 885825"/>
              <a:gd name="csX9" fmla="*/ 1439863 w 1443038"/>
              <a:gd name="csY9" fmla="*/ 885825 h 885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43038" h="885825">
                <a:moveTo>
                  <a:pt x="1439863" y="885825"/>
                </a:moveTo>
                <a:lnTo>
                  <a:pt x="1443038" y="822325"/>
                </a:lnTo>
                <a:lnTo>
                  <a:pt x="533401" y="815975"/>
                </a:lnTo>
                <a:lnTo>
                  <a:pt x="538163" y="642937"/>
                </a:lnTo>
                <a:lnTo>
                  <a:pt x="366713" y="73025"/>
                </a:lnTo>
                <a:lnTo>
                  <a:pt x="255588" y="0"/>
                </a:lnTo>
                <a:cubicBezTo>
                  <a:pt x="256646" y="202142"/>
                  <a:pt x="257705" y="404283"/>
                  <a:pt x="258763" y="606425"/>
                </a:cubicBezTo>
                <a:lnTo>
                  <a:pt x="4763" y="603250"/>
                </a:lnTo>
                <a:cubicBezTo>
                  <a:pt x="3175" y="692150"/>
                  <a:pt x="1588" y="781050"/>
                  <a:pt x="0" y="869950"/>
                </a:cubicBezTo>
                <a:lnTo>
                  <a:pt x="1439863" y="885825"/>
                </a:lnTo>
                <a:close/>
              </a:path>
            </a:pathLst>
          </a:cu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6C9A5E64-5E24-FFBC-3262-3E0EC1C3200A}"/>
              </a:ext>
            </a:extLst>
          </p:cNvPr>
          <p:cNvSpPr/>
          <p:nvPr/>
        </p:nvSpPr>
        <p:spPr>
          <a:xfrm>
            <a:off x="7123373" y="4068762"/>
            <a:ext cx="2702309" cy="473076"/>
          </a:xfrm>
          <a:custGeom>
            <a:avLst/>
            <a:gdLst>
              <a:gd name="csX0" fmla="*/ 3308350 w 3552943"/>
              <a:gd name="csY0" fmla="*/ 482600 h 513075"/>
              <a:gd name="csX1" fmla="*/ 0 w 3552943"/>
              <a:gd name="csY1" fmla="*/ 466725 h 513075"/>
              <a:gd name="csX2" fmla="*/ 6350 w 3552943"/>
              <a:gd name="csY2" fmla="*/ 0 h 513075"/>
              <a:gd name="csX3" fmla="*/ 3308350 w 3552943"/>
              <a:gd name="csY3" fmla="*/ 19050 h 513075"/>
              <a:gd name="csX4" fmla="*/ 3308350 w 3552943"/>
              <a:gd name="csY4" fmla="*/ 482600 h 513075"/>
              <a:gd name="csX0" fmla="*/ 3308350 w 3552943"/>
              <a:gd name="csY0" fmla="*/ 482600 h 482600"/>
              <a:gd name="csX1" fmla="*/ 0 w 3552943"/>
              <a:gd name="csY1" fmla="*/ 466725 h 482600"/>
              <a:gd name="csX2" fmla="*/ 6350 w 3552943"/>
              <a:gd name="csY2" fmla="*/ 0 h 482600"/>
              <a:gd name="csX3" fmla="*/ 3308350 w 3552943"/>
              <a:gd name="csY3" fmla="*/ 19050 h 482600"/>
              <a:gd name="csX4" fmla="*/ 3308350 w 3552943"/>
              <a:gd name="csY4" fmla="*/ 482600 h 482600"/>
              <a:gd name="csX0" fmla="*/ 3308350 w 3308350"/>
              <a:gd name="csY0" fmla="*/ 482600 h 482600"/>
              <a:gd name="csX1" fmla="*/ 0 w 3308350"/>
              <a:gd name="csY1" fmla="*/ 466725 h 482600"/>
              <a:gd name="csX2" fmla="*/ 6350 w 3308350"/>
              <a:gd name="csY2" fmla="*/ 0 h 482600"/>
              <a:gd name="csX3" fmla="*/ 3308350 w 3308350"/>
              <a:gd name="csY3" fmla="*/ 19050 h 482600"/>
              <a:gd name="csX4" fmla="*/ 3308350 w 3308350"/>
              <a:gd name="csY4" fmla="*/ 482600 h 482600"/>
              <a:gd name="csX0" fmla="*/ 3302385 w 3546742"/>
              <a:gd name="csY0" fmla="*/ 482600 h 513076"/>
              <a:gd name="csX1" fmla="*/ 3560 w 3546742"/>
              <a:gd name="csY1" fmla="*/ 466725 h 513076"/>
              <a:gd name="csX2" fmla="*/ 385 w 3546742"/>
              <a:gd name="csY2" fmla="*/ 0 h 513076"/>
              <a:gd name="csX3" fmla="*/ 3302385 w 3546742"/>
              <a:gd name="csY3" fmla="*/ 19050 h 513076"/>
              <a:gd name="csX4" fmla="*/ 3302385 w 3546742"/>
              <a:gd name="csY4" fmla="*/ 482600 h 513076"/>
              <a:gd name="csX0" fmla="*/ 3302385 w 3546742"/>
              <a:gd name="csY0" fmla="*/ 482600 h 482600"/>
              <a:gd name="csX1" fmla="*/ 3560 w 3546742"/>
              <a:gd name="csY1" fmla="*/ 466725 h 482600"/>
              <a:gd name="csX2" fmla="*/ 385 w 3546742"/>
              <a:gd name="csY2" fmla="*/ 0 h 482600"/>
              <a:gd name="csX3" fmla="*/ 3302385 w 3546742"/>
              <a:gd name="csY3" fmla="*/ 19050 h 482600"/>
              <a:gd name="csX4" fmla="*/ 3302385 w 3546742"/>
              <a:gd name="csY4" fmla="*/ 482600 h 482600"/>
              <a:gd name="csX0" fmla="*/ 3302385 w 3302385"/>
              <a:gd name="csY0" fmla="*/ 482600 h 482600"/>
              <a:gd name="csX1" fmla="*/ 3560 w 3302385"/>
              <a:gd name="csY1" fmla="*/ 466725 h 482600"/>
              <a:gd name="csX2" fmla="*/ 385 w 3302385"/>
              <a:gd name="csY2" fmla="*/ 0 h 482600"/>
              <a:gd name="csX3" fmla="*/ 3302385 w 3302385"/>
              <a:gd name="csY3" fmla="*/ 19050 h 482600"/>
              <a:gd name="csX4" fmla="*/ 3302385 w 3302385"/>
              <a:gd name="csY4" fmla="*/ 482600 h 482600"/>
              <a:gd name="csX0" fmla="*/ 3325915 w 3325915"/>
              <a:gd name="csY0" fmla="*/ 482600 h 482600"/>
              <a:gd name="csX1" fmla="*/ 27090 w 3325915"/>
              <a:gd name="csY1" fmla="*/ 466725 h 482600"/>
              <a:gd name="csX2" fmla="*/ 103 w 3325915"/>
              <a:gd name="csY2" fmla="*/ 0 h 482600"/>
              <a:gd name="csX3" fmla="*/ 3325915 w 3325915"/>
              <a:gd name="csY3" fmla="*/ 19050 h 482600"/>
              <a:gd name="csX4" fmla="*/ 3325915 w 3325915"/>
              <a:gd name="csY4" fmla="*/ 482600 h 482600"/>
              <a:gd name="csX0" fmla="*/ 3332162 w 3578988"/>
              <a:gd name="csY0" fmla="*/ 482600 h 512009"/>
              <a:gd name="csX1" fmla="*/ 0 w 3578988"/>
              <a:gd name="csY1" fmla="*/ 461962 h 512009"/>
              <a:gd name="csX2" fmla="*/ 6350 w 3578988"/>
              <a:gd name="csY2" fmla="*/ 0 h 512009"/>
              <a:gd name="csX3" fmla="*/ 3332162 w 3578988"/>
              <a:gd name="csY3" fmla="*/ 19050 h 512009"/>
              <a:gd name="csX4" fmla="*/ 3332162 w 3578988"/>
              <a:gd name="csY4" fmla="*/ 482600 h 512009"/>
              <a:gd name="csX0" fmla="*/ 3335721 w 3582547"/>
              <a:gd name="csY0" fmla="*/ 477838 h 507247"/>
              <a:gd name="csX1" fmla="*/ 3559 w 3582547"/>
              <a:gd name="csY1" fmla="*/ 457200 h 507247"/>
              <a:gd name="csX2" fmla="*/ 384 w 3582547"/>
              <a:gd name="csY2" fmla="*/ 0 h 507247"/>
              <a:gd name="csX3" fmla="*/ 3335721 w 3582547"/>
              <a:gd name="csY3" fmla="*/ 14288 h 507247"/>
              <a:gd name="csX4" fmla="*/ 3335721 w 3582547"/>
              <a:gd name="csY4" fmla="*/ 477838 h 507247"/>
              <a:gd name="csX0" fmla="*/ 2692784 w 3335721"/>
              <a:gd name="csY0" fmla="*/ 473076 h 503506"/>
              <a:gd name="csX1" fmla="*/ 3559 w 3335721"/>
              <a:gd name="csY1" fmla="*/ 457200 h 503506"/>
              <a:gd name="csX2" fmla="*/ 384 w 3335721"/>
              <a:gd name="csY2" fmla="*/ 0 h 503506"/>
              <a:gd name="csX3" fmla="*/ 3335721 w 3335721"/>
              <a:gd name="csY3" fmla="*/ 14288 h 503506"/>
              <a:gd name="csX4" fmla="*/ 2692784 w 3335721"/>
              <a:gd name="csY4" fmla="*/ 473076 h 503506"/>
              <a:gd name="csX0" fmla="*/ 2692784 w 3335721"/>
              <a:gd name="csY0" fmla="*/ 473076 h 503506"/>
              <a:gd name="csX1" fmla="*/ 3559 w 3335721"/>
              <a:gd name="csY1" fmla="*/ 457200 h 503506"/>
              <a:gd name="csX2" fmla="*/ 384 w 3335721"/>
              <a:gd name="csY2" fmla="*/ 0 h 503506"/>
              <a:gd name="csX3" fmla="*/ 3335721 w 3335721"/>
              <a:gd name="csY3" fmla="*/ 14288 h 503506"/>
              <a:gd name="csX4" fmla="*/ 2692784 w 3335721"/>
              <a:gd name="csY4" fmla="*/ 473076 h 503506"/>
              <a:gd name="csX0" fmla="*/ 2692784 w 3335721"/>
              <a:gd name="csY0" fmla="*/ 473076 h 473076"/>
              <a:gd name="csX1" fmla="*/ 3559 w 3335721"/>
              <a:gd name="csY1" fmla="*/ 457200 h 473076"/>
              <a:gd name="csX2" fmla="*/ 384 w 3335721"/>
              <a:gd name="csY2" fmla="*/ 0 h 473076"/>
              <a:gd name="csX3" fmla="*/ 3335721 w 3335721"/>
              <a:gd name="csY3" fmla="*/ 14288 h 473076"/>
              <a:gd name="csX4" fmla="*/ 2692784 w 3335721"/>
              <a:gd name="csY4" fmla="*/ 473076 h 473076"/>
              <a:gd name="csX0" fmla="*/ 2692784 w 2838170"/>
              <a:gd name="csY0" fmla="*/ 473076 h 473076"/>
              <a:gd name="csX1" fmla="*/ 3559 w 2838170"/>
              <a:gd name="csY1" fmla="*/ 457200 h 473076"/>
              <a:gd name="csX2" fmla="*/ 384 w 2838170"/>
              <a:gd name="csY2" fmla="*/ 0 h 473076"/>
              <a:gd name="csX3" fmla="*/ 2702309 w 2838170"/>
              <a:gd name="csY3" fmla="*/ 14288 h 473076"/>
              <a:gd name="csX4" fmla="*/ 2692784 w 2838170"/>
              <a:gd name="csY4" fmla="*/ 473076 h 473076"/>
              <a:gd name="csX0" fmla="*/ 2692784 w 2837086"/>
              <a:gd name="csY0" fmla="*/ 473076 h 473076"/>
              <a:gd name="csX1" fmla="*/ 3559 w 2837086"/>
              <a:gd name="csY1" fmla="*/ 457200 h 473076"/>
              <a:gd name="csX2" fmla="*/ 384 w 2837086"/>
              <a:gd name="csY2" fmla="*/ 0 h 473076"/>
              <a:gd name="csX3" fmla="*/ 2702309 w 2837086"/>
              <a:gd name="csY3" fmla="*/ 14288 h 473076"/>
              <a:gd name="csX4" fmla="*/ 2692784 w 2837086"/>
              <a:gd name="csY4" fmla="*/ 473076 h 473076"/>
              <a:gd name="csX0" fmla="*/ 2692784 w 2702309"/>
              <a:gd name="csY0" fmla="*/ 473076 h 473076"/>
              <a:gd name="csX1" fmla="*/ 3559 w 2702309"/>
              <a:gd name="csY1" fmla="*/ 457200 h 473076"/>
              <a:gd name="csX2" fmla="*/ 384 w 2702309"/>
              <a:gd name="csY2" fmla="*/ 0 h 473076"/>
              <a:gd name="csX3" fmla="*/ 2702309 w 2702309"/>
              <a:gd name="csY3" fmla="*/ 14288 h 473076"/>
              <a:gd name="csX4" fmla="*/ 2692784 w 2702309"/>
              <a:gd name="csY4" fmla="*/ 473076 h 473076"/>
            </a:gdLst>
            <a:ahLst/>
            <a:cxnLst>
              <a:cxn ang="0">
                <a:pos x="csX0" y="csY0"/>
              </a:cxn>
              <a:cxn ang="0">
                <a:pos x="csX1" y="csY1"/>
              </a:cxn>
              <a:cxn ang="0">
                <a:pos x="csX2" y="csY2"/>
              </a:cxn>
              <a:cxn ang="0">
                <a:pos x="csX3" y="csY3"/>
              </a:cxn>
              <a:cxn ang="0">
                <a:pos x="csX4" y="csY4"/>
              </a:cxn>
            </a:cxnLst>
            <a:rect l="l" t="t" r="r" b="b"/>
            <a:pathLst>
              <a:path w="2702309" h="473076">
                <a:moveTo>
                  <a:pt x="2692784" y="473076"/>
                </a:moveTo>
                <a:lnTo>
                  <a:pt x="3559" y="457200"/>
                </a:lnTo>
                <a:cubicBezTo>
                  <a:pt x="5676" y="301625"/>
                  <a:pt x="-1733" y="155575"/>
                  <a:pt x="384" y="0"/>
                </a:cubicBezTo>
                <a:lnTo>
                  <a:pt x="2702309" y="14288"/>
                </a:lnTo>
                <a:lnTo>
                  <a:pt x="2692784" y="473076"/>
                </a:lnTo>
                <a:close/>
              </a:path>
            </a:pathLst>
          </a:custGeom>
          <a:solidFill>
            <a:srgbClr val="FFFF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D8DDC50-18C2-6B98-053A-6394FF783003}"/>
              </a:ext>
            </a:extLst>
          </p:cNvPr>
          <p:cNvSpPr txBox="1"/>
          <p:nvPr/>
        </p:nvSpPr>
        <p:spPr>
          <a:xfrm>
            <a:off x="3450669" y="1400552"/>
            <a:ext cx="1974782" cy="369332"/>
          </a:xfrm>
          <a:prstGeom prst="rect">
            <a:avLst/>
          </a:prstGeom>
          <a:solidFill>
            <a:srgbClr val="FFFF00">
              <a:alpha val="20000"/>
            </a:srgbClr>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Stationary Body</a:t>
            </a:r>
          </a:p>
        </p:txBody>
      </p:sp>
      <p:sp>
        <p:nvSpPr>
          <p:cNvPr id="34" name="TextBox 33">
            <a:extLst>
              <a:ext uri="{FF2B5EF4-FFF2-40B4-BE49-F238E27FC236}">
                <a16:creationId xmlns:a16="http://schemas.microsoft.com/office/drawing/2014/main" id="{3DE28CBC-BDC6-C6C2-3E0A-FCFA5DCB1B34}"/>
              </a:ext>
            </a:extLst>
          </p:cNvPr>
          <p:cNvSpPr txBox="1"/>
          <p:nvPr/>
        </p:nvSpPr>
        <p:spPr>
          <a:xfrm>
            <a:off x="5744289" y="1400552"/>
            <a:ext cx="1974782" cy="369332"/>
          </a:xfrm>
          <a:prstGeom prst="rect">
            <a:avLst/>
          </a:prstGeom>
          <a:solidFill>
            <a:schemeClr val="bg1">
              <a:lumMod val="85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Moveable Body</a:t>
            </a:r>
          </a:p>
        </p:txBody>
      </p:sp>
      <p:grpSp>
        <p:nvGrpSpPr>
          <p:cNvPr id="50" name="Group 49">
            <a:extLst>
              <a:ext uri="{FF2B5EF4-FFF2-40B4-BE49-F238E27FC236}">
                <a16:creationId xmlns:a16="http://schemas.microsoft.com/office/drawing/2014/main" id="{63BE425F-3AB4-D2BA-D6D9-D84954FBD327}"/>
              </a:ext>
            </a:extLst>
          </p:cNvPr>
          <p:cNvGrpSpPr/>
          <p:nvPr/>
        </p:nvGrpSpPr>
        <p:grpSpPr>
          <a:xfrm>
            <a:off x="5526932" y="2251455"/>
            <a:ext cx="1625464" cy="1425195"/>
            <a:chOff x="2678311" y="2251455"/>
            <a:chExt cx="1625464" cy="1425195"/>
          </a:xfrm>
        </p:grpSpPr>
        <p:sp>
          <p:nvSpPr>
            <p:cNvPr id="41" name="TextBox 40">
              <a:extLst>
                <a:ext uri="{FF2B5EF4-FFF2-40B4-BE49-F238E27FC236}">
                  <a16:creationId xmlns:a16="http://schemas.microsoft.com/office/drawing/2014/main" id="{A580EA02-E5F0-FF55-F6B5-9FA82A807ED9}"/>
                </a:ext>
              </a:extLst>
            </p:cNvPr>
            <p:cNvSpPr txBox="1"/>
            <p:nvPr/>
          </p:nvSpPr>
          <p:spPr>
            <a:xfrm>
              <a:off x="2678311" y="2251455"/>
              <a:ext cx="1625464" cy="369332"/>
            </a:xfrm>
            <a:prstGeom prst="rect">
              <a:avLst/>
            </a:prstGeom>
            <a:solidFill>
              <a:srgbClr val="0070C0"/>
            </a:solidFill>
          </p:spPr>
          <p:txBody>
            <a:bodyPr wrap="square" rtlCol="0">
              <a:spAutoFit/>
            </a:bodyPr>
            <a:lstStyle/>
            <a:p>
              <a:pPr algn="ctr"/>
              <a:r>
                <a:rPr lang="en-US" b="1" dirty="0">
                  <a:solidFill>
                    <a:schemeClr val="bg1"/>
                  </a:solidFill>
                </a:rPr>
                <a:t>Dial Indicator</a:t>
              </a:r>
            </a:p>
          </p:txBody>
        </p:sp>
        <p:cxnSp>
          <p:nvCxnSpPr>
            <p:cNvPr id="43" name="Straight Arrow Connector 42">
              <a:extLst>
                <a:ext uri="{FF2B5EF4-FFF2-40B4-BE49-F238E27FC236}">
                  <a16:creationId xmlns:a16="http://schemas.microsoft.com/office/drawing/2014/main" id="{34939B76-51CB-B4A0-589A-7ADF22BFB6FE}"/>
                </a:ext>
              </a:extLst>
            </p:cNvPr>
            <p:cNvCxnSpPr>
              <a:cxnSpLocks/>
              <a:stCxn id="41" idx="2"/>
            </p:cNvCxnSpPr>
            <p:nvPr/>
          </p:nvCxnSpPr>
          <p:spPr>
            <a:xfrm flipH="1">
              <a:off x="3295650" y="2620787"/>
              <a:ext cx="195393" cy="105586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66" name="Group 65">
            <a:extLst>
              <a:ext uri="{FF2B5EF4-FFF2-40B4-BE49-F238E27FC236}">
                <a16:creationId xmlns:a16="http://schemas.microsoft.com/office/drawing/2014/main" id="{DB1115BE-CEC4-1748-ED8A-156A698DDDFB}"/>
              </a:ext>
            </a:extLst>
          </p:cNvPr>
          <p:cNvGrpSpPr/>
          <p:nvPr/>
        </p:nvGrpSpPr>
        <p:grpSpPr>
          <a:xfrm>
            <a:off x="3736034" y="5615604"/>
            <a:ext cx="1887821" cy="1137724"/>
            <a:chOff x="887413" y="5615604"/>
            <a:chExt cx="1887821" cy="1137724"/>
          </a:xfrm>
        </p:grpSpPr>
        <p:sp>
          <p:nvSpPr>
            <p:cNvPr id="52" name="TextBox 51">
              <a:extLst>
                <a:ext uri="{FF2B5EF4-FFF2-40B4-BE49-F238E27FC236}">
                  <a16:creationId xmlns:a16="http://schemas.microsoft.com/office/drawing/2014/main" id="{A124A4DE-16EE-040A-6DFD-0B91A8B93D39}"/>
                </a:ext>
              </a:extLst>
            </p:cNvPr>
            <p:cNvSpPr txBox="1"/>
            <p:nvPr/>
          </p:nvSpPr>
          <p:spPr>
            <a:xfrm>
              <a:off x="887413" y="6383996"/>
              <a:ext cx="1887821" cy="369332"/>
            </a:xfrm>
            <a:prstGeom prst="rect">
              <a:avLst/>
            </a:prstGeom>
            <a:solidFill>
              <a:srgbClr val="0070C0"/>
            </a:solidFill>
          </p:spPr>
          <p:txBody>
            <a:bodyPr wrap="square" rtlCol="0">
              <a:spAutoFit/>
            </a:bodyPr>
            <a:lstStyle/>
            <a:p>
              <a:pPr algn="ctr"/>
              <a:r>
                <a:rPr lang="en-US" b="1" dirty="0">
                  <a:solidFill>
                    <a:schemeClr val="bg1"/>
                  </a:solidFill>
                </a:rPr>
                <a:t>External Jaws</a:t>
              </a:r>
            </a:p>
          </p:txBody>
        </p:sp>
        <p:cxnSp>
          <p:nvCxnSpPr>
            <p:cNvPr id="53" name="Straight Arrow Connector 52">
              <a:extLst>
                <a:ext uri="{FF2B5EF4-FFF2-40B4-BE49-F238E27FC236}">
                  <a16:creationId xmlns:a16="http://schemas.microsoft.com/office/drawing/2014/main" id="{56F163C9-0816-E848-0A9C-2F52B9D026E1}"/>
                </a:ext>
              </a:extLst>
            </p:cNvPr>
            <p:cNvCxnSpPr>
              <a:cxnSpLocks/>
              <a:stCxn id="52" idx="0"/>
            </p:cNvCxnSpPr>
            <p:nvPr/>
          </p:nvCxnSpPr>
          <p:spPr>
            <a:xfrm flipV="1">
              <a:off x="1831324" y="5695950"/>
              <a:ext cx="492776" cy="68804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47FE3F8A-9CF6-E66B-A7A6-E8E30C97C6CC}"/>
                </a:ext>
              </a:extLst>
            </p:cNvPr>
            <p:cNvCxnSpPr>
              <a:cxnSpLocks/>
            </p:cNvCxnSpPr>
            <p:nvPr/>
          </p:nvCxnSpPr>
          <p:spPr>
            <a:xfrm flipH="1" flipV="1">
              <a:off x="1476375" y="5615604"/>
              <a:ext cx="565150" cy="460692"/>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80" name="Group 79">
            <a:extLst>
              <a:ext uri="{FF2B5EF4-FFF2-40B4-BE49-F238E27FC236}">
                <a16:creationId xmlns:a16="http://schemas.microsoft.com/office/drawing/2014/main" id="{F51F7B7E-1F72-29A5-17F6-E546B4803924}"/>
              </a:ext>
            </a:extLst>
          </p:cNvPr>
          <p:cNvGrpSpPr/>
          <p:nvPr/>
        </p:nvGrpSpPr>
        <p:grpSpPr>
          <a:xfrm>
            <a:off x="3450669" y="2251455"/>
            <a:ext cx="1887821" cy="1246654"/>
            <a:chOff x="602048" y="2251455"/>
            <a:chExt cx="1887821" cy="1246654"/>
          </a:xfrm>
        </p:grpSpPr>
        <p:sp>
          <p:nvSpPr>
            <p:cNvPr id="70" name="TextBox 69">
              <a:extLst>
                <a:ext uri="{FF2B5EF4-FFF2-40B4-BE49-F238E27FC236}">
                  <a16:creationId xmlns:a16="http://schemas.microsoft.com/office/drawing/2014/main" id="{662ED23C-B4D5-D2FE-1343-80F9942C6E95}"/>
                </a:ext>
              </a:extLst>
            </p:cNvPr>
            <p:cNvSpPr txBox="1"/>
            <p:nvPr/>
          </p:nvSpPr>
          <p:spPr>
            <a:xfrm>
              <a:off x="602048" y="2251455"/>
              <a:ext cx="1887821" cy="369332"/>
            </a:xfrm>
            <a:prstGeom prst="rect">
              <a:avLst/>
            </a:prstGeom>
            <a:solidFill>
              <a:srgbClr val="0070C0"/>
            </a:solidFill>
          </p:spPr>
          <p:txBody>
            <a:bodyPr wrap="square" rtlCol="0">
              <a:spAutoFit/>
            </a:bodyPr>
            <a:lstStyle/>
            <a:p>
              <a:pPr algn="ctr"/>
              <a:r>
                <a:rPr lang="en-US" b="1" dirty="0">
                  <a:solidFill>
                    <a:schemeClr val="bg1"/>
                  </a:solidFill>
                </a:rPr>
                <a:t>Internal Jaws</a:t>
              </a:r>
            </a:p>
          </p:txBody>
        </p:sp>
        <p:cxnSp>
          <p:nvCxnSpPr>
            <p:cNvPr id="71" name="Straight Arrow Connector 70">
              <a:extLst>
                <a:ext uri="{FF2B5EF4-FFF2-40B4-BE49-F238E27FC236}">
                  <a16:creationId xmlns:a16="http://schemas.microsoft.com/office/drawing/2014/main" id="{FBF2077D-508C-D03E-D611-B8490D182ADA}"/>
                </a:ext>
              </a:extLst>
            </p:cNvPr>
            <p:cNvCxnSpPr>
              <a:cxnSpLocks/>
              <a:stCxn id="70" idx="2"/>
            </p:cNvCxnSpPr>
            <p:nvPr/>
          </p:nvCxnSpPr>
          <p:spPr>
            <a:xfrm flipH="1">
              <a:off x="1314450" y="2620787"/>
              <a:ext cx="231509" cy="73910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CA7B3739-2541-895B-1594-FEE37D563D57}"/>
                </a:ext>
              </a:extLst>
            </p:cNvPr>
            <p:cNvCxnSpPr>
              <a:cxnSpLocks/>
            </p:cNvCxnSpPr>
            <p:nvPr/>
          </p:nvCxnSpPr>
          <p:spPr>
            <a:xfrm>
              <a:off x="1412875" y="3044825"/>
              <a:ext cx="556946" cy="45328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5A26E858-75C9-7DAE-B729-0ECBC2CDCFE6}"/>
              </a:ext>
            </a:extLst>
          </p:cNvPr>
          <p:cNvGrpSpPr/>
          <p:nvPr/>
        </p:nvGrpSpPr>
        <p:grpSpPr>
          <a:xfrm>
            <a:off x="9486350" y="3128777"/>
            <a:ext cx="1573117" cy="1183143"/>
            <a:chOff x="2810770" y="2657672"/>
            <a:chExt cx="1573117" cy="1183143"/>
          </a:xfrm>
        </p:grpSpPr>
        <p:sp>
          <p:nvSpPr>
            <p:cNvPr id="82" name="TextBox 81">
              <a:extLst>
                <a:ext uri="{FF2B5EF4-FFF2-40B4-BE49-F238E27FC236}">
                  <a16:creationId xmlns:a16="http://schemas.microsoft.com/office/drawing/2014/main" id="{94DF077F-9C6E-120A-F668-4BB583872F1F}"/>
                </a:ext>
              </a:extLst>
            </p:cNvPr>
            <p:cNvSpPr txBox="1"/>
            <p:nvPr/>
          </p:nvSpPr>
          <p:spPr>
            <a:xfrm>
              <a:off x="2810770" y="2657672"/>
              <a:ext cx="1573117" cy="369332"/>
            </a:xfrm>
            <a:prstGeom prst="rect">
              <a:avLst/>
            </a:prstGeom>
            <a:solidFill>
              <a:srgbClr val="0070C0"/>
            </a:solidFill>
          </p:spPr>
          <p:txBody>
            <a:bodyPr wrap="square" rtlCol="0">
              <a:spAutoFit/>
            </a:bodyPr>
            <a:lstStyle/>
            <a:p>
              <a:pPr algn="ctr"/>
              <a:r>
                <a:rPr lang="en-US" b="1" dirty="0">
                  <a:solidFill>
                    <a:schemeClr val="bg1"/>
                  </a:solidFill>
                </a:rPr>
                <a:t>Depth Blade</a:t>
              </a:r>
            </a:p>
          </p:txBody>
        </p:sp>
        <p:cxnSp>
          <p:nvCxnSpPr>
            <p:cNvPr id="83" name="Straight Arrow Connector 82">
              <a:extLst>
                <a:ext uri="{FF2B5EF4-FFF2-40B4-BE49-F238E27FC236}">
                  <a16:creationId xmlns:a16="http://schemas.microsoft.com/office/drawing/2014/main" id="{F67E7C29-EA9C-889E-59C5-888EA9901C6E}"/>
                </a:ext>
              </a:extLst>
            </p:cNvPr>
            <p:cNvCxnSpPr>
              <a:cxnSpLocks/>
              <a:stCxn id="82" idx="2"/>
            </p:cNvCxnSpPr>
            <p:nvPr/>
          </p:nvCxnSpPr>
          <p:spPr>
            <a:xfrm flipH="1">
              <a:off x="3476705" y="3027004"/>
              <a:ext cx="120624" cy="81381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88" name="Group 87">
            <a:extLst>
              <a:ext uri="{FF2B5EF4-FFF2-40B4-BE49-F238E27FC236}">
                <a16:creationId xmlns:a16="http://schemas.microsoft.com/office/drawing/2014/main" id="{006A1E51-FCAC-057A-5F3E-51C14031FB77}"/>
              </a:ext>
            </a:extLst>
          </p:cNvPr>
          <p:cNvGrpSpPr/>
          <p:nvPr/>
        </p:nvGrpSpPr>
        <p:grpSpPr>
          <a:xfrm>
            <a:off x="5930673" y="5143500"/>
            <a:ext cx="1274186" cy="1611286"/>
            <a:chOff x="1891049" y="2411603"/>
            <a:chExt cx="1274186" cy="1611286"/>
          </a:xfrm>
        </p:grpSpPr>
        <p:sp>
          <p:nvSpPr>
            <p:cNvPr id="89" name="TextBox 88">
              <a:extLst>
                <a:ext uri="{FF2B5EF4-FFF2-40B4-BE49-F238E27FC236}">
                  <a16:creationId xmlns:a16="http://schemas.microsoft.com/office/drawing/2014/main" id="{60C934DC-7E0B-981D-37BA-7C5CA0A1713E}"/>
                </a:ext>
              </a:extLst>
            </p:cNvPr>
            <p:cNvSpPr txBox="1"/>
            <p:nvPr/>
          </p:nvSpPr>
          <p:spPr>
            <a:xfrm>
              <a:off x="1891049" y="3653557"/>
              <a:ext cx="1274186" cy="369332"/>
            </a:xfrm>
            <a:prstGeom prst="rect">
              <a:avLst/>
            </a:prstGeom>
            <a:solidFill>
              <a:srgbClr val="0070C0"/>
            </a:solidFill>
          </p:spPr>
          <p:txBody>
            <a:bodyPr wrap="square" rtlCol="0">
              <a:spAutoFit/>
            </a:bodyPr>
            <a:lstStyle/>
            <a:p>
              <a:pPr algn="ctr"/>
              <a:r>
                <a:rPr lang="en-US" b="1" dirty="0">
                  <a:solidFill>
                    <a:schemeClr val="bg1"/>
                  </a:solidFill>
                </a:rPr>
                <a:t>Dial Lock</a:t>
              </a:r>
            </a:p>
          </p:txBody>
        </p:sp>
        <p:cxnSp>
          <p:nvCxnSpPr>
            <p:cNvPr id="90" name="Straight Arrow Connector 89">
              <a:extLst>
                <a:ext uri="{FF2B5EF4-FFF2-40B4-BE49-F238E27FC236}">
                  <a16:creationId xmlns:a16="http://schemas.microsoft.com/office/drawing/2014/main" id="{411FBA4B-2BCA-2076-989E-A51EAECFABC0}"/>
                </a:ext>
              </a:extLst>
            </p:cNvPr>
            <p:cNvCxnSpPr>
              <a:cxnSpLocks/>
              <a:stCxn id="89" idx="0"/>
            </p:cNvCxnSpPr>
            <p:nvPr/>
          </p:nvCxnSpPr>
          <p:spPr>
            <a:xfrm flipH="1" flipV="1">
              <a:off x="2077008" y="2411603"/>
              <a:ext cx="451134" cy="124195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96" name="Group 95">
            <a:extLst>
              <a:ext uri="{FF2B5EF4-FFF2-40B4-BE49-F238E27FC236}">
                <a16:creationId xmlns:a16="http://schemas.microsoft.com/office/drawing/2014/main" id="{E54CE367-2619-B8F7-D6AA-110444D77FF4}"/>
              </a:ext>
            </a:extLst>
          </p:cNvPr>
          <p:cNvGrpSpPr/>
          <p:nvPr/>
        </p:nvGrpSpPr>
        <p:grpSpPr>
          <a:xfrm>
            <a:off x="6874583" y="4938086"/>
            <a:ext cx="1612837" cy="1138210"/>
            <a:chOff x="1891048" y="2884679"/>
            <a:chExt cx="1612837" cy="1138210"/>
          </a:xfrm>
        </p:grpSpPr>
        <p:sp>
          <p:nvSpPr>
            <p:cNvPr id="97" name="TextBox 96">
              <a:extLst>
                <a:ext uri="{FF2B5EF4-FFF2-40B4-BE49-F238E27FC236}">
                  <a16:creationId xmlns:a16="http://schemas.microsoft.com/office/drawing/2014/main" id="{E0865AC4-D588-D11B-4960-ECFF0B026228}"/>
                </a:ext>
              </a:extLst>
            </p:cNvPr>
            <p:cNvSpPr txBox="1"/>
            <p:nvPr/>
          </p:nvSpPr>
          <p:spPr>
            <a:xfrm>
              <a:off x="1891048" y="3653557"/>
              <a:ext cx="1612837" cy="369332"/>
            </a:xfrm>
            <a:prstGeom prst="rect">
              <a:avLst/>
            </a:prstGeom>
            <a:solidFill>
              <a:srgbClr val="0070C0"/>
            </a:solidFill>
          </p:spPr>
          <p:txBody>
            <a:bodyPr wrap="square" rtlCol="0">
              <a:spAutoFit/>
            </a:bodyPr>
            <a:lstStyle/>
            <a:p>
              <a:pPr algn="ctr"/>
              <a:r>
                <a:rPr lang="en-US" b="1" dirty="0">
                  <a:solidFill>
                    <a:schemeClr val="bg1"/>
                  </a:solidFill>
                </a:rPr>
                <a:t>Thumbwheel</a:t>
              </a:r>
            </a:p>
          </p:txBody>
        </p:sp>
        <p:cxnSp>
          <p:nvCxnSpPr>
            <p:cNvPr id="98" name="Straight Arrow Connector 97">
              <a:extLst>
                <a:ext uri="{FF2B5EF4-FFF2-40B4-BE49-F238E27FC236}">
                  <a16:creationId xmlns:a16="http://schemas.microsoft.com/office/drawing/2014/main" id="{C4EBE9BE-94C8-47A3-E1AB-FA84E52ECA4B}"/>
                </a:ext>
              </a:extLst>
            </p:cNvPr>
            <p:cNvCxnSpPr>
              <a:cxnSpLocks/>
            </p:cNvCxnSpPr>
            <p:nvPr/>
          </p:nvCxnSpPr>
          <p:spPr>
            <a:xfrm flipH="1" flipV="1">
              <a:off x="1998936" y="2884679"/>
              <a:ext cx="222388" cy="768878"/>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104" name="TextBox 103">
            <a:extLst>
              <a:ext uri="{FF2B5EF4-FFF2-40B4-BE49-F238E27FC236}">
                <a16:creationId xmlns:a16="http://schemas.microsoft.com/office/drawing/2014/main" id="{5A9E8971-8197-FACF-629A-BFC3DD54A3A0}"/>
              </a:ext>
            </a:extLst>
          </p:cNvPr>
          <p:cNvSpPr txBox="1"/>
          <p:nvPr/>
        </p:nvSpPr>
        <p:spPr>
          <a:xfrm>
            <a:off x="566928" y="1252728"/>
            <a:ext cx="1625464" cy="1477328"/>
          </a:xfrm>
          <a:prstGeom prst="rect">
            <a:avLst/>
          </a:prstGeom>
          <a:solidFill>
            <a:srgbClr val="00B050"/>
          </a:solidFill>
        </p:spPr>
        <p:txBody>
          <a:bodyPr wrap="square" rtlCol="0">
            <a:spAutoFit/>
          </a:bodyPr>
          <a:lstStyle/>
          <a:p>
            <a:r>
              <a:rPr lang="en-US" b="1" u="sng" dirty="0">
                <a:solidFill>
                  <a:schemeClr val="bg1"/>
                </a:solidFill>
              </a:rPr>
              <a:t>Measures</a:t>
            </a:r>
            <a:r>
              <a:rPr lang="en-US" b="1" dirty="0">
                <a:solidFill>
                  <a:schemeClr val="bg1"/>
                </a:solidFill>
              </a:rPr>
              <a:t>:</a:t>
            </a:r>
          </a:p>
          <a:p>
            <a:r>
              <a:rPr lang="en-US" b="1" dirty="0">
                <a:solidFill>
                  <a:schemeClr val="bg1"/>
                </a:solidFill>
              </a:rPr>
              <a:t>- Thickness</a:t>
            </a:r>
          </a:p>
          <a:p>
            <a:r>
              <a:rPr lang="en-US" b="1" dirty="0">
                <a:solidFill>
                  <a:schemeClr val="bg1"/>
                </a:solidFill>
              </a:rPr>
              <a:t>- Diameter</a:t>
            </a:r>
          </a:p>
          <a:p>
            <a:r>
              <a:rPr lang="en-US" b="1" dirty="0">
                <a:solidFill>
                  <a:schemeClr val="bg1"/>
                </a:solidFill>
              </a:rPr>
              <a:t>- Depth</a:t>
            </a:r>
          </a:p>
          <a:p>
            <a:r>
              <a:rPr lang="en-US" b="1" dirty="0">
                <a:solidFill>
                  <a:schemeClr val="bg1"/>
                </a:solidFill>
              </a:rPr>
              <a:t>- Other…</a:t>
            </a:r>
          </a:p>
        </p:txBody>
      </p:sp>
      <p:sp>
        <p:nvSpPr>
          <p:cNvPr id="3" name="TextBox 2">
            <a:extLst>
              <a:ext uri="{FF2B5EF4-FFF2-40B4-BE49-F238E27FC236}">
                <a16:creationId xmlns:a16="http://schemas.microsoft.com/office/drawing/2014/main" id="{D71A6E3B-5F31-2C52-D8A2-C33DB5E92EEC}"/>
              </a:ext>
            </a:extLst>
          </p:cNvPr>
          <p:cNvSpPr txBox="1"/>
          <p:nvPr/>
        </p:nvSpPr>
        <p:spPr>
          <a:xfrm>
            <a:off x="8252853" y="4579257"/>
            <a:ext cx="1612838" cy="23121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389825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7" grpId="0" animBg="1"/>
      <p:bldP spid="28" grpId="0" animBg="1"/>
      <p:bldP spid="32" grpId="0" animBg="1"/>
      <p:bldP spid="34" grpId="0" animBg="1"/>
      <p:bldP spid="1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A93B7BD3-A4A3-2BAE-11D4-586AD8422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D4FB1-154A-AAAA-9DA2-1DEB3D04042C}"/>
              </a:ext>
            </a:extLst>
          </p:cNvPr>
          <p:cNvSpPr>
            <a:spLocks noGrp="1"/>
          </p:cNvSpPr>
          <p:nvPr>
            <p:ph type="title"/>
          </p:nvPr>
        </p:nvSpPr>
        <p:spPr>
          <a:xfrm>
            <a:off x="365760" y="365125"/>
            <a:ext cx="10742638" cy="877824"/>
          </a:xfrm>
        </p:spPr>
        <p:txBody>
          <a:bodyPr/>
          <a:lstStyle/>
          <a:p>
            <a:r>
              <a:rPr lang="en-US" dirty="0"/>
              <a:t>How to Use a Caliper</a:t>
            </a:r>
          </a:p>
        </p:txBody>
      </p:sp>
      <p:sp>
        <p:nvSpPr>
          <p:cNvPr id="3" name="Content Placeholder 2">
            <a:extLst>
              <a:ext uri="{FF2B5EF4-FFF2-40B4-BE49-F238E27FC236}">
                <a16:creationId xmlns:a16="http://schemas.microsoft.com/office/drawing/2014/main" id="{CC927E24-77FF-FDA0-41B4-E2D3E17BC385}"/>
              </a:ext>
            </a:extLst>
          </p:cNvPr>
          <p:cNvSpPr>
            <a:spLocks noGrp="1"/>
          </p:cNvSpPr>
          <p:nvPr>
            <p:ph idx="1"/>
          </p:nvPr>
        </p:nvSpPr>
        <p:spPr>
          <a:xfrm>
            <a:off x="611162" y="1483103"/>
            <a:ext cx="10958538" cy="4126587"/>
          </a:xfrm>
        </p:spPr>
        <p:txBody>
          <a:bodyPr>
            <a:normAutofit/>
          </a:bodyPr>
          <a:lstStyle/>
          <a:p>
            <a:pPr marL="514350" indent="-514350">
              <a:buFont typeface="+mj-lt"/>
              <a:buAutoNum type="arabicPeriod"/>
            </a:pPr>
            <a:r>
              <a:rPr lang="en-US" b="1" dirty="0"/>
              <a:t>Zero Out Instrument</a:t>
            </a:r>
            <a:r>
              <a:rPr lang="en-US" dirty="0">
                <a:solidFill>
                  <a:schemeClr val="bg1">
                    <a:lumMod val="65000"/>
                  </a:schemeClr>
                </a:solidFill>
              </a:rPr>
              <a:t> </a:t>
            </a:r>
            <a:r>
              <a:rPr lang="en-US" sz="2000" dirty="0">
                <a:solidFill>
                  <a:schemeClr val="tx2">
                    <a:lumMod val="50000"/>
                    <a:lumOff val="50000"/>
                  </a:schemeClr>
                </a:solidFill>
              </a:rPr>
              <a:t>- Close jaws completely; needle points to "0". If not: loosen dial lock, rotate dial face to zero, re-tighten dial lock.</a:t>
            </a:r>
          </a:p>
          <a:p>
            <a:pPr marL="514350" indent="-514350">
              <a:buFont typeface="+mj-lt"/>
              <a:buAutoNum type="arabicPeriod"/>
            </a:pPr>
            <a:r>
              <a:rPr lang="en-US" b="1" dirty="0"/>
              <a:t>Read Main Beam (Inches)</a:t>
            </a:r>
            <a:r>
              <a:rPr lang="en-US" dirty="0">
                <a:solidFill>
                  <a:schemeClr val="bg1">
                    <a:lumMod val="65000"/>
                  </a:schemeClr>
                </a:solidFill>
              </a:rPr>
              <a:t> </a:t>
            </a:r>
            <a:r>
              <a:rPr lang="en-US" sz="2000" dirty="0">
                <a:solidFill>
                  <a:schemeClr val="tx2">
                    <a:lumMod val="50000"/>
                    <a:lumOff val="50000"/>
                  </a:schemeClr>
                </a:solidFill>
              </a:rPr>
              <a:t>- Look at last numbered digit sliding jaw passed.  This is whole inch measurement.</a:t>
            </a:r>
          </a:p>
          <a:p>
            <a:pPr marL="514350" indent="-514350">
              <a:buFont typeface="+mj-lt"/>
              <a:buAutoNum type="arabicPeriod"/>
            </a:pPr>
            <a:r>
              <a:rPr lang="en-US" b="1" dirty="0"/>
              <a:t>Read Main Beam (Tenths)</a:t>
            </a:r>
            <a:r>
              <a:rPr lang="en-US" dirty="0">
                <a:solidFill>
                  <a:schemeClr val="bg1">
                    <a:lumMod val="65000"/>
                  </a:schemeClr>
                </a:solidFill>
              </a:rPr>
              <a:t> </a:t>
            </a:r>
            <a:r>
              <a:rPr lang="en-US" sz="2000" dirty="0">
                <a:solidFill>
                  <a:schemeClr val="tx2">
                    <a:lumMod val="50000"/>
                    <a:lumOff val="50000"/>
                  </a:schemeClr>
                </a:solidFill>
              </a:rPr>
              <a:t>- Count smaller hash marks passed after whole inch.  Each hash = 0.100” (1/10th”)</a:t>
            </a:r>
          </a:p>
          <a:p>
            <a:pPr marL="514350" indent="-514350">
              <a:buFont typeface="+mj-lt"/>
              <a:buAutoNum type="arabicPeriod"/>
            </a:pPr>
            <a:r>
              <a:rPr lang="en-US" b="1" dirty="0"/>
              <a:t>Read Dial (Thousandths)</a:t>
            </a:r>
            <a:r>
              <a:rPr lang="en-US" dirty="0"/>
              <a:t> </a:t>
            </a:r>
            <a:r>
              <a:rPr lang="en-US" sz="2000" dirty="0">
                <a:solidFill>
                  <a:schemeClr val="tx2">
                    <a:lumMod val="50000"/>
                    <a:lumOff val="50000"/>
                  </a:schemeClr>
                </a:solidFill>
              </a:rPr>
              <a:t>- Read number on dial face.  Each mark is 0.001” (1/1000th”)</a:t>
            </a:r>
          </a:p>
          <a:p>
            <a:pPr marL="514350" indent="-514350">
              <a:buFont typeface="+mj-lt"/>
              <a:buAutoNum type="arabicPeriod"/>
            </a:pPr>
            <a:r>
              <a:rPr lang="en-US" b="1" dirty="0"/>
              <a:t>Calculate Total</a:t>
            </a:r>
            <a:r>
              <a:rPr lang="en-US" dirty="0"/>
              <a:t> </a:t>
            </a:r>
            <a:r>
              <a:rPr lang="en-US" sz="2000" dirty="0">
                <a:solidFill>
                  <a:schemeClr val="tx2">
                    <a:lumMod val="50000"/>
                    <a:lumOff val="50000"/>
                  </a:schemeClr>
                </a:solidFill>
              </a:rPr>
              <a:t>- Add the values together (Inches + Tenths + Dial).  For example, if the beams shows 1.3” and the dial reads 56, the measurement is 1.3 + 0.056 = 1.356”</a:t>
            </a:r>
          </a:p>
          <a:p>
            <a:endParaRPr lang="en-US" dirty="0"/>
          </a:p>
          <a:p>
            <a:pPr lvl="1"/>
            <a:endParaRPr lang="en-US" dirty="0"/>
          </a:p>
        </p:txBody>
      </p:sp>
      <p:sp>
        <p:nvSpPr>
          <p:cNvPr id="5" name="TextBox 4">
            <a:extLst>
              <a:ext uri="{FF2B5EF4-FFF2-40B4-BE49-F238E27FC236}">
                <a16:creationId xmlns:a16="http://schemas.microsoft.com/office/drawing/2014/main" id="{EDD40B5A-9C04-F65D-FDEE-44FA91F0F412}"/>
              </a:ext>
            </a:extLst>
          </p:cNvPr>
          <p:cNvSpPr txBox="1"/>
          <p:nvPr/>
        </p:nvSpPr>
        <p:spPr>
          <a:xfrm>
            <a:off x="10224821" y="124971"/>
            <a:ext cx="1767154" cy="307777"/>
          </a:xfrm>
          <a:prstGeom prst="rect">
            <a:avLst/>
          </a:prstGeom>
          <a:noFill/>
        </p:spPr>
        <p:txBody>
          <a:bodyPr wrap="square" rtlCol="0">
            <a:spAutoFit/>
          </a:body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305543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C4B8F989-C9A5-9B8F-1A6B-57D546AF38F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5D868894-5024-80E3-5E20-9CA0DD3B642B}"/>
              </a:ext>
            </a:extLst>
          </p:cNvPr>
          <p:cNvPicPr>
            <a:picLocks noChangeAspect="1"/>
          </p:cNvPicPr>
          <p:nvPr/>
        </p:nvPicPr>
        <p:blipFill>
          <a:blip r:embed="rId3"/>
          <a:stretch>
            <a:fillRect/>
          </a:stretch>
        </p:blipFill>
        <p:spPr>
          <a:xfrm>
            <a:off x="3405501" y="2772520"/>
            <a:ext cx="6192114" cy="2934109"/>
          </a:xfrm>
          <a:prstGeom prst="rect">
            <a:avLst/>
          </a:prstGeom>
        </p:spPr>
      </p:pic>
      <p:sp>
        <p:nvSpPr>
          <p:cNvPr id="2" name="Title 1">
            <a:extLst>
              <a:ext uri="{FF2B5EF4-FFF2-40B4-BE49-F238E27FC236}">
                <a16:creationId xmlns:a16="http://schemas.microsoft.com/office/drawing/2014/main" id="{C2C9D928-170D-4676-7BF8-2FCAD5784AA6}"/>
              </a:ext>
            </a:extLst>
          </p:cNvPr>
          <p:cNvSpPr>
            <a:spLocks noGrp="1"/>
          </p:cNvSpPr>
          <p:nvPr>
            <p:ph type="title"/>
          </p:nvPr>
        </p:nvSpPr>
        <p:spPr>
          <a:xfrm>
            <a:off x="365760" y="365125"/>
            <a:ext cx="11480664" cy="877824"/>
          </a:xfrm>
        </p:spPr>
        <p:txBody>
          <a:bodyPr/>
          <a:lstStyle/>
          <a:p>
            <a:r>
              <a:rPr lang="en-US" dirty="0"/>
              <a:t>What is a “Micrometer”?</a:t>
            </a:r>
            <a:endParaRPr lang="en-US" dirty="0">
              <a:solidFill>
                <a:schemeClr val="bg1">
                  <a:lumMod val="65000"/>
                </a:schemeClr>
              </a:solidFill>
            </a:endParaRPr>
          </a:p>
        </p:txBody>
      </p:sp>
      <p:grpSp>
        <p:nvGrpSpPr>
          <p:cNvPr id="50" name="Group 49">
            <a:extLst>
              <a:ext uri="{FF2B5EF4-FFF2-40B4-BE49-F238E27FC236}">
                <a16:creationId xmlns:a16="http://schemas.microsoft.com/office/drawing/2014/main" id="{B793B11F-4C70-D90B-9FF8-FC10DC2BAA81}"/>
              </a:ext>
            </a:extLst>
          </p:cNvPr>
          <p:cNvGrpSpPr/>
          <p:nvPr/>
        </p:nvGrpSpPr>
        <p:grpSpPr>
          <a:xfrm>
            <a:off x="3988749" y="2072914"/>
            <a:ext cx="781404" cy="1194268"/>
            <a:chOff x="688072" y="2072914"/>
            <a:chExt cx="781404" cy="1194268"/>
          </a:xfrm>
        </p:grpSpPr>
        <p:sp>
          <p:nvSpPr>
            <p:cNvPr id="41" name="TextBox 40">
              <a:extLst>
                <a:ext uri="{FF2B5EF4-FFF2-40B4-BE49-F238E27FC236}">
                  <a16:creationId xmlns:a16="http://schemas.microsoft.com/office/drawing/2014/main" id="{CB8A8880-9EEA-D4D2-00E1-26D7B89D4484}"/>
                </a:ext>
              </a:extLst>
            </p:cNvPr>
            <p:cNvSpPr txBox="1"/>
            <p:nvPr/>
          </p:nvSpPr>
          <p:spPr>
            <a:xfrm>
              <a:off x="688072" y="2072914"/>
              <a:ext cx="781404" cy="369332"/>
            </a:xfrm>
            <a:prstGeom prst="rect">
              <a:avLst/>
            </a:prstGeom>
            <a:solidFill>
              <a:srgbClr val="0070C0"/>
            </a:solidFill>
          </p:spPr>
          <p:txBody>
            <a:bodyPr wrap="square" rtlCol="0">
              <a:spAutoFit/>
            </a:bodyPr>
            <a:lstStyle/>
            <a:p>
              <a:pPr algn="ctr"/>
              <a:r>
                <a:rPr lang="en-US" b="1" dirty="0">
                  <a:solidFill>
                    <a:schemeClr val="bg1"/>
                  </a:solidFill>
                </a:rPr>
                <a:t>Anvil</a:t>
              </a:r>
            </a:p>
          </p:txBody>
        </p:sp>
        <p:cxnSp>
          <p:nvCxnSpPr>
            <p:cNvPr id="43" name="Straight Arrow Connector 42">
              <a:extLst>
                <a:ext uri="{FF2B5EF4-FFF2-40B4-BE49-F238E27FC236}">
                  <a16:creationId xmlns:a16="http://schemas.microsoft.com/office/drawing/2014/main" id="{D3B3E738-EBFE-255B-80AE-DB8DAF220E80}"/>
                </a:ext>
              </a:extLst>
            </p:cNvPr>
            <p:cNvCxnSpPr>
              <a:cxnSpLocks/>
              <a:stCxn id="41" idx="2"/>
            </p:cNvCxnSpPr>
            <p:nvPr/>
          </p:nvCxnSpPr>
          <p:spPr>
            <a:xfrm>
              <a:off x="1078774" y="2442246"/>
              <a:ext cx="0" cy="82493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01A860F8-EC1C-9848-5CE5-16CDFE3FA7C3}"/>
              </a:ext>
            </a:extLst>
          </p:cNvPr>
          <p:cNvGrpSpPr/>
          <p:nvPr/>
        </p:nvGrpSpPr>
        <p:grpSpPr>
          <a:xfrm>
            <a:off x="8706273" y="2072914"/>
            <a:ext cx="1573117" cy="1194268"/>
            <a:chOff x="1578637" y="1601809"/>
            <a:chExt cx="1573117" cy="1194268"/>
          </a:xfrm>
        </p:grpSpPr>
        <p:sp>
          <p:nvSpPr>
            <p:cNvPr id="82" name="TextBox 81">
              <a:extLst>
                <a:ext uri="{FF2B5EF4-FFF2-40B4-BE49-F238E27FC236}">
                  <a16:creationId xmlns:a16="http://schemas.microsoft.com/office/drawing/2014/main" id="{EC3A32AA-98C0-C2BA-1D83-B3D8BDF70584}"/>
                </a:ext>
              </a:extLst>
            </p:cNvPr>
            <p:cNvSpPr txBox="1"/>
            <p:nvPr/>
          </p:nvSpPr>
          <p:spPr>
            <a:xfrm>
              <a:off x="1578637" y="1601809"/>
              <a:ext cx="1573117" cy="369332"/>
            </a:xfrm>
            <a:prstGeom prst="rect">
              <a:avLst/>
            </a:prstGeom>
            <a:solidFill>
              <a:srgbClr val="0070C0"/>
            </a:solidFill>
          </p:spPr>
          <p:txBody>
            <a:bodyPr wrap="square" rtlCol="0">
              <a:spAutoFit/>
            </a:bodyPr>
            <a:lstStyle/>
            <a:p>
              <a:pPr algn="ctr"/>
              <a:r>
                <a:rPr lang="en-US" b="1" dirty="0">
                  <a:solidFill>
                    <a:schemeClr val="bg1"/>
                  </a:solidFill>
                </a:rPr>
                <a:t>Ratchet Stop</a:t>
              </a:r>
            </a:p>
          </p:txBody>
        </p:sp>
        <p:cxnSp>
          <p:nvCxnSpPr>
            <p:cNvPr id="83" name="Straight Arrow Connector 82">
              <a:extLst>
                <a:ext uri="{FF2B5EF4-FFF2-40B4-BE49-F238E27FC236}">
                  <a16:creationId xmlns:a16="http://schemas.microsoft.com/office/drawing/2014/main" id="{9EC2E270-3004-3F68-686B-5CB41FE85A85}"/>
                </a:ext>
              </a:extLst>
            </p:cNvPr>
            <p:cNvCxnSpPr>
              <a:cxnSpLocks/>
              <a:stCxn id="82" idx="2"/>
            </p:cNvCxnSpPr>
            <p:nvPr/>
          </p:nvCxnSpPr>
          <p:spPr>
            <a:xfrm flipH="1">
              <a:off x="2098554" y="1971141"/>
              <a:ext cx="266642" cy="82493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88" name="Group 87">
            <a:extLst>
              <a:ext uri="{FF2B5EF4-FFF2-40B4-BE49-F238E27FC236}">
                <a16:creationId xmlns:a16="http://schemas.microsoft.com/office/drawing/2014/main" id="{83CB4789-9DA3-481D-A2AA-51A535D9B9B6}"/>
              </a:ext>
            </a:extLst>
          </p:cNvPr>
          <p:cNvGrpSpPr/>
          <p:nvPr/>
        </p:nvGrpSpPr>
        <p:grpSpPr>
          <a:xfrm>
            <a:off x="6051476" y="3678148"/>
            <a:ext cx="1398922" cy="1061915"/>
            <a:chOff x="1559796" y="946251"/>
            <a:chExt cx="1398922" cy="1061915"/>
          </a:xfrm>
        </p:grpSpPr>
        <p:sp>
          <p:nvSpPr>
            <p:cNvPr id="89" name="TextBox 88">
              <a:extLst>
                <a:ext uri="{FF2B5EF4-FFF2-40B4-BE49-F238E27FC236}">
                  <a16:creationId xmlns:a16="http://schemas.microsoft.com/office/drawing/2014/main" id="{E3C79193-F4BF-2B3B-8D99-5AA6D0F2278A}"/>
                </a:ext>
              </a:extLst>
            </p:cNvPr>
            <p:cNvSpPr txBox="1"/>
            <p:nvPr/>
          </p:nvSpPr>
          <p:spPr>
            <a:xfrm>
              <a:off x="2196625" y="1638834"/>
              <a:ext cx="762093" cy="369332"/>
            </a:xfrm>
            <a:prstGeom prst="rect">
              <a:avLst/>
            </a:prstGeom>
            <a:solidFill>
              <a:srgbClr val="0070C0"/>
            </a:solidFill>
          </p:spPr>
          <p:txBody>
            <a:bodyPr wrap="square" rtlCol="0">
              <a:spAutoFit/>
            </a:bodyPr>
            <a:lstStyle/>
            <a:p>
              <a:pPr algn="ctr"/>
              <a:r>
                <a:rPr lang="en-US" b="1" dirty="0">
                  <a:solidFill>
                    <a:schemeClr val="bg1"/>
                  </a:solidFill>
                </a:rPr>
                <a:t>Lock</a:t>
              </a:r>
            </a:p>
          </p:txBody>
        </p:sp>
        <p:cxnSp>
          <p:nvCxnSpPr>
            <p:cNvPr id="90" name="Straight Arrow Connector 89">
              <a:extLst>
                <a:ext uri="{FF2B5EF4-FFF2-40B4-BE49-F238E27FC236}">
                  <a16:creationId xmlns:a16="http://schemas.microsoft.com/office/drawing/2014/main" id="{8CD9FDAD-FA94-92CB-7FFF-6D65BC9786D0}"/>
                </a:ext>
              </a:extLst>
            </p:cNvPr>
            <p:cNvCxnSpPr>
              <a:cxnSpLocks/>
              <a:stCxn id="89" idx="0"/>
            </p:cNvCxnSpPr>
            <p:nvPr/>
          </p:nvCxnSpPr>
          <p:spPr>
            <a:xfrm flipH="1" flipV="1">
              <a:off x="1559796" y="946251"/>
              <a:ext cx="1017876" cy="69258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96" name="Group 95">
            <a:extLst>
              <a:ext uri="{FF2B5EF4-FFF2-40B4-BE49-F238E27FC236}">
                <a16:creationId xmlns:a16="http://schemas.microsoft.com/office/drawing/2014/main" id="{281F4187-6043-0B83-1E90-461640E1DAA8}"/>
              </a:ext>
            </a:extLst>
          </p:cNvPr>
          <p:cNvGrpSpPr/>
          <p:nvPr/>
        </p:nvGrpSpPr>
        <p:grpSpPr>
          <a:xfrm>
            <a:off x="5672332" y="5239820"/>
            <a:ext cx="1026248" cy="944685"/>
            <a:chOff x="1891049" y="3078204"/>
            <a:chExt cx="1026248" cy="944685"/>
          </a:xfrm>
        </p:grpSpPr>
        <p:sp>
          <p:nvSpPr>
            <p:cNvPr id="97" name="TextBox 96">
              <a:extLst>
                <a:ext uri="{FF2B5EF4-FFF2-40B4-BE49-F238E27FC236}">
                  <a16:creationId xmlns:a16="http://schemas.microsoft.com/office/drawing/2014/main" id="{764721FC-F4A2-8BE3-D7D3-A7FFB93F9658}"/>
                </a:ext>
              </a:extLst>
            </p:cNvPr>
            <p:cNvSpPr txBox="1"/>
            <p:nvPr/>
          </p:nvSpPr>
          <p:spPr>
            <a:xfrm>
              <a:off x="1891049" y="3653557"/>
              <a:ext cx="1026248" cy="369332"/>
            </a:xfrm>
            <a:prstGeom prst="rect">
              <a:avLst/>
            </a:prstGeom>
            <a:solidFill>
              <a:srgbClr val="0070C0"/>
            </a:solidFill>
          </p:spPr>
          <p:txBody>
            <a:bodyPr wrap="square" rtlCol="0">
              <a:spAutoFit/>
            </a:bodyPr>
            <a:lstStyle/>
            <a:p>
              <a:pPr algn="ctr"/>
              <a:r>
                <a:rPr lang="en-US" b="1" dirty="0">
                  <a:solidFill>
                    <a:schemeClr val="bg1"/>
                  </a:solidFill>
                </a:rPr>
                <a:t>Frame</a:t>
              </a:r>
            </a:p>
          </p:txBody>
        </p:sp>
        <p:cxnSp>
          <p:nvCxnSpPr>
            <p:cNvPr id="98" name="Straight Arrow Connector 97">
              <a:extLst>
                <a:ext uri="{FF2B5EF4-FFF2-40B4-BE49-F238E27FC236}">
                  <a16:creationId xmlns:a16="http://schemas.microsoft.com/office/drawing/2014/main" id="{81D3C9AD-8D0B-D540-8822-F2AD42E22D8F}"/>
                </a:ext>
              </a:extLst>
            </p:cNvPr>
            <p:cNvCxnSpPr>
              <a:cxnSpLocks/>
            </p:cNvCxnSpPr>
            <p:nvPr/>
          </p:nvCxnSpPr>
          <p:spPr>
            <a:xfrm flipH="1" flipV="1">
              <a:off x="2033887" y="3078204"/>
              <a:ext cx="187437" cy="57535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28700A6-DAEA-4BCD-E11F-5C6D906545BB}"/>
              </a:ext>
            </a:extLst>
          </p:cNvPr>
          <p:cNvGrpSpPr/>
          <p:nvPr/>
        </p:nvGrpSpPr>
        <p:grpSpPr>
          <a:xfrm>
            <a:off x="4831036" y="2072914"/>
            <a:ext cx="1024184" cy="1194268"/>
            <a:chOff x="575159" y="2072914"/>
            <a:chExt cx="1024184" cy="1194268"/>
          </a:xfrm>
        </p:grpSpPr>
        <p:sp>
          <p:nvSpPr>
            <p:cNvPr id="7" name="TextBox 6">
              <a:extLst>
                <a:ext uri="{FF2B5EF4-FFF2-40B4-BE49-F238E27FC236}">
                  <a16:creationId xmlns:a16="http://schemas.microsoft.com/office/drawing/2014/main" id="{5357AEE4-A2F2-0000-04C1-F7ECF4CACCB1}"/>
                </a:ext>
              </a:extLst>
            </p:cNvPr>
            <p:cNvSpPr txBox="1"/>
            <p:nvPr/>
          </p:nvSpPr>
          <p:spPr>
            <a:xfrm>
              <a:off x="575159" y="2072914"/>
              <a:ext cx="1024184" cy="369332"/>
            </a:xfrm>
            <a:prstGeom prst="rect">
              <a:avLst/>
            </a:prstGeom>
            <a:solidFill>
              <a:srgbClr val="0070C0"/>
            </a:solidFill>
          </p:spPr>
          <p:txBody>
            <a:bodyPr wrap="square" rtlCol="0">
              <a:spAutoFit/>
            </a:bodyPr>
            <a:lstStyle/>
            <a:p>
              <a:pPr algn="ctr"/>
              <a:r>
                <a:rPr lang="en-US" b="1" dirty="0">
                  <a:solidFill>
                    <a:schemeClr val="bg1"/>
                  </a:solidFill>
                </a:rPr>
                <a:t>Spindle</a:t>
              </a:r>
            </a:p>
          </p:txBody>
        </p:sp>
        <p:cxnSp>
          <p:nvCxnSpPr>
            <p:cNvPr id="8" name="Straight Arrow Connector 7">
              <a:extLst>
                <a:ext uri="{FF2B5EF4-FFF2-40B4-BE49-F238E27FC236}">
                  <a16:creationId xmlns:a16="http://schemas.microsoft.com/office/drawing/2014/main" id="{1FE3F7CF-F4EF-CE26-6622-22D9EC3BA6B4}"/>
                </a:ext>
              </a:extLst>
            </p:cNvPr>
            <p:cNvCxnSpPr>
              <a:cxnSpLocks/>
              <a:stCxn id="7" idx="2"/>
            </p:cNvCxnSpPr>
            <p:nvPr/>
          </p:nvCxnSpPr>
          <p:spPr>
            <a:xfrm flipH="1">
              <a:off x="1087250" y="2442246"/>
              <a:ext cx="1" cy="82493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D3B0CC05-B0DF-482A-125C-08D3FBF4612E}"/>
              </a:ext>
            </a:extLst>
          </p:cNvPr>
          <p:cNvGrpSpPr/>
          <p:nvPr/>
        </p:nvGrpSpPr>
        <p:grpSpPr>
          <a:xfrm>
            <a:off x="6999632" y="2072914"/>
            <a:ext cx="1084771" cy="968237"/>
            <a:chOff x="688071" y="2072914"/>
            <a:chExt cx="1084771" cy="968237"/>
          </a:xfrm>
        </p:grpSpPr>
        <p:sp>
          <p:nvSpPr>
            <p:cNvPr id="12" name="TextBox 11">
              <a:extLst>
                <a:ext uri="{FF2B5EF4-FFF2-40B4-BE49-F238E27FC236}">
                  <a16:creationId xmlns:a16="http://schemas.microsoft.com/office/drawing/2014/main" id="{9F9E7F23-D474-7572-CCD4-19A31AE36013}"/>
                </a:ext>
              </a:extLst>
            </p:cNvPr>
            <p:cNvSpPr txBox="1"/>
            <p:nvPr/>
          </p:nvSpPr>
          <p:spPr>
            <a:xfrm>
              <a:off x="688071" y="2072914"/>
              <a:ext cx="1084771" cy="369332"/>
            </a:xfrm>
            <a:prstGeom prst="rect">
              <a:avLst/>
            </a:prstGeom>
            <a:solidFill>
              <a:srgbClr val="0070C0"/>
            </a:solidFill>
          </p:spPr>
          <p:txBody>
            <a:bodyPr wrap="square" rtlCol="0">
              <a:spAutoFit/>
            </a:bodyPr>
            <a:lstStyle/>
            <a:p>
              <a:pPr algn="ctr"/>
              <a:r>
                <a:rPr lang="en-US" b="1" dirty="0">
                  <a:solidFill>
                    <a:schemeClr val="bg1"/>
                  </a:solidFill>
                </a:rPr>
                <a:t>Thimble</a:t>
              </a:r>
            </a:p>
          </p:txBody>
        </p:sp>
        <p:cxnSp>
          <p:nvCxnSpPr>
            <p:cNvPr id="13" name="Straight Arrow Connector 12">
              <a:extLst>
                <a:ext uri="{FF2B5EF4-FFF2-40B4-BE49-F238E27FC236}">
                  <a16:creationId xmlns:a16="http://schemas.microsoft.com/office/drawing/2014/main" id="{560AB9B1-E194-821F-30F5-C37E462F6D05}"/>
                </a:ext>
              </a:extLst>
            </p:cNvPr>
            <p:cNvCxnSpPr>
              <a:cxnSpLocks/>
              <a:stCxn id="12" idx="2"/>
            </p:cNvCxnSpPr>
            <p:nvPr/>
          </p:nvCxnSpPr>
          <p:spPr>
            <a:xfrm>
              <a:off x="1230457" y="2442246"/>
              <a:ext cx="0" cy="59890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24" name="TextBox 23">
            <a:extLst>
              <a:ext uri="{FF2B5EF4-FFF2-40B4-BE49-F238E27FC236}">
                <a16:creationId xmlns:a16="http://schemas.microsoft.com/office/drawing/2014/main" id="{E1C6C777-9AA8-C39D-9BC3-9A15DFCED7A2}"/>
              </a:ext>
            </a:extLst>
          </p:cNvPr>
          <p:cNvSpPr txBox="1"/>
          <p:nvPr/>
        </p:nvSpPr>
        <p:spPr>
          <a:xfrm>
            <a:off x="566928" y="1252728"/>
            <a:ext cx="2202050" cy="1477328"/>
          </a:xfrm>
          <a:prstGeom prst="rect">
            <a:avLst/>
          </a:prstGeom>
          <a:solidFill>
            <a:srgbClr val="00B050"/>
          </a:solidFill>
        </p:spPr>
        <p:txBody>
          <a:bodyPr wrap="square" rtlCol="0">
            <a:spAutoFit/>
          </a:bodyPr>
          <a:lstStyle/>
          <a:p>
            <a:r>
              <a:rPr lang="en-US" b="1" u="sng" dirty="0">
                <a:solidFill>
                  <a:schemeClr val="bg1"/>
                </a:solidFill>
              </a:rPr>
              <a:t>Measures</a:t>
            </a:r>
            <a:r>
              <a:rPr lang="en-US" b="1" dirty="0">
                <a:solidFill>
                  <a:schemeClr val="bg1"/>
                </a:solidFill>
              </a:rPr>
              <a:t>:</a:t>
            </a:r>
          </a:p>
          <a:p>
            <a:r>
              <a:rPr lang="en-US" b="1" dirty="0">
                <a:solidFill>
                  <a:schemeClr val="bg1"/>
                </a:solidFill>
              </a:rPr>
              <a:t>- Small Thickness</a:t>
            </a:r>
          </a:p>
          <a:p>
            <a:r>
              <a:rPr lang="en-US" b="1" dirty="0">
                <a:solidFill>
                  <a:schemeClr val="bg1"/>
                </a:solidFill>
              </a:rPr>
              <a:t>- Small Diameter</a:t>
            </a:r>
          </a:p>
          <a:p>
            <a:r>
              <a:rPr lang="en-US" b="1" dirty="0">
                <a:solidFill>
                  <a:schemeClr val="bg1"/>
                </a:solidFill>
              </a:rPr>
              <a:t>- Small Depth</a:t>
            </a:r>
          </a:p>
          <a:p>
            <a:r>
              <a:rPr lang="en-US" b="1" dirty="0">
                <a:solidFill>
                  <a:schemeClr val="bg1"/>
                </a:solidFill>
              </a:rPr>
              <a:t>- Small Other…</a:t>
            </a:r>
          </a:p>
        </p:txBody>
      </p:sp>
      <p:grpSp>
        <p:nvGrpSpPr>
          <p:cNvPr id="4" name="Group 3">
            <a:extLst>
              <a:ext uri="{FF2B5EF4-FFF2-40B4-BE49-F238E27FC236}">
                <a16:creationId xmlns:a16="http://schemas.microsoft.com/office/drawing/2014/main" id="{81933D65-1883-32AF-61AF-4F13BD049F33}"/>
              </a:ext>
            </a:extLst>
          </p:cNvPr>
          <p:cNvGrpSpPr/>
          <p:nvPr/>
        </p:nvGrpSpPr>
        <p:grpSpPr>
          <a:xfrm>
            <a:off x="5918433" y="2079620"/>
            <a:ext cx="1024185" cy="1055863"/>
            <a:chOff x="722458" y="2072914"/>
            <a:chExt cx="1024185" cy="1055863"/>
          </a:xfrm>
        </p:grpSpPr>
        <p:sp>
          <p:nvSpPr>
            <p:cNvPr id="5" name="TextBox 4">
              <a:extLst>
                <a:ext uri="{FF2B5EF4-FFF2-40B4-BE49-F238E27FC236}">
                  <a16:creationId xmlns:a16="http://schemas.microsoft.com/office/drawing/2014/main" id="{81836FE9-AD69-8DA3-8D10-83DE8245061E}"/>
                </a:ext>
              </a:extLst>
            </p:cNvPr>
            <p:cNvSpPr txBox="1"/>
            <p:nvPr/>
          </p:nvSpPr>
          <p:spPr>
            <a:xfrm>
              <a:off x="722458" y="2072914"/>
              <a:ext cx="1024185" cy="369332"/>
            </a:xfrm>
            <a:prstGeom prst="rect">
              <a:avLst/>
            </a:prstGeom>
            <a:solidFill>
              <a:srgbClr val="0070C0"/>
            </a:solidFill>
          </p:spPr>
          <p:txBody>
            <a:bodyPr wrap="square" rtlCol="0">
              <a:spAutoFit/>
            </a:bodyPr>
            <a:lstStyle/>
            <a:p>
              <a:pPr algn="ctr"/>
              <a:r>
                <a:rPr lang="en-US" b="1" dirty="0">
                  <a:solidFill>
                    <a:schemeClr val="bg1"/>
                  </a:solidFill>
                </a:rPr>
                <a:t>Sleeve</a:t>
              </a:r>
            </a:p>
          </p:txBody>
        </p:sp>
        <p:cxnSp>
          <p:nvCxnSpPr>
            <p:cNvPr id="9" name="Straight Arrow Connector 8">
              <a:extLst>
                <a:ext uri="{FF2B5EF4-FFF2-40B4-BE49-F238E27FC236}">
                  <a16:creationId xmlns:a16="http://schemas.microsoft.com/office/drawing/2014/main" id="{31668243-CFB7-81D3-EABA-A4045A5E25D1}"/>
                </a:ext>
              </a:extLst>
            </p:cNvPr>
            <p:cNvCxnSpPr>
              <a:cxnSpLocks/>
              <a:stCxn id="5" idx="2"/>
            </p:cNvCxnSpPr>
            <p:nvPr/>
          </p:nvCxnSpPr>
          <p:spPr>
            <a:xfrm flipH="1">
              <a:off x="1230457" y="2442246"/>
              <a:ext cx="4094" cy="68653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210DD829-03A4-E2ED-EEA0-F72AD3673B6D}"/>
              </a:ext>
            </a:extLst>
          </p:cNvPr>
          <p:cNvSpPr txBox="1"/>
          <p:nvPr/>
        </p:nvSpPr>
        <p:spPr>
          <a:xfrm>
            <a:off x="6999632" y="3802501"/>
            <a:ext cx="1722311"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81788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E6CA421C-E7D3-EC4F-E6DC-DAE2F7C98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3557F0-1D60-329D-4E3B-7B4C40CFAC6B}"/>
              </a:ext>
            </a:extLst>
          </p:cNvPr>
          <p:cNvSpPr>
            <a:spLocks noGrp="1"/>
          </p:cNvSpPr>
          <p:nvPr>
            <p:ph type="title"/>
          </p:nvPr>
        </p:nvSpPr>
        <p:spPr>
          <a:xfrm>
            <a:off x="365760" y="365125"/>
            <a:ext cx="10515600" cy="877824"/>
          </a:xfrm>
        </p:spPr>
        <p:txBody>
          <a:bodyPr/>
          <a:lstStyle/>
          <a:p>
            <a:r>
              <a:rPr lang="en-US" dirty="0"/>
              <a:t>How to Use a Micrometer</a:t>
            </a:r>
          </a:p>
        </p:txBody>
      </p:sp>
      <p:sp>
        <p:nvSpPr>
          <p:cNvPr id="3" name="Content Placeholder 2">
            <a:extLst>
              <a:ext uri="{FF2B5EF4-FFF2-40B4-BE49-F238E27FC236}">
                <a16:creationId xmlns:a16="http://schemas.microsoft.com/office/drawing/2014/main" id="{F81BC1F7-7836-4157-F8F7-A93F6396C283}"/>
              </a:ext>
            </a:extLst>
          </p:cNvPr>
          <p:cNvSpPr>
            <a:spLocks noGrp="1"/>
          </p:cNvSpPr>
          <p:nvPr>
            <p:ph idx="1"/>
          </p:nvPr>
        </p:nvSpPr>
        <p:spPr>
          <a:xfrm>
            <a:off x="611162" y="1483103"/>
            <a:ext cx="10958538" cy="4547827"/>
          </a:xfrm>
        </p:spPr>
        <p:txBody>
          <a:bodyPr>
            <a:normAutofit/>
          </a:bodyPr>
          <a:lstStyle/>
          <a:p>
            <a:pPr marL="514350" indent="-514350">
              <a:buFont typeface="+mj-lt"/>
              <a:buAutoNum type="arabicPeriod"/>
            </a:pPr>
            <a:r>
              <a:rPr lang="en-US" b="1" dirty="0"/>
              <a:t>Zero Out Instrument</a:t>
            </a:r>
            <a:r>
              <a:rPr lang="en-US" dirty="0">
                <a:solidFill>
                  <a:schemeClr val="bg1">
                    <a:lumMod val="65000"/>
                  </a:schemeClr>
                </a:solidFill>
              </a:rPr>
              <a:t> </a:t>
            </a:r>
            <a:r>
              <a:rPr lang="en-US" sz="2000" dirty="0">
                <a:solidFill>
                  <a:schemeClr val="tx2">
                    <a:lumMod val="50000"/>
                    <a:lumOff val="50000"/>
                  </a:schemeClr>
                </a:solidFill>
              </a:rPr>
              <a:t>- Close spindle completely using ratchet stop to avoid over-tightening; if sleeve not align to 0 use supplied spanner wrench to reset to 0</a:t>
            </a:r>
          </a:p>
          <a:p>
            <a:pPr marL="514350" indent="-514350">
              <a:buFont typeface="+mj-lt"/>
              <a:buAutoNum type="arabicPeriod"/>
            </a:pPr>
            <a:r>
              <a:rPr lang="en-US" b="1" dirty="0"/>
              <a:t>Read Main Sleeve (Tenths)</a:t>
            </a:r>
            <a:r>
              <a:rPr lang="en-US" dirty="0">
                <a:solidFill>
                  <a:schemeClr val="bg1">
                    <a:lumMod val="65000"/>
                  </a:schemeClr>
                </a:solidFill>
              </a:rPr>
              <a:t> </a:t>
            </a:r>
            <a:r>
              <a:rPr lang="en-US" sz="2000" dirty="0">
                <a:solidFill>
                  <a:schemeClr val="tx2">
                    <a:lumMod val="50000"/>
                    <a:lumOff val="50000"/>
                  </a:schemeClr>
                </a:solidFill>
              </a:rPr>
              <a:t>- Identify last visible numbered digit.  This is 0.100” (1/10” … so a “3” would be 3/10” or 0.300”).</a:t>
            </a:r>
          </a:p>
          <a:p>
            <a:pPr marL="514350" indent="-514350">
              <a:buFont typeface="+mj-lt"/>
              <a:buAutoNum type="arabicPeriod"/>
            </a:pPr>
            <a:r>
              <a:rPr lang="en-US" b="1" dirty="0"/>
              <a:t>Read Main Sleeve (25-Thousandths)</a:t>
            </a:r>
            <a:r>
              <a:rPr lang="en-US" dirty="0">
                <a:solidFill>
                  <a:schemeClr val="bg1">
                    <a:lumMod val="65000"/>
                  </a:schemeClr>
                </a:solidFill>
              </a:rPr>
              <a:t> </a:t>
            </a:r>
            <a:r>
              <a:rPr lang="en-US" sz="2000" dirty="0">
                <a:solidFill>
                  <a:schemeClr val="tx2">
                    <a:lumMod val="50000"/>
                    <a:lumOff val="50000"/>
                  </a:schemeClr>
                </a:solidFill>
              </a:rPr>
              <a:t>- Count smaller vertical marks past the number.  Each hash = 0.025” (25/1000th”)</a:t>
            </a:r>
          </a:p>
          <a:p>
            <a:pPr marL="514350" indent="-514350">
              <a:buFont typeface="+mj-lt"/>
              <a:buAutoNum type="arabicPeriod"/>
            </a:pPr>
            <a:r>
              <a:rPr lang="en-US" b="1" dirty="0"/>
              <a:t>Read Thimble (Thousandths)</a:t>
            </a:r>
            <a:r>
              <a:rPr lang="en-US" dirty="0"/>
              <a:t> </a:t>
            </a:r>
            <a:r>
              <a:rPr lang="en-US" sz="2000" dirty="0">
                <a:solidFill>
                  <a:schemeClr val="tx2">
                    <a:lumMod val="50000"/>
                    <a:lumOff val="50000"/>
                  </a:schemeClr>
                </a:solidFill>
              </a:rPr>
              <a:t>- Read number on thimble aligning with horizontal index line of sleeve.  Each mark is 0.001” (1/1000th”)</a:t>
            </a:r>
          </a:p>
          <a:p>
            <a:pPr marL="514350" indent="-514350">
              <a:buFont typeface="+mj-lt"/>
              <a:buAutoNum type="arabicPeriod"/>
            </a:pPr>
            <a:r>
              <a:rPr lang="en-US" b="1" dirty="0"/>
              <a:t>Calculate Total</a:t>
            </a:r>
            <a:r>
              <a:rPr lang="en-US" dirty="0"/>
              <a:t> </a:t>
            </a:r>
            <a:r>
              <a:rPr lang="en-US" sz="2000" dirty="0">
                <a:solidFill>
                  <a:schemeClr val="tx2">
                    <a:lumMod val="50000"/>
                    <a:lumOff val="50000"/>
                  </a:schemeClr>
                </a:solidFill>
              </a:rPr>
              <a:t>- Add the values together.  For example, Sleeve shows “2” (0.200”) + 3 small lines (0.075”) + Thimble shows “12” (0.012”)</a:t>
            </a:r>
            <a:br>
              <a:rPr lang="en-US" sz="2000" dirty="0">
                <a:solidFill>
                  <a:schemeClr val="tx2">
                    <a:lumMod val="50000"/>
                    <a:lumOff val="50000"/>
                  </a:schemeClr>
                </a:solidFill>
              </a:rPr>
            </a:br>
            <a:r>
              <a:rPr lang="en-US" sz="2000" dirty="0">
                <a:solidFill>
                  <a:schemeClr val="tx2">
                    <a:lumMod val="50000"/>
                    <a:lumOff val="50000"/>
                  </a:schemeClr>
                </a:solidFill>
              </a:rPr>
              <a:t>Thus Total = 0.200 + 0.075 + 0.012 = 0.287”</a:t>
            </a:r>
          </a:p>
          <a:p>
            <a:endParaRPr lang="en-US" dirty="0"/>
          </a:p>
          <a:p>
            <a:pPr lvl="1"/>
            <a:endParaRPr lang="en-US" dirty="0"/>
          </a:p>
        </p:txBody>
      </p:sp>
      <p:sp>
        <p:nvSpPr>
          <p:cNvPr id="4" name="TextBox 3">
            <a:extLst>
              <a:ext uri="{FF2B5EF4-FFF2-40B4-BE49-F238E27FC236}">
                <a16:creationId xmlns:a16="http://schemas.microsoft.com/office/drawing/2014/main" id="{90A88245-9FAD-37ED-AF79-C6C400ECB37C}"/>
              </a:ext>
            </a:extLst>
          </p:cNvPr>
          <p:cNvSpPr txBox="1"/>
          <p:nvPr/>
        </p:nvSpPr>
        <p:spPr>
          <a:xfrm>
            <a:off x="10191964" y="124971"/>
            <a:ext cx="1818524" cy="307777"/>
          </a:xfrm>
          <a:prstGeom prst="rect">
            <a:avLst/>
          </a:prstGeom>
          <a:noFill/>
        </p:spPr>
        <p:txBody>
          <a:bodyPr wrap="square" rtlCol="0">
            <a:spAutoFit/>
          </a:bodyPr>
          <a:lstStyle/>
          <a:p>
            <a:pPr algn="r"/>
            <a:r>
              <a:rPr lang="en-US" sz="1400" dirty="0">
                <a:solidFill>
                  <a:schemeClr val="accent5">
                    <a:lumMod val="60000"/>
                    <a:lumOff val="40000"/>
                  </a:schemeClr>
                </a:solidFill>
              </a:rPr>
              <a:t>List from Google AI</a:t>
            </a:r>
          </a:p>
        </p:txBody>
      </p:sp>
    </p:spTree>
    <p:extLst>
      <p:ext uri="{BB962C8B-B14F-4D97-AF65-F5344CB8AC3E}">
        <p14:creationId xmlns:p14="http://schemas.microsoft.com/office/powerpoint/2010/main" val="300040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08D11F7E-9D83-1709-1148-84E177194D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3CCD2A-FBC1-7663-D812-C877FE485B09}"/>
              </a:ext>
            </a:extLst>
          </p:cNvPr>
          <p:cNvPicPr>
            <a:picLocks noChangeAspect="1"/>
          </p:cNvPicPr>
          <p:nvPr/>
        </p:nvPicPr>
        <p:blipFill>
          <a:blip r:embed="rId3"/>
          <a:stretch>
            <a:fillRect/>
          </a:stretch>
        </p:blipFill>
        <p:spPr>
          <a:xfrm>
            <a:off x="3753280" y="1981924"/>
            <a:ext cx="5677692" cy="3581900"/>
          </a:xfrm>
          <a:prstGeom prst="rect">
            <a:avLst/>
          </a:prstGeom>
        </p:spPr>
      </p:pic>
      <p:sp>
        <p:nvSpPr>
          <p:cNvPr id="2" name="Title 1">
            <a:extLst>
              <a:ext uri="{FF2B5EF4-FFF2-40B4-BE49-F238E27FC236}">
                <a16:creationId xmlns:a16="http://schemas.microsoft.com/office/drawing/2014/main" id="{380A7A92-5896-A712-451C-747E86ACCAF0}"/>
              </a:ext>
            </a:extLst>
          </p:cNvPr>
          <p:cNvSpPr>
            <a:spLocks noGrp="1"/>
          </p:cNvSpPr>
          <p:nvPr>
            <p:ph type="title"/>
          </p:nvPr>
        </p:nvSpPr>
        <p:spPr>
          <a:xfrm>
            <a:off x="365760" y="365125"/>
            <a:ext cx="11480664" cy="877824"/>
          </a:xfrm>
        </p:spPr>
        <p:txBody>
          <a:bodyPr/>
          <a:lstStyle/>
          <a:p>
            <a:r>
              <a:rPr lang="en-US" dirty="0"/>
              <a:t>What is a “Split Ball Gauge”?</a:t>
            </a:r>
            <a:endParaRPr lang="en-US" dirty="0">
              <a:solidFill>
                <a:schemeClr val="bg1">
                  <a:lumMod val="65000"/>
                </a:schemeClr>
              </a:solidFill>
            </a:endParaRPr>
          </a:p>
        </p:txBody>
      </p:sp>
      <p:grpSp>
        <p:nvGrpSpPr>
          <p:cNvPr id="50" name="Group 49">
            <a:extLst>
              <a:ext uri="{FF2B5EF4-FFF2-40B4-BE49-F238E27FC236}">
                <a16:creationId xmlns:a16="http://schemas.microsoft.com/office/drawing/2014/main" id="{B72AAF7B-8BEB-9DCE-827F-B12AE3320AAB}"/>
              </a:ext>
            </a:extLst>
          </p:cNvPr>
          <p:cNvGrpSpPr/>
          <p:nvPr/>
        </p:nvGrpSpPr>
        <p:grpSpPr>
          <a:xfrm>
            <a:off x="3657602" y="3731968"/>
            <a:ext cx="1191802" cy="1151260"/>
            <a:chOff x="466606" y="2114010"/>
            <a:chExt cx="1191802" cy="1151260"/>
          </a:xfrm>
        </p:grpSpPr>
        <p:sp>
          <p:nvSpPr>
            <p:cNvPr id="41" name="TextBox 40">
              <a:extLst>
                <a:ext uri="{FF2B5EF4-FFF2-40B4-BE49-F238E27FC236}">
                  <a16:creationId xmlns:a16="http://schemas.microsoft.com/office/drawing/2014/main" id="{7A54F052-4325-460E-5513-D22822B21516}"/>
                </a:ext>
              </a:extLst>
            </p:cNvPr>
            <p:cNvSpPr txBox="1"/>
            <p:nvPr/>
          </p:nvSpPr>
          <p:spPr>
            <a:xfrm>
              <a:off x="466606" y="2114010"/>
              <a:ext cx="1191802" cy="369332"/>
            </a:xfrm>
            <a:prstGeom prst="rect">
              <a:avLst/>
            </a:prstGeom>
            <a:solidFill>
              <a:srgbClr val="0070C0"/>
            </a:solidFill>
          </p:spPr>
          <p:txBody>
            <a:bodyPr wrap="square" rtlCol="0">
              <a:spAutoFit/>
            </a:bodyPr>
            <a:lstStyle/>
            <a:p>
              <a:pPr algn="ctr"/>
              <a:r>
                <a:rPr lang="en-US" b="1" dirty="0">
                  <a:solidFill>
                    <a:schemeClr val="bg1"/>
                  </a:solidFill>
                </a:rPr>
                <a:t>Split Ball</a:t>
              </a:r>
            </a:p>
          </p:txBody>
        </p:sp>
        <p:cxnSp>
          <p:nvCxnSpPr>
            <p:cNvPr id="43" name="Straight Arrow Connector 42">
              <a:extLst>
                <a:ext uri="{FF2B5EF4-FFF2-40B4-BE49-F238E27FC236}">
                  <a16:creationId xmlns:a16="http://schemas.microsoft.com/office/drawing/2014/main" id="{29677101-F51B-7646-E184-E4FF6E8EAA15}"/>
                </a:ext>
              </a:extLst>
            </p:cNvPr>
            <p:cNvCxnSpPr>
              <a:cxnSpLocks/>
              <a:stCxn id="41" idx="2"/>
            </p:cNvCxnSpPr>
            <p:nvPr/>
          </p:nvCxnSpPr>
          <p:spPr>
            <a:xfrm>
              <a:off x="1062507" y="2483342"/>
              <a:ext cx="0" cy="781928"/>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104" name="TextBox 103">
            <a:extLst>
              <a:ext uri="{FF2B5EF4-FFF2-40B4-BE49-F238E27FC236}">
                <a16:creationId xmlns:a16="http://schemas.microsoft.com/office/drawing/2014/main" id="{87A19550-3CF5-83C9-795E-2A639C81EDC9}"/>
              </a:ext>
            </a:extLst>
          </p:cNvPr>
          <p:cNvSpPr txBox="1"/>
          <p:nvPr/>
        </p:nvSpPr>
        <p:spPr>
          <a:xfrm>
            <a:off x="566928" y="1252728"/>
            <a:ext cx="2633564" cy="1200329"/>
          </a:xfrm>
          <a:prstGeom prst="rect">
            <a:avLst/>
          </a:prstGeom>
          <a:solidFill>
            <a:srgbClr val="00B050"/>
          </a:solidFill>
        </p:spPr>
        <p:txBody>
          <a:bodyPr wrap="square" rtlCol="0">
            <a:spAutoFit/>
          </a:bodyPr>
          <a:lstStyle/>
          <a:p>
            <a:r>
              <a:rPr lang="en-US" b="1" u="sng" dirty="0">
                <a:solidFill>
                  <a:schemeClr val="bg1"/>
                </a:solidFill>
              </a:rPr>
              <a:t>Measures</a:t>
            </a:r>
            <a:r>
              <a:rPr lang="en-US" b="1" dirty="0">
                <a:solidFill>
                  <a:schemeClr val="bg1"/>
                </a:solidFill>
              </a:rPr>
              <a:t>: </a:t>
            </a:r>
          </a:p>
          <a:p>
            <a:r>
              <a:rPr lang="en-US" b="1" dirty="0">
                <a:solidFill>
                  <a:schemeClr val="bg1"/>
                </a:solidFill>
              </a:rPr>
              <a:t>- Small Hole Diameter</a:t>
            </a:r>
          </a:p>
          <a:p>
            <a:r>
              <a:rPr lang="en-US" b="1" dirty="0">
                <a:solidFill>
                  <a:schemeClr val="bg1"/>
                </a:solidFill>
              </a:rPr>
              <a:t>- Slot Width</a:t>
            </a:r>
            <a:br>
              <a:rPr lang="en-US" b="1" dirty="0">
                <a:solidFill>
                  <a:schemeClr val="bg1"/>
                </a:solidFill>
              </a:rPr>
            </a:br>
            <a:r>
              <a:rPr lang="en-US" b="1" dirty="0">
                <a:solidFill>
                  <a:schemeClr val="bg1"/>
                </a:solidFill>
              </a:rPr>
              <a:t>- Recess Depth</a:t>
            </a:r>
          </a:p>
        </p:txBody>
      </p:sp>
      <p:grpSp>
        <p:nvGrpSpPr>
          <p:cNvPr id="6" name="Group 5">
            <a:extLst>
              <a:ext uri="{FF2B5EF4-FFF2-40B4-BE49-F238E27FC236}">
                <a16:creationId xmlns:a16="http://schemas.microsoft.com/office/drawing/2014/main" id="{B491D757-BF93-2B07-1ACD-C30E3A63F31B}"/>
              </a:ext>
            </a:extLst>
          </p:cNvPr>
          <p:cNvGrpSpPr/>
          <p:nvPr/>
        </p:nvGrpSpPr>
        <p:grpSpPr>
          <a:xfrm>
            <a:off x="5790741" y="2691813"/>
            <a:ext cx="1116652" cy="999059"/>
            <a:chOff x="1338502" y="3048405"/>
            <a:chExt cx="1116652" cy="999059"/>
          </a:xfrm>
        </p:grpSpPr>
        <p:sp>
          <p:nvSpPr>
            <p:cNvPr id="7" name="TextBox 6">
              <a:extLst>
                <a:ext uri="{FF2B5EF4-FFF2-40B4-BE49-F238E27FC236}">
                  <a16:creationId xmlns:a16="http://schemas.microsoft.com/office/drawing/2014/main" id="{99107B32-C5F9-910C-88AA-76FD3232CCE0}"/>
                </a:ext>
              </a:extLst>
            </p:cNvPr>
            <p:cNvSpPr txBox="1"/>
            <p:nvPr/>
          </p:nvSpPr>
          <p:spPr>
            <a:xfrm>
              <a:off x="1338502" y="3048405"/>
              <a:ext cx="1116652" cy="369332"/>
            </a:xfrm>
            <a:prstGeom prst="rect">
              <a:avLst/>
            </a:prstGeom>
            <a:solidFill>
              <a:srgbClr val="0070C0"/>
            </a:solidFill>
          </p:spPr>
          <p:txBody>
            <a:bodyPr wrap="square" rtlCol="0">
              <a:spAutoFit/>
            </a:bodyPr>
            <a:lstStyle/>
            <a:p>
              <a:pPr algn="ctr"/>
              <a:r>
                <a:rPr lang="en-US" b="1" dirty="0">
                  <a:solidFill>
                    <a:schemeClr val="bg1"/>
                  </a:solidFill>
                </a:rPr>
                <a:t>Thimble</a:t>
              </a:r>
            </a:p>
          </p:txBody>
        </p:sp>
        <p:cxnSp>
          <p:nvCxnSpPr>
            <p:cNvPr id="8" name="Straight Arrow Connector 7">
              <a:extLst>
                <a:ext uri="{FF2B5EF4-FFF2-40B4-BE49-F238E27FC236}">
                  <a16:creationId xmlns:a16="http://schemas.microsoft.com/office/drawing/2014/main" id="{6144F018-A93C-2B4B-87A4-D099E8981072}"/>
                </a:ext>
              </a:extLst>
            </p:cNvPr>
            <p:cNvCxnSpPr>
              <a:cxnSpLocks/>
              <a:stCxn id="7" idx="2"/>
            </p:cNvCxnSpPr>
            <p:nvPr/>
          </p:nvCxnSpPr>
          <p:spPr>
            <a:xfrm>
              <a:off x="1896828" y="3417737"/>
              <a:ext cx="0" cy="629727"/>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38F5160F-2A25-54DF-BF34-AAF239997DD8}"/>
              </a:ext>
            </a:extLst>
          </p:cNvPr>
          <p:cNvGrpSpPr/>
          <p:nvPr/>
        </p:nvGrpSpPr>
        <p:grpSpPr>
          <a:xfrm>
            <a:off x="7309603" y="1777967"/>
            <a:ext cx="1116652" cy="999059"/>
            <a:chOff x="1338502" y="3048405"/>
            <a:chExt cx="1116652" cy="999059"/>
          </a:xfrm>
        </p:grpSpPr>
        <p:sp>
          <p:nvSpPr>
            <p:cNvPr id="15" name="TextBox 14">
              <a:extLst>
                <a:ext uri="{FF2B5EF4-FFF2-40B4-BE49-F238E27FC236}">
                  <a16:creationId xmlns:a16="http://schemas.microsoft.com/office/drawing/2014/main" id="{3C83C823-D0AC-4979-5417-6583DE0D98C8}"/>
                </a:ext>
              </a:extLst>
            </p:cNvPr>
            <p:cNvSpPr txBox="1"/>
            <p:nvPr/>
          </p:nvSpPr>
          <p:spPr>
            <a:xfrm>
              <a:off x="1338502" y="3048405"/>
              <a:ext cx="1116652" cy="369332"/>
            </a:xfrm>
            <a:prstGeom prst="rect">
              <a:avLst/>
            </a:prstGeom>
            <a:solidFill>
              <a:srgbClr val="0070C0"/>
            </a:solidFill>
          </p:spPr>
          <p:txBody>
            <a:bodyPr wrap="square" rtlCol="0">
              <a:spAutoFit/>
            </a:bodyPr>
            <a:lstStyle/>
            <a:p>
              <a:pPr algn="ctr"/>
              <a:r>
                <a:rPr lang="en-US" b="1" dirty="0">
                  <a:solidFill>
                    <a:schemeClr val="bg1"/>
                  </a:solidFill>
                </a:rPr>
                <a:t>Handle</a:t>
              </a:r>
            </a:p>
          </p:txBody>
        </p:sp>
        <p:cxnSp>
          <p:nvCxnSpPr>
            <p:cNvPr id="16" name="Straight Arrow Connector 15">
              <a:extLst>
                <a:ext uri="{FF2B5EF4-FFF2-40B4-BE49-F238E27FC236}">
                  <a16:creationId xmlns:a16="http://schemas.microsoft.com/office/drawing/2014/main" id="{0F86C247-F044-14A7-E04E-92FAC50A6D0F}"/>
                </a:ext>
              </a:extLst>
            </p:cNvPr>
            <p:cNvCxnSpPr>
              <a:cxnSpLocks/>
              <a:stCxn id="15" idx="2"/>
            </p:cNvCxnSpPr>
            <p:nvPr/>
          </p:nvCxnSpPr>
          <p:spPr>
            <a:xfrm>
              <a:off x="1896828" y="3417737"/>
              <a:ext cx="0" cy="629727"/>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D889FAAA-5DDB-6170-D424-1563594F1A40}"/>
              </a:ext>
            </a:extLst>
          </p:cNvPr>
          <p:cNvSpPr txBox="1"/>
          <p:nvPr/>
        </p:nvSpPr>
        <p:spPr>
          <a:xfrm rot="19619600">
            <a:off x="7564400" y="3018993"/>
            <a:ext cx="1648202"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130279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87CF49D3-F3B9-519F-90A6-E18D18CE4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D06D0-8D98-A0B8-2E46-1B0141D9B600}"/>
              </a:ext>
            </a:extLst>
          </p:cNvPr>
          <p:cNvSpPr>
            <a:spLocks noGrp="1"/>
          </p:cNvSpPr>
          <p:nvPr>
            <p:ph type="title"/>
          </p:nvPr>
        </p:nvSpPr>
        <p:spPr>
          <a:xfrm>
            <a:off x="365760" y="365125"/>
            <a:ext cx="10515600" cy="877824"/>
          </a:xfrm>
        </p:spPr>
        <p:txBody>
          <a:bodyPr/>
          <a:lstStyle/>
          <a:p>
            <a:r>
              <a:rPr lang="en-US" dirty="0"/>
              <a:t>How to Use a Split Ball Gauge</a:t>
            </a:r>
          </a:p>
        </p:txBody>
      </p:sp>
      <p:sp>
        <p:nvSpPr>
          <p:cNvPr id="3" name="Content Placeholder 2">
            <a:extLst>
              <a:ext uri="{FF2B5EF4-FFF2-40B4-BE49-F238E27FC236}">
                <a16:creationId xmlns:a16="http://schemas.microsoft.com/office/drawing/2014/main" id="{DC6AEBBD-8EC6-C62C-D046-C1D39F7C7666}"/>
              </a:ext>
            </a:extLst>
          </p:cNvPr>
          <p:cNvSpPr>
            <a:spLocks noGrp="1"/>
          </p:cNvSpPr>
          <p:nvPr>
            <p:ph idx="1"/>
          </p:nvPr>
        </p:nvSpPr>
        <p:spPr>
          <a:xfrm>
            <a:off x="611162" y="1483103"/>
            <a:ext cx="10958538" cy="3376573"/>
          </a:xfrm>
        </p:spPr>
        <p:txBody>
          <a:bodyPr>
            <a:normAutofit/>
          </a:bodyPr>
          <a:lstStyle/>
          <a:p>
            <a:pPr marL="514350" indent="-514350">
              <a:buFont typeface="+mj-lt"/>
              <a:buAutoNum type="arabicPeriod"/>
            </a:pPr>
            <a:r>
              <a:rPr lang="en-US" b="1" dirty="0"/>
              <a:t>Select &amp; Prepare</a:t>
            </a:r>
            <a:r>
              <a:rPr lang="en-US" dirty="0">
                <a:solidFill>
                  <a:schemeClr val="bg1">
                    <a:lumMod val="65000"/>
                  </a:schemeClr>
                </a:solidFill>
              </a:rPr>
              <a:t> </a:t>
            </a:r>
            <a:r>
              <a:rPr lang="en-US" sz="2000" dirty="0">
                <a:solidFill>
                  <a:schemeClr val="tx2">
                    <a:lumMod val="50000"/>
                    <a:lumOff val="50000"/>
                  </a:schemeClr>
                </a:solidFill>
              </a:rPr>
              <a:t>- Choose correct size gauge for hole.  Clean it and hole.</a:t>
            </a:r>
          </a:p>
          <a:p>
            <a:pPr marL="514350" indent="-514350">
              <a:buFont typeface="+mj-lt"/>
              <a:buAutoNum type="arabicPeriod"/>
            </a:pPr>
            <a:r>
              <a:rPr lang="en-US" b="1" dirty="0"/>
              <a:t>Insert &amp; Adjust</a:t>
            </a:r>
            <a:r>
              <a:rPr lang="en-US" dirty="0">
                <a:solidFill>
                  <a:schemeClr val="bg1">
                    <a:lumMod val="65000"/>
                  </a:schemeClr>
                </a:solidFill>
              </a:rPr>
              <a:t> </a:t>
            </a:r>
            <a:r>
              <a:rPr lang="en-US" sz="2000" dirty="0">
                <a:solidFill>
                  <a:schemeClr val="tx2">
                    <a:lumMod val="50000"/>
                    <a:lumOff val="50000"/>
                  </a:schemeClr>
                </a:solidFill>
              </a:rPr>
              <a:t>- Insert contracted gauge into hole.  Rotate Thimble to expand ball until it makes light contact with hole walls.</a:t>
            </a:r>
          </a:p>
          <a:p>
            <a:pPr marL="514350" indent="-514350">
              <a:buFont typeface="+mj-lt"/>
              <a:buAutoNum type="arabicPeriod"/>
            </a:pPr>
            <a:r>
              <a:rPr lang="en-US" b="1" dirty="0"/>
              <a:t>Locate Max Dia (Rocking)</a:t>
            </a:r>
            <a:r>
              <a:rPr lang="en-US" dirty="0">
                <a:solidFill>
                  <a:schemeClr val="bg1">
                    <a:lumMod val="65000"/>
                  </a:schemeClr>
                </a:solidFill>
              </a:rPr>
              <a:t> </a:t>
            </a:r>
            <a:r>
              <a:rPr lang="en-US" sz="2000" dirty="0">
                <a:solidFill>
                  <a:schemeClr val="tx2">
                    <a:lumMod val="50000"/>
                    <a:lumOff val="50000"/>
                  </a:schemeClr>
                </a:solidFill>
              </a:rPr>
              <a:t>- Gently rock gauge back-and-forth,  side-by-side, up-and-down the hole to locate the maximum diameter</a:t>
            </a:r>
          </a:p>
          <a:p>
            <a:pPr marL="514350" indent="-514350">
              <a:buFont typeface="+mj-lt"/>
              <a:buAutoNum type="arabicPeriod"/>
            </a:pPr>
            <a:r>
              <a:rPr lang="en-US" b="1" dirty="0"/>
              <a:t>Lock and Remove</a:t>
            </a:r>
            <a:r>
              <a:rPr lang="en-US" sz="2400" dirty="0">
                <a:solidFill>
                  <a:schemeClr val="bg1">
                    <a:lumMod val="65000"/>
                  </a:schemeClr>
                </a:solidFill>
              </a:rPr>
              <a:t> </a:t>
            </a:r>
            <a:r>
              <a:rPr lang="en-US" sz="2000" dirty="0">
                <a:solidFill>
                  <a:schemeClr val="tx2">
                    <a:lumMod val="50000"/>
                    <a:lumOff val="50000"/>
                  </a:schemeClr>
                </a:solidFill>
              </a:rPr>
              <a:t>- If available, lock the gauge.  Remove gauge.</a:t>
            </a:r>
          </a:p>
          <a:p>
            <a:pPr marL="514350" indent="-514350">
              <a:buFont typeface="+mj-lt"/>
              <a:buAutoNum type="arabicPeriod"/>
            </a:pPr>
            <a:r>
              <a:rPr lang="en-US" b="1" dirty="0"/>
              <a:t>Measure</a:t>
            </a:r>
            <a:r>
              <a:rPr lang="en-US" dirty="0"/>
              <a:t> </a:t>
            </a:r>
            <a:r>
              <a:rPr lang="en-US" sz="2000" dirty="0">
                <a:solidFill>
                  <a:schemeClr val="tx2">
                    <a:lumMod val="50000"/>
                    <a:lumOff val="50000"/>
                  </a:schemeClr>
                </a:solidFill>
              </a:rPr>
              <a:t>- Use a micrometer to measure the split ball head</a:t>
            </a:r>
          </a:p>
          <a:p>
            <a:endParaRPr lang="en-US" dirty="0"/>
          </a:p>
          <a:p>
            <a:pPr lvl="1"/>
            <a:endParaRPr lang="en-US" dirty="0"/>
          </a:p>
        </p:txBody>
      </p:sp>
      <p:sp>
        <p:nvSpPr>
          <p:cNvPr id="4" name="TextBox 3">
            <a:extLst>
              <a:ext uri="{FF2B5EF4-FFF2-40B4-BE49-F238E27FC236}">
                <a16:creationId xmlns:a16="http://schemas.microsoft.com/office/drawing/2014/main" id="{FBE7B5CD-D49A-4CB4-F5E1-EE71DD4EA1BD}"/>
              </a:ext>
            </a:extLst>
          </p:cNvPr>
          <p:cNvSpPr txBox="1"/>
          <p:nvPr/>
        </p:nvSpPr>
        <p:spPr>
          <a:xfrm>
            <a:off x="10222787" y="180459"/>
            <a:ext cx="1818524" cy="307777"/>
          </a:xfrm>
          <a:prstGeom prst="rect">
            <a:avLst/>
          </a:prstGeom>
          <a:noFill/>
        </p:spPr>
        <p:txBody>
          <a:bodyPr wrap="square" rtlCol="0">
            <a:spAutoFit/>
          </a:body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340858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effectLst/>
      </p:bgPr>
    </p:bg>
    <p:spTree>
      <p:nvGrpSpPr>
        <p:cNvPr id="1" name="">
          <a:extLst>
            <a:ext uri="{FF2B5EF4-FFF2-40B4-BE49-F238E27FC236}">
              <a16:creationId xmlns:a16="http://schemas.microsoft.com/office/drawing/2014/main" id="{58660E3F-82D1-7CAD-7E29-CA30A9EA7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7E4D9-5BD3-F5CA-FEB3-618FE73C9BB7}"/>
              </a:ext>
            </a:extLst>
          </p:cNvPr>
          <p:cNvSpPr>
            <a:spLocks noGrp="1"/>
          </p:cNvSpPr>
          <p:nvPr>
            <p:ph type="title"/>
          </p:nvPr>
        </p:nvSpPr>
        <p:spPr>
          <a:xfrm>
            <a:off x="365760" y="365125"/>
            <a:ext cx="11480664" cy="877824"/>
          </a:xfrm>
        </p:spPr>
        <p:txBody>
          <a:bodyPr/>
          <a:lstStyle/>
          <a:p>
            <a:r>
              <a:rPr lang="en-US" dirty="0"/>
              <a:t>Examples of Go/</a:t>
            </a:r>
            <a:r>
              <a:rPr lang="en-US" dirty="0" err="1"/>
              <a:t>NoGo</a:t>
            </a:r>
            <a:r>
              <a:rPr lang="en-US" dirty="0"/>
              <a:t> Gauges</a:t>
            </a:r>
            <a:endParaRPr lang="en-US" dirty="0">
              <a:solidFill>
                <a:schemeClr val="bg1">
                  <a:lumMod val="65000"/>
                </a:schemeClr>
              </a:solidFill>
            </a:endParaRPr>
          </a:p>
        </p:txBody>
      </p:sp>
      <p:grpSp>
        <p:nvGrpSpPr>
          <p:cNvPr id="27" name="Group 26">
            <a:extLst>
              <a:ext uri="{FF2B5EF4-FFF2-40B4-BE49-F238E27FC236}">
                <a16:creationId xmlns:a16="http://schemas.microsoft.com/office/drawing/2014/main" id="{79F34A8D-50DF-DC5E-F816-19FF46854A53}"/>
              </a:ext>
            </a:extLst>
          </p:cNvPr>
          <p:cNvGrpSpPr/>
          <p:nvPr/>
        </p:nvGrpSpPr>
        <p:grpSpPr>
          <a:xfrm>
            <a:off x="355668" y="1427926"/>
            <a:ext cx="1691821" cy="5398886"/>
            <a:chOff x="355668" y="1427926"/>
            <a:chExt cx="1691821" cy="5398886"/>
          </a:xfrm>
        </p:grpSpPr>
        <p:grpSp>
          <p:nvGrpSpPr>
            <p:cNvPr id="17" name="Group 16">
              <a:extLst>
                <a:ext uri="{FF2B5EF4-FFF2-40B4-BE49-F238E27FC236}">
                  <a16:creationId xmlns:a16="http://schemas.microsoft.com/office/drawing/2014/main" id="{3225A9B8-2031-EBD1-A19A-62F71BE85B80}"/>
                </a:ext>
              </a:extLst>
            </p:cNvPr>
            <p:cNvGrpSpPr/>
            <p:nvPr/>
          </p:nvGrpSpPr>
          <p:grpSpPr>
            <a:xfrm>
              <a:off x="355668" y="1427926"/>
              <a:ext cx="1691821" cy="5398886"/>
              <a:chOff x="355668" y="1427926"/>
              <a:chExt cx="1691821" cy="5398886"/>
            </a:xfrm>
          </p:grpSpPr>
          <p:pic>
            <p:nvPicPr>
              <p:cNvPr id="13" name="Picture 12">
                <a:extLst>
                  <a:ext uri="{FF2B5EF4-FFF2-40B4-BE49-F238E27FC236}">
                    <a16:creationId xmlns:a16="http://schemas.microsoft.com/office/drawing/2014/main" id="{FDBE69C2-6C74-8DE8-A21A-438E8C0E475F}"/>
                  </a:ext>
                </a:extLst>
              </p:cNvPr>
              <p:cNvPicPr>
                <a:picLocks noChangeAspect="1"/>
              </p:cNvPicPr>
              <p:nvPr/>
            </p:nvPicPr>
            <p:blipFill>
              <a:blip r:embed="rId3"/>
              <a:stretch>
                <a:fillRect/>
              </a:stretch>
            </p:blipFill>
            <p:spPr>
              <a:xfrm>
                <a:off x="901532" y="2616174"/>
                <a:ext cx="600159" cy="4210638"/>
              </a:xfrm>
              <a:prstGeom prst="rect">
                <a:avLst/>
              </a:prstGeom>
            </p:spPr>
          </p:pic>
          <p:grpSp>
            <p:nvGrpSpPr>
              <p:cNvPr id="50" name="Group 49">
                <a:extLst>
                  <a:ext uri="{FF2B5EF4-FFF2-40B4-BE49-F238E27FC236}">
                    <a16:creationId xmlns:a16="http://schemas.microsoft.com/office/drawing/2014/main" id="{6304DFEF-F8D7-2367-3A21-10C1411CD864}"/>
                  </a:ext>
                </a:extLst>
              </p:cNvPr>
              <p:cNvGrpSpPr/>
              <p:nvPr/>
            </p:nvGrpSpPr>
            <p:grpSpPr>
              <a:xfrm>
                <a:off x="355668" y="1427926"/>
                <a:ext cx="1691821" cy="1194250"/>
                <a:chOff x="361660" y="1903996"/>
                <a:chExt cx="1691821" cy="1151260"/>
              </a:xfrm>
            </p:grpSpPr>
            <p:sp>
              <p:nvSpPr>
                <p:cNvPr id="41" name="TextBox 40">
                  <a:extLst>
                    <a:ext uri="{FF2B5EF4-FFF2-40B4-BE49-F238E27FC236}">
                      <a16:creationId xmlns:a16="http://schemas.microsoft.com/office/drawing/2014/main" id="{DF5E1DF2-810B-0144-29FB-12991FE84AC1}"/>
                    </a:ext>
                  </a:extLst>
                </p:cNvPr>
                <p:cNvSpPr txBox="1"/>
                <p:nvPr/>
              </p:nvSpPr>
              <p:spPr>
                <a:xfrm>
                  <a:off x="361660" y="1903996"/>
                  <a:ext cx="1691821" cy="356037"/>
                </a:xfrm>
                <a:prstGeom prst="rect">
                  <a:avLst/>
                </a:prstGeom>
                <a:solidFill>
                  <a:srgbClr val="0070C0"/>
                </a:solidFill>
              </p:spPr>
              <p:txBody>
                <a:bodyPr wrap="square" rtlCol="0">
                  <a:spAutoFit/>
                </a:bodyPr>
                <a:lstStyle/>
                <a:p>
                  <a:pPr algn="ctr"/>
                  <a:r>
                    <a:rPr lang="en-US" b="1" dirty="0">
                      <a:solidFill>
                        <a:schemeClr val="bg1"/>
                      </a:solidFill>
                    </a:rPr>
                    <a:t>Plug Gauge</a:t>
                  </a:r>
                </a:p>
              </p:txBody>
            </p:sp>
            <p:cxnSp>
              <p:nvCxnSpPr>
                <p:cNvPr id="43" name="Straight Arrow Connector 42">
                  <a:extLst>
                    <a:ext uri="{FF2B5EF4-FFF2-40B4-BE49-F238E27FC236}">
                      <a16:creationId xmlns:a16="http://schemas.microsoft.com/office/drawing/2014/main" id="{A0BDDF17-69DF-7E90-B756-F79CF4977E55}"/>
                    </a:ext>
                  </a:extLst>
                </p:cNvPr>
                <p:cNvCxnSpPr>
                  <a:cxnSpLocks/>
                  <a:stCxn id="41" idx="2"/>
                </p:cNvCxnSpPr>
                <p:nvPr/>
              </p:nvCxnSpPr>
              <p:spPr>
                <a:xfrm>
                  <a:off x="1207571" y="2260033"/>
                  <a:ext cx="0" cy="79522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sp>
          <p:nvSpPr>
            <p:cNvPr id="4" name="TextBox 3">
              <a:extLst>
                <a:ext uri="{FF2B5EF4-FFF2-40B4-BE49-F238E27FC236}">
                  <a16:creationId xmlns:a16="http://schemas.microsoft.com/office/drawing/2014/main" id="{B5A479BC-1409-BAE9-E5DF-EC1FB20FD24E}"/>
                </a:ext>
              </a:extLst>
            </p:cNvPr>
            <p:cNvSpPr txBox="1"/>
            <p:nvPr/>
          </p:nvSpPr>
          <p:spPr>
            <a:xfrm rot="16200000">
              <a:off x="620532" y="4794366"/>
              <a:ext cx="1763568" cy="229775"/>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grpSp>
      <p:grpSp>
        <p:nvGrpSpPr>
          <p:cNvPr id="32" name="Group 31">
            <a:extLst>
              <a:ext uri="{FF2B5EF4-FFF2-40B4-BE49-F238E27FC236}">
                <a16:creationId xmlns:a16="http://schemas.microsoft.com/office/drawing/2014/main" id="{95F939D3-9924-E4DA-3B2A-302574CA9AF1}"/>
              </a:ext>
            </a:extLst>
          </p:cNvPr>
          <p:cNvGrpSpPr/>
          <p:nvPr/>
        </p:nvGrpSpPr>
        <p:grpSpPr>
          <a:xfrm>
            <a:off x="2398800" y="1427924"/>
            <a:ext cx="3440352" cy="3306313"/>
            <a:chOff x="2398800" y="1427924"/>
            <a:chExt cx="3440352" cy="3306313"/>
          </a:xfrm>
        </p:grpSpPr>
        <p:grpSp>
          <p:nvGrpSpPr>
            <p:cNvPr id="18" name="Group 17">
              <a:extLst>
                <a:ext uri="{FF2B5EF4-FFF2-40B4-BE49-F238E27FC236}">
                  <a16:creationId xmlns:a16="http://schemas.microsoft.com/office/drawing/2014/main" id="{B64F751E-BDAF-DC3C-319C-D51A35C85AD1}"/>
                </a:ext>
              </a:extLst>
            </p:cNvPr>
            <p:cNvGrpSpPr/>
            <p:nvPr/>
          </p:nvGrpSpPr>
          <p:grpSpPr>
            <a:xfrm>
              <a:off x="2398800" y="1427924"/>
              <a:ext cx="3087289" cy="3306313"/>
              <a:chOff x="2398800" y="1427924"/>
              <a:chExt cx="3087289" cy="3306313"/>
            </a:xfrm>
          </p:grpSpPr>
          <p:pic>
            <p:nvPicPr>
              <p:cNvPr id="15" name="Picture 14">
                <a:extLst>
                  <a:ext uri="{FF2B5EF4-FFF2-40B4-BE49-F238E27FC236}">
                    <a16:creationId xmlns:a16="http://schemas.microsoft.com/office/drawing/2014/main" id="{5FFCC101-0DB1-370B-12AE-CE9180BA1DEF}"/>
                  </a:ext>
                </a:extLst>
              </p:cNvPr>
              <p:cNvPicPr>
                <a:picLocks noChangeAspect="1"/>
              </p:cNvPicPr>
              <p:nvPr/>
            </p:nvPicPr>
            <p:blipFill>
              <a:blip r:embed="rId4"/>
              <a:stretch>
                <a:fillRect/>
              </a:stretch>
            </p:blipFill>
            <p:spPr>
              <a:xfrm>
                <a:off x="2513874" y="2352655"/>
                <a:ext cx="2972215" cy="2381582"/>
              </a:xfrm>
              <a:prstGeom prst="rect">
                <a:avLst/>
              </a:prstGeom>
            </p:spPr>
          </p:pic>
          <p:grpSp>
            <p:nvGrpSpPr>
              <p:cNvPr id="10" name="Group 9">
                <a:extLst>
                  <a:ext uri="{FF2B5EF4-FFF2-40B4-BE49-F238E27FC236}">
                    <a16:creationId xmlns:a16="http://schemas.microsoft.com/office/drawing/2014/main" id="{7AF73600-F947-93BC-12B0-04EDFA1498CB}"/>
                  </a:ext>
                </a:extLst>
              </p:cNvPr>
              <p:cNvGrpSpPr/>
              <p:nvPr/>
            </p:nvGrpSpPr>
            <p:grpSpPr>
              <a:xfrm>
                <a:off x="2398800" y="1427924"/>
                <a:ext cx="2010311" cy="1356372"/>
                <a:chOff x="-100121" y="1903996"/>
                <a:chExt cx="2010311" cy="1102477"/>
              </a:xfrm>
            </p:grpSpPr>
            <p:sp>
              <p:nvSpPr>
                <p:cNvPr id="11" name="TextBox 10">
                  <a:extLst>
                    <a:ext uri="{FF2B5EF4-FFF2-40B4-BE49-F238E27FC236}">
                      <a16:creationId xmlns:a16="http://schemas.microsoft.com/office/drawing/2014/main" id="{CAF6403A-8CD2-A192-A17A-30D18F011A0F}"/>
                    </a:ext>
                  </a:extLst>
                </p:cNvPr>
                <p:cNvSpPr txBox="1"/>
                <p:nvPr/>
              </p:nvSpPr>
              <p:spPr>
                <a:xfrm>
                  <a:off x="-100121" y="1903996"/>
                  <a:ext cx="2010311" cy="525346"/>
                </a:xfrm>
                <a:prstGeom prst="rect">
                  <a:avLst/>
                </a:prstGeom>
                <a:solidFill>
                  <a:srgbClr val="0070C0"/>
                </a:solidFill>
              </p:spPr>
              <p:txBody>
                <a:bodyPr wrap="square" rtlCol="0">
                  <a:spAutoFit/>
                </a:bodyPr>
                <a:lstStyle/>
                <a:p>
                  <a:pPr algn="ctr"/>
                  <a:r>
                    <a:rPr lang="en-US" b="1" dirty="0">
                      <a:solidFill>
                        <a:schemeClr val="bg1"/>
                      </a:solidFill>
                    </a:rPr>
                    <a:t>Rivet Head</a:t>
                  </a:r>
                  <a:br>
                    <a:rPr lang="en-US" b="1" dirty="0">
                      <a:solidFill>
                        <a:schemeClr val="bg1"/>
                      </a:solidFill>
                    </a:rPr>
                  </a:br>
                  <a:r>
                    <a:rPr lang="en-US" b="1" dirty="0">
                      <a:solidFill>
                        <a:schemeClr val="bg1"/>
                      </a:solidFill>
                    </a:rPr>
                    <a:t>Gauges</a:t>
                  </a:r>
                </a:p>
              </p:txBody>
            </p:sp>
            <p:cxnSp>
              <p:nvCxnSpPr>
                <p:cNvPr id="12" name="Straight Arrow Connector 11">
                  <a:extLst>
                    <a:ext uri="{FF2B5EF4-FFF2-40B4-BE49-F238E27FC236}">
                      <a16:creationId xmlns:a16="http://schemas.microsoft.com/office/drawing/2014/main" id="{688CE7A1-142D-8582-F04A-B9C78C7527A1}"/>
                    </a:ext>
                  </a:extLst>
                </p:cNvPr>
                <p:cNvCxnSpPr>
                  <a:cxnSpLocks/>
                  <a:stCxn id="11" idx="2"/>
                </p:cNvCxnSpPr>
                <p:nvPr/>
              </p:nvCxnSpPr>
              <p:spPr>
                <a:xfrm>
                  <a:off x="905035" y="2429342"/>
                  <a:ext cx="0" cy="57713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sp>
          <p:nvSpPr>
            <p:cNvPr id="5" name="TextBox 4">
              <a:extLst>
                <a:ext uri="{FF2B5EF4-FFF2-40B4-BE49-F238E27FC236}">
                  <a16:creationId xmlns:a16="http://schemas.microsoft.com/office/drawing/2014/main" id="{BCA4F230-6AD4-CA7A-69C5-E7E85CC3C274}"/>
                </a:ext>
              </a:extLst>
            </p:cNvPr>
            <p:cNvSpPr txBox="1"/>
            <p:nvPr/>
          </p:nvSpPr>
          <p:spPr>
            <a:xfrm rot="19186064">
              <a:off x="3737012" y="3993548"/>
              <a:ext cx="210214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33" name="Group 32">
            <a:extLst>
              <a:ext uri="{FF2B5EF4-FFF2-40B4-BE49-F238E27FC236}">
                <a16:creationId xmlns:a16="http://schemas.microsoft.com/office/drawing/2014/main" id="{020CFB33-6493-460E-FF43-4B14C08CD77D}"/>
              </a:ext>
            </a:extLst>
          </p:cNvPr>
          <p:cNvGrpSpPr/>
          <p:nvPr/>
        </p:nvGrpSpPr>
        <p:grpSpPr>
          <a:xfrm>
            <a:off x="5780561" y="1427925"/>
            <a:ext cx="2082483" cy="3055881"/>
            <a:chOff x="5780561" y="1427925"/>
            <a:chExt cx="2082483" cy="3055881"/>
          </a:xfrm>
        </p:grpSpPr>
        <p:pic>
          <p:nvPicPr>
            <p:cNvPr id="20" name="Picture 19">
              <a:extLst>
                <a:ext uri="{FF2B5EF4-FFF2-40B4-BE49-F238E27FC236}">
                  <a16:creationId xmlns:a16="http://schemas.microsoft.com/office/drawing/2014/main" id="{F7FE5FA3-9E95-9818-F140-438F7C520624}"/>
                </a:ext>
              </a:extLst>
            </p:cNvPr>
            <p:cNvPicPr>
              <a:picLocks noChangeAspect="1"/>
            </p:cNvPicPr>
            <p:nvPr/>
          </p:nvPicPr>
          <p:blipFill>
            <a:blip r:embed="rId5"/>
            <a:stretch>
              <a:fillRect/>
            </a:stretch>
          </p:blipFill>
          <p:spPr>
            <a:xfrm>
              <a:off x="5780561" y="2445171"/>
              <a:ext cx="2076740" cy="2038635"/>
            </a:xfrm>
            <a:prstGeom prst="rect">
              <a:avLst/>
            </a:prstGeom>
          </p:spPr>
        </p:pic>
        <p:grpSp>
          <p:nvGrpSpPr>
            <p:cNvPr id="24" name="Group 23">
              <a:extLst>
                <a:ext uri="{FF2B5EF4-FFF2-40B4-BE49-F238E27FC236}">
                  <a16:creationId xmlns:a16="http://schemas.microsoft.com/office/drawing/2014/main" id="{4E5C4EF1-EEE4-1C42-9E4D-9A846A257CAB}"/>
                </a:ext>
              </a:extLst>
            </p:cNvPr>
            <p:cNvGrpSpPr/>
            <p:nvPr/>
          </p:nvGrpSpPr>
          <p:grpSpPr>
            <a:xfrm>
              <a:off x="5817638" y="1427925"/>
              <a:ext cx="2010311" cy="1198523"/>
              <a:chOff x="-100121" y="1903996"/>
              <a:chExt cx="2010311" cy="974175"/>
            </a:xfrm>
          </p:grpSpPr>
          <p:sp>
            <p:nvSpPr>
              <p:cNvPr id="25" name="TextBox 24">
                <a:extLst>
                  <a:ext uri="{FF2B5EF4-FFF2-40B4-BE49-F238E27FC236}">
                    <a16:creationId xmlns:a16="http://schemas.microsoft.com/office/drawing/2014/main" id="{DE62BCBB-690B-E1F1-B008-E141D15B23B9}"/>
                  </a:ext>
                </a:extLst>
              </p:cNvPr>
              <p:cNvSpPr txBox="1"/>
              <p:nvPr/>
            </p:nvSpPr>
            <p:spPr>
              <a:xfrm>
                <a:off x="-100121" y="1903996"/>
                <a:ext cx="2010311" cy="525346"/>
              </a:xfrm>
              <a:prstGeom prst="rect">
                <a:avLst/>
              </a:prstGeom>
              <a:solidFill>
                <a:srgbClr val="0070C0"/>
              </a:solidFill>
            </p:spPr>
            <p:txBody>
              <a:bodyPr wrap="square" rtlCol="0">
                <a:spAutoFit/>
              </a:bodyPr>
              <a:lstStyle/>
              <a:p>
                <a:pPr algn="ctr"/>
                <a:r>
                  <a:rPr lang="en-US" b="1" dirty="0">
                    <a:solidFill>
                      <a:schemeClr val="bg1"/>
                    </a:solidFill>
                  </a:rPr>
                  <a:t>Swage Style Rivet</a:t>
                </a:r>
                <a:br>
                  <a:rPr lang="en-US" b="1" dirty="0">
                    <a:solidFill>
                      <a:schemeClr val="bg1"/>
                    </a:solidFill>
                  </a:rPr>
                </a:br>
                <a:r>
                  <a:rPr lang="en-US" b="1" dirty="0">
                    <a:solidFill>
                      <a:schemeClr val="bg1"/>
                    </a:solidFill>
                  </a:rPr>
                  <a:t>Gauges</a:t>
                </a:r>
              </a:p>
            </p:txBody>
          </p:sp>
          <p:cxnSp>
            <p:nvCxnSpPr>
              <p:cNvPr id="26" name="Straight Arrow Connector 25">
                <a:extLst>
                  <a:ext uri="{FF2B5EF4-FFF2-40B4-BE49-F238E27FC236}">
                    <a16:creationId xmlns:a16="http://schemas.microsoft.com/office/drawing/2014/main" id="{93EB6246-17BF-DF27-738F-D97D93D7FC9E}"/>
                  </a:ext>
                </a:extLst>
              </p:cNvPr>
              <p:cNvCxnSpPr>
                <a:cxnSpLocks/>
                <a:stCxn id="25" idx="2"/>
              </p:cNvCxnSpPr>
              <p:nvPr/>
            </p:nvCxnSpPr>
            <p:spPr>
              <a:xfrm>
                <a:off x="905035" y="2429342"/>
                <a:ext cx="0" cy="448829"/>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6" name="TextBox 5">
              <a:extLst>
                <a:ext uri="{FF2B5EF4-FFF2-40B4-BE49-F238E27FC236}">
                  <a16:creationId xmlns:a16="http://schemas.microsoft.com/office/drawing/2014/main" id="{14DBB1EC-D171-0F3E-7FCF-1B21EA9C56CE}"/>
                </a:ext>
              </a:extLst>
            </p:cNvPr>
            <p:cNvSpPr txBox="1"/>
            <p:nvPr/>
          </p:nvSpPr>
          <p:spPr>
            <a:xfrm rot="16880008">
              <a:off x="6921079" y="3374967"/>
              <a:ext cx="1653098"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grpSp>
        <p:nvGrpSpPr>
          <p:cNvPr id="34" name="Group 33">
            <a:extLst>
              <a:ext uri="{FF2B5EF4-FFF2-40B4-BE49-F238E27FC236}">
                <a16:creationId xmlns:a16="http://schemas.microsoft.com/office/drawing/2014/main" id="{48212D8B-C65A-F999-0404-58AEB0001599}"/>
              </a:ext>
            </a:extLst>
          </p:cNvPr>
          <p:cNvGrpSpPr/>
          <p:nvPr/>
        </p:nvGrpSpPr>
        <p:grpSpPr>
          <a:xfrm>
            <a:off x="8603184" y="1427925"/>
            <a:ext cx="2286319" cy="4265253"/>
            <a:chOff x="8603184" y="1427925"/>
            <a:chExt cx="2286319" cy="4265253"/>
          </a:xfrm>
        </p:grpSpPr>
        <p:pic>
          <p:nvPicPr>
            <p:cNvPr id="22" name="Picture 21">
              <a:extLst>
                <a:ext uri="{FF2B5EF4-FFF2-40B4-BE49-F238E27FC236}">
                  <a16:creationId xmlns:a16="http://schemas.microsoft.com/office/drawing/2014/main" id="{58A3AC57-C09F-0697-577D-7611115D6E8F}"/>
                </a:ext>
              </a:extLst>
            </p:cNvPr>
            <p:cNvPicPr>
              <a:picLocks noChangeAspect="1"/>
            </p:cNvPicPr>
            <p:nvPr/>
          </p:nvPicPr>
          <p:blipFill>
            <a:blip r:embed="rId6"/>
            <a:stretch>
              <a:fillRect/>
            </a:stretch>
          </p:blipFill>
          <p:spPr>
            <a:xfrm>
              <a:off x="8603184" y="2616174"/>
              <a:ext cx="2286319" cy="3077004"/>
            </a:xfrm>
            <a:prstGeom prst="rect">
              <a:avLst/>
            </a:prstGeom>
          </p:spPr>
        </p:pic>
        <p:grpSp>
          <p:nvGrpSpPr>
            <p:cNvPr id="29" name="Group 28">
              <a:extLst>
                <a:ext uri="{FF2B5EF4-FFF2-40B4-BE49-F238E27FC236}">
                  <a16:creationId xmlns:a16="http://schemas.microsoft.com/office/drawing/2014/main" id="{CA0652FD-9FE8-1D47-79F5-5BEEC4214B84}"/>
                </a:ext>
              </a:extLst>
            </p:cNvPr>
            <p:cNvGrpSpPr/>
            <p:nvPr/>
          </p:nvGrpSpPr>
          <p:grpSpPr>
            <a:xfrm>
              <a:off x="8921807" y="1427925"/>
              <a:ext cx="1691821" cy="1194250"/>
              <a:chOff x="74317" y="1907418"/>
              <a:chExt cx="1691821" cy="970702"/>
            </a:xfrm>
          </p:grpSpPr>
          <p:sp>
            <p:nvSpPr>
              <p:cNvPr id="30" name="TextBox 29">
                <a:extLst>
                  <a:ext uri="{FF2B5EF4-FFF2-40B4-BE49-F238E27FC236}">
                    <a16:creationId xmlns:a16="http://schemas.microsoft.com/office/drawing/2014/main" id="{336FF3D4-BBBB-12ED-A31E-3327F7B14CB6}"/>
                  </a:ext>
                </a:extLst>
              </p:cNvPr>
              <p:cNvSpPr txBox="1"/>
              <p:nvPr/>
            </p:nvSpPr>
            <p:spPr>
              <a:xfrm>
                <a:off x="74317" y="1907418"/>
                <a:ext cx="1691821" cy="525346"/>
              </a:xfrm>
              <a:prstGeom prst="rect">
                <a:avLst/>
              </a:prstGeom>
              <a:solidFill>
                <a:srgbClr val="0070C0"/>
              </a:solidFill>
            </p:spPr>
            <p:txBody>
              <a:bodyPr wrap="square" rtlCol="0">
                <a:spAutoFit/>
              </a:bodyPr>
              <a:lstStyle/>
              <a:p>
                <a:pPr algn="ctr"/>
                <a:r>
                  <a:rPr lang="en-US" b="1" dirty="0">
                    <a:solidFill>
                      <a:schemeClr val="bg1"/>
                    </a:solidFill>
                  </a:rPr>
                  <a:t>Pin Protrusion</a:t>
                </a:r>
                <a:br>
                  <a:rPr lang="en-US" b="1" dirty="0">
                    <a:solidFill>
                      <a:schemeClr val="bg1"/>
                    </a:solidFill>
                  </a:rPr>
                </a:br>
                <a:r>
                  <a:rPr lang="en-US" b="1" dirty="0">
                    <a:solidFill>
                      <a:schemeClr val="bg1"/>
                    </a:solidFill>
                  </a:rPr>
                  <a:t>Gauges</a:t>
                </a:r>
              </a:p>
            </p:txBody>
          </p:sp>
          <p:cxnSp>
            <p:nvCxnSpPr>
              <p:cNvPr id="31" name="Straight Arrow Connector 30">
                <a:extLst>
                  <a:ext uri="{FF2B5EF4-FFF2-40B4-BE49-F238E27FC236}">
                    <a16:creationId xmlns:a16="http://schemas.microsoft.com/office/drawing/2014/main" id="{CCE9CEDA-3C3A-1BE8-00A5-29CC10D597D5}"/>
                  </a:ext>
                </a:extLst>
              </p:cNvPr>
              <p:cNvCxnSpPr>
                <a:cxnSpLocks/>
                <a:stCxn id="30" idx="2"/>
              </p:cNvCxnSpPr>
              <p:nvPr/>
            </p:nvCxnSpPr>
            <p:spPr>
              <a:xfrm>
                <a:off x="920228" y="2432764"/>
                <a:ext cx="0" cy="44535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BEFC1498-DCE9-16D1-D30A-AD222CF3618A}"/>
                </a:ext>
              </a:extLst>
            </p:cNvPr>
            <p:cNvSpPr txBox="1"/>
            <p:nvPr/>
          </p:nvSpPr>
          <p:spPr>
            <a:xfrm rot="16200000">
              <a:off x="9719070" y="3557001"/>
              <a:ext cx="210214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Tree>
    <p:extLst>
      <p:ext uri="{BB962C8B-B14F-4D97-AF65-F5344CB8AC3E}">
        <p14:creationId xmlns:p14="http://schemas.microsoft.com/office/powerpoint/2010/main" val="84101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7BB45667-F60C-09F7-1D40-C1DD86832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89CC-6FFF-1BFA-274F-DAC5F31ED7B2}"/>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Q&amp;A</a:t>
            </a:r>
          </a:p>
        </p:txBody>
      </p:sp>
    </p:spTree>
    <p:extLst>
      <p:ext uri="{BB962C8B-B14F-4D97-AF65-F5344CB8AC3E}">
        <p14:creationId xmlns:p14="http://schemas.microsoft.com/office/powerpoint/2010/main" val="3291099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a:extLst>
            <a:ext uri="{FF2B5EF4-FFF2-40B4-BE49-F238E27FC236}">
              <a16:creationId xmlns:a16="http://schemas.microsoft.com/office/drawing/2014/main" id="{156839C2-7BF2-36AE-DF8B-9AD9A2AED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63DA-D582-3FF9-0739-41B56CC4752C}"/>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(Q1-Q8)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7F5410E-01CE-A881-32E2-EC2E8F0ACA56}"/>
              </a:ext>
            </a:extLst>
          </p:cNvPr>
          <p:cNvSpPr>
            <a:spLocks noGrp="1"/>
          </p:cNvSpPr>
          <p:nvPr>
            <p:ph idx="1"/>
          </p:nvPr>
        </p:nvSpPr>
        <p:spPr>
          <a:xfrm>
            <a:off x="585627" y="1242950"/>
            <a:ext cx="5650786" cy="5537994"/>
          </a:xfrm>
        </p:spPr>
        <p:txBody>
          <a:bodyPr>
            <a:normAutofit lnSpcReduction="10000"/>
          </a:bodyPr>
          <a:lstStyle/>
          <a:p>
            <a:pPr marL="0" indent="0">
              <a:buNone/>
              <a:tabLst>
                <a:tab pos="574675" algn="l"/>
              </a:tabLst>
            </a:pPr>
            <a:r>
              <a:rPr lang="en-US" sz="2000" b="1" dirty="0"/>
              <a:t>Q1: Name for repeatability; how consistently a tool measures?</a:t>
            </a:r>
          </a:p>
          <a:p>
            <a:pPr marL="0" indent="0">
              <a:buNone/>
              <a:tabLst>
                <a:tab pos="574675" algn="l"/>
              </a:tabLst>
            </a:pPr>
            <a:r>
              <a:rPr lang="en-US" sz="2000" b="1" dirty="0"/>
              <a:t>A: </a:t>
            </a:r>
            <a:r>
              <a:rPr lang="en-US" sz="2000" dirty="0"/>
              <a:t>Precision</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Name for how close the measured value is to the real value?</a:t>
            </a:r>
          </a:p>
          <a:p>
            <a:pPr marL="0" indent="0">
              <a:buNone/>
              <a:tabLst>
                <a:tab pos="574675" algn="l"/>
              </a:tabLst>
            </a:pPr>
            <a:r>
              <a:rPr lang="en-US" sz="2000" b="1" dirty="0"/>
              <a:t>A:</a:t>
            </a:r>
            <a:r>
              <a:rPr lang="en-US" sz="2000" dirty="0"/>
              <a:t> Accuracy </a:t>
            </a:r>
          </a:p>
          <a:p>
            <a:pPr marL="0" indent="0">
              <a:buNone/>
              <a:tabLst>
                <a:tab pos="574675" algn="l"/>
              </a:tabLst>
            </a:pPr>
            <a:endParaRPr lang="en-US" sz="2000" dirty="0"/>
          </a:p>
          <a:p>
            <a:pPr marL="0" indent="0">
              <a:buNone/>
              <a:tabLst>
                <a:tab pos="574675" algn="l"/>
              </a:tabLst>
            </a:pPr>
            <a:r>
              <a:rPr lang="en-US" sz="2000" b="1" dirty="0"/>
              <a:t>Q3: Y/N:  Can a precision measurement tool be accurate, but not precise?</a:t>
            </a:r>
          </a:p>
          <a:p>
            <a:pPr marL="0" indent="0">
              <a:buNone/>
              <a:tabLst>
                <a:tab pos="574675" algn="l"/>
              </a:tabLst>
            </a:pPr>
            <a:r>
              <a:rPr lang="en-US" sz="2000" b="1" dirty="0"/>
              <a:t>A:</a:t>
            </a:r>
            <a:r>
              <a:rPr lang="en-US" sz="2000" dirty="0"/>
              <a:t> Yes.  Even a broken analog watch is accurate twice a day (but not at all precise)</a:t>
            </a:r>
            <a:br>
              <a:rPr lang="en-US" sz="2000" dirty="0"/>
            </a:br>
            <a:endParaRPr lang="en-US" sz="2000" dirty="0"/>
          </a:p>
          <a:p>
            <a:pPr marL="0" indent="0">
              <a:buNone/>
            </a:pPr>
            <a:r>
              <a:rPr lang="en-US" sz="2000" b="1" dirty="0"/>
              <a:t>Q4: What factor makes a metal part expand or contract?</a:t>
            </a:r>
          </a:p>
          <a:p>
            <a:pPr marL="0" indent="0">
              <a:buNone/>
            </a:pPr>
            <a:r>
              <a:rPr lang="en-US" sz="2000" b="1" dirty="0"/>
              <a:t>A:</a:t>
            </a:r>
            <a:r>
              <a:rPr lang="en-US" sz="2000" dirty="0"/>
              <a:t> Temperature</a:t>
            </a:r>
          </a:p>
        </p:txBody>
      </p:sp>
      <p:sp>
        <p:nvSpPr>
          <p:cNvPr id="12" name="Content Placeholder 2">
            <a:extLst>
              <a:ext uri="{FF2B5EF4-FFF2-40B4-BE49-F238E27FC236}">
                <a16:creationId xmlns:a16="http://schemas.microsoft.com/office/drawing/2014/main" id="{D1DE07E9-686C-16E6-DE07-31A3DC967A79}"/>
              </a:ext>
            </a:extLst>
          </p:cNvPr>
          <p:cNvSpPr txBox="1">
            <a:spLocks/>
          </p:cNvSpPr>
          <p:nvPr/>
        </p:nvSpPr>
        <p:spPr>
          <a:xfrm>
            <a:off x="6236413" y="557176"/>
            <a:ext cx="5650786" cy="6223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Q5: How do you fix a dirty part or gauge so that precision and accuracy are optimal?</a:t>
            </a:r>
          </a:p>
          <a:p>
            <a:pPr marL="0" indent="0">
              <a:buNone/>
              <a:tabLst>
                <a:tab pos="574675" algn="l"/>
              </a:tabLst>
            </a:pPr>
            <a:r>
              <a:rPr lang="en-US" sz="2000" b="1" dirty="0"/>
              <a:t>A: </a:t>
            </a:r>
            <a:r>
              <a:rPr lang="en-US" sz="2000" dirty="0"/>
              <a:t>Wipe clean with a solvent</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Q6: How can you avoid using, reading, or doing precision measurements wrong?</a:t>
            </a:r>
          </a:p>
          <a:p>
            <a:pPr marL="0" indent="0">
              <a:buNone/>
              <a:tabLst>
                <a:tab pos="574675" algn="l"/>
              </a:tabLst>
            </a:pPr>
            <a:r>
              <a:rPr lang="en-US" sz="2000" b="1" dirty="0"/>
              <a:t>A:</a:t>
            </a:r>
            <a:r>
              <a:rPr lang="en-US" sz="2000" dirty="0"/>
              <a:t> Proper training and practice</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Q7: Name of the smallest visible unit of measure readable on the precision instrument?</a:t>
            </a:r>
          </a:p>
          <a:p>
            <a:pPr marL="0" indent="0">
              <a:buNone/>
              <a:tabLst>
                <a:tab pos="574675" algn="l"/>
              </a:tabLst>
            </a:pPr>
            <a:r>
              <a:rPr lang="en-US" sz="2000" b="1" dirty="0"/>
              <a:t>A: </a:t>
            </a:r>
            <a:r>
              <a:rPr lang="en-US" sz="2000" dirty="0"/>
              <a:t>Resolution</a:t>
            </a:r>
          </a:p>
          <a:p>
            <a:pPr marL="0" indent="0">
              <a:buFont typeface="Arial" panose="020B0604020202020204" pitchFamily="34" charset="0"/>
              <a:buNone/>
            </a:pPr>
            <a:endParaRPr lang="en-US" sz="2000" dirty="0"/>
          </a:p>
          <a:p>
            <a:pPr marL="0" indent="0">
              <a:buNone/>
            </a:pPr>
            <a:r>
              <a:rPr lang="en-US" sz="2000" b="1" dirty="0"/>
              <a:t>Q8: Name of the smallest unit of measure the precision instrument can accurately measure, regardless of what is readable?</a:t>
            </a:r>
          </a:p>
          <a:p>
            <a:pPr marL="0" indent="0">
              <a:buNone/>
            </a:pPr>
            <a:r>
              <a:rPr lang="en-US" sz="2000" b="1" dirty="0"/>
              <a:t>A:</a:t>
            </a:r>
            <a:r>
              <a:rPr lang="en-US" sz="2000" dirty="0"/>
              <a:t> Discrimination</a:t>
            </a:r>
          </a:p>
        </p:txBody>
      </p:sp>
    </p:spTree>
    <p:extLst>
      <p:ext uri="{BB962C8B-B14F-4D97-AF65-F5344CB8AC3E}">
        <p14:creationId xmlns:p14="http://schemas.microsoft.com/office/powerpoint/2010/main" val="16467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a:extLst>
            <a:ext uri="{FF2B5EF4-FFF2-40B4-BE49-F238E27FC236}">
              <a16:creationId xmlns:a16="http://schemas.microsoft.com/office/drawing/2014/main" id="{2BA76841-CA10-BB40-3031-E0389F91B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EE262-8E97-E44B-7DB7-4FA9275A61C1}"/>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(Q9-Q16)</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55F9250C-04BC-3059-29D5-E474E6EDF2B7}"/>
              </a:ext>
            </a:extLst>
          </p:cNvPr>
          <p:cNvSpPr>
            <a:spLocks noGrp="1"/>
          </p:cNvSpPr>
          <p:nvPr>
            <p:ph idx="1"/>
          </p:nvPr>
        </p:nvSpPr>
        <p:spPr>
          <a:xfrm>
            <a:off x="585627" y="1242950"/>
            <a:ext cx="5650786" cy="5537994"/>
          </a:xfrm>
        </p:spPr>
        <p:txBody>
          <a:bodyPr>
            <a:normAutofit lnSpcReduction="10000"/>
          </a:bodyPr>
          <a:lstStyle/>
          <a:p>
            <a:pPr marL="0" indent="0">
              <a:buNone/>
              <a:tabLst>
                <a:tab pos="574675" algn="l"/>
              </a:tabLst>
            </a:pPr>
            <a:r>
              <a:rPr lang="en-US" sz="2000" b="1" dirty="0"/>
              <a:t>Q9: Name of tip of non-moving part of precision instrument from which measurement starts?</a:t>
            </a:r>
          </a:p>
          <a:p>
            <a:pPr marL="0" indent="0">
              <a:buNone/>
              <a:tabLst>
                <a:tab pos="574675" algn="l"/>
              </a:tabLst>
            </a:pPr>
            <a:r>
              <a:rPr lang="en-US" sz="2000" b="1" dirty="0"/>
              <a:t>A: </a:t>
            </a:r>
            <a:r>
              <a:rPr lang="en-US" sz="2000" dirty="0"/>
              <a:t>Reference Point</a:t>
            </a:r>
          </a:p>
          <a:p>
            <a:pPr marL="0" indent="0">
              <a:buNone/>
              <a:tabLst>
                <a:tab pos="574675" algn="l"/>
              </a:tabLst>
            </a:pPr>
            <a:endParaRPr lang="en-US" sz="2000" dirty="0"/>
          </a:p>
          <a:p>
            <a:pPr marL="0" indent="0">
              <a:buNone/>
              <a:tabLst>
                <a:tab pos="574675" algn="l"/>
              </a:tabLst>
            </a:pPr>
            <a:r>
              <a:rPr lang="en-US" sz="2000" b="1" dirty="0"/>
              <a:t>Q10:</a:t>
            </a:r>
            <a:r>
              <a:rPr lang="en-US" sz="2000" dirty="0"/>
              <a:t> </a:t>
            </a:r>
            <a:r>
              <a:rPr lang="en-US" sz="2000" b="1" dirty="0"/>
              <a:t>Name of tip of moving point on a precision instrument where measurement ends?</a:t>
            </a:r>
          </a:p>
          <a:p>
            <a:pPr marL="0" indent="0">
              <a:buNone/>
              <a:tabLst>
                <a:tab pos="574675" algn="l"/>
              </a:tabLst>
            </a:pPr>
            <a:r>
              <a:rPr lang="en-US" sz="2000" b="1" dirty="0"/>
              <a:t>A:</a:t>
            </a:r>
            <a:r>
              <a:rPr lang="en-US" sz="2000" dirty="0"/>
              <a:t> Measurement Point </a:t>
            </a:r>
          </a:p>
          <a:p>
            <a:pPr marL="0" indent="0">
              <a:buNone/>
              <a:tabLst>
                <a:tab pos="574675" algn="l"/>
              </a:tabLst>
            </a:pPr>
            <a:endParaRPr lang="en-US" sz="2000" dirty="0"/>
          </a:p>
          <a:p>
            <a:pPr marL="0" indent="0">
              <a:buNone/>
              <a:tabLst>
                <a:tab pos="574675" algn="l"/>
              </a:tabLst>
            </a:pPr>
            <a:r>
              <a:rPr lang="en-US" sz="2000" b="1" dirty="0"/>
              <a:t>Q11: Name of the distance between the reference and measurement points?</a:t>
            </a:r>
          </a:p>
          <a:p>
            <a:pPr marL="0" indent="0">
              <a:buNone/>
              <a:tabLst>
                <a:tab pos="574675" algn="l"/>
              </a:tabLst>
            </a:pPr>
            <a:r>
              <a:rPr lang="en-US" sz="2000" b="1" dirty="0"/>
              <a:t>A:</a:t>
            </a:r>
            <a:r>
              <a:rPr lang="en-US" sz="2000" dirty="0"/>
              <a:t> Measurement Distance</a:t>
            </a:r>
            <a:br>
              <a:rPr lang="en-US" sz="2000" dirty="0"/>
            </a:br>
            <a:endParaRPr lang="en-US" sz="2000" dirty="0"/>
          </a:p>
          <a:p>
            <a:pPr marL="0" indent="0">
              <a:buNone/>
            </a:pPr>
            <a:r>
              <a:rPr lang="en-US" sz="2000" b="1" dirty="0"/>
              <a:t>Q12: Name of a precision instrument used to draw straight lines and measure distance typically up to 12"?</a:t>
            </a:r>
          </a:p>
          <a:p>
            <a:pPr marL="0" indent="0">
              <a:buNone/>
            </a:pPr>
            <a:r>
              <a:rPr lang="en-US" sz="2000" b="1" dirty="0"/>
              <a:t>A:</a:t>
            </a:r>
            <a:r>
              <a:rPr lang="en-US" sz="2000" dirty="0"/>
              <a:t> Rule</a:t>
            </a:r>
          </a:p>
        </p:txBody>
      </p:sp>
      <p:sp>
        <p:nvSpPr>
          <p:cNvPr id="12" name="Content Placeholder 2">
            <a:extLst>
              <a:ext uri="{FF2B5EF4-FFF2-40B4-BE49-F238E27FC236}">
                <a16:creationId xmlns:a16="http://schemas.microsoft.com/office/drawing/2014/main" id="{33221E0D-0D46-E232-A914-5DFC046A8022}"/>
              </a:ext>
            </a:extLst>
          </p:cNvPr>
          <p:cNvSpPr txBox="1">
            <a:spLocks/>
          </p:cNvSpPr>
          <p:nvPr/>
        </p:nvSpPr>
        <p:spPr>
          <a:xfrm>
            <a:off x="6236413" y="557176"/>
            <a:ext cx="5650786" cy="622376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Q13: What is the difference between a Rule and a Ruler?</a:t>
            </a:r>
          </a:p>
          <a:p>
            <a:pPr marL="0" indent="0">
              <a:buNone/>
              <a:tabLst>
                <a:tab pos="574675" algn="l"/>
              </a:tabLst>
            </a:pPr>
            <a:r>
              <a:rPr lang="en-US" sz="2000" b="1" dirty="0"/>
              <a:t>A: </a:t>
            </a:r>
            <a:r>
              <a:rPr lang="en-US" sz="2000" dirty="0"/>
              <a:t>Rule edge starts at 0".  Ruler has about 1/16" gap before the 0" mark starts (for kids to wear away)</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Q14: Name of precision instrument that uses jaws to measure up to 6" in distance, with a blade to measure depth too?</a:t>
            </a:r>
          </a:p>
          <a:p>
            <a:pPr marL="0" indent="0">
              <a:buNone/>
              <a:tabLst>
                <a:tab pos="574675" algn="l"/>
              </a:tabLst>
            </a:pPr>
            <a:r>
              <a:rPr lang="en-US" sz="2000" b="1" dirty="0"/>
              <a:t>A:</a:t>
            </a:r>
            <a:r>
              <a:rPr lang="en-US" sz="2000" dirty="0"/>
              <a:t> Caliper</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Q15: What is the first step you should do every time you take a caliper measurement to ensure accuracy?</a:t>
            </a:r>
          </a:p>
          <a:p>
            <a:pPr marL="0" indent="0">
              <a:buNone/>
              <a:tabLst>
                <a:tab pos="574675" algn="l"/>
              </a:tabLst>
            </a:pPr>
            <a:r>
              <a:rPr lang="en-US" sz="2000" b="1" dirty="0"/>
              <a:t>A: </a:t>
            </a:r>
            <a:r>
              <a:rPr lang="en-US" sz="2000" dirty="0"/>
              <a:t>Zero-Out Caliper</a:t>
            </a:r>
          </a:p>
          <a:p>
            <a:pPr marL="0" indent="0">
              <a:buFont typeface="Arial" panose="020B0604020202020204" pitchFamily="34" charset="0"/>
              <a:buNone/>
            </a:pPr>
            <a:endParaRPr lang="en-US" sz="2000" dirty="0"/>
          </a:p>
          <a:p>
            <a:pPr marL="0" indent="0">
              <a:buNone/>
            </a:pPr>
            <a:r>
              <a:rPr lang="en-US" sz="2000" b="1" dirty="0"/>
              <a:t>Q16: Name of precision instrument that uses an anvil and spindle to measure distance?</a:t>
            </a:r>
          </a:p>
          <a:p>
            <a:pPr marL="0" indent="0">
              <a:buNone/>
            </a:pPr>
            <a:r>
              <a:rPr lang="en-US" sz="2000" b="1" dirty="0"/>
              <a:t>A:</a:t>
            </a:r>
            <a:r>
              <a:rPr lang="en-US" sz="2000" dirty="0"/>
              <a:t> Micrometer</a:t>
            </a:r>
          </a:p>
        </p:txBody>
      </p:sp>
    </p:spTree>
    <p:extLst>
      <p:ext uri="{BB962C8B-B14F-4D97-AF65-F5344CB8AC3E}">
        <p14:creationId xmlns:p14="http://schemas.microsoft.com/office/powerpoint/2010/main" val="151718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a:extLst>
            <a:ext uri="{FF2B5EF4-FFF2-40B4-BE49-F238E27FC236}">
              <a16:creationId xmlns:a16="http://schemas.microsoft.com/office/drawing/2014/main" id="{923596E5-1198-C632-407E-13203E0C0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C8144-6306-0CD3-1391-5EFD7E90FAFE}"/>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(Q17-Q)</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C6B4AD48-850C-8E43-392B-66390ACA7985}"/>
              </a:ext>
            </a:extLst>
          </p:cNvPr>
          <p:cNvSpPr>
            <a:spLocks noGrp="1"/>
          </p:cNvSpPr>
          <p:nvPr>
            <p:ph idx="1"/>
          </p:nvPr>
        </p:nvSpPr>
        <p:spPr>
          <a:xfrm>
            <a:off x="585627" y="1242950"/>
            <a:ext cx="5650786" cy="5537994"/>
          </a:xfrm>
        </p:spPr>
        <p:txBody>
          <a:bodyPr>
            <a:normAutofit/>
          </a:bodyPr>
          <a:lstStyle/>
          <a:p>
            <a:pPr marL="0" indent="0">
              <a:buNone/>
              <a:tabLst>
                <a:tab pos="574675" algn="l"/>
              </a:tabLst>
            </a:pPr>
            <a:r>
              <a:rPr lang="en-US" sz="2000" b="1" dirty="0"/>
              <a:t>Q17: Name of precision instrument that goes inside a hole and captures the diameter to be measured by a micrometer?</a:t>
            </a:r>
          </a:p>
          <a:p>
            <a:pPr marL="0" indent="0">
              <a:buNone/>
              <a:tabLst>
                <a:tab pos="574675" algn="l"/>
              </a:tabLst>
            </a:pPr>
            <a:r>
              <a:rPr lang="en-US" sz="2000" b="1" dirty="0"/>
              <a:t>A: </a:t>
            </a:r>
            <a:r>
              <a:rPr lang="en-US" sz="2000" dirty="0"/>
              <a:t>Split Ball Gauge</a:t>
            </a:r>
          </a:p>
          <a:p>
            <a:pPr marL="0" indent="0">
              <a:buNone/>
              <a:tabLst>
                <a:tab pos="574675" algn="l"/>
              </a:tabLst>
            </a:pPr>
            <a:endParaRPr lang="en-US" sz="2000" dirty="0"/>
          </a:p>
          <a:p>
            <a:pPr marL="0" indent="0">
              <a:buNone/>
              <a:tabLst>
                <a:tab pos="574675" algn="l"/>
              </a:tabLst>
            </a:pPr>
            <a:r>
              <a:rPr lang="en-US" sz="2000" b="1" dirty="0"/>
              <a:t>Q18:</a:t>
            </a:r>
            <a:r>
              <a:rPr lang="en-US" sz="2000" dirty="0"/>
              <a:t> </a:t>
            </a:r>
            <a:r>
              <a:rPr lang="en-US" sz="2000" b="1" dirty="0"/>
              <a:t>Another name for fixed (non-variable) precision instruments?</a:t>
            </a:r>
          </a:p>
          <a:p>
            <a:pPr marL="0" indent="0">
              <a:buNone/>
              <a:tabLst>
                <a:tab pos="574675" algn="l"/>
              </a:tabLst>
            </a:pPr>
            <a:r>
              <a:rPr lang="en-US" sz="2000" b="1" dirty="0"/>
              <a:t>A:</a:t>
            </a:r>
            <a:r>
              <a:rPr lang="en-US" sz="2000" dirty="0"/>
              <a:t> Go/</a:t>
            </a:r>
            <a:r>
              <a:rPr lang="en-US" sz="2000" dirty="0" err="1"/>
              <a:t>NoGo</a:t>
            </a:r>
            <a:r>
              <a:rPr lang="en-US" sz="2000" dirty="0"/>
              <a:t> Gauges </a:t>
            </a:r>
          </a:p>
          <a:p>
            <a:pPr marL="0" indent="0">
              <a:buNone/>
              <a:tabLst>
                <a:tab pos="574675" algn="l"/>
              </a:tabLst>
            </a:pPr>
            <a:endParaRPr lang="en-US" sz="2000" dirty="0"/>
          </a:p>
        </p:txBody>
      </p:sp>
    </p:spTree>
    <p:extLst>
      <p:ext uri="{BB962C8B-B14F-4D97-AF65-F5344CB8AC3E}">
        <p14:creationId xmlns:p14="http://schemas.microsoft.com/office/powerpoint/2010/main" val="82079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C2D309-79B3-0066-BB56-E79235F3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AC3B1-808A-C5C9-BBB6-F06FDC830E2E}"/>
              </a:ext>
            </a:extLst>
          </p:cNvPr>
          <p:cNvSpPr>
            <a:spLocks noGrp="1"/>
          </p:cNvSpPr>
          <p:nvPr>
            <p:ph type="ctrTitle"/>
          </p:nvPr>
        </p:nvSpPr>
        <p:spPr>
          <a:xfrm>
            <a:off x="1612696" y="1893712"/>
            <a:ext cx="8966607" cy="1535288"/>
          </a:xfrm>
        </p:spPr>
        <p:txBody>
          <a:bodyPr>
            <a:noAutofit/>
          </a:bodyPr>
          <a:lstStyle/>
          <a:p>
            <a:r>
              <a:rPr lang="en-US" sz="9600" b="1" dirty="0">
                <a:solidFill>
                  <a:schemeClr val="bg1"/>
                </a:solidFill>
              </a:rPr>
              <a:t>Thank You</a:t>
            </a:r>
          </a:p>
        </p:txBody>
      </p:sp>
      <p:sp>
        <p:nvSpPr>
          <p:cNvPr id="3" name="Subtitle 2">
            <a:extLst>
              <a:ext uri="{FF2B5EF4-FFF2-40B4-BE49-F238E27FC236}">
                <a16:creationId xmlns:a16="http://schemas.microsoft.com/office/drawing/2014/main" id="{49C9C698-DE27-F888-6BAA-48C0C4FED236}"/>
              </a:ext>
            </a:extLst>
          </p:cNvPr>
          <p:cNvSpPr>
            <a:spLocks noGrp="1"/>
          </p:cNvSpPr>
          <p:nvPr>
            <p:ph type="subTitle" idx="1"/>
          </p:nvPr>
        </p:nvSpPr>
        <p:spPr>
          <a:xfrm>
            <a:off x="1490133" y="5258927"/>
            <a:ext cx="8966607" cy="1090775"/>
          </a:xfrm>
          <a:noFill/>
          <a:effectLst>
            <a:glow rad="228600">
              <a:schemeClr val="accent1">
                <a:satMod val="175000"/>
                <a:alpha val="40000"/>
              </a:schemeClr>
            </a:glow>
          </a:effectLst>
        </p:spPr>
        <p:txBody>
          <a:bodyPr>
            <a:normAutofit/>
          </a:bodyPr>
          <a:lstStyle/>
          <a:p>
            <a:pPr algn="l"/>
            <a:r>
              <a:rPr lang="pl-PL" sz="2000" dirty="0">
                <a:solidFill>
                  <a:schemeClr val="bg1"/>
                </a:solidFill>
              </a:rPr>
              <a:t>Matt Pierce  </a:t>
            </a:r>
            <a:r>
              <a:rPr lang="en-US" sz="2000" dirty="0">
                <a:solidFill>
                  <a:schemeClr val="bg1"/>
                </a:solidFill>
              </a:rPr>
              <a:t> - </a:t>
            </a:r>
            <a:r>
              <a:rPr lang="pl-PL" sz="2000" dirty="0">
                <a:solidFill>
                  <a:schemeClr val="bg1"/>
                </a:solidFill>
              </a:rPr>
              <a:t>  mpierce710006@gmail.com  </a:t>
            </a:r>
            <a:r>
              <a:rPr lang="en-US" sz="2000" dirty="0">
                <a:solidFill>
                  <a:schemeClr val="bg1"/>
                </a:solidFill>
              </a:rPr>
              <a:t> - </a:t>
            </a:r>
            <a:r>
              <a:rPr lang="pl-PL" sz="2000" dirty="0">
                <a:solidFill>
                  <a:schemeClr val="bg1"/>
                </a:solidFill>
              </a:rPr>
              <a:t>  linkedin.com/in/mpiercead576/</a:t>
            </a:r>
          </a:p>
          <a:p>
            <a:pPr algn="l"/>
            <a:r>
              <a:rPr lang="pl-PL" sz="2000" dirty="0">
                <a:solidFill>
                  <a:schemeClr val="bg1"/>
                </a:solidFill>
                <a:hlinkClick r:id="rId3"/>
              </a:rPr>
              <a:t>https://github.com/DataResearchLabs/study_guide_intro_aerospace_mfg</a:t>
            </a:r>
            <a:endParaRPr lang="en-US" sz="2000" dirty="0">
              <a:solidFill>
                <a:schemeClr val="bg1"/>
              </a:solidFill>
            </a:endParaRPr>
          </a:p>
          <a:p>
            <a:pPr algn="l"/>
            <a:endParaRPr lang="en-US" sz="2000" dirty="0">
              <a:solidFill>
                <a:schemeClr val="bg1"/>
              </a:solidFill>
            </a:endParaRPr>
          </a:p>
        </p:txBody>
      </p:sp>
      <p:cxnSp>
        <p:nvCxnSpPr>
          <p:cNvPr id="7" name="Straight Connector 6">
            <a:extLst>
              <a:ext uri="{FF2B5EF4-FFF2-40B4-BE49-F238E27FC236}">
                <a16:creationId xmlns:a16="http://schemas.microsoft.com/office/drawing/2014/main" id="{47439251-0FA5-4222-2534-EC4CD92AB89C}"/>
              </a:ext>
            </a:extLst>
          </p:cNvPr>
          <p:cNvCxnSpPr>
            <a:cxnSpLocks/>
          </p:cNvCxnSpPr>
          <p:nvPr/>
        </p:nvCxnSpPr>
        <p:spPr>
          <a:xfrm>
            <a:off x="0" y="4727225"/>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227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4963</TotalTime>
  <Words>2161</Words>
  <Application>Microsoft Office PowerPoint</Application>
  <PresentationFormat>Widescreen</PresentationFormat>
  <Paragraphs>219</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Precision Instruments</vt:lpstr>
      <vt:lpstr>Intro to Precision Instruments</vt:lpstr>
      <vt:lpstr>Fundamental Concepts</vt:lpstr>
      <vt:lpstr>Factors Influencing Precision &amp; Accuracy</vt:lpstr>
      <vt:lpstr>Resolution vs. Discrimination</vt:lpstr>
      <vt:lpstr>Measurement Definitions</vt:lpstr>
      <vt:lpstr>Types of Precision Instruments</vt:lpstr>
      <vt:lpstr>What is a “Rule”?</vt:lpstr>
      <vt:lpstr>What is a “Caliper”?</vt:lpstr>
      <vt:lpstr>How to Use a Caliper</vt:lpstr>
      <vt:lpstr>What is a “Micrometer”?</vt:lpstr>
      <vt:lpstr>How to Use a Micrometer</vt:lpstr>
      <vt:lpstr>What is a “Split Ball Gauge”?</vt:lpstr>
      <vt:lpstr>How to Use a Split Ball Gauge</vt:lpstr>
      <vt:lpstr>Examples of Go/NoGo Gauges</vt:lpstr>
      <vt:lpstr>Q&amp;A</vt:lpstr>
      <vt:lpstr>Practice Q&amp;A’s  (Q1-Q8)</vt:lpstr>
      <vt:lpstr>Practice Q&amp;A’s  (Q9-Q16)</vt:lpstr>
      <vt:lpstr>Practice Q&amp;A’s  (Q17-Q)</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Pierce</dc:creator>
  <cp:lastModifiedBy>Matt Pierce</cp:lastModifiedBy>
  <cp:revision>132</cp:revision>
  <dcterms:created xsi:type="dcterms:W3CDTF">2026-02-02T22:48:01Z</dcterms:created>
  <dcterms:modified xsi:type="dcterms:W3CDTF">2026-02-27T02:49:01Z</dcterms:modified>
</cp:coreProperties>
</file>