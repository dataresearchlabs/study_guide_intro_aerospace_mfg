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5" r:id="rId2"/>
    <p:sldId id="271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7" r:id="rId14"/>
    <p:sldId id="318" r:id="rId15"/>
    <p:sldId id="319" r:id="rId16"/>
    <p:sldId id="320" r:id="rId17"/>
    <p:sldId id="321" r:id="rId18"/>
    <p:sldId id="30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691" autoAdjust="0"/>
  </p:normalViewPr>
  <p:slideViewPr>
    <p:cSldViewPr snapToGrid="0">
      <p:cViewPr varScale="1">
        <p:scale>
          <a:sx n="62" d="100"/>
          <a:sy n="62" d="100"/>
        </p:scale>
        <p:origin x="8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1815-71DE-8352-C486-336AA410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62CE2-4A15-BE8A-5470-1CAB855D0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2EB95-C3FE-922A-E848-5BCCD829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“make one picture showing three types of aircraft manufacturing fiber side by side: fiberglass, aramid, and carbon fiber.”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835CA-15C2-834A-ADC3-1597EFD5F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15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EEDC-CF0D-42B2-6FCC-4336F94C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CDC5D-0580-26CE-559C-F638A1A4A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4F5B7-88D2-6509-33BA-518C2DF3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Fiberglass – ChatGPT:  make an image indicating fiberglass is the least expensive, and is resistant to chemicals  +  Edit output manually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Aramid – ChatGPT:  make an image indicating Aramid is flame/thermal resistant, chemical resistant, and as </a:t>
            </a:r>
            <a:r>
              <a:rPr lang="en-US" dirty="0" err="1"/>
              <a:t>kevlar</a:t>
            </a:r>
            <a:r>
              <a:rPr lang="en-US" dirty="0"/>
              <a:t> is impact and abrasion resistant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Carbon Fiber – ChatGPT: make an image indicating carbon fiber has low thermal expansion, and low density/high strength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4B06C-5248-FBB1-F78C-FDDAA9058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4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7C9D-6534-567A-FC66-969EAACD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A135E-61D0-153A-EC15-C43A58B0E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841B8-E827-779B-37B8-2B3EA6249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“make a picture showing the various Carbon fiber weaves in aircraft manufacturing. Show plain, twill, satin, and unidirectional weaves.”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“what are the different weave patterns for carbon fiber for aircraft manufacturing”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4A22-982C-71D1-B91C-54334C787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11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48C3-8092-5949-4853-488562FB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A890E-2530-A06F-055D-7CBF2AC35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96913-6D1B-41C4-A584-B49E4D72D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“what are the different weave patterns for carbon fiber for aircraft manufacturing” … Prior slide research…talked about resin, so I added a slide here too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6299E-02A4-825B-3E2A-B3607D9BB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3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BD197-5870-8EE3-F6D9-7EDA48EB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F4D4-FA6C-BBAA-7D1A-8E717C5D7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B1F6E-59A5-4B18-F64F-DCE9ABF2A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“make a side-by-side picture showing two different core materials (honeycomb vs. foam) for aircraft composite materials”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09D6-A3C3-74BB-8F66-4E861E83F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22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DFAB-490E-1809-740E-88F55D5C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09024-CCB5-876E-8740-5B9E0262D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F2F99-8968-C87B-4EF3-1F472F9DC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“simple definitions for "layup process" and "bagging process" in aircraft manufacturing of composite parts”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“what is the layup and bagging process in aircraft manufacturing of composite parts”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“Make a step by step process diagram showing how the layup and bagging process is done in aircraft manufacturing of composite parts. Show "Layup Process" as four steps: Preparation, Material Application, Orientation/Debulking, and core materials. Show "Bagging Process" as four steps: Peel Ply/Release Film, Breather Material, Vacuum Bag / Seal, and Vacuum Application/Cure.”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CD9F3-4095-89DC-FD57-B18B08A3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93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6265-B87C-C799-ECE0-E66AF153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FD3DD-C591-0AF6-8F44-81FB5CA99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EBEE0-60BF-816A-6A96-5C99CA5E2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“simple definitions for "layup process" and "bagging process" in aircraft manufacturing of composite parts”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“what is the layup and bagging process in aircraft manufacturing of composite parts”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“Make a step by step process diagram showing how the layup and bagging process is done in aircraft manufacturing of composite parts. Show "Layup Process" as four steps: Preparation, Material Application, Orientation/Debulking, and core materials. Show "Bagging Process" as four steps: Peel Ply/Release Film, Breather Material, Vacuum Bag / Seal, and Vacuum Application/Cure.”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DE002-8E4C-63E4-1FE3-487E45FFD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56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36BE-B2B2-D4FD-7CF3-BD6160EF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CCB39-B8BC-B8B8-B260-01020C54D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963DA-4CE9-77BD-B4E2-3BB8CADB6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AI: “composite material fiber, ply orientation, warp direction, warp face, warp threads, fill threads, warp clock”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 GPT: “make a single diagram showing a roll of composite fiber material coming off the roll; be zoomed in on the material as it comes off the roll so can see the warp face and warp direction”</a:t>
            </a:r>
            <a:br>
              <a:rPr lang="en-US" dirty="0"/>
            </a:br>
            <a:r>
              <a:rPr lang="en-US" dirty="0"/>
              <a:t>+ Remove the labels and arrows for "warp face" and "warp direction“</a:t>
            </a:r>
            <a:br>
              <a:rPr lang="en-US" dirty="0"/>
            </a:br>
            <a:r>
              <a:rPr lang="en-US" dirty="0"/>
              <a:t>+ make the unrolled surface curled up a bit (not flat), and cut it about 12" from the 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1D357-B501-F150-9D3E-5CBB65144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17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CF90-C0A4-9056-946B-1BE8F30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17A03-E586-761D-344B-CA104C289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FE9DA-E6B7-601C-B114-DF46F2B22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 GPT: “make a photo showing 4 small 2" x 2" squares of carbon fiber. show one square at warp ply direction 0°, one at -45°, one at 45°, and one at 0°.”</a:t>
            </a:r>
            <a:br>
              <a:rPr lang="en-US" dirty="0"/>
            </a:br>
            <a:r>
              <a:rPr lang="en-US" dirty="0"/>
              <a:t>+ “make the upper left square go up-and-down vertically. make the lower right square label = 90° and direction be left-to-right horizontally.”</a:t>
            </a:r>
            <a:br>
              <a:rPr lang="en-US" dirty="0"/>
            </a:br>
            <a:r>
              <a:rPr lang="en-US" dirty="0"/>
              <a:t>+ “Remove text labels.  Leave pictures as they are.”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 GPT: “make a diagram showing the following: 1. a small square of composite fabric with its ply orientation = warp fiber direction. 2. several small squares of composite fabric with a "Balanced" ply orientation 3. several small squares of composite fabric with an "Unbalanced" ply orientation 4. several small squares of composite fabric with a "Symmetrical" ply orientation 5. several small squares of composite fabric with a "Quasi-Isotropic" ply orientation”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CE338-7543-C27F-E615-595985CE9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03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99C0-C5C7-31A4-B7F7-E83F0A6F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7D2DF-B579-FC22-8477-8A3123693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4E289-D6A4-8447-08AD-D2FF3296F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 GPT: make a side-by-side diagram showing the two types of orienting warp faces together of composite fabric sheets: "nesting" vs "stacking“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261CA-3441-DA38-A54B-46C86625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9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B971-3DE9-C922-538F-DDB140B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BC955-F032-503F-015A-5B37F0137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CC619-E0DD-E67C-C3A7-5C804D6C1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0CEB2-41F5-FA07-6EBD-CDF3300A2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72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E0BA-45F3-8131-4E48-021B5B88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A73BC-56E3-A4B7-00A9-9118A17FE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515C7-89E6-5433-027B-1ED0A353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08D7F-D0D0-7C33-DC7E-8160318BF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1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13E0-B609-8AF2-58B0-5098EAA9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F36A4-0FB6-1E64-3F45-389546A73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28070-78E8-C85F-1DC8-66D8E8C2B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B8596-7ED0-2ECD-CA8F-4B09E8FA7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54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2967517" y="2242335"/>
            <a:ext cx="6256961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Composites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“AMCSG-205”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Tools &amp; Processes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472A5-C803-CCAD-12A6-4001F8D1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E293-4040-0F60-551F-B17412179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Composites</a:t>
            </a:r>
          </a:p>
        </p:txBody>
      </p:sp>
    </p:spTree>
    <p:extLst>
      <p:ext uri="{BB962C8B-B14F-4D97-AF65-F5344CB8AC3E}">
        <p14:creationId xmlns:p14="http://schemas.microsoft.com/office/powerpoint/2010/main" val="110767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27029-A1F8-4EC8-24E6-DF381EF50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9C53E8-1047-3AB9-3D0C-0439592F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522499"/>
            <a:ext cx="11342669" cy="5196800"/>
          </a:xfrm>
        </p:spPr>
        <p:txBody>
          <a:bodyPr/>
          <a:lstStyle/>
          <a:p>
            <a:r>
              <a:rPr lang="en-US" b="1" dirty="0"/>
              <a:t>Composites</a:t>
            </a:r>
            <a:r>
              <a:rPr lang="en-US" dirty="0"/>
              <a:t> beat metal because of </a:t>
            </a:r>
          </a:p>
          <a:p>
            <a:pPr lvl="1"/>
            <a:r>
              <a:rPr lang="en-US" dirty="0"/>
              <a:t>Higher </a:t>
            </a:r>
            <a:r>
              <a:rPr lang="en-US" b="1" dirty="0"/>
              <a:t>Strength-to-Weight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Better </a:t>
            </a:r>
            <a:r>
              <a:rPr lang="en-US" b="1" dirty="0"/>
              <a:t>Corrosion</a:t>
            </a:r>
            <a:r>
              <a:rPr lang="en-US" dirty="0"/>
              <a:t> and </a:t>
            </a:r>
            <a:r>
              <a:rPr lang="en-US" b="1" dirty="0"/>
              <a:t>Fatigue Resistance</a:t>
            </a:r>
          </a:p>
          <a:p>
            <a:pPr lvl="1"/>
            <a:r>
              <a:rPr lang="en-US" dirty="0"/>
              <a:t>More Complex, </a:t>
            </a:r>
            <a:r>
              <a:rPr lang="en-US" b="1" dirty="0"/>
              <a:t>Aerodynamic</a:t>
            </a:r>
            <a:r>
              <a:rPr lang="en-US" dirty="0"/>
              <a:t> Shapes</a:t>
            </a:r>
          </a:p>
          <a:p>
            <a:pPr lvl="1"/>
            <a:r>
              <a:rPr lang="en-US" b="1" dirty="0"/>
              <a:t>Fewer Parts</a:t>
            </a:r>
          </a:p>
          <a:p>
            <a:r>
              <a:rPr lang="en-US" dirty="0"/>
              <a:t>Three Types:</a:t>
            </a:r>
          </a:p>
          <a:p>
            <a:pPr lvl="1"/>
            <a:r>
              <a:rPr lang="en-US" b="1" dirty="0"/>
              <a:t>Fiberglass</a:t>
            </a:r>
          </a:p>
          <a:p>
            <a:pPr lvl="1"/>
            <a:r>
              <a:rPr lang="en-US" b="1" dirty="0"/>
              <a:t>Aramid</a:t>
            </a:r>
            <a:r>
              <a:rPr lang="en-US" dirty="0"/>
              <a:t> (Kevlar)</a:t>
            </a:r>
          </a:p>
          <a:p>
            <a:pPr lvl="1"/>
            <a:r>
              <a:rPr lang="en-US" b="1" dirty="0"/>
              <a:t>Carbon Fiber</a:t>
            </a:r>
          </a:p>
          <a:p>
            <a:pPr lvl="1"/>
            <a:endParaRPr lang="en-US" b="1" dirty="0"/>
          </a:p>
          <a:p>
            <a:r>
              <a:rPr lang="en-US" b="1" dirty="0"/>
              <a:t>Made of </a:t>
            </a:r>
            <a:r>
              <a:rPr lang="en-US" b="1" dirty="0">
                <a:highlight>
                  <a:srgbClr val="FFFF00"/>
                </a:highlight>
              </a:rPr>
              <a:t>Fiber + Resin + Core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5BAEC-840D-16B3-E39F-B9D1AF0E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6620667" cy="877824"/>
          </a:xfrm>
        </p:spPr>
        <p:txBody>
          <a:bodyPr/>
          <a:lstStyle/>
          <a:p>
            <a:r>
              <a:rPr lang="en-US" dirty="0"/>
              <a:t>Composite Types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3EFFD2-25B8-F99F-E187-4CB7A40AFAC2}"/>
              </a:ext>
            </a:extLst>
          </p:cNvPr>
          <p:cNvGrpSpPr/>
          <p:nvPr/>
        </p:nvGrpSpPr>
        <p:grpSpPr>
          <a:xfrm>
            <a:off x="5733147" y="3232475"/>
            <a:ext cx="1888939" cy="3419952"/>
            <a:chOff x="6367003" y="3219050"/>
            <a:chExt cx="1888939" cy="341995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EA2125-0058-1FBB-201D-1CF689439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7003" y="3219050"/>
              <a:ext cx="1686160" cy="341995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D3FF5E0-C715-2806-9E49-A6DF5A361F86}"/>
                </a:ext>
              </a:extLst>
            </p:cNvPr>
            <p:cNvSpPr txBox="1"/>
            <p:nvPr/>
          </p:nvSpPr>
          <p:spPr>
            <a:xfrm>
              <a:off x="6398774" y="6246810"/>
              <a:ext cx="1631529" cy="369332"/>
            </a:xfrm>
            <a:prstGeom prst="rect">
              <a:avLst/>
            </a:prstGeom>
            <a:solidFill>
              <a:srgbClr val="0070C0"/>
            </a:solidFill>
            <a:ln w="635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Carbon Fiber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31A829-88E2-2ADE-0F1F-D57CC9084452}"/>
                </a:ext>
              </a:extLst>
            </p:cNvPr>
            <p:cNvSpPr txBox="1"/>
            <p:nvPr/>
          </p:nvSpPr>
          <p:spPr>
            <a:xfrm rot="16200000">
              <a:off x="7295812" y="5286680"/>
              <a:ext cx="16894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C451DB1-3972-AF27-502F-7DD4CDCE14A4}"/>
              </a:ext>
            </a:extLst>
          </p:cNvPr>
          <p:cNvGrpSpPr/>
          <p:nvPr/>
        </p:nvGrpSpPr>
        <p:grpSpPr>
          <a:xfrm>
            <a:off x="9914210" y="482406"/>
            <a:ext cx="1926520" cy="3429479"/>
            <a:chOff x="10291168" y="492679"/>
            <a:chExt cx="1926520" cy="342947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2D5AFC3-4FAB-6608-C779-AA375E939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91168" y="492679"/>
              <a:ext cx="1695687" cy="3429479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D6CEF1-A4B2-ADEF-0272-3CD41783DA75}"/>
                </a:ext>
              </a:extLst>
            </p:cNvPr>
            <p:cNvSpPr txBox="1"/>
            <p:nvPr/>
          </p:nvSpPr>
          <p:spPr>
            <a:xfrm>
              <a:off x="10319599" y="3524316"/>
              <a:ext cx="1653041" cy="369332"/>
            </a:xfrm>
            <a:prstGeom prst="rect">
              <a:avLst/>
            </a:prstGeom>
            <a:solidFill>
              <a:srgbClr val="0070C0"/>
            </a:solidFill>
            <a:ln w="635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Fiberglass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2D5086-6D09-9215-6180-0895E444CFBA}"/>
                </a:ext>
              </a:extLst>
            </p:cNvPr>
            <p:cNvSpPr txBox="1"/>
            <p:nvPr/>
          </p:nvSpPr>
          <p:spPr>
            <a:xfrm rot="16200000">
              <a:off x="11257556" y="2564184"/>
              <a:ext cx="1689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4D5C6B7-DE52-8F48-7908-571E5DF80485}"/>
              </a:ext>
            </a:extLst>
          </p:cNvPr>
          <p:cNvGrpSpPr/>
          <p:nvPr/>
        </p:nvGrpSpPr>
        <p:grpSpPr>
          <a:xfrm>
            <a:off x="7818587" y="1793788"/>
            <a:ext cx="1895984" cy="3400900"/>
            <a:chOff x="8171031" y="1532025"/>
            <a:chExt cx="1895984" cy="34009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BBDFB37-E961-B307-8033-91663F0FC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1031" y="1532025"/>
              <a:ext cx="1676634" cy="34009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6FB9F6-64E7-D7AC-80A7-90B9AF70B0C5}"/>
                </a:ext>
              </a:extLst>
            </p:cNvPr>
            <p:cNvSpPr txBox="1"/>
            <p:nvPr/>
          </p:nvSpPr>
          <p:spPr>
            <a:xfrm>
              <a:off x="8191500" y="4540115"/>
              <a:ext cx="1647520" cy="369332"/>
            </a:xfrm>
            <a:prstGeom prst="rect">
              <a:avLst/>
            </a:prstGeom>
            <a:solidFill>
              <a:srgbClr val="0070C0"/>
            </a:solidFill>
            <a:ln w="635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Aramid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EA838AC-4CBC-73B5-1D7C-2CCDB8BD4225}"/>
                </a:ext>
              </a:extLst>
            </p:cNvPr>
            <p:cNvSpPr txBox="1"/>
            <p:nvPr/>
          </p:nvSpPr>
          <p:spPr>
            <a:xfrm rot="16200000">
              <a:off x="9106884" y="3610675"/>
              <a:ext cx="168942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10" name="TextBox 7">
            <a:extLst>
              <a:ext uri="{FF2B5EF4-FFF2-40B4-BE49-F238E27FC236}">
                <a16:creationId xmlns:a16="http://schemas.microsoft.com/office/drawing/2014/main" id="{8D91844F-F8CE-3E89-6951-5F90064B0390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250468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425AD-8E92-C061-B35D-BED1186F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AD1FB7-E5D2-200C-2007-26CC333F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549" y="1156929"/>
            <a:ext cx="4939449" cy="1619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Aramid</a:t>
            </a:r>
          </a:p>
          <a:p>
            <a:pPr marL="461963" lvl="1"/>
            <a:r>
              <a:rPr lang="en-US" sz="2000" dirty="0"/>
              <a:t>Good Impact &amp; Abrasion Resistance</a:t>
            </a:r>
          </a:p>
          <a:p>
            <a:pPr marL="461963" lvl="1"/>
            <a:r>
              <a:rPr lang="en-US" sz="2000" dirty="0"/>
              <a:t>Flame / Thermal Degradation Resistant</a:t>
            </a:r>
          </a:p>
          <a:p>
            <a:pPr marL="461963" lvl="1"/>
            <a:r>
              <a:rPr lang="en-US" sz="2000" dirty="0"/>
              <a:t>Chemical Resistant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763C5-E45C-2E5C-220A-3C08C575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6199427" cy="877824"/>
          </a:xfrm>
        </p:spPr>
        <p:txBody>
          <a:bodyPr/>
          <a:lstStyle/>
          <a:p>
            <a:r>
              <a:rPr lang="en-US" dirty="0"/>
              <a:t>Composite Type Strengths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64DEA7-B069-4554-48D6-50E6BFBA5377}"/>
              </a:ext>
            </a:extLst>
          </p:cNvPr>
          <p:cNvGrpSpPr/>
          <p:nvPr/>
        </p:nvGrpSpPr>
        <p:grpSpPr>
          <a:xfrm>
            <a:off x="855026" y="2291292"/>
            <a:ext cx="2119740" cy="2620962"/>
            <a:chOff x="9944191" y="636588"/>
            <a:chExt cx="2119740" cy="26209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7AAD26-C64B-5D3C-B01C-B636EE47FB47}"/>
                </a:ext>
              </a:extLst>
            </p:cNvPr>
            <p:cNvSpPr txBox="1"/>
            <p:nvPr/>
          </p:nvSpPr>
          <p:spPr>
            <a:xfrm rot="16200000">
              <a:off x="11131398" y="2325017"/>
              <a:ext cx="16342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9D6CA1-25CE-023C-7CBA-C8123804E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4191" y="636588"/>
              <a:ext cx="1895384" cy="2620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391D3A-E42F-D820-807A-FDEA944C52AF}"/>
              </a:ext>
            </a:extLst>
          </p:cNvPr>
          <p:cNvGrpSpPr/>
          <p:nvPr/>
        </p:nvGrpSpPr>
        <p:grpSpPr>
          <a:xfrm>
            <a:off x="3731518" y="4670526"/>
            <a:ext cx="3158701" cy="2041669"/>
            <a:chOff x="6554398" y="4451205"/>
            <a:chExt cx="3158701" cy="204166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710B703-D97C-9946-C919-6224B65CC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4398" y="4451205"/>
              <a:ext cx="2962493" cy="197499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AFFF77-A808-771A-3BB5-499A3FF2E3AE}"/>
                </a:ext>
              </a:extLst>
            </p:cNvPr>
            <p:cNvSpPr txBox="1"/>
            <p:nvPr/>
          </p:nvSpPr>
          <p:spPr>
            <a:xfrm rot="16200000">
              <a:off x="8770809" y="5550585"/>
              <a:ext cx="165374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98C4359-AAC4-36C8-E8B7-F7710FEC88DE}"/>
              </a:ext>
            </a:extLst>
          </p:cNvPr>
          <p:cNvGrpSpPr/>
          <p:nvPr/>
        </p:nvGrpSpPr>
        <p:grpSpPr>
          <a:xfrm>
            <a:off x="7716098" y="2602414"/>
            <a:ext cx="3193325" cy="2057249"/>
            <a:chOff x="6554398" y="2266811"/>
            <a:chExt cx="3193325" cy="205724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9BD7FA-443F-8CB4-ADB7-A326443FF6DC}"/>
                </a:ext>
              </a:extLst>
            </p:cNvPr>
            <p:cNvSpPr txBox="1"/>
            <p:nvPr/>
          </p:nvSpPr>
          <p:spPr>
            <a:xfrm rot="16200000">
              <a:off x="8805433" y="3381770"/>
              <a:ext cx="16537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D7479C7-7438-B661-99EA-F1F5A06D0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4398" y="2266811"/>
              <a:ext cx="2962688" cy="198147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" name="TextBox 7">
            <a:extLst>
              <a:ext uri="{FF2B5EF4-FFF2-40B4-BE49-F238E27FC236}">
                <a16:creationId xmlns:a16="http://schemas.microsoft.com/office/drawing/2014/main" id="{3D64985E-BCC9-423A-FCD9-45FE0344A488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38CA4C6-D1FA-97D9-A601-35EBD3F69982}"/>
              </a:ext>
            </a:extLst>
          </p:cNvPr>
          <p:cNvSpPr txBox="1">
            <a:spLocks/>
          </p:cNvSpPr>
          <p:nvPr/>
        </p:nvSpPr>
        <p:spPr>
          <a:xfrm>
            <a:off x="259664" y="1166639"/>
            <a:ext cx="4816040" cy="1268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Fiberglass</a:t>
            </a:r>
            <a:endParaRPr lang="en-US" u="sng" dirty="0"/>
          </a:p>
          <a:p>
            <a:pPr marL="461963" lvl="1"/>
            <a:r>
              <a:rPr lang="en-US" sz="2000" dirty="0"/>
              <a:t>Resistant to Harshest Chemicals</a:t>
            </a:r>
          </a:p>
          <a:p>
            <a:pPr marL="461963" lvl="1"/>
            <a:r>
              <a:rPr lang="en-US" sz="2000" dirty="0"/>
              <a:t>Least Expensive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3CCD8EE2-B2FA-9316-3FBC-81BE1D842C5D}"/>
              </a:ext>
            </a:extLst>
          </p:cNvPr>
          <p:cNvSpPr txBox="1">
            <a:spLocks/>
          </p:cNvSpPr>
          <p:nvPr/>
        </p:nvSpPr>
        <p:spPr>
          <a:xfrm>
            <a:off x="3162121" y="3478710"/>
            <a:ext cx="4533668" cy="1456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/>
              <a:t>Carbon  Fiber</a:t>
            </a:r>
            <a:r>
              <a:rPr lang="en-US" b="1" dirty="0"/>
              <a:t> (Graphite)</a:t>
            </a:r>
          </a:p>
          <a:p>
            <a:pPr marL="461963" lvl="1"/>
            <a:r>
              <a:rPr lang="en-US" sz="2000" dirty="0"/>
              <a:t>Lowest Density / Highest Strength</a:t>
            </a:r>
          </a:p>
          <a:p>
            <a:pPr marL="461963" lvl="1"/>
            <a:r>
              <a:rPr lang="en-US" sz="2000" dirty="0"/>
              <a:t>Low Thermal Expansion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872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CC2E9-AFFA-5E7C-54D4-31912968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D661A3-2808-A8A9-3B4D-47212B14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6" y="1464547"/>
            <a:ext cx="5813136" cy="4602878"/>
          </a:xfrm>
        </p:spPr>
        <p:txBody>
          <a:bodyPr>
            <a:normAutofit/>
          </a:bodyPr>
          <a:lstStyle/>
          <a:p>
            <a:r>
              <a:rPr lang="en-US" b="1" dirty="0"/>
              <a:t>Plain Weave</a:t>
            </a:r>
            <a:endParaRPr lang="en-US" dirty="0"/>
          </a:p>
          <a:p>
            <a:pPr lvl="1"/>
            <a:r>
              <a:rPr lang="en-US" dirty="0"/>
              <a:t>Simple over/under checkerboard</a:t>
            </a:r>
          </a:p>
          <a:p>
            <a:pPr lvl="1"/>
            <a:r>
              <a:rPr lang="en-US" dirty="0"/>
              <a:t>Flat, Structural, or Interior Cabin</a:t>
            </a:r>
          </a:p>
          <a:p>
            <a:r>
              <a:rPr lang="en-US" b="1" dirty="0"/>
              <a:t>Twill Weave</a:t>
            </a:r>
          </a:p>
          <a:p>
            <a:pPr lvl="1"/>
            <a:r>
              <a:rPr lang="en-US" dirty="0"/>
              <a:t>Highly Versatile, Complex Contours</a:t>
            </a:r>
          </a:p>
          <a:p>
            <a:r>
              <a:rPr lang="en-US" b="1" dirty="0"/>
              <a:t>Satin Weave</a:t>
            </a:r>
          </a:p>
          <a:p>
            <a:pPr lvl="1"/>
            <a:r>
              <a:rPr lang="en-US" dirty="0"/>
              <a:t>Highly Pliable, Complex Contours</a:t>
            </a:r>
          </a:p>
          <a:p>
            <a:r>
              <a:rPr lang="en-US" b="1" dirty="0"/>
              <a:t>Unidirectional Weave</a:t>
            </a:r>
          </a:p>
          <a:p>
            <a:pPr lvl="1"/>
            <a:r>
              <a:rPr lang="en-US" dirty="0"/>
              <a:t>Tape, not a weave / one direction</a:t>
            </a:r>
          </a:p>
          <a:p>
            <a:pPr lvl="1"/>
            <a:r>
              <a:rPr lang="en-US" dirty="0"/>
              <a:t>Wings, spar caps</a:t>
            </a:r>
          </a:p>
          <a:p>
            <a:pPr lvl="1"/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831B5-C94D-348F-32B4-0B4D0562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Carbon Fiber Weave Patterns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7890E-A897-D819-1876-8C1DB013E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36" y="1816099"/>
            <a:ext cx="2610214" cy="18195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C7401B-D2F6-1C85-1BE5-B8DC465D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84" y="1825625"/>
            <a:ext cx="2619741" cy="181000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2DAB4-297B-2454-036B-D3A53B980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84" y="3854876"/>
            <a:ext cx="2610214" cy="18195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925B1C-17D0-A5C3-AC11-B1697B8AB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037" y="3854876"/>
            <a:ext cx="2610214" cy="179741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A21DD2-0E84-A5EC-342D-89617847F9CC}"/>
              </a:ext>
            </a:extLst>
          </p:cNvPr>
          <p:cNvSpPr txBox="1"/>
          <p:nvPr/>
        </p:nvSpPr>
        <p:spPr>
          <a:xfrm>
            <a:off x="6462035" y="3266296"/>
            <a:ext cx="2610213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Plain Weave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A69A8-395B-A3BD-A6BA-1E9E039B5CF4}"/>
              </a:ext>
            </a:extLst>
          </p:cNvPr>
          <p:cNvSpPr txBox="1"/>
          <p:nvPr/>
        </p:nvSpPr>
        <p:spPr>
          <a:xfrm>
            <a:off x="9296482" y="3264882"/>
            <a:ext cx="2610213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Twill Weave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18945-9BD9-090B-0FE9-D290CA8E643A}"/>
              </a:ext>
            </a:extLst>
          </p:cNvPr>
          <p:cNvSpPr txBox="1"/>
          <p:nvPr/>
        </p:nvSpPr>
        <p:spPr>
          <a:xfrm>
            <a:off x="9296635" y="5312282"/>
            <a:ext cx="2610213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Satin Weave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75B2F2-F059-3167-34B8-1CCF593FCD84}"/>
              </a:ext>
            </a:extLst>
          </p:cNvPr>
          <p:cNvSpPr txBox="1"/>
          <p:nvPr/>
        </p:nvSpPr>
        <p:spPr>
          <a:xfrm>
            <a:off x="6462035" y="5272684"/>
            <a:ext cx="2610213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Unidirectional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E76B9-D8CD-BF46-A006-968F9E07BB85}"/>
              </a:ext>
            </a:extLst>
          </p:cNvPr>
          <p:cNvSpPr txBox="1"/>
          <p:nvPr/>
        </p:nvSpPr>
        <p:spPr>
          <a:xfrm>
            <a:off x="10222787" y="5681614"/>
            <a:ext cx="16934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18EAB5C-9939-90D7-A2D7-A6DE2772CE9E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278473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1" animBg="1"/>
      <p:bldP spid="14" grpId="2" animBg="1"/>
      <p:bldP spid="15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3D13C-331D-E934-CB72-8FE92D2D1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5214E9-863D-6ECF-90C2-F3976540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606550"/>
            <a:ext cx="11626922" cy="4780658"/>
          </a:xfrm>
        </p:spPr>
        <p:txBody>
          <a:bodyPr>
            <a:normAutofit/>
          </a:bodyPr>
          <a:lstStyle/>
          <a:p>
            <a:r>
              <a:rPr lang="en-US" dirty="0"/>
              <a:t>Final Composite Material = Fiber + Resin</a:t>
            </a:r>
          </a:p>
          <a:p>
            <a:pPr lvl="1"/>
            <a:r>
              <a:rPr lang="en-US" dirty="0"/>
              <a:t>Resin hardens the fiber into final shape </a:t>
            </a:r>
            <a:br>
              <a:rPr lang="en-US" dirty="0"/>
            </a:br>
            <a:r>
              <a:rPr lang="en-US" sz="2000" dirty="0">
                <a:solidFill>
                  <a:srgbClr val="0070C0"/>
                </a:solidFill>
              </a:rPr>
              <a:t>–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“without Resin…it’s just a pile of floppy strings  </a:t>
            </a:r>
            <a:r>
              <a:rPr lang="en-US" sz="2000" dirty="0">
                <a:solidFill>
                  <a:srgbClr val="0070C0"/>
                </a:solidFill>
                <a:sym typeface="Wingdings" panose="05000000000000000000" pitchFamily="2" charset="2"/>
              </a:rPr>
              <a:t>”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Four Types of Resin:</a:t>
            </a:r>
          </a:p>
          <a:p>
            <a:pPr lvl="1"/>
            <a:r>
              <a:rPr lang="en-US" b="1" dirty="0"/>
              <a:t>Thermoset</a:t>
            </a:r>
            <a:r>
              <a:rPr lang="en-US" dirty="0"/>
              <a:t> resin systems </a:t>
            </a:r>
            <a:r>
              <a:rPr lang="en-US" sz="2000" dirty="0">
                <a:solidFill>
                  <a:srgbClr val="0070C0"/>
                </a:solidFill>
              </a:rPr>
              <a:t>– plastic, needs to be heated to cure, good for aircraft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b="1" dirty="0"/>
              <a:t>Phenolic</a:t>
            </a:r>
            <a:r>
              <a:rPr lang="en-US" dirty="0"/>
              <a:t> resin systems </a:t>
            </a:r>
            <a:r>
              <a:rPr lang="en-US" sz="2000" dirty="0">
                <a:solidFill>
                  <a:srgbClr val="0070C0"/>
                </a:solidFill>
              </a:rPr>
              <a:t>– fire retardant, heat resistant, good for aircraft</a:t>
            </a:r>
          </a:p>
          <a:p>
            <a:pPr lvl="1"/>
            <a:r>
              <a:rPr lang="en-US" b="1" dirty="0"/>
              <a:t>Pre-Impregnated</a:t>
            </a:r>
            <a:r>
              <a:rPr lang="en-US" dirty="0"/>
              <a:t> materials </a:t>
            </a:r>
            <a:r>
              <a:rPr lang="en-US" sz="2000" dirty="0">
                <a:solidFill>
                  <a:srgbClr val="0070C0"/>
                </a:solidFill>
              </a:rPr>
              <a:t>– like a roll of tape with resin already embedded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b="1" dirty="0"/>
              <a:t>Epoxy</a:t>
            </a:r>
            <a:r>
              <a:rPr lang="en-US" dirty="0"/>
              <a:t> resin systems </a:t>
            </a:r>
            <a:r>
              <a:rPr lang="en-US" sz="2000" dirty="0">
                <a:solidFill>
                  <a:srgbClr val="0070C0"/>
                </a:solidFill>
              </a:rPr>
              <a:t>– widely used for adhesion, strength, resist chemicals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13F83-9ABF-0B26-8117-FC2FF98D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Resins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F71A627-FB55-DB9B-102C-1823A3054C2B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251228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37A12-E37E-3154-6E35-A373D980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7082BE-BDF3-072B-5356-36533DB2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549345"/>
            <a:ext cx="11342669" cy="1457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 “Core” is Material Sandwiched Between 2 Composite Sheets</a:t>
            </a:r>
          </a:p>
          <a:p>
            <a:pPr lvl="1"/>
            <a:r>
              <a:rPr lang="en-US" b="1" dirty="0"/>
              <a:t>Honeycomb</a:t>
            </a:r>
            <a:r>
              <a:rPr lang="en-US" dirty="0"/>
              <a:t> Core </a:t>
            </a:r>
            <a:r>
              <a:rPr lang="en-US" sz="2000" dirty="0">
                <a:solidFill>
                  <a:srgbClr val="0070C0"/>
                </a:solidFill>
              </a:rPr>
              <a:t>– Aluminum, Nomex, Carbon Fiber, Phenolic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b="1" dirty="0"/>
              <a:t>Foam</a:t>
            </a:r>
            <a:r>
              <a:rPr lang="en-US" dirty="0"/>
              <a:t> Core </a:t>
            </a:r>
            <a:r>
              <a:rPr lang="en-US" sz="2000" dirty="0">
                <a:solidFill>
                  <a:srgbClr val="0070C0"/>
                </a:solidFill>
              </a:rPr>
              <a:t>– Styrofoam, Urethane, PVC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63AE5-0402-E6C3-41B6-9B1A0142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Core Types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F73D5F-3E75-5678-1349-9F7F79449E73}"/>
              </a:ext>
            </a:extLst>
          </p:cNvPr>
          <p:cNvGrpSpPr/>
          <p:nvPr/>
        </p:nvGrpSpPr>
        <p:grpSpPr>
          <a:xfrm>
            <a:off x="279135" y="3237775"/>
            <a:ext cx="4960686" cy="3313179"/>
            <a:chOff x="279135" y="3237775"/>
            <a:chExt cx="4960686" cy="33131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375977-F92A-4D50-D3DC-B5A5DFDF6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5782" y="3237775"/>
              <a:ext cx="3074039" cy="308234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CCA09F-B1FB-CB23-39D3-57BA05EDCB7B}"/>
                </a:ext>
              </a:extLst>
            </p:cNvPr>
            <p:cNvGrpSpPr/>
            <p:nvPr/>
          </p:nvGrpSpPr>
          <p:grpSpPr>
            <a:xfrm>
              <a:off x="279135" y="3755008"/>
              <a:ext cx="2649000" cy="1659473"/>
              <a:chOff x="4984527" y="-381270"/>
              <a:chExt cx="2649000" cy="165947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64D5A0-3908-8278-6D00-627300839EE9}"/>
                  </a:ext>
                </a:extLst>
              </p:cNvPr>
              <p:cNvSpPr txBox="1"/>
              <p:nvPr/>
            </p:nvSpPr>
            <p:spPr>
              <a:xfrm>
                <a:off x="4984527" y="-381270"/>
                <a:ext cx="163874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Honeycomb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B0F1D3F-8DD6-CB74-C6AE-3E1D6120FE04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>
                <a:off x="5803901" y="-11938"/>
                <a:ext cx="1829626" cy="129014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FAD9F0F-81F7-FABA-A801-E2FEBAABC19C}"/>
                </a:ext>
              </a:extLst>
            </p:cNvPr>
            <p:cNvSpPr txBox="1"/>
            <p:nvPr/>
          </p:nvSpPr>
          <p:spPr>
            <a:xfrm>
              <a:off x="3534309" y="6320122"/>
              <a:ext cx="1705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14AF5F-4D76-7EF3-87BC-2DB8919C1C65}"/>
              </a:ext>
            </a:extLst>
          </p:cNvPr>
          <p:cNvGrpSpPr/>
          <p:nvPr/>
        </p:nvGrpSpPr>
        <p:grpSpPr>
          <a:xfrm>
            <a:off x="5994775" y="3237775"/>
            <a:ext cx="5142918" cy="3313179"/>
            <a:chOff x="5994775" y="3237775"/>
            <a:chExt cx="5142918" cy="331317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E9FB2F-25B8-2460-E094-5B040F26E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4775" y="3237775"/>
              <a:ext cx="3115580" cy="308234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14E2D5F-A7E7-59CF-BD42-10A7908DC3B5}"/>
                </a:ext>
              </a:extLst>
            </p:cNvPr>
            <p:cNvGrpSpPr/>
            <p:nvPr/>
          </p:nvGrpSpPr>
          <p:grpSpPr>
            <a:xfrm>
              <a:off x="8486454" y="3703983"/>
              <a:ext cx="2651239" cy="1308511"/>
              <a:chOff x="3972035" y="-381270"/>
              <a:chExt cx="2651239" cy="130851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3F0B8F-6777-956B-80E0-9CBE971BE4EA}"/>
                  </a:ext>
                </a:extLst>
              </p:cNvPr>
              <p:cNvSpPr txBox="1"/>
              <p:nvPr/>
            </p:nvSpPr>
            <p:spPr>
              <a:xfrm>
                <a:off x="4984527" y="-381270"/>
                <a:ext cx="163874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Foam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3D974FA-BB42-8A3D-6533-D600D5FF8E7E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972035" y="-11938"/>
                <a:ext cx="1831866" cy="93917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931EBD-96D5-078D-4457-D46677745F11}"/>
                </a:ext>
              </a:extLst>
            </p:cNvPr>
            <p:cNvSpPr txBox="1"/>
            <p:nvPr/>
          </p:nvSpPr>
          <p:spPr>
            <a:xfrm>
              <a:off x="7404843" y="6320122"/>
              <a:ext cx="17055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1C3FA6EB-1C3A-FF11-20B2-A542D5CE13BF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35450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8A8D9-A4A1-AD9E-EC4D-D141EF50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2B4044-0E28-3131-E4E4-EC70326E5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171575"/>
            <a:ext cx="11342669" cy="314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The “</a:t>
            </a:r>
            <a:r>
              <a:rPr lang="en-US" sz="2400" b="1" dirty="0">
                <a:solidFill>
                  <a:srgbClr val="0070C0"/>
                </a:solidFill>
              </a:rPr>
              <a:t>Layup Process”</a:t>
            </a:r>
            <a:r>
              <a:rPr lang="en-US" sz="2400" dirty="0">
                <a:solidFill>
                  <a:srgbClr val="0070C0"/>
                </a:solidFill>
              </a:rPr>
              <a:t> is simply stacking layers of carbon fiber onto a mold to build a part’s shape.</a:t>
            </a:r>
          </a:p>
          <a:p>
            <a:pPr marL="0" indent="0">
              <a:buNone/>
            </a:pPr>
            <a:endParaRPr lang="en-US" sz="700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Preparation</a:t>
            </a:r>
            <a:r>
              <a:rPr lang="en-US" sz="2000" dirty="0"/>
              <a:t>:  Mold cleaned then coated with release agent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Material Application</a:t>
            </a:r>
            <a:r>
              <a:rPr lang="en-US" sz="2000" dirty="0"/>
              <a:t>: Layers of composite material added to mold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Orientation/Debulking</a:t>
            </a:r>
            <a:r>
              <a:rPr lang="en-US" sz="2000" dirty="0"/>
              <a:t>: Layer orientation varies for strength.  </a:t>
            </a:r>
            <a:br>
              <a:rPr lang="en-US" sz="2000" dirty="0"/>
            </a:br>
            <a:r>
              <a:rPr lang="en-US" sz="2000" dirty="0"/>
              <a:t>Debulking is compacting to remove air.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Core Materials</a:t>
            </a:r>
            <a:r>
              <a:rPr lang="en-US" sz="2000" dirty="0"/>
              <a:t>: Add honeycomb or foam core between layers if </a:t>
            </a:r>
            <a:r>
              <a:rPr lang="en-US" sz="2000" dirty="0" err="1"/>
              <a:t>req’d</a:t>
            </a:r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E06CD-46E6-98B5-C826-87844692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7514519" cy="877824"/>
          </a:xfrm>
        </p:spPr>
        <p:txBody>
          <a:bodyPr/>
          <a:lstStyle/>
          <a:p>
            <a:r>
              <a:rPr lang="en-US" dirty="0"/>
              <a:t>Layup Process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22A35B-4058-B221-5AC8-7E53EA98A433}"/>
              </a:ext>
            </a:extLst>
          </p:cNvPr>
          <p:cNvGrpSpPr/>
          <p:nvPr/>
        </p:nvGrpSpPr>
        <p:grpSpPr>
          <a:xfrm>
            <a:off x="838200" y="4409540"/>
            <a:ext cx="2172128" cy="2118481"/>
            <a:chOff x="838200" y="4409540"/>
            <a:chExt cx="2172128" cy="211848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9F28F77-2FE3-4B7C-FB75-B22420904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4409540"/>
              <a:ext cx="2172128" cy="188945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773B5AC-0A59-E717-6A9F-716E08EB628F}"/>
                </a:ext>
              </a:extLst>
            </p:cNvPr>
            <p:cNvSpPr txBox="1"/>
            <p:nvPr/>
          </p:nvSpPr>
          <p:spPr>
            <a:xfrm>
              <a:off x="1345914" y="6297189"/>
              <a:ext cx="16644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42A983-DCBD-2373-0A09-84F5D721EF02}"/>
              </a:ext>
            </a:extLst>
          </p:cNvPr>
          <p:cNvGrpSpPr/>
          <p:nvPr/>
        </p:nvGrpSpPr>
        <p:grpSpPr>
          <a:xfrm>
            <a:off x="3180486" y="4409540"/>
            <a:ext cx="2562769" cy="2118481"/>
            <a:chOff x="3180486" y="4409540"/>
            <a:chExt cx="2562769" cy="211848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3972995-74D9-CB16-8EBD-97370A1AE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0486" y="4409540"/>
              <a:ext cx="2562769" cy="189227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CF3B14-9BD2-EABF-4E33-94D26B1FCC87}"/>
                </a:ext>
              </a:extLst>
            </p:cNvPr>
            <p:cNvSpPr txBox="1"/>
            <p:nvPr/>
          </p:nvSpPr>
          <p:spPr>
            <a:xfrm>
              <a:off x="4144841" y="6297189"/>
              <a:ext cx="15984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A7CDA1-0F21-44D8-F6FE-A6499A5A11A4}"/>
              </a:ext>
            </a:extLst>
          </p:cNvPr>
          <p:cNvGrpSpPr/>
          <p:nvPr/>
        </p:nvGrpSpPr>
        <p:grpSpPr>
          <a:xfrm>
            <a:off x="5913413" y="4409540"/>
            <a:ext cx="2581263" cy="2118481"/>
            <a:chOff x="5913413" y="4409540"/>
            <a:chExt cx="2581263" cy="211848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4957A39-5F48-DAF0-78EE-602BD1F5D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13413" y="4409540"/>
              <a:ext cx="2581263" cy="188945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8348B0-481F-4FAF-B306-5ED39D7C7F5B}"/>
                </a:ext>
              </a:extLst>
            </p:cNvPr>
            <p:cNvSpPr txBox="1"/>
            <p:nvPr/>
          </p:nvSpPr>
          <p:spPr>
            <a:xfrm>
              <a:off x="6877768" y="6297189"/>
              <a:ext cx="161690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905E36-8A55-CFF3-5533-2AA1C3E0481C}"/>
              </a:ext>
            </a:extLst>
          </p:cNvPr>
          <p:cNvGrpSpPr/>
          <p:nvPr/>
        </p:nvGrpSpPr>
        <p:grpSpPr>
          <a:xfrm>
            <a:off x="8664833" y="4409540"/>
            <a:ext cx="3206121" cy="2118481"/>
            <a:chOff x="8664833" y="4409540"/>
            <a:chExt cx="3206121" cy="211848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12A3806-3079-3AAB-61DF-6CA303A5D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64833" y="4409540"/>
              <a:ext cx="3206121" cy="188945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483A3B-74F7-8422-61B3-DC65A0DBEFD7}"/>
                </a:ext>
              </a:extLst>
            </p:cNvPr>
            <p:cNvSpPr txBox="1"/>
            <p:nvPr/>
          </p:nvSpPr>
          <p:spPr>
            <a:xfrm>
              <a:off x="10161142" y="6297189"/>
              <a:ext cx="17098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12" name="TextBox 7">
            <a:extLst>
              <a:ext uri="{FF2B5EF4-FFF2-40B4-BE49-F238E27FC236}">
                <a16:creationId xmlns:a16="http://schemas.microsoft.com/office/drawing/2014/main" id="{AE2F9949-808F-ACBA-DAF9-AF9986266FCF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GoogleAI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89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2A1EE-2988-9912-0D5F-8C514E9C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11A4EA-001C-699A-747E-1F6926465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133475"/>
            <a:ext cx="11342669" cy="33188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The “</a:t>
            </a:r>
            <a:r>
              <a:rPr lang="en-US" sz="2400" b="1" dirty="0">
                <a:solidFill>
                  <a:srgbClr val="0070C0"/>
                </a:solidFill>
              </a:rPr>
              <a:t>Bagging Process”</a:t>
            </a:r>
            <a:r>
              <a:rPr lang="en-US" sz="2400" dirty="0">
                <a:solidFill>
                  <a:srgbClr val="0070C0"/>
                </a:solidFill>
              </a:rPr>
              <a:t> is a technique to seal the layered, uncured composite part inside a plastic airtight bag, then removes air for uniform pressure during curing.</a:t>
            </a:r>
          </a:p>
          <a:p>
            <a:pPr marL="0" indent="0">
              <a:buNone/>
            </a:pPr>
            <a:endParaRPr lang="en-US" sz="900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Peel Ply &amp; Release Film</a:t>
            </a:r>
            <a:r>
              <a:rPr lang="en-US" sz="2000" dirty="0"/>
              <a:t>:  Placed over uncured part to prevent bag from sticking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Breather Material</a:t>
            </a:r>
            <a:r>
              <a:rPr lang="en-US" sz="2000" dirty="0"/>
              <a:t>: Porous breather cloth added facilitate uniform vacuum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Vacuum Bag &amp; Seal</a:t>
            </a:r>
            <a:r>
              <a:rPr lang="en-US" sz="2000" dirty="0"/>
              <a:t>: Flexible, airtight, nylon bag cover entire assembly; </a:t>
            </a:r>
            <a:br>
              <a:rPr lang="en-US" sz="2000" dirty="0"/>
            </a:br>
            <a:r>
              <a:rPr lang="en-US" sz="2000" dirty="0"/>
              <a:t>sealed to mold with sealant tape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Vacuum Application &amp; Cure</a:t>
            </a:r>
            <a:r>
              <a:rPr lang="en-US" sz="2000" dirty="0"/>
              <a:t>: Pump out air, atmospheric pressure consolidates layers + resin.  Cured in autoclave or oven under controlled heat.</a:t>
            </a:r>
          </a:p>
          <a:p>
            <a:pPr lvl="1"/>
            <a:endParaRPr lang="en-US" dirty="0"/>
          </a:p>
          <a:p>
            <a:pPr lvl="1"/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8F09-4322-6106-1BF6-898CC748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Bagging Process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98DC35-DEF2-7D28-C80A-FB5F3C9A53A2}"/>
              </a:ext>
            </a:extLst>
          </p:cNvPr>
          <p:cNvGrpSpPr/>
          <p:nvPr/>
        </p:nvGrpSpPr>
        <p:grpSpPr>
          <a:xfrm>
            <a:off x="838200" y="4694035"/>
            <a:ext cx="2218345" cy="1991212"/>
            <a:chOff x="838200" y="4694035"/>
            <a:chExt cx="2218345" cy="19912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8A4271B-5B3C-3910-DA10-3ECE7A769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4694035"/>
              <a:ext cx="1986944" cy="189071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1CA43B-4088-971E-E494-3D51F3BE3FF8}"/>
                </a:ext>
              </a:extLst>
            </p:cNvPr>
            <p:cNvSpPr txBox="1"/>
            <p:nvPr/>
          </p:nvSpPr>
          <p:spPr>
            <a:xfrm rot="16200000">
              <a:off x="2131084" y="5759787"/>
              <a:ext cx="16200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C201B0-7DF0-D7BE-8D59-070DEFDBC006}"/>
              </a:ext>
            </a:extLst>
          </p:cNvPr>
          <p:cNvGrpSpPr/>
          <p:nvPr/>
        </p:nvGrpSpPr>
        <p:grpSpPr>
          <a:xfrm>
            <a:off x="3339243" y="4705763"/>
            <a:ext cx="1960744" cy="1996945"/>
            <a:chOff x="3548335" y="4688006"/>
            <a:chExt cx="1960744" cy="199694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E3FAEC-74A2-A93A-3C7C-F2BF09D64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8335" y="4688006"/>
              <a:ext cx="1737016" cy="190217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9A41FF8-8B57-65E6-F07D-C1E9266EFE52}"/>
                </a:ext>
              </a:extLst>
            </p:cNvPr>
            <p:cNvSpPr txBox="1"/>
            <p:nvPr/>
          </p:nvSpPr>
          <p:spPr>
            <a:xfrm rot="16200000">
              <a:off x="4583617" y="5759490"/>
              <a:ext cx="16200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18A20A-752F-456D-3547-13330E9465B8}"/>
              </a:ext>
            </a:extLst>
          </p:cNvPr>
          <p:cNvGrpSpPr/>
          <p:nvPr/>
        </p:nvGrpSpPr>
        <p:grpSpPr>
          <a:xfrm>
            <a:off x="5575010" y="4680783"/>
            <a:ext cx="2070341" cy="1996936"/>
            <a:chOff x="5575010" y="4680783"/>
            <a:chExt cx="2070341" cy="199693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FBA15CE-AE1E-4A1A-17FE-2EA74A60A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75010" y="4680783"/>
              <a:ext cx="1839509" cy="190215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0004FB-2C33-1299-C67F-EBE253E2FC34}"/>
                </a:ext>
              </a:extLst>
            </p:cNvPr>
            <p:cNvSpPr txBox="1"/>
            <p:nvPr/>
          </p:nvSpPr>
          <p:spPr>
            <a:xfrm rot="16200000">
              <a:off x="6719889" y="5752257"/>
              <a:ext cx="16200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921490-9C38-2137-8BE6-F2D641840249}"/>
              </a:ext>
            </a:extLst>
          </p:cNvPr>
          <p:cNvGrpSpPr/>
          <p:nvPr/>
        </p:nvGrpSpPr>
        <p:grpSpPr>
          <a:xfrm>
            <a:off x="7866710" y="4680781"/>
            <a:ext cx="3005292" cy="1996935"/>
            <a:chOff x="7866710" y="4680781"/>
            <a:chExt cx="3005292" cy="199693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4E99893-31AA-C533-89F9-9594D953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66710" y="4680781"/>
              <a:ext cx="2779196" cy="190215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1D3FEF-0FB1-57DB-815C-2472F3E85B67}"/>
                </a:ext>
              </a:extLst>
            </p:cNvPr>
            <p:cNvSpPr txBox="1"/>
            <p:nvPr/>
          </p:nvSpPr>
          <p:spPr>
            <a:xfrm rot="16200000">
              <a:off x="9950306" y="5756021"/>
              <a:ext cx="16125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4" name="TextBox 7">
            <a:extLst>
              <a:ext uri="{FF2B5EF4-FFF2-40B4-BE49-F238E27FC236}">
                <a16:creationId xmlns:a16="http://schemas.microsoft.com/office/drawing/2014/main" id="{E5863069-8FFF-A3AF-7C7B-D83BF111A8C2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GoogleAI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8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F92FC-0965-3A63-6AC1-139343F0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482440E-CF55-8995-0D66-661888EFA667}"/>
              </a:ext>
            </a:extLst>
          </p:cNvPr>
          <p:cNvSpPr txBox="1">
            <a:spLocks/>
          </p:cNvSpPr>
          <p:nvPr/>
        </p:nvSpPr>
        <p:spPr>
          <a:xfrm>
            <a:off x="565079" y="1427655"/>
            <a:ext cx="5664485" cy="4780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Warp Fibers </a:t>
            </a:r>
            <a:r>
              <a:rPr lang="en-US" dirty="0"/>
              <a:t>– “Yellow Arrow”</a:t>
            </a:r>
          </a:p>
          <a:p>
            <a:pPr lvl="1"/>
            <a:r>
              <a:rPr lang="en-US" dirty="0"/>
              <a:t>Runs Length of Roll</a:t>
            </a:r>
          </a:p>
          <a:p>
            <a:pPr lvl="1"/>
            <a:r>
              <a:rPr lang="en-US" dirty="0"/>
              <a:t>= “Warp Direction”</a:t>
            </a:r>
          </a:p>
          <a:p>
            <a:pPr lvl="1"/>
            <a:r>
              <a:rPr lang="en-US" dirty="0"/>
              <a:t>Strongest in this direction</a:t>
            </a:r>
          </a:p>
          <a:p>
            <a:pPr lvl="1"/>
            <a:endParaRPr lang="en-US" dirty="0"/>
          </a:p>
          <a:p>
            <a:r>
              <a:rPr lang="en-US" b="1" dirty="0"/>
              <a:t>Warp Face </a:t>
            </a:r>
            <a:r>
              <a:rPr lang="en-US" dirty="0"/>
              <a:t>– “Green Arrow”</a:t>
            </a:r>
          </a:p>
          <a:p>
            <a:pPr lvl="1"/>
            <a:r>
              <a:rPr lang="en-US" dirty="0"/>
              <a:t>“Up” = Top Face as is Unrolled</a:t>
            </a:r>
          </a:p>
          <a:p>
            <a:pPr lvl="1"/>
            <a:endParaRPr lang="en-US" dirty="0"/>
          </a:p>
          <a:p>
            <a:r>
              <a:rPr lang="en-US" b="1" dirty="0"/>
              <a:t>Fill Threads </a:t>
            </a:r>
            <a:r>
              <a:rPr lang="en-US" dirty="0"/>
              <a:t>– “White Arrow”</a:t>
            </a:r>
          </a:p>
          <a:p>
            <a:pPr lvl="1"/>
            <a:r>
              <a:rPr lang="en-US" dirty="0"/>
              <a:t>Perpendicular to Warp fibers</a:t>
            </a:r>
          </a:p>
          <a:p>
            <a:pPr lvl="1"/>
            <a:r>
              <a:rPr lang="en-US" dirty="0"/>
              <a:t>Parallel/Lateral to Roll</a:t>
            </a:r>
          </a:p>
          <a:p>
            <a:pPr lvl="1"/>
            <a:endParaRPr lang="en-US" dirty="0"/>
          </a:p>
          <a:p>
            <a:pPr lvl="1"/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18E8C8-424D-257A-A597-EB000ECE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9302222" cy="877824"/>
          </a:xfrm>
        </p:spPr>
        <p:txBody>
          <a:bodyPr/>
          <a:lstStyle/>
          <a:p>
            <a:r>
              <a:rPr lang="en-US" dirty="0"/>
              <a:t>Fiber “Warp Threads” and “Fill Threads”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9CFA94-BC6F-E234-79AD-63E1EF273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394" y="1729459"/>
            <a:ext cx="4363092" cy="472100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0741FE-7B05-DD89-5F0B-23C510FE572F}"/>
              </a:ext>
            </a:extLst>
          </p:cNvPr>
          <p:cNvCxnSpPr>
            <a:cxnSpLocks/>
          </p:cNvCxnSpPr>
          <p:nvPr/>
        </p:nvCxnSpPr>
        <p:spPr>
          <a:xfrm flipH="1">
            <a:off x="7510409" y="3920446"/>
            <a:ext cx="2068531" cy="1387836"/>
          </a:xfrm>
          <a:prstGeom prst="straightConnector1">
            <a:avLst/>
          </a:prstGeom>
          <a:ln w="53975">
            <a:solidFill>
              <a:srgbClr val="FFFF00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A883E2-775F-740E-2C02-184310E02FB7}"/>
              </a:ext>
            </a:extLst>
          </p:cNvPr>
          <p:cNvCxnSpPr>
            <a:cxnSpLocks/>
          </p:cNvCxnSpPr>
          <p:nvPr/>
        </p:nvCxnSpPr>
        <p:spPr>
          <a:xfrm>
            <a:off x="7397394" y="3920446"/>
            <a:ext cx="3195262" cy="1522773"/>
          </a:xfrm>
          <a:prstGeom prst="straightConnector1">
            <a:avLst/>
          </a:prstGeom>
          <a:ln w="53975">
            <a:solidFill>
              <a:schemeClr val="bg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107851-D86F-8F74-51F1-FD6F1351F952}"/>
              </a:ext>
            </a:extLst>
          </p:cNvPr>
          <p:cNvCxnSpPr>
            <a:cxnSpLocks/>
          </p:cNvCxnSpPr>
          <p:nvPr/>
        </p:nvCxnSpPr>
        <p:spPr>
          <a:xfrm>
            <a:off x="8659403" y="3096070"/>
            <a:ext cx="0" cy="1443828"/>
          </a:xfrm>
          <a:prstGeom prst="straightConnector1">
            <a:avLst/>
          </a:prstGeom>
          <a:ln w="53975">
            <a:solidFill>
              <a:srgbClr val="00B050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ED788B-BD44-7B90-4473-381339E349F5}"/>
              </a:ext>
            </a:extLst>
          </p:cNvPr>
          <p:cNvSpPr txBox="1"/>
          <p:nvPr/>
        </p:nvSpPr>
        <p:spPr>
          <a:xfrm>
            <a:off x="10109771" y="6450461"/>
            <a:ext cx="16507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E426191-48D2-31C5-89B5-80BEEF0D9C59}"/>
              </a:ext>
            </a:extLst>
          </p:cNvPr>
          <p:cNvSpPr txBox="1"/>
          <p:nvPr/>
        </p:nvSpPr>
        <p:spPr>
          <a:xfrm>
            <a:off x="10169704" y="11426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GoogleAI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34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510C3-F9CB-1303-F658-A1F810D3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5ECACAD3-AC6D-329B-08C3-EBD72A2B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87" y="2232086"/>
            <a:ext cx="3435892" cy="333483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317DA26-8BF8-FA77-230F-A03A62E3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“Ply Direction” Impacts Strength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A59453-5F8A-22A4-355C-17527998AEF6}"/>
              </a:ext>
            </a:extLst>
          </p:cNvPr>
          <p:cNvSpPr txBox="1"/>
          <p:nvPr/>
        </p:nvSpPr>
        <p:spPr>
          <a:xfrm>
            <a:off x="998186" y="1862754"/>
            <a:ext cx="343588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Warp Fiber Direction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6871730-B1B2-0354-5C62-FD7F75DBBF63}"/>
              </a:ext>
            </a:extLst>
          </p:cNvPr>
          <p:cNvGrpSpPr/>
          <p:nvPr/>
        </p:nvGrpSpPr>
        <p:grpSpPr>
          <a:xfrm>
            <a:off x="4939335" y="1862754"/>
            <a:ext cx="2333726" cy="1665134"/>
            <a:chOff x="3762275" y="1760013"/>
            <a:chExt cx="2333726" cy="166513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5AFFE4-8133-747C-52E1-2F488764F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222949" y="2526159"/>
              <a:ext cx="1391981" cy="8989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4C380C-B85A-B628-2037-61B29453A69D}"/>
                </a:ext>
              </a:extLst>
            </p:cNvPr>
            <p:cNvSpPr txBox="1"/>
            <p:nvPr/>
          </p:nvSpPr>
          <p:spPr>
            <a:xfrm>
              <a:off x="3762275" y="1760013"/>
              <a:ext cx="2333726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Balanced Plies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7E4765E-BD60-20CE-DF2B-76699CF3CD66}"/>
                </a:ext>
              </a:extLst>
            </p:cNvPr>
            <p:cNvSpPr txBox="1"/>
            <p:nvPr/>
          </p:nvSpPr>
          <p:spPr>
            <a:xfrm>
              <a:off x="3762275" y="2091355"/>
              <a:ext cx="2333726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0° / 90°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5D30777-7BB4-7E64-720B-C6B274AC73F5}"/>
              </a:ext>
            </a:extLst>
          </p:cNvPr>
          <p:cNvGrpSpPr/>
          <p:nvPr/>
        </p:nvGrpSpPr>
        <p:grpSpPr>
          <a:xfrm>
            <a:off x="4939335" y="3879522"/>
            <a:ext cx="2333726" cy="1668987"/>
            <a:chOff x="3762275" y="1760013"/>
            <a:chExt cx="2333726" cy="166898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78D2296-BED9-FDE0-8C63-7A5454D5A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222948" y="2530012"/>
              <a:ext cx="1391981" cy="898988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F66BCD-D5AC-AA61-E60B-68C6DE1E88F7}"/>
                </a:ext>
              </a:extLst>
            </p:cNvPr>
            <p:cNvSpPr txBox="1"/>
            <p:nvPr/>
          </p:nvSpPr>
          <p:spPr>
            <a:xfrm>
              <a:off x="3762275" y="1760013"/>
              <a:ext cx="2333726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Unbalanced Plies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883290-6EA1-4F28-6208-AB7E3C76FCA5}"/>
                </a:ext>
              </a:extLst>
            </p:cNvPr>
            <p:cNvSpPr txBox="1"/>
            <p:nvPr/>
          </p:nvSpPr>
          <p:spPr>
            <a:xfrm>
              <a:off x="3762275" y="2091355"/>
              <a:ext cx="2333726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0° / +45° / +45° / 0°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9694DC-D80C-DBA5-7302-E99D464F5FD2}"/>
              </a:ext>
            </a:extLst>
          </p:cNvPr>
          <p:cNvGrpSpPr/>
          <p:nvPr/>
        </p:nvGrpSpPr>
        <p:grpSpPr>
          <a:xfrm>
            <a:off x="7721920" y="1862754"/>
            <a:ext cx="2408398" cy="1668987"/>
            <a:chOff x="3762275" y="1760013"/>
            <a:chExt cx="2408398" cy="166898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2326037-3026-6E5B-CA1E-725DB58CD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270482" y="2530012"/>
              <a:ext cx="1391981" cy="898988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70B18F-B5B1-CE5C-245F-318892310A9A}"/>
                </a:ext>
              </a:extLst>
            </p:cNvPr>
            <p:cNvSpPr txBox="1"/>
            <p:nvPr/>
          </p:nvSpPr>
          <p:spPr>
            <a:xfrm>
              <a:off x="3762275" y="1760013"/>
              <a:ext cx="240839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Symmetrical Plies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C14263-CA93-E17F-D885-E198A75E9735}"/>
                </a:ext>
              </a:extLst>
            </p:cNvPr>
            <p:cNvSpPr txBox="1"/>
            <p:nvPr/>
          </p:nvSpPr>
          <p:spPr>
            <a:xfrm>
              <a:off x="3762275" y="2091355"/>
              <a:ext cx="2408398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0° / +45° / +45° / 0°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799BC3-ABBE-0513-7319-16690B15A2D5}"/>
              </a:ext>
            </a:extLst>
          </p:cNvPr>
          <p:cNvGrpSpPr/>
          <p:nvPr/>
        </p:nvGrpSpPr>
        <p:grpSpPr>
          <a:xfrm>
            <a:off x="7721919" y="3879522"/>
            <a:ext cx="2408399" cy="1668987"/>
            <a:chOff x="3762274" y="1760013"/>
            <a:chExt cx="2408399" cy="1668987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0DAE4DD-DEEA-FBD3-7360-69E73DCFF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4270482" y="2530012"/>
              <a:ext cx="1391981" cy="898988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5611872-CC41-822D-8976-48FCA3323147}"/>
                </a:ext>
              </a:extLst>
            </p:cNvPr>
            <p:cNvSpPr txBox="1"/>
            <p:nvPr/>
          </p:nvSpPr>
          <p:spPr>
            <a:xfrm>
              <a:off x="3762274" y="1760013"/>
              <a:ext cx="240839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Quasi-Isotropic Plies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6C29C8-66D0-1B13-E252-1513E1B7B8FB}"/>
                </a:ext>
              </a:extLst>
            </p:cNvPr>
            <p:cNvSpPr txBox="1"/>
            <p:nvPr/>
          </p:nvSpPr>
          <p:spPr>
            <a:xfrm>
              <a:off x="3762275" y="2091355"/>
              <a:ext cx="2408398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0° / +45° / -45° / 90°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D983A92-9B28-43E3-8B32-FEED7000314F}"/>
              </a:ext>
            </a:extLst>
          </p:cNvPr>
          <p:cNvGrpSpPr/>
          <p:nvPr/>
        </p:nvGrpSpPr>
        <p:grpSpPr>
          <a:xfrm>
            <a:off x="1495746" y="2661771"/>
            <a:ext cx="531463" cy="954491"/>
            <a:chOff x="838200" y="2559030"/>
            <a:chExt cx="531463" cy="954491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B317E70-0B8C-C3A5-7DCB-1B5EF4AD7E89}"/>
                </a:ext>
              </a:extLst>
            </p:cNvPr>
            <p:cNvCxnSpPr>
              <a:cxnSpLocks/>
            </p:cNvCxnSpPr>
            <p:nvPr/>
          </p:nvCxnSpPr>
          <p:spPr>
            <a:xfrm>
              <a:off x="1103931" y="2559030"/>
              <a:ext cx="0" cy="559915"/>
            </a:xfrm>
            <a:prstGeom prst="straightConnector1">
              <a:avLst/>
            </a:prstGeom>
            <a:ln w="53975">
              <a:solidFill>
                <a:srgbClr val="FFFF0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979129-D76F-51F2-F0F6-A46716B9AC32}"/>
                </a:ext>
              </a:extLst>
            </p:cNvPr>
            <p:cNvSpPr txBox="1"/>
            <p:nvPr/>
          </p:nvSpPr>
          <p:spPr>
            <a:xfrm>
              <a:off x="838200" y="3144189"/>
              <a:ext cx="531463" cy="369332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0°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6E56A54-17B9-D170-8663-E6FC07F282F7}"/>
              </a:ext>
            </a:extLst>
          </p:cNvPr>
          <p:cNvGrpSpPr/>
          <p:nvPr/>
        </p:nvGrpSpPr>
        <p:grpSpPr>
          <a:xfrm>
            <a:off x="2931798" y="2852354"/>
            <a:ext cx="882336" cy="763908"/>
            <a:chOff x="2274252" y="2749613"/>
            <a:chExt cx="882336" cy="76390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15FB6A3-4D1E-09E7-20A7-A41D8BA74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7020" y="2749613"/>
              <a:ext cx="359568" cy="369332"/>
            </a:xfrm>
            <a:prstGeom prst="straightConnector1">
              <a:avLst/>
            </a:prstGeom>
            <a:ln w="53975">
              <a:solidFill>
                <a:srgbClr val="FFFF0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113C50B-DA0E-D089-CB55-D7985E080028}"/>
                </a:ext>
              </a:extLst>
            </p:cNvPr>
            <p:cNvSpPr txBox="1"/>
            <p:nvPr/>
          </p:nvSpPr>
          <p:spPr>
            <a:xfrm>
              <a:off x="2274252" y="3144189"/>
              <a:ext cx="531463" cy="369332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45°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2A24A7F-1826-A60D-60FD-177790FADF6F}"/>
              </a:ext>
            </a:extLst>
          </p:cNvPr>
          <p:cNvGrpSpPr/>
          <p:nvPr/>
        </p:nvGrpSpPr>
        <p:grpSpPr>
          <a:xfrm>
            <a:off x="1449060" y="4519772"/>
            <a:ext cx="848855" cy="763908"/>
            <a:chOff x="791514" y="4417031"/>
            <a:chExt cx="848855" cy="76390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38BA7FA-1649-E993-7F72-8F97ADC344F0}"/>
                </a:ext>
              </a:extLst>
            </p:cNvPr>
            <p:cNvCxnSpPr>
              <a:cxnSpLocks/>
            </p:cNvCxnSpPr>
            <p:nvPr/>
          </p:nvCxnSpPr>
          <p:spPr>
            <a:xfrm>
              <a:off x="791514" y="4417031"/>
              <a:ext cx="390417" cy="369333"/>
            </a:xfrm>
            <a:prstGeom prst="straightConnector1">
              <a:avLst/>
            </a:prstGeom>
            <a:ln w="53975">
              <a:solidFill>
                <a:srgbClr val="FFFF0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D229AE-497D-7AC5-34E4-7FE7A826860A}"/>
                </a:ext>
              </a:extLst>
            </p:cNvPr>
            <p:cNvSpPr txBox="1"/>
            <p:nvPr/>
          </p:nvSpPr>
          <p:spPr>
            <a:xfrm>
              <a:off x="1008263" y="4811607"/>
              <a:ext cx="632106" cy="369332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-45°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31FE67F-2B9B-558D-44CA-1B7D9734AC31}"/>
              </a:ext>
            </a:extLst>
          </p:cNvPr>
          <p:cNvGrpSpPr/>
          <p:nvPr/>
        </p:nvGrpSpPr>
        <p:grpSpPr>
          <a:xfrm>
            <a:off x="3080330" y="4649521"/>
            <a:ext cx="1085864" cy="369332"/>
            <a:chOff x="2422784" y="4546780"/>
            <a:chExt cx="1085864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CBD8DD5-9F5A-A694-E10F-F087AB07CCF7}"/>
                </a:ext>
              </a:extLst>
            </p:cNvPr>
            <p:cNvCxnSpPr>
              <a:cxnSpLocks/>
            </p:cNvCxnSpPr>
            <p:nvPr/>
          </p:nvCxnSpPr>
          <p:spPr>
            <a:xfrm>
              <a:off x="2422784" y="4726310"/>
              <a:ext cx="554020" cy="0"/>
            </a:xfrm>
            <a:prstGeom prst="straightConnector1">
              <a:avLst/>
            </a:prstGeom>
            <a:ln w="53975">
              <a:solidFill>
                <a:srgbClr val="FFFF0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EF2E616-0B80-EC0B-5A9D-2EA0214E474D}"/>
                </a:ext>
              </a:extLst>
            </p:cNvPr>
            <p:cNvSpPr txBox="1"/>
            <p:nvPr/>
          </p:nvSpPr>
          <p:spPr>
            <a:xfrm>
              <a:off x="2977185" y="4546780"/>
              <a:ext cx="531463" cy="369332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90°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790965-EDB9-4FD0-311E-B9877EB2C84C}"/>
              </a:ext>
            </a:extLst>
          </p:cNvPr>
          <p:cNvSpPr txBox="1"/>
          <p:nvPr/>
        </p:nvSpPr>
        <p:spPr>
          <a:xfrm>
            <a:off x="2784297" y="5566923"/>
            <a:ext cx="1649774" cy="22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2F76E-8149-7208-426E-516F46DD7C35}"/>
              </a:ext>
            </a:extLst>
          </p:cNvPr>
          <p:cNvSpPr txBox="1"/>
          <p:nvPr/>
        </p:nvSpPr>
        <p:spPr>
          <a:xfrm>
            <a:off x="8397224" y="5564948"/>
            <a:ext cx="1649775" cy="22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7575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88FFE-FF49-AABD-FC10-EC314B72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0AF925C-0E67-3D7E-0C7C-A3A2013A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“Ply Orientation” Impacts Strength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AF3C3E-4727-8815-04B9-02B57CFE0A94}"/>
              </a:ext>
            </a:extLst>
          </p:cNvPr>
          <p:cNvGrpSpPr/>
          <p:nvPr/>
        </p:nvGrpSpPr>
        <p:grpSpPr>
          <a:xfrm>
            <a:off x="1487090" y="1690689"/>
            <a:ext cx="3552862" cy="4666623"/>
            <a:chOff x="5847992" y="1826251"/>
            <a:chExt cx="2784011" cy="45348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AD04BE-866C-15E1-5EDD-C16683A2B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5574" y="3960913"/>
              <a:ext cx="2389164" cy="240022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9B6BAD-32EA-339F-ABEA-7F8D1915FC03}"/>
                </a:ext>
              </a:extLst>
            </p:cNvPr>
            <p:cNvSpPr txBox="1"/>
            <p:nvPr/>
          </p:nvSpPr>
          <p:spPr>
            <a:xfrm>
              <a:off x="5847992" y="1826251"/>
              <a:ext cx="278401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Stacking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F2B5650-5963-F965-DCC1-6669DD694D47}"/>
                </a:ext>
              </a:extLst>
            </p:cNvPr>
            <p:cNvGrpSpPr/>
            <p:nvPr/>
          </p:nvGrpSpPr>
          <p:grpSpPr>
            <a:xfrm>
              <a:off x="5868253" y="2561046"/>
              <a:ext cx="2763749" cy="794203"/>
              <a:chOff x="5868253" y="2561046"/>
              <a:chExt cx="2763749" cy="794203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F3E51BE-CFD2-7899-051E-08F69B0531F8}"/>
                  </a:ext>
                </a:extLst>
              </p:cNvPr>
              <p:cNvGrpSpPr/>
              <p:nvPr/>
            </p:nvGrpSpPr>
            <p:grpSpPr>
              <a:xfrm>
                <a:off x="5868253" y="2561046"/>
                <a:ext cx="2763749" cy="639050"/>
                <a:chOff x="7469312" y="1859622"/>
                <a:chExt cx="2763749" cy="639050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9DAB03C0-9CD1-5D60-1ACB-58E4AA60F717}"/>
                    </a:ext>
                  </a:extLst>
                </p:cNvPr>
                <p:cNvSpPr/>
                <p:nvPr/>
              </p:nvSpPr>
              <p:spPr>
                <a:xfrm>
                  <a:off x="7469312" y="1859622"/>
                  <a:ext cx="2763749" cy="585627"/>
                </a:xfrm>
                <a:custGeom>
                  <a:avLst/>
                  <a:gdLst>
                    <a:gd name="csX0" fmla="*/ 0 w 2763749"/>
                    <a:gd name="csY0" fmla="*/ 585627 h 585627"/>
                    <a:gd name="csX1" fmla="*/ 1263722 w 2763749"/>
                    <a:gd name="csY1" fmla="*/ 585627 h 585627"/>
                    <a:gd name="csX2" fmla="*/ 1921268 w 2763749"/>
                    <a:gd name="csY2" fmla="*/ 482886 h 585627"/>
                    <a:gd name="csX3" fmla="*/ 2547991 w 2763749"/>
                    <a:gd name="csY3" fmla="*/ 195209 h 585627"/>
                    <a:gd name="csX4" fmla="*/ 2763749 w 2763749"/>
                    <a:gd name="csY4" fmla="*/ 0 h 585627"/>
                    <a:gd name="csX5" fmla="*/ 2763749 w 2763749"/>
                    <a:gd name="csY5" fmla="*/ 0 h 585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763749" h="585627">
                      <a:moveTo>
                        <a:pt x="0" y="585627"/>
                      </a:moveTo>
                      <a:lnTo>
                        <a:pt x="1263722" y="585627"/>
                      </a:lnTo>
                      <a:lnTo>
                        <a:pt x="1921268" y="482886"/>
                      </a:lnTo>
                      <a:lnTo>
                        <a:pt x="2547991" y="195209"/>
                      </a:lnTo>
                      <a:lnTo>
                        <a:pt x="2763749" y="0"/>
                      </a:lnTo>
                      <a:lnTo>
                        <a:pt x="2763749" y="0"/>
                      </a:lnTo>
                    </a:path>
                  </a:pathLst>
                </a:custGeom>
                <a:noFill/>
                <a:ln w="4762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9569C50-E413-3F14-AC49-D55B67D2721A}"/>
                    </a:ext>
                  </a:extLst>
                </p:cNvPr>
                <p:cNvSpPr/>
                <p:nvPr/>
              </p:nvSpPr>
              <p:spPr>
                <a:xfrm>
                  <a:off x="7469312" y="1913045"/>
                  <a:ext cx="2763749" cy="585627"/>
                </a:xfrm>
                <a:custGeom>
                  <a:avLst/>
                  <a:gdLst>
                    <a:gd name="csX0" fmla="*/ 0 w 2763749"/>
                    <a:gd name="csY0" fmla="*/ 585627 h 585627"/>
                    <a:gd name="csX1" fmla="*/ 1263722 w 2763749"/>
                    <a:gd name="csY1" fmla="*/ 585627 h 585627"/>
                    <a:gd name="csX2" fmla="*/ 1921268 w 2763749"/>
                    <a:gd name="csY2" fmla="*/ 482886 h 585627"/>
                    <a:gd name="csX3" fmla="*/ 2547991 w 2763749"/>
                    <a:gd name="csY3" fmla="*/ 195209 h 585627"/>
                    <a:gd name="csX4" fmla="*/ 2763749 w 2763749"/>
                    <a:gd name="csY4" fmla="*/ 0 h 585627"/>
                    <a:gd name="csX5" fmla="*/ 2763749 w 2763749"/>
                    <a:gd name="csY5" fmla="*/ 0 h 585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763749" h="585627">
                      <a:moveTo>
                        <a:pt x="0" y="585627"/>
                      </a:moveTo>
                      <a:lnTo>
                        <a:pt x="1263722" y="585627"/>
                      </a:lnTo>
                      <a:lnTo>
                        <a:pt x="1921268" y="482886"/>
                      </a:lnTo>
                      <a:lnTo>
                        <a:pt x="2547991" y="195209"/>
                      </a:lnTo>
                      <a:lnTo>
                        <a:pt x="2763749" y="0"/>
                      </a:lnTo>
                      <a:lnTo>
                        <a:pt x="2763749" y="0"/>
                      </a:lnTo>
                    </a:path>
                  </a:pathLst>
                </a:custGeom>
                <a:noFill/>
                <a:ln w="66675">
                  <a:solidFill>
                    <a:srgbClr val="002060"/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7DB378B-6689-F5C0-1AD7-A6D591B53427}"/>
                  </a:ext>
                </a:extLst>
              </p:cNvPr>
              <p:cNvSpPr/>
              <p:nvPr/>
            </p:nvSpPr>
            <p:spPr>
              <a:xfrm>
                <a:off x="5868253" y="3251393"/>
                <a:ext cx="2763650" cy="9803"/>
              </a:xfrm>
              <a:custGeom>
                <a:avLst/>
                <a:gdLst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1921268 w 2763749"/>
                  <a:gd name="csY2" fmla="*/ 482886 h 585627"/>
                  <a:gd name="csX3" fmla="*/ 2547991 w 2763749"/>
                  <a:gd name="csY3" fmla="*/ 195209 h 585627"/>
                  <a:gd name="csX4" fmla="*/ 2763749 w 2763749"/>
                  <a:gd name="csY4" fmla="*/ 0 h 585627"/>
                  <a:gd name="csX5" fmla="*/ 2763749 w 2763749"/>
                  <a:gd name="csY5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547991 w 2763749"/>
                  <a:gd name="csY2" fmla="*/ 195209 h 585627"/>
                  <a:gd name="csX3" fmla="*/ 2763749 w 2763749"/>
                  <a:gd name="csY3" fmla="*/ 0 h 585627"/>
                  <a:gd name="csX4" fmla="*/ 2763749 w 2763749"/>
                  <a:gd name="csY4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763749 w 2763749"/>
                  <a:gd name="csY2" fmla="*/ 0 h 585627"/>
                  <a:gd name="csX3" fmla="*/ 2763749 w 2763749"/>
                  <a:gd name="csY3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763749 w 2763749"/>
                  <a:gd name="csY2" fmla="*/ 0 h 585627"/>
                  <a:gd name="csX3" fmla="*/ 2763749 w 2763749"/>
                  <a:gd name="csY3" fmla="*/ 0 h 585627"/>
                  <a:gd name="csX0" fmla="*/ 0 w 3135224"/>
                  <a:gd name="csY0" fmla="*/ 585627 h 585627"/>
                  <a:gd name="csX1" fmla="*/ 1263722 w 3135224"/>
                  <a:gd name="csY1" fmla="*/ 585627 h 585627"/>
                  <a:gd name="csX2" fmla="*/ 2763749 w 3135224"/>
                  <a:gd name="csY2" fmla="*/ 0 h 585627"/>
                  <a:gd name="csX3" fmla="*/ 3135224 w 3135224"/>
                  <a:gd name="csY3" fmla="*/ 228600 h 585627"/>
                  <a:gd name="csX0" fmla="*/ 0 w 3135224"/>
                  <a:gd name="csY0" fmla="*/ 357027 h 357027"/>
                  <a:gd name="csX1" fmla="*/ 1263722 w 3135224"/>
                  <a:gd name="csY1" fmla="*/ 357027 h 357027"/>
                  <a:gd name="csX2" fmla="*/ 2763749 w 3135224"/>
                  <a:gd name="csY2" fmla="*/ 133350 h 357027"/>
                  <a:gd name="csX3" fmla="*/ 3135224 w 3135224"/>
                  <a:gd name="csY3" fmla="*/ 0 h 357027"/>
                  <a:gd name="csX0" fmla="*/ 0 w 3135224"/>
                  <a:gd name="csY0" fmla="*/ 357027 h 357027"/>
                  <a:gd name="csX1" fmla="*/ 1263722 w 3135224"/>
                  <a:gd name="csY1" fmla="*/ 357027 h 357027"/>
                  <a:gd name="csX2" fmla="*/ 2763749 w 3135224"/>
                  <a:gd name="csY2" fmla="*/ 133350 h 357027"/>
                  <a:gd name="csX3" fmla="*/ 3135224 w 3135224"/>
                  <a:gd name="csY3" fmla="*/ 0 h 357027"/>
                  <a:gd name="csX0" fmla="*/ 0 w 3135224"/>
                  <a:gd name="csY0" fmla="*/ 357027 h 357027"/>
                  <a:gd name="csX1" fmla="*/ 1263722 w 3135224"/>
                  <a:gd name="csY1" fmla="*/ 357027 h 357027"/>
                  <a:gd name="csX2" fmla="*/ 2763749 w 3135224"/>
                  <a:gd name="csY2" fmla="*/ 133350 h 357027"/>
                  <a:gd name="csX3" fmla="*/ 3135224 w 3135224"/>
                  <a:gd name="csY3" fmla="*/ 0 h 357027"/>
                  <a:gd name="csX0" fmla="*/ 0 w 3135224"/>
                  <a:gd name="csY0" fmla="*/ 357027 h 371892"/>
                  <a:gd name="csX1" fmla="*/ 1263722 w 3135224"/>
                  <a:gd name="csY1" fmla="*/ 357027 h 371892"/>
                  <a:gd name="csX2" fmla="*/ 2406561 w 3135224"/>
                  <a:gd name="csY2" fmla="*/ 323850 h 371892"/>
                  <a:gd name="csX3" fmla="*/ 3135224 w 3135224"/>
                  <a:gd name="csY3" fmla="*/ 0 h 371892"/>
                  <a:gd name="csX0" fmla="*/ 0 w 3135224"/>
                  <a:gd name="csY0" fmla="*/ 357027 h 360682"/>
                  <a:gd name="csX1" fmla="*/ 1263722 w 3135224"/>
                  <a:gd name="csY1" fmla="*/ 357027 h 360682"/>
                  <a:gd name="csX2" fmla="*/ 2406561 w 3135224"/>
                  <a:gd name="csY2" fmla="*/ 323850 h 360682"/>
                  <a:gd name="csX3" fmla="*/ 3135224 w 3135224"/>
                  <a:gd name="csY3" fmla="*/ 0 h 360682"/>
                  <a:gd name="csX0" fmla="*/ 0 w 3135224"/>
                  <a:gd name="csY0" fmla="*/ 357027 h 389662"/>
                  <a:gd name="csX1" fmla="*/ 1263722 w 3135224"/>
                  <a:gd name="csY1" fmla="*/ 357027 h 389662"/>
                  <a:gd name="csX2" fmla="*/ 2406561 w 3135224"/>
                  <a:gd name="csY2" fmla="*/ 323850 h 389662"/>
                  <a:gd name="csX3" fmla="*/ 3135224 w 3135224"/>
                  <a:gd name="csY3" fmla="*/ 0 h 389662"/>
                  <a:gd name="csX0" fmla="*/ 0 w 3135224"/>
                  <a:gd name="csY0" fmla="*/ 357027 h 357027"/>
                  <a:gd name="csX1" fmla="*/ 1263722 w 3135224"/>
                  <a:gd name="csY1" fmla="*/ 357027 h 357027"/>
                  <a:gd name="csX2" fmla="*/ 2406561 w 3135224"/>
                  <a:gd name="csY2" fmla="*/ 323850 h 357027"/>
                  <a:gd name="csX3" fmla="*/ 3135224 w 3135224"/>
                  <a:gd name="csY3" fmla="*/ 0 h 357027"/>
                  <a:gd name="csX0" fmla="*/ 0 w 3135224"/>
                  <a:gd name="csY0" fmla="*/ 357027 h 357027"/>
                  <a:gd name="csX1" fmla="*/ 1263722 w 3135224"/>
                  <a:gd name="csY1" fmla="*/ 357027 h 357027"/>
                  <a:gd name="csX2" fmla="*/ 2425611 w 3135224"/>
                  <a:gd name="csY2" fmla="*/ 352425 h 357027"/>
                  <a:gd name="csX3" fmla="*/ 3135224 w 3135224"/>
                  <a:gd name="csY3" fmla="*/ 0 h 357027"/>
                  <a:gd name="csX0" fmla="*/ 0 w 2573249"/>
                  <a:gd name="csY0" fmla="*/ 23652 h 23652"/>
                  <a:gd name="csX1" fmla="*/ 1263722 w 2573249"/>
                  <a:gd name="csY1" fmla="*/ 23652 h 23652"/>
                  <a:gd name="csX2" fmla="*/ 2425611 w 2573249"/>
                  <a:gd name="csY2" fmla="*/ 19050 h 23652"/>
                  <a:gd name="csX3" fmla="*/ 2573249 w 2573249"/>
                  <a:gd name="csY3" fmla="*/ 0 h 23652"/>
                  <a:gd name="csX0" fmla="*/ 0 w 2573249"/>
                  <a:gd name="csY0" fmla="*/ 23652 h 23652"/>
                  <a:gd name="csX1" fmla="*/ 1263722 w 2573249"/>
                  <a:gd name="csY1" fmla="*/ 23652 h 23652"/>
                  <a:gd name="csX2" fmla="*/ 2425611 w 2573249"/>
                  <a:gd name="csY2" fmla="*/ 19050 h 23652"/>
                  <a:gd name="csX3" fmla="*/ 2573249 w 2573249"/>
                  <a:gd name="csY3" fmla="*/ 0 h 23652"/>
                  <a:gd name="csX0" fmla="*/ 0 w 2592299"/>
                  <a:gd name="csY0" fmla="*/ 9364 h 9364"/>
                  <a:gd name="csX1" fmla="*/ 1263722 w 2592299"/>
                  <a:gd name="csY1" fmla="*/ 9364 h 9364"/>
                  <a:gd name="csX2" fmla="*/ 2425611 w 2592299"/>
                  <a:gd name="csY2" fmla="*/ 4762 h 9364"/>
                  <a:gd name="csX3" fmla="*/ 2592299 w 2592299"/>
                  <a:gd name="csY3" fmla="*/ 0 h 9364"/>
                  <a:gd name="csX0" fmla="*/ 0 w 10000"/>
                  <a:gd name="csY0" fmla="*/ 5035 h 10469"/>
                  <a:gd name="csX1" fmla="*/ 4875 w 10000"/>
                  <a:gd name="csY1" fmla="*/ 5035 h 10469"/>
                  <a:gd name="csX2" fmla="*/ 9357 w 10000"/>
                  <a:gd name="csY2" fmla="*/ 120 h 10469"/>
                  <a:gd name="csX3" fmla="*/ 10000 w 10000"/>
                  <a:gd name="csY3" fmla="*/ 10292 h 10469"/>
                  <a:gd name="csX0" fmla="*/ 0 w 10661"/>
                  <a:gd name="csY0" fmla="*/ 5035 h 10469"/>
                  <a:gd name="csX1" fmla="*/ 4875 w 10661"/>
                  <a:gd name="csY1" fmla="*/ 5035 h 10469"/>
                  <a:gd name="csX2" fmla="*/ 9357 w 10661"/>
                  <a:gd name="csY2" fmla="*/ 120 h 10469"/>
                  <a:gd name="csX3" fmla="*/ 10661 w 10661"/>
                  <a:gd name="csY3" fmla="*/ 10292 h 104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661" h="10469">
                    <a:moveTo>
                      <a:pt x="0" y="5035"/>
                    </a:moveTo>
                    <a:lnTo>
                      <a:pt x="4875" y="5035"/>
                    </a:lnTo>
                    <a:cubicBezTo>
                      <a:pt x="6369" y="3397"/>
                      <a:pt x="8393" y="-756"/>
                      <a:pt x="9357" y="120"/>
                    </a:cubicBezTo>
                    <a:cubicBezTo>
                      <a:pt x="10321" y="996"/>
                      <a:pt x="10447" y="11987"/>
                      <a:pt x="10661" y="10292"/>
                    </a:cubicBezTo>
                  </a:path>
                </a:pathLst>
              </a:custGeom>
              <a:noFill/>
              <a:ln w="476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FD1926E-F3B4-2F5A-087D-65A7775E181F}"/>
                  </a:ext>
                </a:extLst>
              </p:cNvPr>
              <p:cNvSpPr/>
              <p:nvPr/>
            </p:nvSpPr>
            <p:spPr>
              <a:xfrm>
                <a:off x="5868254" y="3309530"/>
                <a:ext cx="2763748" cy="45719"/>
              </a:xfrm>
              <a:custGeom>
                <a:avLst/>
                <a:gdLst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1921268 w 2763749"/>
                  <a:gd name="csY2" fmla="*/ 482886 h 585627"/>
                  <a:gd name="csX3" fmla="*/ 2547991 w 2763749"/>
                  <a:gd name="csY3" fmla="*/ 195209 h 585627"/>
                  <a:gd name="csX4" fmla="*/ 2763749 w 2763749"/>
                  <a:gd name="csY4" fmla="*/ 0 h 585627"/>
                  <a:gd name="csX5" fmla="*/ 2763749 w 2763749"/>
                  <a:gd name="csY5" fmla="*/ 0 h 585627"/>
                  <a:gd name="csX0" fmla="*/ 0 w 2763749"/>
                  <a:gd name="csY0" fmla="*/ 585627 h 587661"/>
                  <a:gd name="csX1" fmla="*/ 1263722 w 2763749"/>
                  <a:gd name="csY1" fmla="*/ 585627 h 587661"/>
                  <a:gd name="csX2" fmla="*/ 1935556 w 2763749"/>
                  <a:gd name="csY2" fmla="*/ 587661 h 587661"/>
                  <a:gd name="csX3" fmla="*/ 2547991 w 2763749"/>
                  <a:gd name="csY3" fmla="*/ 195209 h 587661"/>
                  <a:gd name="csX4" fmla="*/ 2763749 w 2763749"/>
                  <a:gd name="csY4" fmla="*/ 0 h 587661"/>
                  <a:gd name="csX5" fmla="*/ 2763749 w 2763749"/>
                  <a:gd name="csY5" fmla="*/ 0 h 587661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547991 w 2763749"/>
                  <a:gd name="csY2" fmla="*/ 195209 h 585627"/>
                  <a:gd name="csX3" fmla="*/ 2763749 w 2763749"/>
                  <a:gd name="csY3" fmla="*/ 0 h 585627"/>
                  <a:gd name="csX4" fmla="*/ 2763749 w 2763749"/>
                  <a:gd name="csY4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763749 w 2763749"/>
                  <a:gd name="csY2" fmla="*/ 0 h 585627"/>
                  <a:gd name="csX3" fmla="*/ 2763749 w 2763749"/>
                  <a:gd name="csY3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763749 w 2763749"/>
                  <a:gd name="csY2" fmla="*/ 0 h 585627"/>
                  <a:gd name="csX3" fmla="*/ 2763749 w 2763749"/>
                  <a:gd name="csY3" fmla="*/ 0 h 585627"/>
                  <a:gd name="csX0" fmla="*/ 0 w 2763749"/>
                  <a:gd name="csY0" fmla="*/ 585627 h 585627"/>
                  <a:gd name="csX1" fmla="*/ 1263722 w 2763749"/>
                  <a:gd name="csY1" fmla="*/ 585627 h 585627"/>
                  <a:gd name="csX2" fmla="*/ 2763749 w 2763749"/>
                  <a:gd name="csY2" fmla="*/ 0 h 585627"/>
                  <a:gd name="csX0" fmla="*/ 0 w 2844712"/>
                  <a:gd name="csY0" fmla="*/ 56990 h 56990"/>
                  <a:gd name="csX1" fmla="*/ 1263722 w 2844712"/>
                  <a:gd name="csY1" fmla="*/ 56990 h 56990"/>
                  <a:gd name="csX2" fmla="*/ 2844712 w 2844712"/>
                  <a:gd name="csY2" fmla="*/ 0 h 56990"/>
                  <a:gd name="csX0" fmla="*/ 0 w 2844712"/>
                  <a:gd name="csY0" fmla="*/ 64180 h 64180"/>
                  <a:gd name="csX1" fmla="*/ 1263722 w 2844712"/>
                  <a:gd name="csY1" fmla="*/ 64180 h 64180"/>
                  <a:gd name="csX2" fmla="*/ 2844712 w 2844712"/>
                  <a:gd name="csY2" fmla="*/ 7190 h 64180"/>
                  <a:gd name="csX0" fmla="*/ 0 w 2844712"/>
                  <a:gd name="csY0" fmla="*/ 64180 h 64180"/>
                  <a:gd name="csX1" fmla="*/ 1263722 w 2844712"/>
                  <a:gd name="csY1" fmla="*/ 64180 h 64180"/>
                  <a:gd name="csX2" fmla="*/ 2844712 w 2844712"/>
                  <a:gd name="csY2" fmla="*/ 7190 h 64180"/>
                  <a:gd name="csX0" fmla="*/ 0 w 1263722"/>
                  <a:gd name="csY0" fmla="*/ 0 h 0"/>
                  <a:gd name="csX1" fmla="*/ 1263722 w 1263722"/>
                  <a:gd name="csY1" fmla="*/ 0 h 0"/>
                  <a:gd name="csX0" fmla="*/ 0 w 14899"/>
                  <a:gd name="csY0" fmla="*/ 0 h 0"/>
                  <a:gd name="csX1" fmla="*/ 14899 w 14899"/>
                  <a:gd name="csY1" fmla="*/ 0 h 0"/>
                  <a:gd name="csX0" fmla="*/ 0 w 14148"/>
                  <a:gd name="csY0" fmla="*/ 0 h 0"/>
                  <a:gd name="csX1" fmla="*/ 14148 w 14148"/>
                  <a:gd name="csY1" fmla="*/ 0 h 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148">
                    <a:moveTo>
                      <a:pt x="0" y="0"/>
                    </a:moveTo>
                    <a:lnTo>
                      <a:pt x="14148" y="0"/>
                    </a:lnTo>
                  </a:path>
                </a:pathLst>
              </a:custGeom>
              <a:noFill/>
              <a:ln w="66675">
                <a:solidFill>
                  <a:schemeClr val="accent5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DE15A3-FBE8-8AEB-26CC-DFA5B753B523}"/>
              </a:ext>
            </a:extLst>
          </p:cNvPr>
          <p:cNvSpPr txBox="1"/>
          <p:nvPr/>
        </p:nvSpPr>
        <p:spPr>
          <a:xfrm>
            <a:off x="3051424" y="6377459"/>
            <a:ext cx="16729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84EDC-28EE-5A5E-97A8-2B8E4F869CB1}"/>
              </a:ext>
            </a:extLst>
          </p:cNvPr>
          <p:cNvSpPr txBox="1"/>
          <p:nvPr/>
        </p:nvSpPr>
        <p:spPr>
          <a:xfrm>
            <a:off x="1407559" y="3194715"/>
            <a:ext cx="12252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Matt Pierce, 2026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DA80FD-3B83-76CB-9BE3-C2F899AEFDED}"/>
              </a:ext>
            </a:extLst>
          </p:cNvPr>
          <p:cNvGrpSpPr/>
          <p:nvPr/>
        </p:nvGrpSpPr>
        <p:grpSpPr>
          <a:xfrm>
            <a:off x="6420509" y="1690688"/>
            <a:ext cx="3575592" cy="4897455"/>
            <a:chOff x="6420509" y="1690688"/>
            <a:chExt cx="3575592" cy="48974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C85E894-463E-D028-BED2-ACB6C06FAF9F}"/>
                </a:ext>
              </a:extLst>
            </p:cNvPr>
            <p:cNvSpPr txBox="1"/>
            <p:nvPr/>
          </p:nvSpPr>
          <p:spPr>
            <a:xfrm>
              <a:off x="8188502" y="6357311"/>
              <a:ext cx="15804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E8FF67-14E1-4EB7-727C-FD5216C135C9}"/>
                </a:ext>
              </a:extLst>
            </p:cNvPr>
            <p:cNvGrpSpPr/>
            <p:nvPr/>
          </p:nvGrpSpPr>
          <p:grpSpPr>
            <a:xfrm>
              <a:off x="6420509" y="1690688"/>
              <a:ext cx="3575592" cy="4666624"/>
              <a:chOff x="6420509" y="1690688"/>
              <a:chExt cx="3575592" cy="4666624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777A8A9-3D43-257C-6D67-48754A2BCEAA}"/>
                  </a:ext>
                </a:extLst>
              </p:cNvPr>
              <p:cNvGrpSpPr/>
              <p:nvPr/>
            </p:nvGrpSpPr>
            <p:grpSpPr>
              <a:xfrm>
                <a:off x="6420509" y="1690688"/>
                <a:ext cx="3575592" cy="4666624"/>
                <a:chOff x="947219" y="1826251"/>
                <a:chExt cx="2801924" cy="4666624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94234251-66D7-5F5D-7157-A5A853911B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7324" y="4017668"/>
                  <a:ext cx="2463801" cy="2475207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5F9F993-8C87-873A-A0FA-606FE3F7E259}"/>
                    </a:ext>
                  </a:extLst>
                </p:cNvPr>
                <p:cNvSpPr txBox="1"/>
                <p:nvPr/>
              </p:nvSpPr>
              <p:spPr>
                <a:xfrm>
                  <a:off x="947219" y="1826251"/>
                  <a:ext cx="2784012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Nesting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5D16483-68FC-48AC-189F-A4946391B20D}"/>
                    </a:ext>
                  </a:extLst>
                </p:cNvPr>
                <p:cNvGrpSpPr/>
                <p:nvPr/>
              </p:nvGrpSpPr>
              <p:grpSpPr>
                <a:xfrm>
                  <a:off x="967481" y="2482579"/>
                  <a:ext cx="2781662" cy="1228779"/>
                  <a:chOff x="7469312" y="1859622"/>
                  <a:chExt cx="2781662" cy="1228779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D1926E8-73B6-B728-7816-414E55208D03}"/>
                      </a:ext>
                    </a:extLst>
                  </p:cNvPr>
                  <p:cNvGrpSpPr/>
                  <p:nvPr/>
                </p:nvGrpSpPr>
                <p:grpSpPr>
                  <a:xfrm>
                    <a:off x="7469312" y="1859622"/>
                    <a:ext cx="2781662" cy="639050"/>
                    <a:chOff x="7469312" y="1859622"/>
                    <a:chExt cx="2781662" cy="639050"/>
                  </a:xfrm>
                </p:grpSpPr>
                <p:sp>
                  <p:nvSpPr>
                    <p:cNvPr id="10" name="Freeform: Shape 9">
                      <a:extLst>
                        <a:ext uri="{FF2B5EF4-FFF2-40B4-BE49-F238E27FC236}">
                          <a16:creationId xmlns:a16="http://schemas.microsoft.com/office/drawing/2014/main" id="{CB31534D-73F5-C7BC-508E-E8559A8EB6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9312" y="1859622"/>
                      <a:ext cx="2763749" cy="585627"/>
                    </a:xfrm>
                    <a:custGeom>
                      <a:avLst/>
                      <a:gdLst>
                        <a:gd name="csX0" fmla="*/ 0 w 2763749"/>
                        <a:gd name="csY0" fmla="*/ 585627 h 585627"/>
                        <a:gd name="csX1" fmla="*/ 1263722 w 2763749"/>
                        <a:gd name="csY1" fmla="*/ 585627 h 585627"/>
                        <a:gd name="csX2" fmla="*/ 1921268 w 2763749"/>
                        <a:gd name="csY2" fmla="*/ 482886 h 585627"/>
                        <a:gd name="csX3" fmla="*/ 2547991 w 2763749"/>
                        <a:gd name="csY3" fmla="*/ 195209 h 585627"/>
                        <a:gd name="csX4" fmla="*/ 2763749 w 2763749"/>
                        <a:gd name="csY4" fmla="*/ 0 h 585627"/>
                        <a:gd name="csX5" fmla="*/ 2763749 w 2763749"/>
                        <a:gd name="csY5" fmla="*/ 0 h 5856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763749" h="585627">
                          <a:moveTo>
                            <a:pt x="0" y="585627"/>
                          </a:moveTo>
                          <a:lnTo>
                            <a:pt x="1263722" y="585627"/>
                          </a:lnTo>
                          <a:lnTo>
                            <a:pt x="1921268" y="482886"/>
                          </a:lnTo>
                          <a:lnTo>
                            <a:pt x="2547991" y="195209"/>
                          </a:lnTo>
                          <a:lnTo>
                            <a:pt x="2763749" y="0"/>
                          </a:lnTo>
                          <a:lnTo>
                            <a:pt x="2763749" y="0"/>
                          </a:lnTo>
                        </a:path>
                      </a:pathLst>
                    </a:custGeom>
                    <a:noFill/>
                    <a:ln w="4762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" name="Freeform: Shape 10">
                      <a:extLst>
                        <a:ext uri="{FF2B5EF4-FFF2-40B4-BE49-F238E27FC236}">
                          <a16:creationId xmlns:a16="http://schemas.microsoft.com/office/drawing/2014/main" id="{11FAB018-3F61-EBAF-D963-1AE1FC58FE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87225" y="1913045"/>
                      <a:ext cx="2763749" cy="585627"/>
                    </a:xfrm>
                    <a:custGeom>
                      <a:avLst/>
                      <a:gdLst>
                        <a:gd name="csX0" fmla="*/ 0 w 2763749"/>
                        <a:gd name="csY0" fmla="*/ 585627 h 585627"/>
                        <a:gd name="csX1" fmla="*/ 1263722 w 2763749"/>
                        <a:gd name="csY1" fmla="*/ 585627 h 585627"/>
                        <a:gd name="csX2" fmla="*/ 1921268 w 2763749"/>
                        <a:gd name="csY2" fmla="*/ 482886 h 585627"/>
                        <a:gd name="csX3" fmla="*/ 2547991 w 2763749"/>
                        <a:gd name="csY3" fmla="*/ 195209 h 585627"/>
                        <a:gd name="csX4" fmla="*/ 2763749 w 2763749"/>
                        <a:gd name="csY4" fmla="*/ 0 h 585627"/>
                        <a:gd name="csX5" fmla="*/ 2763749 w 2763749"/>
                        <a:gd name="csY5" fmla="*/ 0 h 5856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763749" h="585627">
                          <a:moveTo>
                            <a:pt x="0" y="585627"/>
                          </a:moveTo>
                          <a:lnTo>
                            <a:pt x="1263722" y="585627"/>
                          </a:lnTo>
                          <a:lnTo>
                            <a:pt x="1921268" y="482886"/>
                          </a:lnTo>
                          <a:lnTo>
                            <a:pt x="2547991" y="195209"/>
                          </a:lnTo>
                          <a:lnTo>
                            <a:pt x="2763749" y="0"/>
                          </a:lnTo>
                          <a:lnTo>
                            <a:pt x="2763749" y="0"/>
                          </a:lnTo>
                        </a:path>
                      </a:pathLst>
                    </a:custGeom>
                    <a:noFill/>
                    <a:ln w="66675">
                      <a:solidFill>
                        <a:srgbClr val="002060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20C8C90C-7106-A515-746A-6041C5C7ECE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7541230" y="2502774"/>
                    <a:ext cx="2691832" cy="585627"/>
                    <a:chOff x="7469312" y="1859622"/>
                    <a:chExt cx="2763749" cy="639050"/>
                  </a:xfrm>
                </p:grpSpPr>
                <p:sp>
                  <p:nvSpPr>
                    <p:cNvPr id="16" name="Freeform: Shape 15">
                      <a:extLst>
                        <a:ext uri="{FF2B5EF4-FFF2-40B4-BE49-F238E27FC236}">
                          <a16:creationId xmlns:a16="http://schemas.microsoft.com/office/drawing/2014/main" id="{F0536637-2ABB-88CB-7DB4-9850701705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9312" y="1859622"/>
                      <a:ext cx="2763749" cy="585627"/>
                    </a:xfrm>
                    <a:custGeom>
                      <a:avLst/>
                      <a:gdLst>
                        <a:gd name="csX0" fmla="*/ 0 w 2763749"/>
                        <a:gd name="csY0" fmla="*/ 585627 h 585627"/>
                        <a:gd name="csX1" fmla="*/ 1263722 w 2763749"/>
                        <a:gd name="csY1" fmla="*/ 585627 h 585627"/>
                        <a:gd name="csX2" fmla="*/ 1921268 w 2763749"/>
                        <a:gd name="csY2" fmla="*/ 482886 h 585627"/>
                        <a:gd name="csX3" fmla="*/ 2547991 w 2763749"/>
                        <a:gd name="csY3" fmla="*/ 195209 h 585627"/>
                        <a:gd name="csX4" fmla="*/ 2763749 w 2763749"/>
                        <a:gd name="csY4" fmla="*/ 0 h 585627"/>
                        <a:gd name="csX5" fmla="*/ 2763749 w 2763749"/>
                        <a:gd name="csY5" fmla="*/ 0 h 5856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763749" h="585627">
                          <a:moveTo>
                            <a:pt x="0" y="585627"/>
                          </a:moveTo>
                          <a:lnTo>
                            <a:pt x="1263722" y="585627"/>
                          </a:lnTo>
                          <a:lnTo>
                            <a:pt x="1921268" y="482886"/>
                          </a:lnTo>
                          <a:lnTo>
                            <a:pt x="2547991" y="195209"/>
                          </a:lnTo>
                          <a:lnTo>
                            <a:pt x="2763749" y="0"/>
                          </a:lnTo>
                          <a:lnTo>
                            <a:pt x="2763749" y="0"/>
                          </a:lnTo>
                        </a:path>
                      </a:pathLst>
                    </a:custGeom>
                    <a:noFill/>
                    <a:ln w="476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Freeform: Shape 16">
                      <a:extLst>
                        <a:ext uri="{FF2B5EF4-FFF2-40B4-BE49-F238E27FC236}">
                          <a16:creationId xmlns:a16="http://schemas.microsoft.com/office/drawing/2014/main" id="{CDF1679A-E7F9-1DD2-5A49-19D51D4A32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9312" y="1913045"/>
                      <a:ext cx="2763749" cy="585627"/>
                    </a:xfrm>
                    <a:custGeom>
                      <a:avLst/>
                      <a:gdLst>
                        <a:gd name="csX0" fmla="*/ 0 w 2763749"/>
                        <a:gd name="csY0" fmla="*/ 585627 h 585627"/>
                        <a:gd name="csX1" fmla="*/ 1263722 w 2763749"/>
                        <a:gd name="csY1" fmla="*/ 585627 h 585627"/>
                        <a:gd name="csX2" fmla="*/ 1921268 w 2763749"/>
                        <a:gd name="csY2" fmla="*/ 482886 h 585627"/>
                        <a:gd name="csX3" fmla="*/ 2547991 w 2763749"/>
                        <a:gd name="csY3" fmla="*/ 195209 h 585627"/>
                        <a:gd name="csX4" fmla="*/ 2763749 w 2763749"/>
                        <a:gd name="csY4" fmla="*/ 0 h 585627"/>
                        <a:gd name="csX5" fmla="*/ 2763749 w 2763749"/>
                        <a:gd name="csY5" fmla="*/ 0 h 5856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</a:cxnLst>
                      <a:rect l="l" t="t" r="r" b="b"/>
                      <a:pathLst>
                        <a:path w="2763749" h="585627">
                          <a:moveTo>
                            <a:pt x="0" y="585627"/>
                          </a:moveTo>
                          <a:lnTo>
                            <a:pt x="1263722" y="585627"/>
                          </a:lnTo>
                          <a:lnTo>
                            <a:pt x="1921268" y="482886"/>
                          </a:lnTo>
                          <a:lnTo>
                            <a:pt x="2547991" y="195209"/>
                          </a:lnTo>
                          <a:lnTo>
                            <a:pt x="2763749" y="0"/>
                          </a:lnTo>
                          <a:lnTo>
                            <a:pt x="2763749" y="0"/>
                          </a:lnTo>
                        </a:path>
                      </a:pathLst>
                    </a:custGeom>
                    <a:noFill/>
                    <a:ln w="6667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8F9589-DF78-DC34-BB47-4130ADD6BEF1}"/>
                  </a:ext>
                </a:extLst>
              </p:cNvPr>
              <p:cNvSpPr txBox="1"/>
              <p:nvPr/>
            </p:nvSpPr>
            <p:spPr>
              <a:xfrm>
                <a:off x="6420509" y="3035023"/>
                <a:ext cx="115495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Matt Pierce, 2026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067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109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Composites beat metal because they have higher strength to weight?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Composites beat metal because they do not corrode?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Composites beat metal because they are more fatigue resistant (bend until failure)?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Composites beat metal because they can be molded int more complex aerodynamic shapes?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Composites beat metal because there are fewer parts to fasten together?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Composites beat metal because they are cheaper to make?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False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What is the oldest composite that has been in wide use?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Fiberglass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What is the strongest composite for impact (like stopping a bullet)?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Aramid fiber (Kevlar)</a:t>
            </a:r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E89E0-B849-29C2-FC29-423A0197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772D-2164-09E5-AF13-BCB8CBA4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(Q9-Q16)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E4FF-CD0B-F89F-292A-FB7DD20E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What is the strongest composite for aerospace manufacturing?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Carbon fiber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What composite is the most commonly used today?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Fiberglass (like your bathtub wall)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What composite is best for flame and heat resistance?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Aramid fiber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Q12: What fiber has low thermal expansion?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Carbon fiber (not stretch like Aluminum on hot days)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3FE899-687B-7DF3-2A0E-CDC408BFD4C7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Name of string patterns in the fiber plies (e.g.: plain, twill, satin, or unidirectional)?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Weave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Component of a composite that hardens the soft fiber plies into final shapes?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Resin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Q15: Name four types of resin?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1. Thermoset, 2. Phenolic, 3. Pre-Impregnated, and 4. Epoxy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Q16: Name two common core types sandwiched between two outer layers of composite faces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1. Honeycomb, or 2. Foam</a:t>
            </a:r>
          </a:p>
        </p:txBody>
      </p:sp>
    </p:spTree>
    <p:extLst>
      <p:ext uri="{BB962C8B-B14F-4D97-AF65-F5344CB8AC3E}">
        <p14:creationId xmlns:p14="http://schemas.microsoft.com/office/powerpoint/2010/main" val="304891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988B1-DFDD-3DD6-87C8-E168C7E6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DA9E-8D57-40F9-C003-5E44BAE3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(Q17-Q23)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97326-D6FE-5686-03BB-A16408FA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Q17: Part of the composite process where stacking layers of carbon fiber over a molded?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Layup Process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Q18:</a:t>
            </a:r>
            <a:r>
              <a:rPr lang="en-US" sz="2000" dirty="0"/>
              <a:t> </a:t>
            </a:r>
            <a:r>
              <a:rPr lang="en-US" sz="2000" b="1" dirty="0"/>
              <a:t>Part of the composite process to seal mold and material placed during Layup Process?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Bagging Process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Q19: Is there a bag used in the Bagging Process?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No!   It is a clear plastic sheet taped down to make an airtight seal over the mold and material that forms a "bag"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C271868-7ED9-0803-CACB-A38883959CA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Q20: Name of threads in a ply that run longitudinally (runs length of the roll) and are strongest?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Warp threads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Q21: Name of threads in a ply that run perpendicular to warp fibers, laterally across the roll?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Fill threads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Q22: Name of the face that curls up when you unroll composite sheet?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Warp face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Q23:Name of "schedule" indicating how to layer the warp directions of ply after ply when building a parts?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Warp clock</a:t>
            </a:r>
          </a:p>
        </p:txBody>
      </p:sp>
    </p:spTree>
    <p:extLst>
      <p:ext uri="{BB962C8B-B14F-4D97-AF65-F5344CB8AC3E}">
        <p14:creationId xmlns:p14="http://schemas.microsoft.com/office/powerpoint/2010/main" val="371311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783D0-39CD-1407-833C-0BA8E203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A5D3-C155-3292-4520-46349F4F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(Q24-Q30)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7298-4DFC-BE62-9274-99B9AC7C7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Q24: Name of ply orientations where warp faces are aligned?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Stacking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Q25:</a:t>
            </a:r>
            <a:r>
              <a:rPr lang="en-US" sz="2000" dirty="0"/>
              <a:t> </a:t>
            </a:r>
            <a:r>
              <a:rPr lang="en-US" sz="2000" b="1" dirty="0"/>
              <a:t>Name of ply </a:t>
            </a:r>
            <a:r>
              <a:rPr lang="en-US" sz="2000" b="1" dirty="0" err="1"/>
              <a:t>orietnations</a:t>
            </a:r>
            <a:r>
              <a:rPr lang="en-US" sz="2000" b="1" dirty="0"/>
              <a:t> where warp faces interlock together?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Nesting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Q26: Using honeycomb or foam cores serves what purpose?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Increase strength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Q27: What is the most widely used resin?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Epoxy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DC5F4D-E524-FA07-51DD-899F43706C34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Q28: Name of material used to allow air and </a:t>
            </a:r>
            <a:r>
              <a:rPr lang="en-US" sz="2000" b="1" dirty="0" err="1"/>
              <a:t>fuems</a:t>
            </a:r>
            <a:r>
              <a:rPr lang="en-US" sz="2000" b="1" dirty="0"/>
              <a:t> to outflow during vacuum and curing processes?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Breather material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Q29: Name of cloth fabric used to </a:t>
            </a:r>
            <a:r>
              <a:rPr lang="en-US" sz="2000" b="1" dirty="0" err="1"/>
              <a:t>absorbe</a:t>
            </a:r>
            <a:r>
              <a:rPr lang="en-US" sz="2000" b="1" dirty="0"/>
              <a:t> excess resin during vacuum and curing processes?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Bleeder blanket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Q30: What is the purpose of quasi-isotropic ply orientations?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Strength in multiple directions (flexing, twisting)</a:t>
            </a:r>
          </a:p>
        </p:txBody>
      </p:sp>
    </p:spTree>
    <p:extLst>
      <p:ext uri="{BB962C8B-B14F-4D97-AF65-F5344CB8AC3E}">
        <p14:creationId xmlns:p14="http://schemas.microsoft.com/office/powerpoint/2010/main" val="213835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3773</TotalTime>
  <Words>2193</Words>
  <Application>Microsoft Office PowerPoint</Application>
  <PresentationFormat>Widescreen</PresentationFormat>
  <Paragraphs>258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Composites</vt:lpstr>
      <vt:lpstr>Composites</vt:lpstr>
      <vt:lpstr>Composite Types</vt:lpstr>
      <vt:lpstr>Composite Type Strengths</vt:lpstr>
      <vt:lpstr>Carbon Fiber Weave Patterns</vt:lpstr>
      <vt:lpstr>Resins</vt:lpstr>
      <vt:lpstr>Core Types</vt:lpstr>
      <vt:lpstr>Layup Process</vt:lpstr>
      <vt:lpstr>Bagging Process</vt:lpstr>
      <vt:lpstr>Fiber “Warp Threads” and “Fill Threads”</vt:lpstr>
      <vt:lpstr>“Ply Direction” Impacts Strength</vt:lpstr>
      <vt:lpstr>“Ply Orientation” Impacts Strength</vt:lpstr>
      <vt:lpstr>Q&amp;A</vt:lpstr>
      <vt:lpstr>Practice Q&amp;A’s  (Q1-Q8)</vt:lpstr>
      <vt:lpstr>Practice Q&amp;A’s  (Q9-Q16)</vt:lpstr>
      <vt:lpstr>Practice Q&amp;A’s  (Q17-Q23)</vt:lpstr>
      <vt:lpstr>Practice Q&amp;A’s  (Q24-Q30)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135</cp:revision>
  <dcterms:created xsi:type="dcterms:W3CDTF">2026-02-02T22:48:01Z</dcterms:created>
  <dcterms:modified xsi:type="dcterms:W3CDTF">2026-02-27T02:48:48Z</dcterms:modified>
</cp:coreProperties>
</file>