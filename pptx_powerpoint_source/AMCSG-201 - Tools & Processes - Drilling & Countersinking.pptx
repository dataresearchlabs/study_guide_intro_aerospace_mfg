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15" r:id="rId2"/>
    <p:sldId id="268" r:id="rId3"/>
    <p:sldId id="257" r:id="rId4"/>
    <p:sldId id="273" r:id="rId5"/>
    <p:sldId id="274" r:id="rId6"/>
    <p:sldId id="275" r:id="rId7"/>
    <p:sldId id="276" r:id="rId8"/>
    <p:sldId id="281" r:id="rId9"/>
    <p:sldId id="277" r:id="rId10"/>
    <p:sldId id="278" r:id="rId11"/>
    <p:sldId id="279" r:id="rId12"/>
    <p:sldId id="302" r:id="rId13"/>
    <p:sldId id="303" r:id="rId14"/>
    <p:sldId id="316" r:id="rId15"/>
    <p:sldId id="317" r:id="rId16"/>
    <p:sldId id="30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1" autoAdjust="0"/>
    <p:restoredTop sz="89691" autoAdjust="0"/>
  </p:normalViewPr>
  <p:slideViewPr>
    <p:cSldViewPr snapToGrid="0">
      <p:cViewPr varScale="1">
        <p:scale>
          <a:sx n="62" d="100"/>
          <a:sy n="62" d="100"/>
        </p:scale>
        <p:origin x="83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98CB6-2C88-401C-AAD5-2FFED2D64E9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D55C3-6A65-407E-9BFF-B66438A65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8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27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Public Domain Image Sources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 drew the diagram in PPT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79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95559-11A6-1CC7-8D92-BED537CE8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CCA872-09CD-7A95-F537-089A7D385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285F0-6646-78D8-57B4-BC733D669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Image Credits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ChatGPT “create a picture of a drill motor used in aerospace manufacturing” + “make it look like a universal tool drill motor in red color with a handle”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A1484-B318-53F1-8137-B8E271DF6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8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73DA9-9E12-E0EB-3464-1E7C35C66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72680-3B05-E246-35C1-F89DC38A5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9635F-6D94-FA55-6535-DC49D4543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u="none" dirty="0"/>
              <a:t>Twist </a:t>
            </a:r>
            <a:r>
              <a:rPr lang="en-US" u="none" dirty="0"/>
              <a:t>Drill Bit = Make a hole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u="none" dirty="0"/>
              <a:t>Step</a:t>
            </a:r>
            <a:r>
              <a:rPr lang="en-US" u="none" dirty="0"/>
              <a:t> Drill Bit = Make holes at multiple diameters without switching bits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u="none" dirty="0"/>
              <a:t>Reamer</a:t>
            </a:r>
            <a:r>
              <a:rPr lang="en-US" u="none" dirty="0"/>
              <a:t> Bit = Make a hole larger with precision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u="sng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Image Credits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Twist Drill Bit – Home Depot for sale – (Ad) https://encrypted-tbn0.gstatic.com/shopping?q=tbn:ANd9GcQeeoYPcu5ci_x4HR2VdH7y6-sAVXKNv0LOCUGrIO9LadYaQLuCxAW8ZxF8_KiZZili1DXalQfKcaFhSHnGe4QnUZygBEqkz3k3qub5YYnc_PZSeOIK9Xb7Ew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Step Drill Bit – Harbor Freight for sale - (Ad) https://www.google.com/aclk?sa=L&amp;ai=DChsSEwigvfGRjLySAxUCAK0GHbEyIF4YACICCAEQCxoCcHY&amp;co=1&amp;ase=2&amp;gclid=CjwKCAiAs4HMBhBJEiwACrfNZfmzqSee-4-C3zrzit-f7FbVp14o5LOHpKcNJWzOQ_cXnjtj3BtAshoCmlcQAvD_BwE&amp;cid=CAASZeRoMeva1YcWMovAG3zCu1ZF-pUUXTMIbAz6ylgte3YUbEInkB6XPFENRREicgoWGOyb2CSjRDL0GUtQRDJuMlX0ghYFg7PfBKyvW5NW-Zm-rJnSdBWfSNibxp5D9M1d3pNzDTzg&amp;cce=2&amp;category=acrcp_v1_32&amp;sig=AOD64_2GqZQNW_kK2rRhwE5bHvL6ssmgbA&amp;ctype=46&amp;q=&amp;ved=2ahUKEwjXsOuRjLySAxUdMzQIHbffBJMQ9aACKAB6BAgFEEs&amp;adurl=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Reamer Drill Bit = Haas Tooling website (for sale) = https://www.haastooling.com/content/dam/haas-tooling/ecommerce/products/03/3239/image/03-3239.jpg/_jcr_content/renditions/original./03-3239.jpg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5961A-7201-AD1F-BA45-A1FB91CA4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53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35EB2-7990-3DC9-ADEC-0507574C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BE232-4A79-EEFB-E4AC-AB909D558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F7F88-211D-457A-1E3E-AD7526EBE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Public Domain Image Sources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Twist Drill Bit – Home Depot for sale - https://encrypted-tbn0.gstatic.com/shopping?q=tbn:ANd9GcQeeoYPcu5ci_x4HR2VdH7y6-sAVXKNv0LOCUGrIO9LadYaQLuCxAW8ZxF8_KiZZili1DXalQfKcaFhSHnGe4QnUZygBEqkz3k3qub5YYnc_PZSeOIK9Xb7Ew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75186-FEEA-B19E-07A3-68E29848D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68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1FFEA-9F0A-D2D1-274A-230EB0FA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EB6A1-FB1D-E6F8-3FF1-25808F3EB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F7391-EF0F-5D31-14F7-1BE6EA06B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Public Domain Image Sources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Drill Guide: ChatGPT “make an image of a red pneumatic “universal tool” drill motor with handle drilling perpendicular into aircraft skin using a perpendicular drill guide”</a:t>
            </a:r>
            <a:br>
              <a:rPr lang="en-US" dirty="0"/>
            </a:br>
            <a:r>
              <a:rPr lang="en-US" dirty="0"/>
              <a:t>+ “Use a clear round plastic drill guide, not the black L metal guide”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Drill Stop: Same ChatGPT above, but modified… “Change the drill guide into a drill stop. show the locking collar and spring. show a side view with drill penetrating the aluminum skin only so far“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B17B3-36C5-36B9-6D3C-4C795DC54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71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42110-16ED-1755-C634-9541A1F40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AC163F-C712-5EDA-3E3F-6BC8D84B1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3A9F2-BCBD-BEFB-DA72-BFA73179C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Public Domain Image Sources</a:t>
            </a:r>
            <a:r>
              <a:rPr lang="en-US" dirty="0"/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Countersink hole image: ChatGPT “Make a diagram of a countersink hole thru an aluminum bar indicating how a screw head would sit flush”</a:t>
            </a:r>
            <a:br>
              <a:rPr lang="en-US" dirty="0"/>
            </a:br>
            <a:r>
              <a:rPr lang="en-US" dirty="0"/>
              <a:t>+ “Redraw this as an ASTM-style engineering diagram. Format it exactly for a PowerPoint or training manual. One diagram. No drill stops. No drill guides.”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8A019-C75B-2F14-ACDC-27AFC8B3B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22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7E99-CE22-CDB1-E166-FE56D4C5B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CBEED-17BB-F1ED-5A37-A9CE5FF49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CFF56-8244-387B-EF5C-270D98BEB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Three images from ChatGPT: “show me a picture of three different countersink bits: (1) Fluted countersink bit, (2) Cross-Hole countersink bit, and (3) Back countersink bit (aka </a:t>
            </a:r>
            <a:r>
              <a:rPr lang="en-US" dirty="0" err="1"/>
              <a:t>Cogsdill</a:t>
            </a:r>
            <a:r>
              <a:rPr lang="en-US" dirty="0"/>
              <a:t>).”</a:t>
            </a:r>
            <a:br>
              <a:rPr lang="en-US" dirty="0"/>
            </a:br>
            <a:r>
              <a:rPr lang="en-US" dirty="0"/>
              <a:t>+ “Make all pictures show just one bit each, standing perpendicular”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2DD8E-D907-3224-326A-91F8C9584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04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D3F1C-DD89-C67E-F3A3-AD36803AF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FE84A-852C-7435-758F-F4E3A8427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3A572-2DD9-81D2-A8C3-B401D7838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Image from ChatGPT: “make a diagram showing a </a:t>
            </a:r>
            <a:r>
              <a:rPr lang="en-US" dirty="0" err="1"/>
              <a:t>microstop</a:t>
            </a:r>
            <a:r>
              <a:rPr lang="en-US" dirty="0"/>
              <a:t> tool (for countersinking). Be sure to show the shank, the body, the adjusting threads, the adjustment sleeve, the locking ring, and the cage. Do not label anything.”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A07F0-1A36-7709-67DD-C4FB25207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24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FE57-7CA1-1F08-40B4-7752B89C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3B1B3-B826-C16C-582D-0AF1300AB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EF43A-92BE-B2AD-DE41-70701A517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BB0F8-DF6E-284F-F4D7-5190108C3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67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7B332-78D1-D22E-4765-95A8B506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BD2CE-7F83-9D39-25CE-D4D2E258F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8D47C-AE42-FD1A-D1E4-6CCC6BC10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B613F-DD30-B17C-C1B0-0C6D8ADC8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03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D0FE6-B465-E4B9-F742-9646F3236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7038E3-3218-DB72-A9B6-8B7DBAD5B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823D1-45AE-C870-E541-617068D06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1A4C-26EA-D2A3-695D-710580CE9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08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96A15-4627-A2B7-B23E-2AC252B87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1D323-39FD-6977-01F7-412F0DE61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71F59-B048-3D2A-8AFA-5907E8E6E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92962-9A43-C2C2-7107-AD8564EA2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6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8604-8C4F-A976-286B-E17FB7C14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D2EB9-B6C1-80A3-7C6D-D35E38A03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B8A0F-A558-BEB7-6231-6925F33CD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1166D-3B41-FC46-B527-118F3460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153BE-7379-C725-CF26-CC6B4582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6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079D-5F59-ED52-BFF6-108D0B4B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464D4-320F-5BA1-287F-1810736AB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F46D3-7E3E-A3F7-278E-3551B22E9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261CB-A869-1544-C0A7-CC8604F4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4C245-FC94-FA83-E5F4-3A9F814E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3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ABCD-A3C6-53C0-24E3-954C9A82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5E699-7560-7EDA-7B99-F59CD0C3A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B2B8C-062D-E298-1EAA-A52D35FA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F3F7A-D347-901F-0C3A-87475B634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49654-0078-975F-CED4-0DEF4EBA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5F63-6558-5286-61E4-A5490977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9B79C-BB11-0D88-C0DC-1C491C75A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EF498-1470-A152-8DBA-089FF3635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EFBD9-D87E-39CB-A355-14D4BB93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A95F7-406E-D075-8B39-623D2BBE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CC82C-F922-EC87-9017-EF7F35AA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0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6EFA-DCF2-0F96-3716-78160812E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353F8-35CE-B547-928A-196E0C4D5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65914-9D20-1CD8-A86D-5F4A2F02E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884EB-0E59-5F47-4379-943FF84F9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CA68-CFD3-9870-4F97-476B9FC18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52665-A037-02EF-95D2-5C9DFE8C3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B38FF-5536-D966-C235-F1789960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F1FCDF-1DBF-2AA3-93C1-61400BA1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9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DE56-0CE0-D5B3-0EDA-8FADF7BA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CBFB5-D851-3D9D-F332-47B43608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273FA-2457-4385-2E37-2A272905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2ED07-57CD-AF06-DD3A-2454B3CD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4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6715A-586C-FF87-D16B-76C507D1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48C50A-ACA0-E39C-BF1E-1AB606A2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AEB16-9EB9-619F-5C07-329C7663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1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D819-C7CB-8577-D68F-9DDA148B1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950A4-3F7D-2D71-A9D4-740363302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536D9-2523-D955-F38D-FE976F44E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2DA0F-A8B3-4CF1-B679-C5B0D39B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69CA2-A42A-833D-BC7C-967D1EFF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0A10A-141E-2590-DD32-0F38164C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238C-F95A-85C6-EF95-6192D455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BEC10-9D21-E83F-7164-A85385A8D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3150E-BFB2-B49D-B13D-37BFAC1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22970-B70C-CFBD-3CC4-D601161A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D507F-6489-85D6-C731-7346630A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88480-DC24-2467-A79D-74622277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2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3787E-C838-836F-52EE-50D8BB587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1598B-9911-A386-F7AA-97913A488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5A08D-38E1-D7DC-F94F-51768EFD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829E-AB80-5C6B-0D61-A0DFC109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A7A8F-5B78-B4B6-09FE-0993C94C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8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D9024B-25BF-EA72-BD35-65EF808FF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796C1-A9AD-51B1-9E18-4C9680259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D1A7B-3E4E-45E3-2613-EBBE7B7A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20DA0-1A51-9958-DA38-0E0EC8FF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7903E-BE2A-59C5-B220-A6582E61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6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8F4C7-2F11-26ED-32BD-E758D190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9DBA8-3E2E-A76B-065E-87B759776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6856E-F249-64F9-2B63-8358883D7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75684-5E0C-B3A4-431A-05A010826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B5A29-6651-182C-206F-17AE0616C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54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3/30/Boeing_B-29_Superfortress_%2819926000422%29.jp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aastooling.com/content/dam/haas-tooling/ecommerce/products/03/3239/image/03-3239.jpg/_jcr_content/renditions/original./03-3239.jpg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aclk?sa=L&amp;ai=DChsSEwigvfGRjLySAxUCAK0GHbEyIF4YACICCAEQCxoCcHY&amp;co=1&amp;ase=2&amp;gclid=CjwKCAiAs4HMBhBJEiwACrfNZfmzqSee-4-C3zrzit-f7FbVp14o5LOHpKcNJWzOQ_cXnjtj3BtAshoCmlcQAvD_BwE&amp;cid=CAASZeRoMeva1YcWMovAG3zCu1ZF-pUUXTMIbAz6ylgte3YUbEInkB6XPFENRREicgoWGOyb2CSjRDL0GUtQRDJuMlX0ghYFg7PfBKyvW5NW-Zm-rJnSdBWfSNibxp5D9M1d3pNzDTzg&amp;cce=2&amp;category=acrcp_v1_32&amp;sig=AOD64_2GqZQNW_kK2rRhwE5bHvL6ssmgbA&amp;ctype=46&amp;q=&amp;ved=2ahUKEwjXsOuRjLySAxUdMzQIHbffBJMQ9aACKAB6BAgFEEs&amp;adurl=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encrypted-tbn0.gstatic.com/shopping?q=tbn:ANd9GcQeeoYPcu5ci_x4HR2VdH7y6-sAVXKNv0LOCUGrIO9LadYaQLuCxAW8ZxF8_KiZZili1DXalQfKcaFhSHnGe4QnUZygBEqkz3k3qub5YYnc_PZSeOIK9Xb7Ew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crypted-tbn0.gstatic.com/shopping?q=tbn:ANd9GcQeeoYPcu5ci_x4HR2VdH7y6-sAVXKNv0LOCUGrIO9LadYaQLuCxAW8ZxF8_KiZZili1DXalQfKcaFhSHnGe4QnUZygBEqkz3k3qub5YYnc_PZSeOIK9Xb7Ew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taResearchLabs/study_guide_intro_aerospace_mf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969CFF-BAE7-BF73-632D-A9101B28F0D2}"/>
              </a:ext>
            </a:extLst>
          </p:cNvPr>
          <p:cNvSpPr/>
          <p:nvPr/>
        </p:nvSpPr>
        <p:spPr>
          <a:xfrm>
            <a:off x="1273996" y="2242335"/>
            <a:ext cx="9647433" cy="237333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0237A-1769-2D18-56A2-B36906319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40599"/>
            <a:ext cx="12192000" cy="1145996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Drilling &amp; Countersinking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83414-9557-9971-74AE-0E0F206E6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4882" y="768846"/>
            <a:ext cx="3862232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Aerospace Manufacturing Core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Study Guide 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“AMCSG-201”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2A361BB-91A4-6234-4565-06CC792AA8FE}"/>
              </a:ext>
            </a:extLst>
          </p:cNvPr>
          <p:cNvSpPr txBox="1">
            <a:spLocks/>
          </p:cNvSpPr>
          <p:nvPr/>
        </p:nvSpPr>
        <p:spPr>
          <a:xfrm>
            <a:off x="-1" y="2592083"/>
            <a:ext cx="12191999" cy="748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Tools &amp; Processes</a:t>
            </a:r>
          </a:p>
        </p:txBody>
      </p:sp>
    </p:spTree>
    <p:extLst>
      <p:ext uri="{BB962C8B-B14F-4D97-AF65-F5344CB8AC3E}">
        <p14:creationId xmlns:p14="http://schemas.microsoft.com/office/powerpoint/2010/main" val="124129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642FE-6ECF-E3D8-7D9D-39E0DB0F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D3C8-4444-8DF5-BBB4-962EEF7F1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33049"/>
            <a:ext cx="10086975" cy="79190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Drilling</a:t>
            </a:r>
          </a:p>
        </p:txBody>
      </p:sp>
    </p:spTree>
    <p:extLst>
      <p:ext uri="{BB962C8B-B14F-4D97-AF65-F5344CB8AC3E}">
        <p14:creationId xmlns:p14="http://schemas.microsoft.com/office/powerpoint/2010/main" val="1254583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CDF33-068F-CE4C-8F42-3F734AD8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Drilling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88B93-DE49-678F-11A2-863E3DC96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62" y="1483104"/>
            <a:ext cx="10958538" cy="3479314"/>
          </a:xfrm>
        </p:spPr>
        <p:txBody>
          <a:bodyPr/>
          <a:lstStyle/>
          <a:p>
            <a:r>
              <a:rPr lang="en-US" dirty="0"/>
              <a:t>Drilling a quality hole is crucial</a:t>
            </a:r>
          </a:p>
          <a:p>
            <a:r>
              <a:rPr lang="en-US" dirty="0"/>
              <a:t>Used to fasten parts together using rivets, screws, bolts, etc.</a:t>
            </a:r>
          </a:p>
          <a:p>
            <a:r>
              <a:rPr lang="en-US" dirty="0"/>
              <a:t>A </a:t>
            </a:r>
            <a:r>
              <a:rPr lang="en-US" b="1" dirty="0"/>
              <a:t>quality hole</a:t>
            </a:r>
            <a:r>
              <a:rPr lang="en-US" dirty="0"/>
              <a:t> must meet requirements for:</a:t>
            </a:r>
          </a:p>
          <a:p>
            <a:pPr lvl="1"/>
            <a:r>
              <a:rPr lang="en-US" sz="2000" b="1" dirty="0"/>
              <a:t>Location</a:t>
            </a:r>
          </a:p>
          <a:p>
            <a:pPr lvl="1"/>
            <a:r>
              <a:rPr lang="en-US" sz="2000" b="1" dirty="0"/>
              <a:t>Angularity</a:t>
            </a:r>
          </a:p>
          <a:p>
            <a:pPr lvl="1"/>
            <a:r>
              <a:rPr lang="en-US" sz="2000" b="1" dirty="0"/>
              <a:t>Dimension</a:t>
            </a:r>
          </a:p>
          <a:p>
            <a:pPr lvl="1"/>
            <a:r>
              <a:rPr lang="en-US" sz="2000" b="1" dirty="0"/>
              <a:t>Tolerance</a:t>
            </a:r>
          </a:p>
          <a:p>
            <a:pPr lvl="1"/>
            <a:r>
              <a:rPr lang="en-US" sz="2000" dirty="0"/>
              <a:t>Free of burrs &amp; sharp edges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8F3D44-8F31-F518-E1B0-F15D18FCC421}"/>
              </a:ext>
            </a:extLst>
          </p:cNvPr>
          <p:cNvGrpSpPr/>
          <p:nvPr/>
        </p:nvGrpSpPr>
        <p:grpSpPr>
          <a:xfrm>
            <a:off x="5763273" y="3103334"/>
            <a:ext cx="5806427" cy="2271562"/>
            <a:chOff x="5375275" y="3686475"/>
            <a:chExt cx="5806427" cy="227156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D5150EA-1712-73D5-C7F6-62636E1D1784}"/>
                </a:ext>
              </a:extLst>
            </p:cNvPr>
            <p:cNvSpPr/>
            <p:nvPr/>
          </p:nvSpPr>
          <p:spPr>
            <a:xfrm flipH="1">
              <a:off x="11057877" y="4889108"/>
              <a:ext cx="123825" cy="149225"/>
            </a:xfrm>
            <a:custGeom>
              <a:avLst/>
              <a:gdLst>
                <a:gd name="csX0" fmla="*/ 0 w 142875"/>
                <a:gd name="csY0" fmla="*/ 142875 h 142875"/>
                <a:gd name="csX1" fmla="*/ 3175 w 142875"/>
                <a:gd name="csY1" fmla="*/ 0 h 142875"/>
                <a:gd name="csX2" fmla="*/ 142875 w 142875"/>
                <a:gd name="csY2" fmla="*/ 12700 h 142875"/>
                <a:gd name="csX3" fmla="*/ 114300 w 142875"/>
                <a:gd name="csY3" fmla="*/ 130175 h 142875"/>
                <a:gd name="csX4" fmla="*/ 0 w 142875"/>
                <a:gd name="csY4" fmla="*/ 142875 h 142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875" h="142875">
                  <a:moveTo>
                    <a:pt x="0" y="142875"/>
                  </a:moveTo>
                  <a:cubicBezTo>
                    <a:pt x="1058" y="95250"/>
                    <a:pt x="2117" y="47625"/>
                    <a:pt x="3175" y="0"/>
                  </a:cubicBezTo>
                  <a:lnTo>
                    <a:pt x="142875" y="12700"/>
                  </a:lnTo>
                  <a:lnTo>
                    <a:pt x="114300" y="1301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D0C35FA-D232-7740-0B0B-9D10A5AAAA7D}"/>
                </a:ext>
              </a:extLst>
            </p:cNvPr>
            <p:cNvSpPr/>
            <p:nvPr/>
          </p:nvSpPr>
          <p:spPr>
            <a:xfrm>
              <a:off x="5375275" y="4613275"/>
              <a:ext cx="142875" cy="142875"/>
            </a:xfrm>
            <a:custGeom>
              <a:avLst/>
              <a:gdLst>
                <a:gd name="csX0" fmla="*/ 0 w 142875"/>
                <a:gd name="csY0" fmla="*/ 142875 h 142875"/>
                <a:gd name="csX1" fmla="*/ 3175 w 142875"/>
                <a:gd name="csY1" fmla="*/ 0 h 142875"/>
                <a:gd name="csX2" fmla="*/ 142875 w 142875"/>
                <a:gd name="csY2" fmla="*/ 12700 h 142875"/>
                <a:gd name="csX3" fmla="*/ 114300 w 142875"/>
                <a:gd name="csY3" fmla="*/ 130175 h 142875"/>
                <a:gd name="csX4" fmla="*/ 0 w 142875"/>
                <a:gd name="csY4" fmla="*/ 142875 h 142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875" h="142875">
                  <a:moveTo>
                    <a:pt x="0" y="142875"/>
                  </a:moveTo>
                  <a:cubicBezTo>
                    <a:pt x="1058" y="95250"/>
                    <a:pt x="2117" y="47625"/>
                    <a:pt x="3175" y="0"/>
                  </a:cubicBezTo>
                  <a:lnTo>
                    <a:pt x="142875" y="12700"/>
                  </a:lnTo>
                  <a:lnTo>
                    <a:pt x="114300" y="1301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C078247-3155-AF25-D81F-91D86CD80081}"/>
                </a:ext>
              </a:extLst>
            </p:cNvPr>
            <p:cNvSpPr/>
            <p:nvPr/>
          </p:nvSpPr>
          <p:spPr>
            <a:xfrm>
              <a:off x="5444160" y="3832880"/>
              <a:ext cx="5669280" cy="21251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  <a:scene3d>
              <a:camera prst="isometricOffAxis2To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9C842AD-FDC4-894B-2EEF-7EEB66FFD7B5}"/>
                </a:ext>
              </a:extLst>
            </p:cNvPr>
            <p:cNvSpPr/>
            <p:nvPr/>
          </p:nvSpPr>
          <p:spPr>
            <a:xfrm>
              <a:off x="5444160" y="3686475"/>
              <a:ext cx="5669280" cy="212515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  <a:scene3d>
              <a:camera prst="isometricOffAxis2To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ED830A5C-1979-2BB7-7559-F0C55A3344F9}"/>
              </a:ext>
            </a:extLst>
          </p:cNvPr>
          <p:cNvSpPr/>
          <p:nvPr/>
        </p:nvSpPr>
        <p:spPr>
          <a:xfrm rot="306126">
            <a:off x="6239853" y="3915834"/>
            <a:ext cx="350520" cy="114300"/>
          </a:xfrm>
          <a:prstGeom prst="ellipse">
            <a:avLst/>
          </a:prstGeom>
          <a:solidFill>
            <a:srgbClr val="0070C0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F35CA4-E9A1-924E-4133-41059D26D2E3}"/>
              </a:ext>
            </a:extLst>
          </p:cNvPr>
          <p:cNvSpPr/>
          <p:nvPr/>
        </p:nvSpPr>
        <p:spPr>
          <a:xfrm rot="306126">
            <a:off x="7406414" y="4119125"/>
            <a:ext cx="350520" cy="114300"/>
          </a:xfrm>
          <a:prstGeom prst="ellipse">
            <a:avLst/>
          </a:prstGeom>
          <a:solidFill>
            <a:srgbClr val="0070C0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A2431AA6-AC99-BC0A-C3C5-837DF87304CF}"/>
              </a:ext>
            </a:extLst>
          </p:cNvPr>
          <p:cNvGrpSpPr/>
          <p:nvPr/>
        </p:nvGrpSpPr>
        <p:grpSpPr>
          <a:xfrm>
            <a:off x="5163603" y="4030134"/>
            <a:ext cx="1175310" cy="652191"/>
            <a:chOff x="4844490" y="4538390"/>
            <a:chExt cx="1175310" cy="65219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F136A5A-000B-97EA-DF28-23114A696036}"/>
                </a:ext>
              </a:extLst>
            </p:cNvPr>
            <p:cNvGrpSpPr/>
            <p:nvPr/>
          </p:nvGrpSpPr>
          <p:grpSpPr>
            <a:xfrm>
              <a:off x="4844490" y="4538390"/>
              <a:ext cx="1175310" cy="479228"/>
              <a:chOff x="4844490" y="4538390"/>
              <a:chExt cx="1175310" cy="479228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FD3A48D-5292-B5FF-B074-67DE6F335C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72404" y="4553750"/>
                <a:ext cx="647396" cy="463868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2A475AC6-0A54-5774-C3E5-83F0FAA8F8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44490" y="4538390"/>
                <a:ext cx="589838" cy="367260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F93BA86-0818-4919-5AB5-B8517D0CFC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82503" y="4884434"/>
                <a:ext cx="561657" cy="79014"/>
              </a:xfrm>
              <a:prstGeom prst="line">
                <a:avLst/>
              </a:prstGeom>
              <a:ln w="1587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headEnd type="triangle" w="sm" len="sm"/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450AF92-87CE-A96A-CDFA-563AA4A5C55F}"/>
                </a:ext>
              </a:extLst>
            </p:cNvPr>
            <p:cNvSpPr txBox="1"/>
            <p:nvPr/>
          </p:nvSpPr>
          <p:spPr>
            <a:xfrm>
              <a:off x="4924559" y="4882804"/>
              <a:ext cx="3626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1”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620D78C-DCBB-ECFE-39CF-81649E8B47B3}"/>
              </a:ext>
            </a:extLst>
          </p:cNvPr>
          <p:cNvGrpSpPr/>
          <p:nvPr/>
        </p:nvGrpSpPr>
        <p:grpSpPr>
          <a:xfrm>
            <a:off x="4954507" y="3658706"/>
            <a:ext cx="1267702" cy="397421"/>
            <a:chOff x="4635394" y="4166962"/>
            <a:chExt cx="1267702" cy="397421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320EA5F-04BC-A619-4E25-9D6EE45686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52304" y="4283725"/>
              <a:ext cx="950792" cy="163895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8B9D21F-A471-4451-410A-45E85870C0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2020" y="4454842"/>
              <a:ext cx="639642" cy="109541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2E4514D-1FAF-86A1-F978-F5F7733616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1280" y="4304907"/>
              <a:ext cx="238960" cy="153888"/>
            </a:xfrm>
            <a:prstGeom prst="line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  <a:prstDash val="solid"/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2C0C344-3C65-A04A-2217-3D36F0EDF774}"/>
                </a:ext>
              </a:extLst>
            </p:cNvPr>
            <p:cNvSpPr txBox="1"/>
            <p:nvPr/>
          </p:nvSpPr>
          <p:spPr>
            <a:xfrm>
              <a:off x="4635394" y="4166962"/>
              <a:ext cx="362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/>
                <a:t>1”</a:t>
              </a:r>
            </a:p>
          </p:txBody>
        </p:sp>
      </p:grp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52601F05-5D5F-85E9-5DF0-35F05284B4C4}"/>
              </a:ext>
            </a:extLst>
          </p:cNvPr>
          <p:cNvGrpSpPr/>
          <p:nvPr/>
        </p:nvGrpSpPr>
        <p:grpSpPr>
          <a:xfrm>
            <a:off x="6069077" y="3857416"/>
            <a:ext cx="1570883" cy="937379"/>
            <a:chOff x="5749964" y="4365672"/>
            <a:chExt cx="1570883" cy="937379"/>
          </a:xfrm>
        </p:grpSpPr>
        <p:cxnSp>
          <p:nvCxnSpPr>
            <p:cNvPr id="1028" name="Straight Connector 1027">
              <a:extLst>
                <a:ext uri="{FF2B5EF4-FFF2-40B4-BE49-F238E27FC236}">
                  <a16:creationId xmlns:a16="http://schemas.microsoft.com/office/drawing/2014/main" id="{4476C9E9-367D-DFCC-3C5E-2AE77BF6F0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2913" y="4365672"/>
              <a:ext cx="174566" cy="313553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2" name="Arc 1031">
              <a:extLst>
                <a:ext uri="{FF2B5EF4-FFF2-40B4-BE49-F238E27FC236}">
                  <a16:creationId xmlns:a16="http://schemas.microsoft.com/office/drawing/2014/main" id="{ABFBA7FA-8D46-7967-DA9B-51BC80325659}"/>
                </a:ext>
              </a:extLst>
            </p:cNvPr>
            <p:cNvSpPr/>
            <p:nvPr/>
          </p:nvSpPr>
          <p:spPr>
            <a:xfrm rot="14774566">
              <a:off x="7027918" y="4481406"/>
              <a:ext cx="294387" cy="291471"/>
            </a:xfrm>
            <a:prstGeom prst="arc">
              <a:avLst>
                <a:gd name="adj1" fmla="val 17031921"/>
                <a:gd name="adj2" fmla="val 824371"/>
              </a:avLst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1FD50C27-0E15-7546-67EB-5EC722679D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5318" y="4620627"/>
              <a:ext cx="382161" cy="6989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3DDFEF23-E917-7949-6CF5-BA8CF33F7E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7836" y="4408729"/>
              <a:ext cx="182397" cy="12959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31290704-C60E-9929-ADD0-89DE339648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5149" y="4408729"/>
              <a:ext cx="890169" cy="642598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67B36874-0C32-F4D4-E455-171D41C8C45A}"/>
                </a:ext>
              </a:extLst>
            </p:cNvPr>
            <p:cNvSpPr txBox="1"/>
            <p:nvPr/>
          </p:nvSpPr>
          <p:spPr>
            <a:xfrm>
              <a:off x="5749964" y="4995274"/>
              <a:ext cx="4427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45°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864E5122-76E1-0C03-DDFA-07AD2B261A7B}"/>
              </a:ext>
            </a:extLst>
          </p:cNvPr>
          <p:cNvSpPr/>
          <p:nvPr/>
        </p:nvSpPr>
        <p:spPr>
          <a:xfrm rot="306126">
            <a:off x="7868468" y="3800121"/>
            <a:ext cx="527574" cy="200704"/>
          </a:xfrm>
          <a:prstGeom prst="ellipse">
            <a:avLst/>
          </a:prstGeom>
          <a:solidFill>
            <a:srgbClr val="0070C0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40D08D67-6367-355C-8188-6C698108A2EA}"/>
              </a:ext>
            </a:extLst>
          </p:cNvPr>
          <p:cNvGrpSpPr/>
          <p:nvPr/>
        </p:nvGrpSpPr>
        <p:grpSpPr>
          <a:xfrm>
            <a:off x="8123331" y="3150517"/>
            <a:ext cx="602550" cy="735610"/>
            <a:chOff x="7804218" y="3658773"/>
            <a:chExt cx="602550" cy="735610"/>
          </a:xfrm>
        </p:grpSpPr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902C1923-550F-529A-D541-EE27896D5F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4218" y="3992880"/>
              <a:ext cx="189162" cy="401503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10302C39-71AB-8F29-92B4-07FA4AAFEBA8}"/>
                </a:ext>
              </a:extLst>
            </p:cNvPr>
            <p:cNvSpPr txBox="1"/>
            <p:nvPr/>
          </p:nvSpPr>
          <p:spPr>
            <a:xfrm>
              <a:off x="7863434" y="3658773"/>
              <a:ext cx="5433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7/8”</a:t>
              </a:r>
            </a:p>
            <a:p>
              <a:pPr algn="ctr"/>
              <a:r>
                <a:rPr lang="en-US" sz="1400" dirty="0" err="1"/>
                <a:t>dia</a:t>
              </a:r>
              <a:r>
                <a:rPr lang="en-US" sz="1400" dirty="0"/>
                <a:t> </a:t>
              </a:r>
            </a:p>
          </p:txBody>
        </p:sp>
      </p:grpSp>
      <p:sp>
        <p:nvSpPr>
          <p:cNvPr id="60" name="Oval 59">
            <a:extLst>
              <a:ext uri="{FF2B5EF4-FFF2-40B4-BE49-F238E27FC236}">
                <a16:creationId xmlns:a16="http://schemas.microsoft.com/office/drawing/2014/main" id="{8BE9AF0C-BF22-D22E-9999-50E42158CEFA}"/>
              </a:ext>
            </a:extLst>
          </p:cNvPr>
          <p:cNvSpPr/>
          <p:nvPr/>
        </p:nvSpPr>
        <p:spPr>
          <a:xfrm rot="306126">
            <a:off x="9080980" y="4014291"/>
            <a:ext cx="527574" cy="200704"/>
          </a:xfrm>
          <a:prstGeom prst="ellipse">
            <a:avLst/>
          </a:prstGeom>
          <a:solidFill>
            <a:srgbClr val="0070C0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8" name="Group 1087">
            <a:extLst>
              <a:ext uri="{FF2B5EF4-FFF2-40B4-BE49-F238E27FC236}">
                <a16:creationId xmlns:a16="http://schemas.microsoft.com/office/drawing/2014/main" id="{E7912281-4692-461D-7B1B-F0911F2DC991}"/>
              </a:ext>
            </a:extLst>
          </p:cNvPr>
          <p:cNvGrpSpPr/>
          <p:nvPr/>
        </p:nvGrpSpPr>
        <p:grpSpPr>
          <a:xfrm>
            <a:off x="8985345" y="3235045"/>
            <a:ext cx="972684" cy="1007367"/>
            <a:chOff x="8666232" y="3743301"/>
            <a:chExt cx="972684" cy="1007367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00B5FB6-A9F5-A762-0B8F-A68DDD50871A}"/>
                </a:ext>
              </a:extLst>
            </p:cNvPr>
            <p:cNvSpPr/>
            <p:nvPr/>
          </p:nvSpPr>
          <p:spPr>
            <a:xfrm rot="306126">
              <a:off x="8728519" y="4500029"/>
              <a:ext cx="588655" cy="250639"/>
            </a:xfrm>
            <a:prstGeom prst="ellipse">
              <a:avLst/>
            </a:prstGeom>
            <a:noFill/>
            <a:ln w="9525">
              <a:solidFill>
                <a:schemeClr val="tx2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18D72BAD-CFF5-0D1A-8883-05B54C62E3BE}"/>
                </a:ext>
              </a:extLst>
            </p:cNvPr>
            <p:cNvGrpSpPr/>
            <p:nvPr/>
          </p:nvGrpSpPr>
          <p:grpSpPr>
            <a:xfrm>
              <a:off x="8666232" y="3743301"/>
              <a:ext cx="972684" cy="857533"/>
              <a:chOff x="8666232" y="3743301"/>
              <a:chExt cx="972684" cy="857533"/>
            </a:xfrm>
          </p:grpSpPr>
          <p:sp>
            <p:nvSpPr>
              <p:cNvPr id="1070" name="TextBox 1069">
                <a:extLst>
                  <a:ext uri="{FF2B5EF4-FFF2-40B4-BE49-F238E27FC236}">
                    <a16:creationId xmlns:a16="http://schemas.microsoft.com/office/drawing/2014/main" id="{0F15987E-7580-68FD-12D8-C02748BD9BB2}"/>
                  </a:ext>
                </a:extLst>
              </p:cNvPr>
              <p:cNvSpPr txBox="1"/>
              <p:nvPr/>
            </p:nvSpPr>
            <p:spPr>
              <a:xfrm>
                <a:off x="8666232" y="3743301"/>
                <a:ext cx="97268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+/- 0.01” </a:t>
                </a:r>
              </a:p>
            </p:txBody>
          </p:sp>
          <p:cxnSp>
            <p:nvCxnSpPr>
              <p:cNvPr id="1071" name="Straight Connector 1070">
                <a:extLst>
                  <a:ext uri="{FF2B5EF4-FFF2-40B4-BE49-F238E27FC236}">
                    <a16:creationId xmlns:a16="http://schemas.microsoft.com/office/drawing/2014/main" id="{24304BAA-54B0-307F-1404-C21C6F36F20C}"/>
                  </a:ext>
                </a:extLst>
              </p:cNvPr>
              <p:cNvCxnSpPr>
                <a:cxnSpLocks/>
                <a:stCxn id="61" idx="2"/>
              </p:cNvCxnSpPr>
              <p:nvPr/>
            </p:nvCxnSpPr>
            <p:spPr>
              <a:xfrm flipV="1">
                <a:off x="8729685" y="4023563"/>
                <a:ext cx="283088" cy="575611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8C9D0C39-737A-1A64-DAC1-B5A11FB30C9C}"/>
                  </a:ext>
                </a:extLst>
              </p:cNvPr>
              <p:cNvCxnSpPr>
                <a:cxnSpLocks/>
                <a:stCxn id="1082" idx="2"/>
              </p:cNvCxnSpPr>
              <p:nvPr/>
            </p:nvCxnSpPr>
            <p:spPr>
              <a:xfrm flipV="1">
                <a:off x="8784513" y="4023563"/>
                <a:ext cx="228260" cy="577271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82" name="Oval 1081">
              <a:extLst>
                <a:ext uri="{FF2B5EF4-FFF2-40B4-BE49-F238E27FC236}">
                  <a16:creationId xmlns:a16="http://schemas.microsoft.com/office/drawing/2014/main" id="{7E9BFDCC-FB95-3069-0C9C-D5DFD23A88B9}"/>
                </a:ext>
              </a:extLst>
            </p:cNvPr>
            <p:cNvSpPr/>
            <p:nvPr/>
          </p:nvSpPr>
          <p:spPr>
            <a:xfrm rot="306126">
              <a:off x="8783556" y="4540217"/>
              <a:ext cx="482928" cy="164181"/>
            </a:xfrm>
            <a:prstGeom prst="ellipse">
              <a:avLst/>
            </a:prstGeom>
            <a:noFill/>
            <a:ln w="9525">
              <a:solidFill>
                <a:schemeClr val="tx2">
                  <a:lumMod val="25000"/>
                  <a:lumOff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hlinkClick r:id="rId3"/>
            <a:extLst>
              <a:ext uri="{FF2B5EF4-FFF2-40B4-BE49-F238E27FC236}">
                <a16:creationId xmlns:a16="http://schemas.microsoft.com/office/drawing/2014/main" id="{C2DB1279-2907-C3B9-A0C9-9363639C14F5}"/>
              </a:ext>
            </a:extLst>
          </p:cNvPr>
          <p:cNvSpPr txBox="1"/>
          <p:nvPr/>
        </p:nvSpPr>
        <p:spPr>
          <a:xfrm rot="450822">
            <a:off x="9214806" y="4817630"/>
            <a:ext cx="12209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Matt Pierce, 2026</a:t>
            </a:r>
          </a:p>
        </p:txBody>
      </p:sp>
    </p:spTree>
    <p:extLst>
      <p:ext uri="{BB962C8B-B14F-4D97-AF65-F5344CB8AC3E}">
        <p14:creationId xmlns:p14="http://schemas.microsoft.com/office/powerpoint/2010/main" val="187647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9367A-E34F-B0A6-7E08-A3E58C31A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B98639B-49AE-D57B-6FCC-B1608173CF26}"/>
              </a:ext>
            </a:extLst>
          </p:cNvPr>
          <p:cNvGrpSpPr/>
          <p:nvPr/>
        </p:nvGrpSpPr>
        <p:grpSpPr>
          <a:xfrm>
            <a:off x="3906782" y="2194192"/>
            <a:ext cx="4581668" cy="4392127"/>
            <a:chOff x="3012932" y="2194192"/>
            <a:chExt cx="4581668" cy="4392127"/>
          </a:xfrm>
        </p:grpSpPr>
        <p:pic>
          <p:nvPicPr>
            <p:cNvPr id="1037" name="Picture 1036">
              <a:extLst>
                <a:ext uri="{FF2B5EF4-FFF2-40B4-BE49-F238E27FC236}">
                  <a16:creationId xmlns:a16="http://schemas.microsoft.com/office/drawing/2014/main" id="{AB047DDD-EDC5-6166-0906-D7517B43E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2932" y="2194192"/>
              <a:ext cx="4581668" cy="4133583"/>
            </a:xfrm>
            <a:prstGeom prst="rect">
              <a:avLst/>
            </a:prstGeom>
            <a:noFill/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0046029-0F5E-C1F3-F670-3FBB1235CA84}"/>
                </a:ext>
              </a:extLst>
            </p:cNvPr>
            <p:cNvSpPr txBox="1"/>
            <p:nvPr/>
          </p:nvSpPr>
          <p:spPr>
            <a:xfrm>
              <a:off x="5948736" y="6355487"/>
              <a:ext cx="16458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1D54A01-0447-E642-261C-399276B5E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Basic Components of Drill Motor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123B5B-DA91-1AD6-E91C-C6818B443819}"/>
              </a:ext>
            </a:extLst>
          </p:cNvPr>
          <p:cNvGrpSpPr/>
          <p:nvPr/>
        </p:nvGrpSpPr>
        <p:grpSpPr>
          <a:xfrm>
            <a:off x="5109097" y="1388442"/>
            <a:ext cx="864754" cy="2269158"/>
            <a:chOff x="4215247" y="1388442"/>
            <a:chExt cx="864754" cy="226915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76F273-C99A-7364-B388-1B877261B16E}"/>
                </a:ext>
              </a:extLst>
            </p:cNvPr>
            <p:cNvSpPr txBox="1"/>
            <p:nvPr/>
          </p:nvSpPr>
          <p:spPr>
            <a:xfrm>
              <a:off x="4215247" y="1388442"/>
              <a:ext cx="864754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Motor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C09FDC3-1B00-2689-3430-7AFFFB73514F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4647624" y="1757774"/>
              <a:ext cx="0" cy="1899826"/>
            </a:xfrm>
            <a:prstGeom prst="straightConnector1">
              <a:avLst/>
            </a:prstGeom>
            <a:ln>
              <a:solidFill>
                <a:srgbClr val="0070C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2C56E8B-94BE-744C-9C6C-1227252898AA}"/>
              </a:ext>
            </a:extLst>
          </p:cNvPr>
          <p:cNvGrpSpPr/>
          <p:nvPr/>
        </p:nvGrpSpPr>
        <p:grpSpPr>
          <a:xfrm>
            <a:off x="2303550" y="4260983"/>
            <a:ext cx="2082800" cy="628517"/>
            <a:chOff x="4038600" y="1388442"/>
            <a:chExt cx="2082800" cy="6285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5671071-C97B-A6AA-7ECF-94C355664876}"/>
                </a:ext>
              </a:extLst>
            </p:cNvPr>
            <p:cNvSpPr txBox="1"/>
            <p:nvPr/>
          </p:nvSpPr>
          <p:spPr>
            <a:xfrm>
              <a:off x="4038600" y="1388442"/>
              <a:ext cx="1041401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Handle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FDA63AB-C654-8C77-98FB-15FA5498A031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5080001" y="1573108"/>
              <a:ext cx="1041399" cy="443851"/>
            </a:xfrm>
            <a:prstGeom prst="straightConnector1">
              <a:avLst/>
            </a:prstGeom>
            <a:ln>
              <a:solidFill>
                <a:srgbClr val="0070C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342FA31-69F4-F5EF-3387-44E14792F9A8}"/>
              </a:ext>
            </a:extLst>
          </p:cNvPr>
          <p:cNvGrpSpPr/>
          <p:nvPr/>
        </p:nvGrpSpPr>
        <p:grpSpPr>
          <a:xfrm>
            <a:off x="5541474" y="4630315"/>
            <a:ext cx="4013776" cy="1597859"/>
            <a:chOff x="1132324" y="159915"/>
            <a:chExt cx="4013776" cy="159785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C0D4BA-885D-6699-DD3D-EF84B8791612}"/>
                </a:ext>
              </a:extLst>
            </p:cNvPr>
            <p:cNvSpPr txBox="1"/>
            <p:nvPr/>
          </p:nvSpPr>
          <p:spPr>
            <a:xfrm>
              <a:off x="4215247" y="1388442"/>
              <a:ext cx="930853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Trigger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32C2693-6639-6846-6D88-7F6CEB1BD3D4}"/>
                </a:ext>
              </a:extLst>
            </p:cNvPr>
            <p:cNvCxnSpPr>
              <a:cxnSpLocks/>
              <a:stCxn id="29" idx="1"/>
            </p:cNvCxnSpPr>
            <p:nvPr/>
          </p:nvCxnSpPr>
          <p:spPr>
            <a:xfrm flipH="1" flipV="1">
              <a:off x="1132324" y="159915"/>
              <a:ext cx="3082923" cy="1413193"/>
            </a:xfrm>
            <a:prstGeom prst="straightConnector1">
              <a:avLst/>
            </a:prstGeom>
            <a:ln>
              <a:solidFill>
                <a:srgbClr val="0070C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277D87A-499F-3D01-0DF3-C990002D2BC0}"/>
              </a:ext>
            </a:extLst>
          </p:cNvPr>
          <p:cNvGrpSpPr/>
          <p:nvPr/>
        </p:nvGrpSpPr>
        <p:grpSpPr>
          <a:xfrm>
            <a:off x="7256550" y="4217698"/>
            <a:ext cx="2724438" cy="369332"/>
            <a:chOff x="2421662" y="1388442"/>
            <a:chExt cx="2724438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A29EC29-B0EA-4279-E20A-638808F5A0B3}"/>
                </a:ext>
              </a:extLst>
            </p:cNvPr>
            <p:cNvSpPr txBox="1"/>
            <p:nvPr/>
          </p:nvSpPr>
          <p:spPr>
            <a:xfrm>
              <a:off x="4215247" y="1388442"/>
              <a:ext cx="930853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Chuck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0D498D4-3912-C5B6-79F1-9A66279705B4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flipH="1">
              <a:off x="2421662" y="1573108"/>
              <a:ext cx="1793585" cy="184666"/>
            </a:xfrm>
            <a:prstGeom prst="straightConnector1">
              <a:avLst/>
            </a:prstGeom>
            <a:ln>
              <a:solidFill>
                <a:srgbClr val="0070C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C8E888B-10AD-EB62-0468-21742A9DD7B7}"/>
              </a:ext>
            </a:extLst>
          </p:cNvPr>
          <p:cNvGrpSpPr/>
          <p:nvPr/>
        </p:nvGrpSpPr>
        <p:grpSpPr>
          <a:xfrm>
            <a:off x="7820041" y="4838782"/>
            <a:ext cx="2259085" cy="369332"/>
            <a:chOff x="2979525" y="1388442"/>
            <a:chExt cx="2259085" cy="36933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CF75B96-E8F9-7002-2130-F37F59A058C0}"/>
                </a:ext>
              </a:extLst>
            </p:cNvPr>
            <p:cNvSpPr txBox="1"/>
            <p:nvPr/>
          </p:nvSpPr>
          <p:spPr>
            <a:xfrm>
              <a:off x="4215248" y="1388442"/>
              <a:ext cx="1023362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Drill Bit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1A9BA9C-4544-556A-ABE7-8DD3C692180D}"/>
                </a:ext>
              </a:extLst>
            </p:cNvPr>
            <p:cNvCxnSpPr>
              <a:cxnSpLocks/>
              <a:stCxn id="46" idx="1"/>
            </p:cNvCxnSpPr>
            <p:nvPr/>
          </p:nvCxnSpPr>
          <p:spPr>
            <a:xfrm flipH="1">
              <a:off x="2979525" y="1573108"/>
              <a:ext cx="1235723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148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F400B-E3BA-4410-C86B-EDBC8F82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FFA2-0686-7AFD-09B9-8DB9E405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Types of Drill Bits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756FF43-4B75-F3B1-3A27-BA385F74CEBE}"/>
              </a:ext>
            </a:extLst>
          </p:cNvPr>
          <p:cNvGrpSpPr/>
          <p:nvPr/>
        </p:nvGrpSpPr>
        <p:grpSpPr>
          <a:xfrm>
            <a:off x="674432" y="1583479"/>
            <a:ext cx="3553321" cy="1981276"/>
            <a:chOff x="674432" y="1583479"/>
            <a:chExt cx="3553321" cy="1981276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D9E2EEA-3B5C-128F-E054-A70C863E4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432" y="2396490"/>
              <a:ext cx="3553321" cy="1133633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1CFF8B1-9D5A-55CB-1B26-864EE34CD00D}"/>
                </a:ext>
              </a:extLst>
            </p:cNvPr>
            <p:cNvGrpSpPr/>
            <p:nvPr/>
          </p:nvGrpSpPr>
          <p:grpSpPr>
            <a:xfrm>
              <a:off x="1204617" y="1583479"/>
              <a:ext cx="2792799" cy="1981276"/>
              <a:chOff x="863696" y="4156751"/>
              <a:chExt cx="2792799" cy="1981276"/>
            </a:xfrm>
          </p:grpSpPr>
          <p:sp>
            <p:nvSpPr>
              <p:cNvPr id="3" name="TextBox 2">
                <a:hlinkClick r:id="rId4"/>
                <a:extLst>
                  <a:ext uri="{FF2B5EF4-FFF2-40B4-BE49-F238E27FC236}">
                    <a16:creationId xmlns:a16="http://schemas.microsoft.com/office/drawing/2014/main" id="{799311C6-D90B-E05E-9C78-EC9FABA3F084}"/>
                  </a:ext>
                </a:extLst>
              </p:cNvPr>
              <p:cNvSpPr txBox="1"/>
              <p:nvPr/>
            </p:nvSpPr>
            <p:spPr>
              <a:xfrm rot="819913">
                <a:off x="2554744" y="5907195"/>
                <a:ext cx="110175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/>
                  <a:t>(Ad) Home Depot</a:t>
                </a: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D534698A-AF28-BC77-B754-40B8485719C8}"/>
                  </a:ext>
                </a:extLst>
              </p:cNvPr>
              <p:cNvGrpSpPr/>
              <p:nvPr/>
            </p:nvGrpSpPr>
            <p:grpSpPr>
              <a:xfrm>
                <a:off x="863696" y="4156751"/>
                <a:ext cx="1865040" cy="1144714"/>
                <a:chOff x="3972705" y="2436222"/>
                <a:chExt cx="1865040" cy="1144714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C82514E-5B1E-2AE9-F33E-4FDA4757E6AA}"/>
                    </a:ext>
                  </a:extLst>
                </p:cNvPr>
                <p:cNvSpPr txBox="1"/>
                <p:nvPr/>
              </p:nvSpPr>
              <p:spPr>
                <a:xfrm>
                  <a:off x="3972705" y="2436222"/>
                  <a:ext cx="1865040" cy="369332"/>
                </a:xfrm>
                <a:prstGeom prst="rect">
                  <a:avLst/>
                </a:prstGeom>
                <a:solidFill>
                  <a:srgbClr val="0070C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</a:rPr>
                    <a:t>“Twist” Drill Bit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C66D92EB-6E44-C060-D9F5-23559CB253B7}"/>
                    </a:ext>
                  </a:extLst>
                </p:cNvPr>
                <p:cNvCxnSpPr>
                  <a:cxnSpLocks/>
                  <a:stCxn id="7" idx="2"/>
                </p:cNvCxnSpPr>
                <p:nvPr/>
              </p:nvCxnSpPr>
              <p:spPr>
                <a:xfrm>
                  <a:off x="4905225" y="2805554"/>
                  <a:ext cx="0" cy="775382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oval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52BDCF4-3DEE-2212-303E-0F991C39B88E}"/>
              </a:ext>
            </a:extLst>
          </p:cNvPr>
          <p:cNvGrpSpPr/>
          <p:nvPr/>
        </p:nvGrpSpPr>
        <p:grpSpPr>
          <a:xfrm>
            <a:off x="4123573" y="2396490"/>
            <a:ext cx="3352463" cy="2558660"/>
            <a:chOff x="3753956" y="2400077"/>
            <a:chExt cx="3352463" cy="255866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29E0905-63D6-066E-C781-04BAC56E8FE1}"/>
                </a:ext>
              </a:extLst>
            </p:cNvPr>
            <p:cNvGrpSpPr/>
            <p:nvPr/>
          </p:nvGrpSpPr>
          <p:grpSpPr>
            <a:xfrm>
              <a:off x="5686996" y="2400077"/>
              <a:ext cx="1419423" cy="2558660"/>
              <a:chOff x="5686996" y="2400077"/>
              <a:chExt cx="1419423" cy="255866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40C8385-526E-60D3-D42B-69F0F1B6FF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86996" y="2434260"/>
                <a:ext cx="1419423" cy="2524477"/>
              </a:xfrm>
              <a:prstGeom prst="rect">
                <a:avLst/>
              </a:prstGeom>
            </p:spPr>
          </p:pic>
          <p:sp>
            <p:nvSpPr>
              <p:cNvPr id="4" name="TextBox 3">
                <a:hlinkClick r:id="rId6"/>
                <a:extLst>
                  <a:ext uri="{FF2B5EF4-FFF2-40B4-BE49-F238E27FC236}">
                    <a16:creationId xmlns:a16="http://schemas.microsoft.com/office/drawing/2014/main" id="{C7231648-6FD8-3090-2BD6-D0AB85214329}"/>
                  </a:ext>
                </a:extLst>
              </p:cNvPr>
              <p:cNvSpPr txBox="1"/>
              <p:nvPr/>
            </p:nvSpPr>
            <p:spPr>
              <a:xfrm rot="15511103">
                <a:off x="6038570" y="2928001"/>
                <a:ext cx="12866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/>
                  <a:t>(Ad)  Harbor Freight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18B7C7C-45A2-57B6-7AB3-A19CF6618CEA}"/>
                </a:ext>
              </a:extLst>
            </p:cNvPr>
            <p:cNvGrpSpPr/>
            <p:nvPr/>
          </p:nvGrpSpPr>
          <p:grpSpPr>
            <a:xfrm>
              <a:off x="3753956" y="4111427"/>
              <a:ext cx="2349146" cy="745262"/>
              <a:chOff x="4497406" y="3841712"/>
              <a:chExt cx="2349146" cy="745262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CF746A1-31C0-0BE5-1239-3399A5C965FA}"/>
                  </a:ext>
                </a:extLst>
              </p:cNvPr>
              <p:cNvSpPr txBox="1"/>
              <p:nvPr/>
            </p:nvSpPr>
            <p:spPr>
              <a:xfrm>
                <a:off x="4497406" y="4217642"/>
                <a:ext cx="1760603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“Step” Drill Bit</a:t>
                </a: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E98F92C7-52E1-BE18-6E1D-E3364F7AF933}"/>
                  </a:ext>
                </a:extLst>
              </p:cNvPr>
              <p:cNvCxnSpPr>
                <a:cxnSpLocks/>
                <a:stCxn id="40" idx="3"/>
              </p:cNvCxnSpPr>
              <p:nvPr/>
            </p:nvCxnSpPr>
            <p:spPr>
              <a:xfrm flipV="1">
                <a:off x="6258009" y="3841712"/>
                <a:ext cx="588543" cy="560596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0D25534-1F0A-A44E-3F0F-503B69A5D8B7}"/>
              </a:ext>
            </a:extLst>
          </p:cNvPr>
          <p:cNvGrpSpPr/>
          <p:nvPr/>
        </p:nvGrpSpPr>
        <p:grpSpPr>
          <a:xfrm>
            <a:off x="8309705" y="3289825"/>
            <a:ext cx="3238412" cy="2736674"/>
            <a:chOff x="8309705" y="3289825"/>
            <a:chExt cx="3238412" cy="2736674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690204A-8CBA-A889-2EAC-BE21B11A1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09705" y="3873549"/>
              <a:ext cx="3219899" cy="2152950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5FC8006-EB6E-E1DA-196B-0D8328185C46}"/>
                </a:ext>
              </a:extLst>
            </p:cNvPr>
            <p:cNvGrpSpPr/>
            <p:nvPr/>
          </p:nvGrpSpPr>
          <p:grpSpPr>
            <a:xfrm>
              <a:off x="8520242" y="3289825"/>
              <a:ext cx="3027875" cy="1413264"/>
              <a:chOff x="8519125" y="3429000"/>
              <a:chExt cx="3027875" cy="1413264"/>
            </a:xfrm>
          </p:grpSpPr>
          <p:sp>
            <p:nvSpPr>
              <p:cNvPr id="5" name="TextBox 4">
                <a:hlinkClick r:id="rId8"/>
                <a:extLst>
                  <a:ext uri="{FF2B5EF4-FFF2-40B4-BE49-F238E27FC236}">
                    <a16:creationId xmlns:a16="http://schemas.microsoft.com/office/drawing/2014/main" id="{811D3BC9-1827-B6AE-6885-8DCEABCF4889}"/>
                  </a:ext>
                </a:extLst>
              </p:cNvPr>
              <p:cNvSpPr txBox="1"/>
              <p:nvPr/>
            </p:nvSpPr>
            <p:spPr>
              <a:xfrm rot="19813719">
                <a:off x="10398058" y="4611432"/>
                <a:ext cx="114894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/>
                  <a:t>(Ad) Haas Tooling</a:t>
                </a: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CF3ED9F-FBDF-3F9B-F9A5-A10D89846C13}"/>
                  </a:ext>
                </a:extLst>
              </p:cNvPr>
              <p:cNvGrpSpPr/>
              <p:nvPr/>
            </p:nvGrpSpPr>
            <p:grpSpPr>
              <a:xfrm>
                <a:off x="8519125" y="3429000"/>
                <a:ext cx="2138308" cy="1358757"/>
                <a:chOff x="9110175" y="3006885"/>
                <a:chExt cx="2138308" cy="1358757"/>
              </a:xfrm>
            </p:grpSpPr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0FEED72-631A-B88B-D47D-1EFB1A5E8BD0}"/>
                    </a:ext>
                  </a:extLst>
                </p:cNvPr>
                <p:cNvSpPr txBox="1"/>
                <p:nvPr/>
              </p:nvSpPr>
              <p:spPr>
                <a:xfrm>
                  <a:off x="9110175" y="3006885"/>
                  <a:ext cx="2138308" cy="369332"/>
                </a:xfrm>
                <a:prstGeom prst="rect">
                  <a:avLst/>
                </a:prstGeom>
                <a:solidFill>
                  <a:srgbClr val="0070C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</a:rPr>
                    <a:t>“Reamer” Drill Bit</a:t>
                  </a:r>
                </a:p>
              </p:txBody>
            </p: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ADE74861-775F-3FFA-07CD-A78897694139}"/>
                    </a:ext>
                  </a:extLst>
                </p:cNvPr>
                <p:cNvCxnSpPr>
                  <a:cxnSpLocks/>
                  <a:stCxn id="32" idx="2"/>
                </p:cNvCxnSpPr>
                <p:nvPr/>
              </p:nvCxnSpPr>
              <p:spPr>
                <a:xfrm>
                  <a:off x="10179329" y="3376217"/>
                  <a:ext cx="685878" cy="989425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oval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74149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9E52B-6475-4970-0698-A5FA4CD3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2AAB603-2690-CE8F-6607-0E547327A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381" y="2887033"/>
            <a:ext cx="6454017" cy="2059056"/>
          </a:xfrm>
          <a:prstGeom prst="rect">
            <a:avLst/>
          </a:prstGeom>
        </p:spPr>
      </p:pic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ACE50F63-DAE9-07DF-7FE0-0EAE89F97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049144"/>
            <a:ext cx="5513958" cy="877824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Higher Point Angle = harder materials (metal)</a:t>
            </a:r>
          </a:p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Lower Point Angle = softer materials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9076F-EF4A-DD4A-BEA8-73A96716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Parts of a Drill Bit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8FD1BA9-E604-043F-534F-ED50C22812B9}"/>
              </a:ext>
            </a:extLst>
          </p:cNvPr>
          <p:cNvGrpSpPr/>
          <p:nvPr/>
        </p:nvGrpSpPr>
        <p:grpSpPr>
          <a:xfrm>
            <a:off x="5008285" y="1648572"/>
            <a:ext cx="1279713" cy="2110629"/>
            <a:chOff x="3514830" y="946717"/>
            <a:chExt cx="1279713" cy="21106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DCA52F2-0DD2-645A-6EFD-FD18B1DB51B3}"/>
                </a:ext>
              </a:extLst>
            </p:cNvPr>
            <p:cNvSpPr txBox="1"/>
            <p:nvPr/>
          </p:nvSpPr>
          <p:spPr>
            <a:xfrm>
              <a:off x="3514830" y="946717"/>
              <a:ext cx="895719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Flute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1C8FC2-4F6B-EAB5-8E73-315E4213F3C4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3962690" y="1316049"/>
              <a:ext cx="831853" cy="1741297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4E91FE-1E0E-1E20-4CE3-283D89A0569F}"/>
              </a:ext>
            </a:extLst>
          </p:cNvPr>
          <p:cNvGrpSpPr/>
          <p:nvPr/>
        </p:nvGrpSpPr>
        <p:grpSpPr>
          <a:xfrm>
            <a:off x="6274993" y="1648572"/>
            <a:ext cx="895719" cy="2228372"/>
            <a:chOff x="3407536" y="1722219"/>
            <a:chExt cx="895719" cy="237466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BE57E2-0C03-787A-F4B5-C81F731558EE}"/>
                </a:ext>
              </a:extLst>
            </p:cNvPr>
            <p:cNvSpPr txBox="1"/>
            <p:nvPr/>
          </p:nvSpPr>
          <p:spPr>
            <a:xfrm>
              <a:off x="3407536" y="1722219"/>
              <a:ext cx="895719" cy="38977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Land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6752B78-E1D0-1D86-294E-92E36F1E47D5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3855396" y="2111991"/>
              <a:ext cx="0" cy="1984889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D6FD19-9D64-657A-7B3C-D8C33197D0D0}"/>
              </a:ext>
            </a:extLst>
          </p:cNvPr>
          <p:cNvGrpSpPr/>
          <p:nvPr/>
        </p:nvGrpSpPr>
        <p:grpSpPr>
          <a:xfrm>
            <a:off x="7170712" y="1640171"/>
            <a:ext cx="1045590" cy="2425471"/>
            <a:chOff x="3257665" y="1722219"/>
            <a:chExt cx="1045590" cy="242547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D3C8F88-DC52-F2F6-BE2E-C9D20EF81B6F}"/>
                </a:ext>
              </a:extLst>
            </p:cNvPr>
            <p:cNvSpPr txBox="1"/>
            <p:nvPr/>
          </p:nvSpPr>
          <p:spPr>
            <a:xfrm>
              <a:off x="3407536" y="1722219"/>
              <a:ext cx="895719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Margin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BF278C9-B907-CB23-A844-90AF9F1D989C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 flipH="1">
              <a:off x="3257665" y="2091551"/>
              <a:ext cx="597731" cy="2056139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5C86A5-F1E8-5789-5BC7-AFD500FBE976}"/>
              </a:ext>
            </a:extLst>
          </p:cNvPr>
          <p:cNvGrpSpPr/>
          <p:nvPr/>
        </p:nvGrpSpPr>
        <p:grpSpPr>
          <a:xfrm>
            <a:off x="9341399" y="3059668"/>
            <a:ext cx="1759536" cy="1594525"/>
            <a:chOff x="2219745" y="2013287"/>
            <a:chExt cx="1759536" cy="159452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DA06615-F538-5620-740F-575D605E838A}"/>
                </a:ext>
              </a:extLst>
            </p:cNvPr>
            <p:cNvSpPr txBox="1"/>
            <p:nvPr/>
          </p:nvSpPr>
          <p:spPr>
            <a:xfrm>
              <a:off x="2606895" y="2013287"/>
              <a:ext cx="1372386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Point Angle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C9605C4-3133-0637-06C6-011E47B094CE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 flipH="1">
              <a:off x="2219745" y="2382619"/>
              <a:ext cx="1073343" cy="1225193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hlinkClick r:id="rId4"/>
            <a:extLst>
              <a:ext uri="{FF2B5EF4-FFF2-40B4-BE49-F238E27FC236}">
                <a16:creationId xmlns:a16="http://schemas.microsoft.com/office/drawing/2014/main" id="{9CB21F5A-B787-3302-6296-345DF9B84313}"/>
              </a:ext>
            </a:extLst>
          </p:cNvPr>
          <p:cNvSpPr txBox="1"/>
          <p:nvPr/>
        </p:nvSpPr>
        <p:spPr>
          <a:xfrm rot="819913">
            <a:off x="2862275" y="3514780"/>
            <a:ext cx="11017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(Ad) Home Depot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2D56D74-8C1C-42C0-E36B-C140763C15D1}"/>
              </a:ext>
            </a:extLst>
          </p:cNvPr>
          <p:cNvGrpSpPr/>
          <p:nvPr/>
        </p:nvGrpSpPr>
        <p:grpSpPr>
          <a:xfrm>
            <a:off x="3092592" y="1640171"/>
            <a:ext cx="2811412" cy="1881294"/>
            <a:chOff x="3092592" y="1640171"/>
            <a:chExt cx="2811412" cy="18812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DC3DFA-6EB5-8C3F-7032-137C2799B27D}"/>
                </a:ext>
              </a:extLst>
            </p:cNvPr>
            <p:cNvSpPr txBox="1"/>
            <p:nvPr/>
          </p:nvSpPr>
          <p:spPr>
            <a:xfrm>
              <a:off x="3092592" y="1640171"/>
              <a:ext cx="895718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Shank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2ED3BD7-1690-D775-FC09-6BCCFC3DC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95263" y="2702103"/>
              <a:ext cx="92467" cy="184930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A2845BF-88F0-D29C-EE94-ABE2600790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1537" y="3336535"/>
              <a:ext cx="92467" cy="184930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C1737ED-C29B-6B1A-0FF3-AF6B119DDE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87730" y="2710504"/>
              <a:ext cx="2616274" cy="626031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39FE8C7-C339-19FB-8DB8-5B081D21653D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H="1" flipV="1">
              <a:off x="3540451" y="2009503"/>
              <a:ext cx="182134" cy="823774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387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EE536-1728-8F0B-9DF9-7CD6741E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EA227C1-C1DD-68FD-C731-9E73A4EF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62" y="1454386"/>
            <a:ext cx="10958538" cy="468471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en-US" b="1" dirty="0"/>
              <a:t>Drill Guide / Drill Block</a:t>
            </a:r>
            <a:r>
              <a:rPr lang="en-US" dirty="0"/>
              <a:t> to control angle (e.g.: force perpendicular)</a:t>
            </a:r>
          </a:p>
          <a:p>
            <a:r>
              <a:rPr lang="en-US" b="1" dirty="0"/>
              <a:t>Drill Stop</a:t>
            </a:r>
            <a:r>
              <a:rPr lang="en-US" dirty="0"/>
              <a:t> to control depth (e.g.: do not puncture below)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820D22-C444-04B5-3AD2-4C2DD8E9F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75996"/>
            <a:ext cx="4311304" cy="2874202"/>
          </a:xfrm>
          <a:prstGeom prst="rect">
            <a:avLst/>
          </a:prstGeom>
          <a:noFill/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9EAEA4-4D08-5322-829E-2F3E531C7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Drill Guides and Drill Stops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9005F03-6187-51F5-5DD0-D04E060E7F0E}"/>
              </a:ext>
            </a:extLst>
          </p:cNvPr>
          <p:cNvGrpSpPr/>
          <p:nvPr/>
        </p:nvGrpSpPr>
        <p:grpSpPr>
          <a:xfrm>
            <a:off x="838200" y="2572541"/>
            <a:ext cx="3632200" cy="1487487"/>
            <a:chOff x="-6283454" y="1648162"/>
            <a:chExt cx="3632200" cy="148748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D659A5-EDC1-A2B2-FEEC-7359D0022D55}"/>
                </a:ext>
              </a:extLst>
            </p:cNvPr>
            <p:cNvSpPr txBox="1"/>
            <p:nvPr/>
          </p:nvSpPr>
          <p:spPr>
            <a:xfrm>
              <a:off x="-6283454" y="1648162"/>
              <a:ext cx="3632200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Drill Guide 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(Drill Block not shown)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39AFB49-CE2E-1382-8F4E-2EDA962582B2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 flipH="1">
              <a:off x="-5013454" y="2017494"/>
              <a:ext cx="546100" cy="1118155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D53D972A-7B7A-1666-1BD4-BFA12A356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031" y="3192698"/>
            <a:ext cx="4311304" cy="2874202"/>
          </a:xfrm>
          <a:prstGeom prst="rect">
            <a:avLst/>
          </a:prstGeom>
          <a:noFill/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CC1FD08A-1632-6014-C536-091B7FE34819}"/>
              </a:ext>
            </a:extLst>
          </p:cNvPr>
          <p:cNvGrpSpPr/>
          <p:nvPr/>
        </p:nvGrpSpPr>
        <p:grpSpPr>
          <a:xfrm>
            <a:off x="7054069" y="2572541"/>
            <a:ext cx="1175531" cy="1585357"/>
            <a:chOff x="7054069" y="2808843"/>
            <a:chExt cx="1175531" cy="158535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83E031C-96C3-8DF6-659B-4A5C5FB8253E}"/>
                </a:ext>
              </a:extLst>
            </p:cNvPr>
            <p:cNvSpPr txBox="1"/>
            <p:nvPr/>
          </p:nvSpPr>
          <p:spPr>
            <a:xfrm>
              <a:off x="7054069" y="2808843"/>
              <a:ext cx="1175531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Drill Stop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A5819E5-0AF3-D387-E6D9-B018D37B22CF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7641835" y="3178175"/>
              <a:ext cx="587765" cy="1216025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3781C40-2653-1C4E-3762-88C481F114BD}"/>
              </a:ext>
            </a:extLst>
          </p:cNvPr>
          <p:cNvSpPr txBox="1"/>
          <p:nvPr/>
        </p:nvSpPr>
        <p:spPr>
          <a:xfrm>
            <a:off x="3544584" y="6050198"/>
            <a:ext cx="16049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5D9EF4-B8C8-6658-87C6-60E12AE4EAFA}"/>
              </a:ext>
            </a:extLst>
          </p:cNvPr>
          <p:cNvSpPr txBox="1"/>
          <p:nvPr/>
        </p:nvSpPr>
        <p:spPr>
          <a:xfrm>
            <a:off x="9533415" y="6061214"/>
            <a:ext cx="16049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9457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1817F-8E07-0406-FC45-AC27ACAA9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FA616-313E-90EA-6A06-941C72F92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27912"/>
            <a:ext cx="10086975" cy="802176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Countersinking</a:t>
            </a:r>
          </a:p>
        </p:txBody>
      </p:sp>
    </p:spTree>
    <p:extLst>
      <p:ext uri="{BB962C8B-B14F-4D97-AF65-F5344CB8AC3E}">
        <p14:creationId xmlns:p14="http://schemas.microsoft.com/office/powerpoint/2010/main" val="3585100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C135D-9242-ABB2-2855-CD326F9F3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E83D-5D88-EB3C-5C35-2968570B3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Countersinking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455AC-9B39-106A-912B-13E8B8EBE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62" y="1483104"/>
            <a:ext cx="10958538" cy="4351338"/>
          </a:xfrm>
        </p:spPr>
        <p:txBody>
          <a:bodyPr/>
          <a:lstStyle/>
          <a:p>
            <a:r>
              <a:rPr lang="en-US" b="1" dirty="0"/>
              <a:t>What</a:t>
            </a:r>
            <a:r>
              <a:rPr lang="en-US" dirty="0"/>
              <a:t>: Countersink creates a conical hole so fastener sits flush</a:t>
            </a:r>
          </a:p>
          <a:p>
            <a:r>
              <a:rPr lang="en-US" b="1" dirty="0"/>
              <a:t>Why</a:t>
            </a:r>
            <a:r>
              <a:rPr lang="en-US" dirty="0"/>
              <a:t>: Flush heads improve aerodynamics, reduce corrosion, etc.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AFF5331-8C4F-23B8-461C-9F1CD6DE2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401" y="2808667"/>
            <a:ext cx="4286848" cy="368668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E9330D6-E670-90EE-A1B6-1B87E6808FEE}"/>
              </a:ext>
            </a:extLst>
          </p:cNvPr>
          <p:cNvSpPr/>
          <p:nvPr/>
        </p:nvSpPr>
        <p:spPr>
          <a:xfrm>
            <a:off x="5319713" y="4276725"/>
            <a:ext cx="1109662" cy="361950"/>
          </a:xfrm>
          <a:custGeom>
            <a:avLst/>
            <a:gdLst>
              <a:gd name="csX0" fmla="*/ 0 w 1109662"/>
              <a:gd name="csY0" fmla="*/ 19050 h 390525"/>
              <a:gd name="csX1" fmla="*/ 352425 w 1109662"/>
              <a:gd name="csY1" fmla="*/ 390525 h 390525"/>
              <a:gd name="csX2" fmla="*/ 785812 w 1109662"/>
              <a:gd name="csY2" fmla="*/ 376238 h 390525"/>
              <a:gd name="csX3" fmla="*/ 1109662 w 1109662"/>
              <a:gd name="csY3" fmla="*/ 0 h 390525"/>
              <a:gd name="csX4" fmla="*/ 0 w 1109662"/>
              <a:gd name="csY4" fmla="*/ 19050 h 390525"/>
              <a:gd name="csX0" fmla="*/ 0 w 1109662"/>
              <a:gd name="csY0" fmla="*/ 19050 h 390525"/>
              <a:gd name="csX1" fmla="*/ 352425 w 1109662"/>
              <a:gd name="csY1" fmla="*/ 390525 h 390525"/>
              <a:gd name="csX2" fmla="*/ 776287 w 1109662"/>
              <a:gd name="csY2" fmla="*/ 357188 h 390525"/>
              <a:gd name="csX3" fmla="*/ 1109662 w 1109662"/>
              <a:gd name="csY3" fmla="*/ 0 h 390525"/>
              <a:gd name="csX4" fmla="*/ 0 w 1109662"/>
              <a:gd name="csY4" fmla="*/ 19050 h 390525"/>
              <a:gd name="csX0" fmla="*/ 0 w 1109662"/>
              <a:gd name="csY0" fmla="*/ 19050 h 361950"/>
              <a:gd name="csX1" fmla="*/ 352425 w 1109662"/>
              <a:gd name="csY1" fmla="*/ 361950 h 361950"/>
              <a:gd name="csX2" fmla="*/ 776287 w 1109662"/>
              <a:gd name="csY2" fmla="*/ 357188 h 361950"/>
              <a:gd name="csX3" fmla="*/ 1109662 w 1109662"/>
              <a:gd name="csY3" fmla="*/ 0 h 361950"/>
              <a:gd name="csX4" fmla="*/ 0 w 1109662"/>
              <a:gd name="csY4" fmla="*/ 19050 h 361950"/>
              <a:gd name="csX0" fmla="*/ 0 w 1109662"/>
              <a:gd name="csY0" fmla="*/ 19050 h 361950"/>
              <a:gd name="csX1" fmla="*/ 352425 w 1109662"/>
              <a:gd name="csY1" fmla="*/ 361950 h 361950"/>
              <a:gd name="csX2" fmla="*/ 761999 w 1109662"/>
              <a:gd name="csY2" fmla="*/ 352426 h 361950"/>
              <a:gd name="csX3" fmla="*/ 1109662 w 1109662"/>
              <a:gd name="csY3" fmla="*/ 0 h 361950"/>
              <a:gd name="csX4" fmla="*/ 0 w 1109662"/>
              <a:gd name="csY4" fmla="*/ 19050 h 361950"/>
              <a:gd name="csX0" fmla="*/ 0 w 1109662"/>
              <a:gd name="csY0" fmla="*/ 19050 h 361950"/>
              <a:gd name="csX1" fmla="*/ 352425 w 1109662"/>
              <a:gd name="csY1" fmla="*/ 361950 h 361950"/>
              <a:gd name="csX2" fmla="*/ 776287 w 1109662"/>
              <a:gd name="csY2" fmla="*/ 352426 h 361950"/>
              <a:gd name="csX3" fmla="*/ 1109662 w 1109662"/>
              <a:gd name="csY3" fmla="*/ 0 h 361950"/>
              <a:gd name="csX4" fmla="*/ 0 w 1109662"/>
              <a:gd name="csY4" fmla="*/ 190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09662" h="361950">
                <a:moveTo>
                  <a:pt x="0" y="19050"/>
                </a:moveTo>
                <a:lnTo>
                  <a:pt x="352425" y="361950"/>
                </a:lnTo>
                <a:lnTo>
                  <a:pt x="776287" y="352426"/>
                </a:lnTo>
                <a:lnTo>
                  <a:pt x="1109662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rgbClr val="FFC000">
                <a:alpha val="7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84E93-70B5-CC0A-37CA-43630F851547}"/>
              </a:ext>
            </a:extLst>
          </p:cNvPr>
          <p:cNvSpPr txBox="1"/>
          <p:nvPr/>
        </p:nvSpPr>
        <p:spPr>
          <a:xfrm>
            <a:off x="5740485" y="6492875"/>
            <a:ext cx="22417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92836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0F5AA-5CF5-3DAF-B4C7-9BC52DD9E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DFBF-E565-B382-A91F-7A3D542A6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Types of Countersink Drill Bits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1B1B727-43A1-027C-5671-044614A705F1}"/>
              </a:ext>
            </a:extLst>
          </p:cNvPr>
          <p:cNvGrpSpPr/>
          <p:nvPr/>
        </p:nvGrpSpPr>
        <p:grpSpPr>
          <a:xfrm>
            <a:off x="609022" y="1749400"/>
            <a:ext cx="3048425" cy="4272470"/>
            <a:chOff x="609022" y="1749400"/>
            <a:chExt cx="3048425" cy="427247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8DCFAED-B222-F1DF-E1FA-4E69E165A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022" y="2973445"/>
              <a:ext cx="3048425" cy="304842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28D6B20-0F33-327D-FF5E-56C9009391CA}"/>
                </a:ext>
              </a:extLst>
            </p:cNvPr>
            <p:cNvGrpSpPr/>
            <p:nvPr/>
          </p:nvGrpSpPr>
          <p:grpSpPr>
            <a:xfrm>
              <a:off x="1414744" y="1749400"/>
              <a:ext cx="1432752" cy="2380760"/>
              <a:chOff x="3720958" y="-62372"/>
              <a:chExt cx="1432752" cy="238076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9CB0AB-B771-C36B-369C-10DB1806734F}"/>
                  </a:ext>
                </a:extLst>
              </p:cNvPr>
              <p:cNvSpPr txBox="1"/>
              <p:nvPr/>
            </p:nvSpPr>
            <p:spPr>
              <a:xfrm>
                <a:off x="3720958" y="-62372"/>
                <a:ext cx="1432752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“Fluted” Bit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6BD1EB69-B0DF-EACD-DE6B-2A7C0CCD1CB6}"/>
                  </a:ext>
                </a:extLst>
              </p:cNvPr>
              <p:cNvCxnSpPr>
                <a:cxnSpLocks/>
                <a:stCxn id="7" idx="2"/>
              </p:cNvCxnSpPr>
              <p:nvPr/>
            </p:nvCxnSpPr>
            <p:spPr>
              <a:xfrm>
                <a:off x="4437334" y="306960"/>
                <a:ext cx="16896" cy="201142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40085BD-07AD-9804-63AA-4D9A24D90DE0}"/>
                </a:ext>
              </a:extLst>
            </p:cNvPr>
            <p:cNvSpPr txBox="1"/>
            <p:nvPr/>
          </p:nvSpPr>
          <p:spPr>
            <a:xfrm rot="19260027">
              <a:off x="1200294" y="5139727"/>
              <a:ext cx="170550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736173-8EC9-E80C-72B0-7E80FED6003E}"/>
              </a:ext>
            </a:extLst>
          </p:cNvPr>
          <p:cNvGrpSpPr/>
          <p:nvPr/>
        </p:nvGrpSpPr>
        <p:grpSpPr>
          <a:xfrm>
            <a:off x="4074164" y="1690688"/>
            <a:ext cx="3048425" cy="4338601"/>
            <a:chOff x="4074164" y="1690688"/>
            <a:chExt cx="3048425" cy="433860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87B2A3A-82BA-D59B-D5C2-2CDD268EE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74164" y="2980864"/>
              <a:ext cx="3048425" cy="3048425"/>
            </a:xfrm>
            <a:prstGeom prst="rect">
              <a:avLst/>
            </a:prstGeom>
          </p:spPr>
        </p:pic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0AA4145-7351-851B-012B-567346203A5B}"/>
                </a:ext>
              </a:extLst>
            </p:cNvPr>
            <p:cNvGrpSpPr/>
            <p:nvPr/>
          </p:nvGrpSpPr>
          <p:grpSpPr>
            <a:xfrm>
              <a:off x="4337911" y="1690688"/>
              <a:ext cx="2008127" cy="2657307"/>
              <a:chOff x="3897747" y="1388416"/>
              <a:chExt cx="2008127" cy="2657307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0FDCDBE-7108-A6C4-0416-213250B9EFA8}"/>
                  </a:ext>
                </a:extLst>
              </p:cNvPr>
              <p:cNvSpPr txBox="1"/>
              <p:nvPr/>
            </p:nvSpPr>
            <p:spPr>
              <a:xfrm>
                <a:off x="3897747" y="1388416"/>
                <a:ext cx="2008127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“Cross-Hole” Bit</a:t>
                </a: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A2953A3A-06C7-8CBC-7BAC-3ACDAA5027C8}"/>
                  </a:ext>
                </a:extLst>
              </p:cNvPr>
              <p:cNvCxnSpPr>
                <a:cxnSpLocks/>
                <a:stCxn id="40" idx="2"/>
              </p:cNvCxnSpPr>
              <p:nvPr/>
            </p:nvCxnSpPr>
            <p:spPr>
              <a:xfrm flipH="1">
                <a:off x="4901810" y="1757748"/>
                <a:ext cx="1" cy="228797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5A7072-7992-EBED-77F6-36DC3E8C9544}"/>
                </a:ext>
              </a:extLst>
            </p:cNvPr>
            <p:cNvSpPr txBox="1"/>
            <p:nvPr/>
          </p:nvSpPr>
          <p:spPr>
            <a:xfrm rot="18239258">
              <a:off x="5463322" y="3947906"/>
              <a:ext cx="16646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7160151-4AD4-5DCB-E6F4-AEA5F3276404}"/>
              </a:ext>
            </a:extLst>
          </p:cNvPr>
          <p:cNvGrpSpPr/>
          <p:nvPr/>
        </p:nvGrpSpPr>
        <p:grpSpPr>
          <a:xfrm>
            <a:off x="7349539" y="1690714"/>
            <a:ext cx="3416554" cy="4986045"/>
            <a:chOff x="7349539" y="1690714"/>
            <a:chExt cx="3416554" cy="4986045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93A9186-9ADE-C56D-CAB4-A1E1D51B1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56090" y="2313700"/>
              <a:ext cx="1810003" cy="4363059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AFFA9E6-2E7A-5058-A849-8DD1912F4902}"/>
                </a:ext>
              </a:extLst>
            </p:cNvPr>
            <p:cNvGrpSpPr/>
            <p:nvPr/>
          </p:nvGrpSpPr>
          <p:grpSpPr>
            <a:xfrm>
              <a:off x="7349539" y="1690714"/>
              <a:ext cx="2308760" cy="2855886"/>
              <a:chOff x="7857040" y="1828977"/>
              <a:chExt cx="2308760" cy="264094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6336D09-05F1-8F09-E087-403AB6356D37}"/>
                  </a:ext>
                </a:extLst>
              </p:cNvPr>
              <p:cNvSpPr txBox="1"/>
              <p:nvPr/>
            </p:nvSpPr>
            <p:spPr>
              <a:xfrm>
                <a:off x="7857040" y="1828977"/>
                <a:ext cx="2308760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“Back/</a:t>
                </a:r>
                <a:r>
                  <a:rPr lang="en-US" b="1" dirty="0" err="1">
                    <a:solidFill>
                      <a:schemeClr val="bg1"/>
                    </a:solidFill>
                  </a:rPr>
                  <a:t>Cogsdill</a:t>
                </a:r>
                <a:r>
                  <a:rPr lang="en-US" b="1" dirty="0">
                    <a:solidFill>
                      <a:schemeClr val="bg1"/>
                    </a:solidFill>
                  </a:rPr>
                  <a:t>” Bit</a:t>
                </a: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FB40B47-D769-4312-AE7D-ACC5BD90F9D8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>
              <a:xfrm>
                <a:off x="9011420" y="2198309"/>
                <a:ext cx="601981" cy="227161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C00031-B39F-F83E-576F-FD91281C4ED2}"/>
                </a:ext>
              </a:extLst>
            </p:cNvPr>
            <p:cNvSpPr txBox="1"/>
            <p:nvPr/>
          </p:nvSpPr>
          <p:spPr>
            <a:xfrm rot="16200000">
              <a:off x="9110824" y="5540009"/>
              <a:ext cx="167489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0813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3E141-DF4A-67BD-2095-8B1E72DF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6B751EE-71EA-E0D5-BE48-E5ED63BF1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948" y="1763606"/>
            <a:ext cx="2238687" cy="48679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0AFCDF-23FF-A32B-5A78-373D88731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 err="1"/>
              <a:t>Microstop</a:t>
            </a:r>
            <a:r>
              <a:rPr lang="en-US" dirty="0"/>
              <a:t> Tool  </a:t>
            </a:r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(to control depth)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DE7E637-3071-198C-991C-1617D70042B2}"/>
              </a:ext>
            </a:extLst>
          </p:cNvPr>
          <p:cNvGrpSpPr/>
          <p:nvPr/>
        </p:nvGrpSpPr>
        <p:grpSpPr>
          <a:xfrm>
            <a:off x="3086373" y="2244684"/>
            <a:ext cx="2810993" cy="369332"/>
            <a:chOff x="5392587" y="432912"/>
            <a:chExt cx="2810993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C26C50-B2B3-1253-6915-0662B0A4D5CD}"/>
                </a:ext>
              </a:extLst>
            </p:cNvPr>
            <p:cNvSpPr txBox="1"/>
            <p:nvPr/>
          </p:nvSpPr>
          <p:spPr>
            <a:xfrm>
              <a:off x="5392587" y="432912"/>
              <a:ext cx="896656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Shank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3FC4235-CA1C-1F07-698C-779B65141AE3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6289243" y="617578"/>
              <a:ext cx="191433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C0C245C-DF88-CE66-B421-1A69A7DCC90F}"/>
              </a:ext>
            </a:extLst>
          </p:cNvPr>
          <p:cNvGrpSpPr/>
          <p:nvPr/>
        </p:nvGrpSpPr>
        <p:grpSpPr>
          <a:xfrm>
            <a:off x="1745944" y="4458719"/>
            <a:ext cx="4078586" cy="369332"/>
            <a:chOff x="4407758" y="412213"/>
            <a:chExt cx="4078586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799E23-A006-E0D3-8E36-9868FA769DB6}"/>
                </a:ext>
              </a:extLst>
            </p:cNvPr>
            <p:cNvSpPr txBox="1"/>
            <p:nvPr/>
          </p:nvSpPr>
          <p:spPr>
            <a:xfrm>
              <a:off x="4407758" y="412213"/>
              <a:ext cx="2237085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Adjustment Sleeve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6F7280B-695E-2F01-51D5-3AAB3E104287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6644843" y="596879"/>
              <a:ext cx="184150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C1B07D2-43F4-D58D-5ED2-D404C2955594}"/>
              </a:ext>
            </a:extLst>
          </p:cNvPr>
          <p:cNvSpPr txBox="1"/>
          <p:nvPr/>
        </p:nvSpPr>
        <p:spPr>
          <a:xfrm>
            <a:off x="1905000" y="3992369"/>
            <a:ext cx="20828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Adjusting Threads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F9A306-7045-1B13-4801-3CD67EA751F2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987800" y="4177035"/>
            <a:ext cx="1739900" cy="184666"/>
          </a:xfrm>
          <a:prstGeom prst="straightConnector1">
            <a:avLst/>
          </a:prstGeom>
          <a:ln>
            <a:solidFill>
              <a:srgbClr val="FF0000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7F8D03-3945-3C48-FB70-7C9B45CF48CB}"/>
              </a:ext>
            </a:extLst>
          </p:cNvPr>
          <p:cNvGrpSpPr/>
          <p:nvPr/>
        </p:nvGrpSpPr>
        <p:grpSpPr>
          <a:xfrm>
            <a:off x="3094030" y="5924719"/>
            <a:ext cx="2730500" cy="369332"/>
            <a:chOff x="5857444" y="382143"/>
            <a:chExt cx="2730500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3208B7C-AA4E-123C-A42B-A2CA0E5E9787}"/>
                </a:ext>
              </a:extLst>
            </p:cNvPr>
            <p:cNvSpPr txBox="1"/>
            <p:nvPr/>
          </p:nvSpPr>
          <p:spPr>
            <a:xfrm>
              <a:off x="5857444" y="382143"/>
              <a:ext cx="888999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Cage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84A9332-3D82-CF86-E06D-D651E86BFF78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6746443" y="566809"/>
              <a:ext cx="184150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013F828-F665-B51F-4EAF-31D0798EE894}"/>
              </a:ext>
            </a:extLst>
          </p:cNvPr>
          <p:cNvGrpSpPr/>
          <p:nvPr/>
        </p:nvGrpSpPr>
        <p:grpSpPr>
          <a:xfrm>
            <a:off x="3200399" y="3438372"/>
            <a:ext cx="2624130" cy="369332"/>
            <a:chOff x="5862213" y="407528"/>
            <a:chExt cx="2624130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479B399-2871-00CF-1D41-2C2F53701132}"/>
                </a:ext>
              </a:extLst>
            </p:cNvPr>
            <p:cNvSpPr txBox="1"/>
            <p:nvPr/>
          </p:nvSpPr>
          <p:spPr>
            <a:xfrm>
              <a:off x="5862213" y="407528"/>
              <a:ext cx="782629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Body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E6B566D-C2EF-13F3-FE72-ACAD5DBD5559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>
              <a:off x="6644842" y="592194"/>
              <a:ext cx="184150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47C6D7D-2448-DE6A-373D-761D352EB629}"/>
              </a:ext>
            </a:extLst>
          </p:cNvPr>
          <p:cNvGrpSpPr/>
          <p:nvPr/>
        </p:nvGrpSpPr>
        <p:grpSpPr>
          <a:xfrm>
            <a:off x="2400300" y="4925069"/>
            <a:ext cx="3424230" cy="369332"/>
            <a:chOff x="5062114" y="407528"/>
            <a:chExt cx="3424230" cy="3693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AE8D2AD-87F8-4C56-FE8D-059007030194}"/>
                </a:ext>
              </a:extLst>
            </p:cNvPr>
            <p:cNvSpPr txBox="1"/>
            <p:nvPr/>
          </p:nvSpPr>
          <p:spPr>
            <a:xfrm>
              <a:off x="5062114" y="407528"/>
              <a:ext cx="1582729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Locking Ring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8F2857F-578A-018F-DE29-717AE079364C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6644843" y="592194"/>
              <a:ext cx="184150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3280044-D001-D14A-7630-D8FF30F42164}"/>
              </a:ext>
            </a:extLst>
          </p:cNvPr>
          <p:cNvGrpSpPr/>
          <p:nvPr/>
        </p:nvGrpSpPr>
        <p:grpSpPr>
          <a:xfrm>
            <a:off x="6704034" y="3883630"/>
            <a:ext cx="4954566" cy="2485531"/>
            <a:chOff x="6704034" y="3438372"/>
            <a:chExt cx="4954566" cy="2930790"/>
          </a:xfrm>
        </p:grpSpPr>
        <p:sp>
          <p:nvSpPr>
            <p:cNvPr id="42" name="Speech Bubble: Rectangle with Corners Rounded 41">
              <a:extLst>
                <a:ext uri="{FF2B5EF4-FFF2-40B4-BE49-F238E27FC236}">
                  <a16:creationId xmlns:a16="http://schemas.microsoft.com/office/drawing/2014/main" id="{BAD10DDC-91DB-AB8A-E6C7-8C4C94AA8EB6}"/>
                </a:ext>
              </a:extLst>
            </p:cNvPr>
            <p:cNvSpPr/>
            <p:nvPr/>
          </p:nvSpPr>
          <p:spPr>
            <a:xfrm>
              <a:off x="6704034" y="3438372"/>
              <a:ext cx="4954566" cy="2930790"/>
            </a:xfrm>
            <a:custGeom>
              <a:avLst/>
              <a:gdLst>
                <a:gd name="csX0" fmla="*/ 0 w 3695700"/>
                <a:gd name="csY0" fmla="*/ 360820 h 2164878"/>
                <a:gd name="csX1" fmla="*/ 360820 w 3695700"/>
                <a:gd name="csY1" fmla="*/ 0 h 2164878"/>
                <a:gd name="csX2" fmla="*/ 615950 w 3695700"/>
                <a:gd name="csY2" fmla="*/ 0 h 2164878"/>
                <a:gd name="csX3" fmla="*/ 615950 w 3695700"/>
                <a:gd name="csY3" fmla="*/ 0 h 2164878"/>
                <a:gd name="csX4" fmla="*/ 1539875 w 3695700"/>
                <a:gd name="csY4" fmla="*/ 0 h 2164878"/>
                <a:gd name="csX5" fmla="*/ 3334880 w 3695700"/>
                <a:gd name="csY5" fmla="*/ 0 h 2164878"/>
                <a:gd name="csX6" fmla="*/ 3695700 w 3695700"/>
                <a:gd name="csY6" fmla="*/ 360820 h 2164878"/>
                <a:gd name="csX7" fmla="*/ 3695700 w 3695700"/>
                <a:gd name="csY7" fmla="*/ 1262846 h 2164878"/>
                <a:gd name="csX8" fmla="*/ 3695700 w 3695700"/>
                <a:gd name="csY8" fmla="*/ 1262846 h 2164878"/>
                <a:gd name="csX9" fmla="*/ 3695700 w 3695700"/>
                <a:gd name="csY9" fmla="*/ 1804065 h 2164878"/>
                <a:gd name="csX10" fmla="*/ 3695700 w 3695700"/>
                <a:gd name="csY10" fmla="*/ 1804058 h 2164878"/>
                <a:gd name="csX11" fmla="*/ 3334880 w 3695700"/>
                <a:gd name="csY11" fmla="*/ 2164878 h 2164878"/>
                <a:gd name="csX12" fmla="*/ 1539875 w 3695700"/>
                <a:gd name="csY12" fmla="*/ 2164878 h 2164878"/>
                <a:gd name="csX13" fmla="*/ -1258866 w 3695700"/>
                <a:gd name="csY13" fmla="*/ 2930790 h 2164878"/>
                <a:gd name="csX14" fmla="*/ 615950 w 3695700"/>
                <a:gd name="csY14" fmla="*/ 2164878 h 2164878"/>
                <a:gd name="csX15" fmla="*/ 360820 w 3695700"/>
                <a:gd name="csY15" fmla="*/ 2164878 h 2164878"/>
                <a:gd name="csX16" fmla="*/ 0 w 3695700"/>
                <a:gd name="csY16" fmla="*/ 1804058 h 2164878"/>
                <a:gd name="csX17" fmla="*/ 0 w 3695700"/>
                <a:gd name="csY17" fmla="*/ 1804065 h 2164878"/>
                <a:gd name="csX18" fmla="*/ 0 w 3695700"/>
                <a:gd name="csY18" fmla="*/ 1262846 h 2164878"/>
                <a:gd name="csX19" fmla="*/ 0 w 3695700"/>
                <a:gd name="csY19" fmla="*/ 1262846 h 2164878"/>
                <a:gd name="csX20" fmla="*/ 0 w 3695700"/>
                <a:gd name="csY20" fmla="*/ 360820 h 2164878"/>
                <a:gd name="csX0" fmla="*/ 1258866 w 4954566"/>
                <a:gd name="csY0" fmla="*/ 360820 h 2930790"/>
                <a:gd name="csX1" fmla="*/ 1619686 w 4954566"/>
                <a:gd name="csY1" fmla="*/ 0 h 2930790"/>
                <a:gd name="csX2" fmla="*/ 1874816 w 4954566"/>
                <a:gd name="csY2" fmla="*/ 0 h 2930790"/>
                <a:gd name="csX3" fmla="*/ 1874816 w 4954566"/>
                <a:gd name="csY3" fmla="*/ 0 h 2930790"/>
                <a:gd name="csX4" fmla="*/ 2798741 w 4954566"/>
                <a:gd name="csY4" fmla="*/ 0 h 2930790"/>
                <a:gd name="csX5" fmla="*/ 4593746 w 4954566"/>
                <a:gd name="csY5" fmla="*/ 0 h 2930790"/>
                <a:gd name="csX6" fmla="*/ 4954566 w 4954566"/>
                <a:gd name="csY6" fmla="*/ 360820 h 2930790"/>
                <a:gd name="csX7" fmla="*/ 4954566 w 4954566"/>
                <a:gd name="csY7" fmla="*/ 1262846 h 2930790"/>
                <a:gd name="csX8" fmla="*/ 4954566 w 4954566"/>
                <a:gd name="csY8" fmla="*/ 1262846 h 2930790"/>
                <a:gd name="csX9" fmla="*/ 4954566 w 4954566"/>
                <a:gd name="csY9" fmla="*/ 1804065 h 2930790"/>
                <a:gd name="csX10" fmla="*/ 4954566 w 4954566"/>
                <a:gd name="csY10" fmla="*/ 1804058 h 2930790"/>
                <a:gd name="csX11" fmla="*/ 4593746 w 4954566"/>
                <a:gd name="csY11" fmla="*/ 2164878 h 2930790"/>
                <a:gd name="csX12" fmla="*/ 2252641 w 4954566"/>
                <a:gd name="csY12" fmla="*/ 2152178 h 2930790"/>
                <a:gd name="csX13" fmla="*/ 0 w 4954566"/>
                <a:gd name="csY13" fmla="*/ 2930790 h 2930790"/>
                <a:gd name="csX14" fmla="*/ 1874816 w 4954566"/>
                <a:gd name="csY14" fmla="*/ 2164878 h 2930790"/>
                <a:gd name="csX15" fmla="*/ 1619686 w 4954566"/>
                <a:gd name="csY15" fmla="*/ 2164878 h 2930790"/>
                <a:gd name="csX16" fmla="*/ 1258866 w 4954566"/>
                <a:gd name="csY16" fmla="*/ 1804058 h 2930790"/>
                <a:gd name="csX17" fmla="*/ 1258866 w 4954566"/>
                <a:gd name="csY17" fmla="*/ 1804065 h 2930790"/>
                <a:gd name="csX18" fmla="*/ 1258866 w 4954566"/>
                <a:gd name="csY18" fmla="*/ 1262846 h 2930790"/>
                <a:gd name="csX19" fmla="*/ 1258866 w 4954566"/>
                <a:gd name="csY19" fmla="*/ 1262846 h 2930790"/>
                <a:gd name="csX20" fmla="*/ 1258866 w 4954566"/>
                <a:gd name="csY20" fmla="*/ 360820 h 2930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4954566" h="2930790">
                  <a:moveTo>
                    <a:pt x="1258866" y="360820"/>
                  </a:moveTo>
                  <a:cubicBezTo>
                    <a:pt x="1258866" y="161545"/>
                    <a:pt x="1420411" y="0"/>
                    <a:pt x="1619686" y="0"/>
                  </a:cubicBezTo>
                  <a:lnTo>
                    <a:pt x="1874816" y="0"/>
                  </a:lnTo>
                  <a:lnTo>
                    <a:pt x="1874816" y="0"/>
                  </a:lnTo>
                  <a:lnTo>
                    <a:pt x="2798741" y="0"/>
                  </a:lnTo>
                  <a:lnTo>
                    <a:pt x="4593746" y="0"/>
                  </a:lnTo>
                  <a:cubicBezTo>
                    <a:pt x="4793021" y="0"/>
                    <a:pt x="4954566" y="161545"/>
                    <a:pt x="4954566" y="360820"/>
                  </a:cubicBezTo>
                  <a:lnTo>
                    <a:pt x="4954566" y="1262846"/>
                  </a:lnTo>
                  <a:lnTo>
                    <a:pt x="4954566" y="1262846"/>
                  </a:lnTo>
                  <a:lnTo>
                    <a:pt x="4954566" y="1804065"/>
                  </a:lnTo>
                  <a:lnTo>
                    <a:pt x="4954566" y="1804058"/>
                  </a:lnTo>
                  <a:cubicBezTo>
                    <a:pt x="4954566" y="2003333"/>
                    <a:pt x="4793021" y="2164878"/>
                    <a:pt x="4593746" y="2164878"/>
                  </a:cubicBezTo>
                  <a:lnTo>
                    <a:pt x="2252641" y="2152178"/>
                  </a:lnTo>
                  <a:lnTo>
                    <a:pt x="0" y="2930790"/>
                  </a:lnTo>
                  <a:lnTo>
                    <a:pt x="1874816" y="2164878"/>
                  </a:lnTo>
                  <a:lnTo>
                    <a:pt x="1619686" y="2164878"/>
                  </a:lnTo>
                  <a:cubicBezTo>
                    <a:pt x="1420411" y="2164878"/>
                    <a:pt x="1258866" y="2003333"/>
                    <a:pt x="1258866" y="1804058"/>
                  </a:cubicBezTo>
                  <a:lnTo>
                    <a:pt x="1258866" y="1804065"/>
                  </a:lnTo>
                  <a:lnTo>
                    <a:pt x="1258866" y="1262846"/>
                  </a:lnTo>
                  <a:lnTo>
                    <a:pt x="1258866" y="1262846"/>
                  </a:lnTo>
                  <a:lnTo>
                    <a:pt x="1258866" y="36082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C32AF98-C235-1EDE-58BB-0D4E2DBDBF97}"/>
                </a:ext>
              </a:extLst>
            </p:cNvPr>
            <p:cNvSpPr txBox="1"/>
            <p:nvPr/>
          </p:nvSpPr>
          <p:spPr>
            <a:xfrm>
              <a:off x="8167043" y="3623038"/>
              <a:ext cx="3287414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</a:rPr>
                <a:t>No metal-to-metal contact!</a:t>
              </a:r>
            </a:p>
            <a:p>
              <a:pPr algn="ctr"/>
              <a:endParaRPr lang="en-US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endParaRPr>
            </a:p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</a:rPr>
                <a:t>Always remember to protect surface with nylon foot or </a:t>
              </a:r>
            </a:p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</a:rPr>
                <a:t>protective tape</a:t>
              </a:r>
            </a:p>
            <a:p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12757D5-819B-BD5C-BCB9-5AA23AE90B26}"/>
              </a:ext>
            </a:extLst>
          </p:cNvPr>
          <p:cNvSpPr txBox="1"/>
          <p:nvPr/>
        </p:nvSpPr>
        <p:spPr>
          <a:xfrm rot="16200000">
            <a:off x="5722532" y="4249831"/>
            <a:ext cx="22417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2395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45667-F60C-09F7-1D40-C1DD8683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089CC-6FFF-1BFA-274F-DAC5F31ED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33049"/>
            <a:ext cx="10086975" cy="79190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48603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839C2-7BF2-36AE-DF8B-9AD9A2AE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63DA-D582-3FF9-0739-41B56CC4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(Q1-Q8)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5410E-01CE-A881-32E2-EC2E8F0AC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242950"/>
            <a:ext cx="5650786" cy="535305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Q1: What four requirements make a quality drilled hole?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Location, Angularity, Dimension, and Tolerance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Q2:</a:t>
            </a:r>
            <a:r>
              <a:rPr lang="en-US" sz="2000" dirty="0"/>
              <a:t> </a:t>
            </a:r>
            <a:r>
              <a:rPr lang="en-US" sz="2000" b="1" dirty="0"/>
              <a:t>What is the most common type of drill bit?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Twist </a:t>
            </a:r>
            <a:r>
              <a:rPr lang="en-US" sz="2000" dirty="0" err="1"/>
              <a:t>drillbit</a:t>
            </a:r>
            <a:r>
              <a:rPr lang="en-US" sz="2000" dirty="0"/>
              <a:t> 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Q3: What type of </a:t>
            </a:r>
            <a:r>
              <a:rPr lang="en-US" sz="2000" b="1" dirty="0" err="1"/>
              <a:t>drillbit</a:t>
            </a:r>
            <a:r>
              <a:rPr lang="en-US" sz="2000" b="1" dirty="0"/>
              <a:t> lets you drill increasingly larger diameter holes without changing bits?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Step </a:t>
            </a:r>
            <a:r>
              <a:rPr lang="en-US" sz="2000" dirty="0" err="1"/>
              <a:t>drillbit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Q4: What part of the </a:t>
            </a:r>
            <a:r>
              <a:rPr lang="en-US" sz="2000" b="1" dirty="0" err="1"/>
              <a:t>drillbit</a:t>
            </a:r>
            <a:r>
              <a:rPr lang="en-US" sz="2000" b="1" dirty="0"/>
              <a:t> is clamped into the chuck?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Shank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DE07E9-686C-16E6-DE07-31A3DC967A79}"/>
              </a:ext>
            </a:extLst>
          </p:cNvPr>
          <p:cNvSpPr txBox="1">
            <a:spLocks/>
          </p:cNvSpPr>
          <p:nvPr/>
        </p:nvSpPr>
        <p:spPr>
          <a:xfrm>
            <a:off x="6236413" y="557176"/>
            <a:ext cx="5650786" cy="6131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Q5: What purpose does the flute part of a </a:t>
            </a:r>
            <a:r>
              <a:rPr lang="en-US" sz="2000" b="1" dirty="0" err="1"/>
              <a:t>drillbit</a:t>
            </a:r>
            <a:r>
              <a:rPr lang="en-US" sz="2000" b="1" dirty="0"/>
              <a:t> server?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Allows waste material to exit the hole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Q6: What tool do you use when drilling to force perpendicular holes?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Drill guide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Q7: What tool do you use when drilling to control depth of the hole?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Drill stop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Q8: What is a hole called with a conical top into which a flat-head fastener can sit flush?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Countersink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4679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CD925-0823-6890-2746-06A8FCE50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A0C0-A341-C253-D6CA-3BC022E5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(Q9-Q16)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3B5C7-3293-585D-338A-29319BDC0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242950"/>
            <a:ext cx="5650786" cy="5465851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Q9: Name three types of countersink </a:t>
            </a:r>
            <a:r>
              <a:rPr lang="en-US" sz="2000" b="1" dirty="0" err="1"/>
              <a:t>drillbits</a:t>
            </a:r>
            <a:r>
              <a:rPr lang="en-US" sz="2000" b="1" dirty="0"/>
              <a:t>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1. Fluted bit,   2. Cross-Hole bit,  3. </a:t>
            </a:r>
            <a:r>
              <a:rPr lang="en-US" sz="2000" dirty="0" err="1"/>
              <a:t>Cogsdill</a:t>
            </a:r>
            <a:r>
              <a:rPr lang="en-US" sz="2000" dirty="0"/>
              <a:t> bit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Q10:</a:t>
            </a:r>
            <a:r>
              <a:rPr lang="en-US" sz="2000" dirty="0"/>
              <a:t> </a:t>
            </a:r>
            <a:r>
              <a:rPr lang="en-US" sz="2000" b="1" dirty="0"/>
              <a:t>What tool do you use when drilling a countersink hole to control depth?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</a:t>
            </a:r>
            <a:r>
              <a:rPr lang="en-US" sz="2000" dirty="0" err="1"/>
              <a:t>Microstop</a:t>
            </a:r>
            <a:r>
              <a:rPr lang="en-US" sz="2000" dirty="0"/>
              <a:t> tool 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Q11: What is not allowed for </a:t>
            </a:r>
            <a:r>
              <a:rPr lang="en-US" sz="2000" b="1" dirty="0" err="1"/>
              <a:t>drillbits</a:t>
            </a:r>
            <a:r>
              <a:rPr lang="en-US" sz="2000" b="1" dirty="0"/>
              <a:t> over six inches long?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Drilling speeds &gt; 6,000RPM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Q12: Why is it important to drill quality holes?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Lowers cost and re-work.  Increases airframe lifespan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6B4B5D8-00F1-AE8B-D943-C508C0E13650}"/>
              </a:ext>
            </a:extLst>
          </p:cNvPr>
          <p:cNvSpPr txBox="1">
            <a:spLocks/>
          </p:cNvSpPr>
          <p:nvPr/>
        </p:nvSpPr>
        <p:spPr>
          <a:xfrm>
            <a:off x="6236413" y="365126"/>
            <a:ext cx="5650786" cy="63233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Q13: Where is the diameter of the </a:t>
            </a:r>
            <a:r>
              <a:rPr lang="en-US" sz="2000" b="1" dirty="0" err="1"/>
              <a:t>drillbit</a:t>
            </a:r>
            <a:r>
              <a:rPr lang="en-US" sz="2000" b="1" dirty="0"/>
              <a:t> stamped?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On the shank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Q14: How is a chamfered hole different from a countersink hole?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A1:</a:t>
            </a:r>
            <a:r>
              <a:rPr lang="en-US" sz="2000" dirty="0"/>
              <a:t> Chamfer is 45°, shallow, for safety/deburring, and easy fastener entry.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A2:</a:t>
            </a:r>
            <a:r>
              <a:rPr lang="en-US" sz="2000" dirty="0"/>
              <a:t> Countersink is 82°-90°, deeper, tighter tolerance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Q15: What type of surface is most difficult to countersink?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Curved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Q16: How frequently should you test countersink holes?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Every 10 to 20 holes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7195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439E8-8D5D-2992-B6BD-A58EB1E6E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28D0-287F-C104-AED3-F0C3C16FA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(Q17-Q19)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5B01E-E051-3D1D-0E88-127626494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242950"/>
            <a:ext cx="5650786" cy="5465851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Q17: What is the name of the extra material in a slight radius between the shank and the head of a fastener used to strengthen it to avoid snapping there when you turn with screwdriver or wrench?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Fillet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Q18:</a:t>
            </a:r>
            <a:r>
              <a:rPr lang="en-US" sz="2000" dirty="0"/>
              <a:t> </a:t>
            </a:r>
            <a:r>
              <a:rPr lang="en-US" sz="2000" b="1" dirty="0"/>
              <a:t>What keeps the </a:t>
            </a:r>
            <a:r>
              <a:rPr lang="en-US" sz="2000" b="1" dirty="0" err="1"/>
              <a:t>Cogsdill</a:t>
            </a:r>
            <a:r>
              <a:rPr lang="en-US" sz="2000" b="1" dirty="0"/>
              <a:t> bit accurately centered in the drilled hole?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Pilot (hole and bit)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Q19: How should flush fasteners sit inside the countersunk hole?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Flush or slightly above ... but never below (risk b/c metal skin already too thin)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6649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2D309-79B3-0066-BB56-E79235F32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C3B1-808A-C5C9-BBB6-F06FDC830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696" y="1893712"/>
            <a:ext cx="8966607" cy="1535288"/>
          </a:xfrm>
        </p:spPr>
        <p:txBody>
          <a:bodyPr>
            <a:noAutofit/>
          </a:bodyPr>
          <a:lstStyle/>
          <a:p>
            <a:r>
              <a:rPr lang="en-US" sz="96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9C698-DE27-F888-6BAA-48C0C4FED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133" y="5258927"/>
            <a:ext cx="8966607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algn="l"/>
            <a:r>
              <a:rPr lang="pl-PL" sz="2000" dirty="0">
                <a:solidFill>
                  <a:schemeClr val="bg1"/>
                </a:solidFill>
              </a:rPr>
              <a:t>Matt Pierce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mpierce710006@gmail.com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linkedin.com/in/mpiercead576/</a:t>
            </a:r>
          </a:p>
          <a:p>
            <a:pPr algn="l"/>
            <a:r>
              <a:rPr lang="pl-PL" sz="2000" dirty="0">
                <a:solidFill>
                  <a:schemeClr val="bg1"/>
                </a:solidFill>
                <a:hlinkClick r:id="rId3"/>
              </a:rPr>
              <a:t>https://github.com/DataResearchLabs/study_guide_intro_aerospace_mfg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439251-0FA5-4222-2534-EC4CD92AB89C}"/>
              </a:ext>
            </a:extLst>
          </p:cNvPr>
          <p:cNvCxnSpPr>
            <a:cxnSpLocks/>
          </p:cNvCxnSpPr>
          <p:nvPr/>
        </p:nvCxnSpPr>
        <p:spPr>
          <a:xfrm>
            <a:off x="0" y="472722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227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3566</TotalTime>
  <Words>1356</Words>
  <Application>Microsoft Office PowerPoint</Application>
  <PresentationFormat>Widescreen</PresentationFormat>
  <Paragraphs>172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Comic Sans MS</vt:lpstr>
      <vt:lpstr>Office Theme</vt:lpstr>
      <vt:lpstr>Drilling &amp; Countersinking</vt:lpstr>
      <vt:lpstr>Drilling</vt:lpstr>
      <vt:lpstr>Drilling</vt:lpstr>
      <vt:lpstr>Basic Components of Drill Motor</vt:lpstr>
      <vt:lpstr>Types of Drill Bits</vt:lpstr>
      <vt:lpstr>Parts of a Drill Bit</vt:lpstr>
      <vt:lpstr>Drill Guides and Drill Stops</vt:lpstr>
      <vt:lpstr>Countersinking</vt:lpstr>
      <vt:lpstr>Countersinking</vt:lpstr>
      <vt:lpstr>Types of Countersink Drill Bits</vt:lpstr>
      <vt:lpstr>Microstop Tool  (to control depth)</vt:lpstr>
      <vt:lpstr>Q&amp;A</vt:lpstr>
      <vt:lpstr>Practice Q&amp;A’s  (Q1-Q8)</vt:lpstr>
      <vt:lpstr>Practice Q&amp;A’s  (Q9-Q16)</vt:lpstr>
      <vt:lpstr>Practice Q&amp;A’s  (Q17-Q19)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Pierce</dc:creator>
  <cp:lastModifiedBy>Matt Pierce</cp:lastModifiedBy>
  <cp:revision>117</cp:revision>
  <dcterms:created xsi:type="dcterms:W3CDTF">2026-02-02T22:48:01Z</dcterms:created>
  <dcterms:modified xsi:type="dcterms:W3CDTF">2026-02-27T02:47:48Z</dcterms:modified>
</cp:coreProperties>
</file>