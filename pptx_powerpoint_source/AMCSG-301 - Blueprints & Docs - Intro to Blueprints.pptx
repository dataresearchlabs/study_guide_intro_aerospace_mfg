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21" r:id="rId2"/>
    <p:sldId id="268" r:id="rId3"/>
    <p:sldId id="257" r:id="rId4"/>
    <p:sldId id="272" r:id="rId5"/>
    <p:sldId id="279" r:id="rId6"/>
    <p:sldId id="274" r:id="rId7"/>
    <p:sldId id="278" r:id="rId8"/>
    <p:sldId id="280" r:id="rId9"/>
    <p:sldId id="281" r:id="rId10"/>
    <p:sldId id="317" r:id="rId11"/>
    <p:sldId id="318" r:id="rId12"/>
    <p:sldId id="322" r:id="rId13"/>
    <p:sldId id="30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1" autoAdjust="0"/>
    <p:restoredTop sz="89003" autoAdjust="0"/>
  </p:normalViewPr>
  <p:slideViewPr>
    <p:cSldViewPr snapToGrid="0">
      <p:cViewPr varScale="1">
        <p:scale>
          <a:sx n="61" d="100"/>
          <a:sy n="61" d="100"/>
        </p:scale>
        <p:origin x="87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98CB6-2C88-401C-AAD5-2FFED2D64E9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D55C3-6A65-407E-9BFF-B66438A65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8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2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 AI: “show me a picture of blueprints in the aerospace industry. describe all parts of a blueprint.”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US Govt Public Domain Doc Pictures:   https://media.defense.gov/2017/Nov/03/2002658619/-1/-1/1/171103-N-ZY182-15347.pdf</a:t>
            </a:r>
            <a:br>
              <a:rPr lang="en-US" dirty="0"/>
            </a:b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make me a picture showing a laptop with CAD that feeds data to 1) printer, 2) plotter, 3) 3D printer to create part, 4) NC Machine / direct numerical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79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D910-E4B4-36C4-A0E6-20BCA607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C511C-A7B3-346C-69E0-6CC21B507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A400C-7F70-A020-AA33-553413BC9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query identified US Government public domain document:    https://media.defense.gov/2017/Nov/03/2002658619/-1/-1/1/171103-N-ZY182-15347.pdf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F7917-8F2B-78DF-D8B3-F0B335DF4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13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AD5B4-57BB-0CCD-E5F8-9A32A38D6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5D4B3-E83C-CDBB-D9AD-B2B7CC52F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8C5C7-D49B-387A-65C4-157A5E450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query identified </a:t>
            </a:r>
            <a:r>
              <a:rPr lang="en-US" dirty="0" err="1"/>
              <a:t>USGovernment</a:t>
            </a:r>
            <a:r>
              <a:rPr lang="en-US" dirty="0"/>
              <a:t> public domain document:    https://media.defense.gov/2017/Nov/03/2002658619/-1/-1/1/171103-N-ZY182-15347.pdf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770F2-1887-C208-AEF3-4510C0DD5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4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3472D-B7A2-98EB-3D1A-2DB05CF63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3C947-1A38-396B-5273-C074EBB39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E0C4D-5C09-774F-C61A-37AED6DB6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for all three images:  show an example each of "Detail Drawings", "Assembly Drawings", and "Installation Drawings". Focus on commercial aircraft as the context.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B429F-5EEE-244B-07A1-9B1535FE2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53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9693D-7A1F-37A0-0276-765FC41B9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146FF-127C-9181-B4A2-BD5EA021D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CE473-D898-2040-FD27-CD6E25583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query identified </a:t>
            </a:r>
            <a:r>
              <a:rPr lang="en-US" dirty="0" err="1"/>
              <a:t>USGovernment</a:t>
            </a:r>
            <a:r>
              <a:rPr lang="en-US" dirty="0"/>
              <a:t> public domain document:    https://media.defense.gov/2017/Nov/03/2002658619/-1/-1/1/171103-N-ZY182-15347.pdf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C82EB-455D-4584-C758-FF2E88946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57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F5CB-9EEA-30A7-E751-99A99C6F4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81EE5-7B4E-CF26-F208-11C3C486E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29A8A-AB12-97B7-23FE-B818B3941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show examples of assembly drawings for aircraft manufacturing. include a part list, diagram how parts fit together, dimension lines, etc.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query identified </a:t>
            </a:r>
            <a:r>
              <a:rPr lang="en-US" dirty="0" err="1"/>
              <a:t>USGovernment</a:t>
            </a:r>
            <a:r>
              <a:rPr lang="en-US" dirty="0"/>
              <a:t> public domain document:    https://media.defense.gov/2017/Nov/03/2002658619/-1/-1/1/171103-N-ZY182-15347.pdf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F7A97-D093-659C-0F5F-1AEEADAF6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68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DF474-0E14-FBD5-9EB8-F3BF4926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A25B0-D4A0-893C-EEE0-F27C58B09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310E5-26B3-3E9F-461B-1AC461F08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1AFCB-53ED-F955-1F35-0986C9B85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96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FE57-7CA1-1F08-40B4-7752B89C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3B1B3-B826-C16C-582D-0AF1300AB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EF43A-92BE-B2AD-DE41-70701A517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BB0F8-DF6E-284F-F4D7-5190108C3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67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57144-D586-E85C-BB9B-1DFAAA390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D3E26-4BC6-AB72-F5AB-B38124298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41197-C67F-6538-F940-36D720864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548A0-EDF6-E4FC-5BEB-C292EF85A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94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6A15-4627-A2B7-B23E-2AC252B8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1D323-39FD-6977-01F7-412F0DE6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71F59-B048-3D2A-8AFA-5907E8E6E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2962-9A43-C2C2-7107-AD8564EA2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6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8604-8C4F-A976-286B-E17FB7C14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D2EB9-B6C1-80A3-7C6D-D35E38A03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8A0F-A558-BEB7-6231-6925F33C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1166D-3B41-FC46-B527-118F3460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53BE-7379-C725-CF26-CC6B4582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6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079D-5F59-ED52-BFF6-108D0B4B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464D4-320F-5BA1-287F-1810736AB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F46D3-7E3E-A3F7-278E-3551B22E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261CB-A869-1544-C0A7-CC8604F4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4C245-FC94-FA83-E5F4-3A9F814E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3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ABCD-A3C6-53C0-24E3-954C9A82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5E699-7560-7EDA-7B99-F59CD0C3A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2B8C-062D-E298-1EAA-A52D35FA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F3F7A-D347-901F-0C3A-87475B63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49654-0078-975F-CED4-0DEF4EBA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5F63-6558-5286-61E4-A5490977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9B79C-BB11-0D88-C0DC-1C491C75A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EF498-1470-A152-8DBA-089FF363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EFBD9-D87E-39CB-A355-14D4BB93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A95F7-406E-D075-8B39-623D2BBE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CC82C-F922-EC87-9017-EF7F35AA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0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6EFA-DCF2-0F96-3716-78160812E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353F8-35CE-B547-928A-196E0C4D5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65914-9D20-1CD8-A86D-5F4A2F02E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884EB-0E59-5F47-4379-943FF84F9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CA68-CFD3-9870-4F97-476B9FC18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52665-A037-02EF-95D2-5C9DFE8C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B38FF-5536-D966-C235-F1789960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F1FCDF-1DBF-2AA3-93C1-61400BA1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9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DE56-0CE0-D5B3-0EDA-8FADF7BA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CBFB5-D851-3D9D-F332-47B43608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273FA-2457-4385-2E37-2A272905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2ED07-57CD-AF06-DD3A-2454B3CD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6715A-586C-FF87-D16B-76C507D1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8C50A-ACA0-E39C-BF1E-1AB606A2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AEB16-9EB9-619F-5C07-329C7663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1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D819-C7CB-8577-D68F-9DDA148B1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50A4-3F7D-2D71-A9D4-740363302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536D9-2523-D955-F38D-FE976F44E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2DA0F-A8B3-4CF1-B679-C5B0D39B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69CA2-A42A-833D-BC7C-967D1EFF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0A10A-141E-2590-DD32-0F38164C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238C-F95A-85C6-EF95-6192D455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BEC10-9D21-E83F-7164-A85385A8D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3150E-BFB2-B49D-B13D-37BFAC1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22970-B70C-CFBD-3CC4-D601161A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D507F-6489-85D6-C731-7346630A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88480-DC24-2467-A79D-74622277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2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3787E-C838-836F-52EE-50D8BB58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1598B-9911-A386-F7AA-97913A488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5A08D-38E1-D7DC-F94F-51768EFD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829E-AB80-5C6B-0D61-A0DFC109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7A8F-5B78-B4B6-09FE-0993C94C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8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9024B-25BF-EA72-BD35-65EF808FF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796C1-A9AD-51B1-9E18-4C9680259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1A7B-3E4E-45E3-2613-EBBE7B7A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0DA0-1A51-9958-DA38-0E0EC8FF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903E-BE2A-59C5-B220-A6582E61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6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8F4C7-2F11-26ED-32BD-E758D190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9DBA8-3E2E-A76B-065E-87B759776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6856E-F249-64F9-2B63-8358883D7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75684-5E0C-B3A4-431A-05A010826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5A29-6651-182C-206F-17AE0616C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5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a.defense.gov/2017/Nov/03/2002658619/-1/-1/1/171103-N-ZY182-15347.pdf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a.defense.gov/2017/Nov/03/2002658619/-1/-1/1/171103-N-ZY182-15347.pdf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a.defense.gov/2017/Nov/03/2002658619/-1/-1/1/171103-N-ZY182-15347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a.defense.gov/2017/Nov/03/2002658619/-1/-1/1/171103-N-ZY182-15347.pdf" TargetMode="Externa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taResearchLabs/study_guide_intro_aerospace_mf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69CFF-BAE7-BF73-632D-A9101B28F0D2}"/>
              </a:ext>
            </a:extLst>
          </p:cNvPr>
          <p:cNvSpPr/>
          <p:nvPr/>
        </p:nvSpPr>
        <p:spPr>
          <a:xfrm>
            <a:off x="935182" y="2242335"/>
            <a:ext cx="10318173" cy="237333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0237A-1769-2D18-56A2-B36906319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40599"/>
            <a:ext cx="12192000" cy="1145996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Introduction to Blueprints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83414-9557-9971-74AE-0E0F206E6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4882" y="768846"/>
            <a:ext cx="3862232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Aerospace Manufacturing Core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Study Guide 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“AMCSG-301”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361BB-91A4-6234-4565-06CC792AA8FE}"/>
              </a:ext>
            </a:extLst>
          </p:cNvPr>
          <p:cNvSpPr txBox="1">
            <a:spLocks/>
          </p:cNvSpPr>
          <p:nvPr/>
        </p:nvSpPr>
        <p:spPr>
          <a:xfrm>
            <a:off x="-1" y="2592083"/>
            <a:ext cx="12191999" cy="748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Blueprints &amp; Documents</a:t>
            </a:r>
          </a:p>
        </p:txBody>
      </p:sp>
    </p:spTree>
    <p:extLst>
      <p:ext uri="{BB962C8B-B14F-4D97-AF65-F5344CB8AC3E}">
        <p14:creationId xmlns:p14="http://schemas.microsoft.com/office/powerpoint/2010/main" val="124129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642FE-6ECF-E3D8-7D9D-39E0DB0F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D3C8-4444-8DF5-BBB4-962EEF7F1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69592"/>
            <a:ext cx="10086975" cy="718815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Introduction to Blueprints</a:t>
            </a:r>
          </a:p>
        </p:txBody>
      </p:sp>
    </p:spTree>
    <p:extLst>
      <p:ext uri="{BB962C8B-B14F-4D97-AF65-F5344CB8AC3E}">
        <p14:creationId xmlns:p14="http://schemas.microsoft.com/office/powerpoint/2010/main" val="1254583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CDF33-068F-CE4C-8F42-3F734AD8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7084522" cy="877824"/>
          </a:xfrm>
        </p:spPr>
        <p:txBody>
          <a:bodyPr/>
          <a:lstStyle/>
          <a:p>
            <a:r>
              <a:rPr lang="en-US" dirty="0"/>
              <a:t>Definition of a  Blueprint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88B93-DE49-678F-11A2-863E3DC96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2" y="1483104"/>
            <a:ext cx="10958538" cy="4814954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Blueprint = Engineering Drawings = Technical Drawings = Plans (= Sketch)</a:t>
            </a:r>
          </a:p>
          <a:p>
            <a:r>
              <a:rPr lang="en-US" sz="2400" dirty="0"/>
              <a:t>Detailed drawings used all stages: design &gt; manufacture &gt; maintain aircraft</a:t>
            </a:r>
          </a:p>
          <a:p>
            <a:r>
              <a:rPr lang="en-US" sz="2400" dirty="0"/>
              <a:t>Modern drawings = CAD.  Blueprint comes from old chemical process for copies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CAD drawings can then feed:</a:t>
            </a:r>
          </a:p>
          <a:p>
            <a:pPr lvl="1"/>
            <a:r>
              <a:rPr lang="en-US" sz="2000" dirty="0"/>
              <a:t>Printers</a:t>
            </a:r>
          </a:p>
          <a:p>
            <a:pPr lvl="1"/>
            <a:r>
              <a:rPr lang="en-US" sz="2000" dirty="0"/>
              <a:t>Plotters</a:t>
            </a:r>
          </a:p>
          <a:p>
            <a:pPr lvl="1"/>
            <a:r>
              <a:rPr lang="en-US" sz="2000" dirty="0"/>
              <a:t>3D Printers</a:t>
            </a:r>
          </a:p>
          <a:p>
            <a:pPr lvl="1"/>
            <a:r>
              <a:rPr lang="en-US" sz="2000" dirty="0"/>
              <a:t>NC Machines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FE974-9184-97EB-7F5A-730230073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57" y="2696468"/>
            <a:ext cx="1908693" cy="146691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312586-1F5E-99F4-EAC2-D6F950C62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968" y="4561113"/>
            <a:ext cx="2667372" cy="20767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7F7336B-156D-45CB-32A0-419E705C6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7290" y="4561115"/>
            <a:ext cx="2686425" cy="2076740"/>
          </a:xfrm>
          <a:prstGeom prst="rect">
            <a:avLst/>
          </a:prstGeom>
        </p:spPr>
      </p:pic>
      <p:sp>
        <p:nvSpPr>
          <p:cNvPr id="4" name="TextBox 3">
            <a:hlinkClick r:id="rId6"/>
            <a:extLst>
              <a:ext uri="{FF2B5EF4-FFF2-40B4-BE49-F238E27FC236}">
                <a16:creationId xmlns:a16="http://schemas.microsoft.com/office/drawing/2014/main" id="{763C5AF0-6304-2CCC-1C7F-B12F873FE134}"/>
              </a:ext>
            </a:extLst>
          </p:cNvPr>
          <p:cNvSpPr txBox="1"/>
          <p:nvPr/>
        </p:nvSpPr>
        <p:spPr>
          <a:xfrm>
            <a:off x="857021" y="4172710"/>
            <a:ext cx="2332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(PD) U.S. Gov – NAVEDTRA14040A, 2015 </a:t>
            </a:r>
          </a:p>
        </p:txBody>
      </p:sp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37CC1812-54DB-9E19-DB02-D24E876F5128}"/>
              </a:ext>
            </a:extLst>
          </p:cNvPr>
          <p:cNvSpPr txBox="1"/>
          <p:nvPr/>
        </p:nvSpPr>
        <p:spPr>
          <a:xfrm rot="16200000">
            <a:off x="10671743" y="5412902"/>
            <a:ext cx="22495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(PD) U.S. Gov – NAVEDTRA14040A, 2015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42429-884A-E581-395F-F67D18E18B12}"/>
              </a:ext>
            </a:extLst>
          </p:cNvPr>
          <p:cNvSpPr txBox="1"/>
          <p:nvPr/>
        </p:nvSpPr>
        <p:spPr>
          <a:xfrm>
            <a:off x="10222787" y="18045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A239D9-6DD5-5BCD-F731-2CF558EE04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8968" y="3061665"/>
            <a:ext cx="2667372" cy="15242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8DB772-89C7-E601-4E84-BEA08C3B0F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7290" y="3071192"/>
            <a:ext cx="2686425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7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DC96BF-E136-446A-EAB2-DE65DBA6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98BBF551-3FB4-15E0-8F44-420879618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932" y="1711696"/>
            <a:ext cx="7716136" cy="465237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5A4AEF-1375-5CB5-1CA8-2DE951AD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813473" cy="877824"/>
          </a:xfrm>
        </p:spPr>
        <p:txBody>
          <a:bodyPr/>
          <a:lstStyle/>
          <a:p>
            <a:r>
              <a:rPr lang="en-US" dirty="0"/>
              <a:t>Blueprint “Standard Elements” 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(1 of 2)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3ADE76-4707-CB82-9C0C-DC4DCAC8B806}"/>
              </a:ext>
            </a:extLst>
          </p:cNvPr>
          <p:cNvCxnSpPr>
            <a:cxnSpLocks/>
          </p:cNvCxnSpPr>
          <p:nvPr/>
        </p:nvCxnSpPr>
        <p:spPr>
          <a:xfrm>
            <a:off x="2270108" y="1690688"/>
            <a:ext cx="0" cy="4652376"/>
          </a:xfrm>
          <a:prstGeom prst="line">
            <a:avLst/>
          </a:prstGeom>
          <a:ln w="44450">
            <a:solidFill>
              <a:srgbClr val="FFFF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22291DC-233F-4CC7-C5C8-F70BF8493421}"/>
              </a:ext>
            </a:extLst>
          </p:cNvPr>
          <p:cNvCxnSpPr>
            <a:cxnSpLocks/>
          </p:cNvCxnSpPr>
          <p:nvPr/>
        </p:nvCxnSpPr>
        <p:spPr>
          <a:xfrm flipV="1">
            <a:off x="2270108" y="1721168"/>
            <a:ext cx="6702519" cy="21470"/>
          </a:xfrm>
          <a:prstGeom prst="line">
            <a:avLst/>
          </a:prstGeom>
          <a:ln w="44450">
            <a:solidFill>
              <a:srgbClr val="FFFF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6138B3-C5A7-B93B-68EE-186AAFAAF7AC}"/>
              </a:ext>
            </a:extLst>
          </p:cNvPr>
          <p:cNvCxnSpPr>
            <a:cxnSpLocks/>
          </p:cNvCxnSpPr>
          <p:nvPr/>
        </p:nvCxnSpPr>
        <p:spPr>
          <a:xfrm>
            <a:off x="2237932" y="6309406"/>
            <a:ext cx="7690736" cy="33658"/>
          </a:xfrm>
          <a:prstGeom prst="line">
            <a:avLst/>
          </a:prstGeom>
          <a:ln w="44450">
            <a:solidFill>
              <a:srgbClr val="FFFF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D00DAC-DE62-36E3-3A39-EFB20F622BAB}"/>
              </a:ext>
            </a:extLst>
          </p:cNvPr>
          <p:cNvCxnSpPr>
            <a:cxnSpLocks/>
          </p:cNvCxnSpPr>
          <p:nvPr/>
        </p:nvCxnSpPr>
        <p:spPr>
          <a:xfrm>
            <a:off x="9928668" y="1711696"/>
            <a:ext cx="0" cy="4652376"/>
          </a:xfrm>
          <a:prstGeom prst="line">
            <a:avLst/>
          </a:prstGeom>
          <a:ln w="44450">
            <a:solidFill>
              <a:srgbClr val="FFFF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CB094B-F3B2-1A83-B26E-AC6FD9D44B75}"/>
              </a:ext>
            </a:extLst>
          </p:cNvPr>
          <p:cNvGrpSpPr/>
          <p:nvPr/>
        </p:nvGrpSpPr>
        <p:grpSpPr>
          <a:xfrm>
            <a:off x="5240159" y="1123766"/>
            <a:ext cx="1013372" cy="606875"/>
            <a:chOff x="-8228024" y="2324757"/>
            <a:chExt cx="1013372" cy="6068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409BAD-9D1F-43F7-E846-9180E7221BE8}"/>
                </a:ext>
              </a:extLst>
            </p:cNvPr>
            <p:cNvSpPr txBox="1"/>
            <p:nvPr/>
          </p:nvSpPr>
          <p:spPr>
            <a:xfrm>
              <a:off x="-8228024" y="2324757"/>
              <a:ext cx="1013372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Border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EF1BF3E-1F9C-49D5-C701-01EB15F6E309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-7721338" y="2694089"/>
              <a:ext cx="0" cy="237543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1C9A04F8-96AD-B967-00BB-03E866E54017}"/>
              </a:ext>
            </a:extLst>
          </p:cNvPr>
          <p:cNvSpPr/>
          <p:nvPr/>
        </p:nvSpPr>
        <p:spPr>
          <a:xfrm>
            <a:off x="7740884" y="1740219"/>
            <a:ext cx="2184972" cy="37118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845EF3B-9B5A-BF76-6914-5C3B48B32C01}"/>
              </a:ext>
            </a:extLst>
          </p:cNvPr>
          <p:cNvGrpSpPr/>
          <p:nvPr/>
        </p:nvGrpSpPr>
        <p:grpSpPr>
          <a:xfrm>
            <a:off x="9417949" y="1048399"/>
            <a:ext cx="2392767" cy="691819"/>
            <a:chOff x="9417949" y="1048399"/>
            <a:chExt cx="2392767" cy="691819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342FC365-E801-EDF4-540B-56B261D9A254}"/>
                </a:ext>
              </a:extLst>
            </p:cNvPr>
            <p:cNvCxnSpPr>
              <a:cxnSpLocks/>
              <a:stCxn id="67" idx="1"/>
            </p:cNvCxnSpPr>
            <p:nvPr/>
          </p:nvCxnSpPr>
          <p:spPr>
            <a:xfrm flipH="1">
              <a:off x="9417949" y="1233065"/>
              <a:ext cx="506685" cy="507153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FE5F733-DC67-48FA-9815-96EEC6CFD7B2}"/>
                </a:ext>
              </a:extLst>
            </p:cNvPr>
            <p:cNvSpPr txBox="1"/>
            <p:nvPr/>
          </p:nvSpPr>
          <p:spPr>
            <a:xfrm>
              <a:off x="9924634" y="1048399"/>
              <a:ext cx="1886082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Revision Block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6F98DF30-EDBB-4B30-027C-8819A520A310}"/>
              </a:ext>
            </a:extLst>
          </p:cNvPr>
          <p:cNvSpPr/>
          <p:nvPr/>
        </p:nvSpPr>
        <p:spPr>
          <a:xfrm>
            <a:off x="2270106" y="1742638"/>
            <a:ext cx="3111511" cy="2215005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FAFCB64-E16D-B284-BEC5-4D9555FAB56D}"/>
              </a:ext>
            </a:extLst>
          </p:cNvPr>
          <p:cNvGrpSpPr/>
          <p:nvPr/>
        </p:nvGrpSpPr>
        <p:grpSpPr>
          <a:xfrm>
            <a:off x="749043" y="1120799"/>
            <a:ext cx="1641732" cy="765151"/>
            <a:chOff x="733494" y="1315664"/>
            <a:chExt cx="1641732" cy="76515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A10F33F-9A26-D31D-B311-6550B631D2E6}"/>
                </a:ext>
              </a:extLst>
            </p:cNvPr>
            <p:cNvSpPr txBox="1"/>
            <p:nvPr/>
          </p:nvSpPr>
          <p:spPr>
            <a:xfrm>
              <a:off x="733494" y="1315664"/>
              <a:ext cx="1280884" cy="646331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Bill of Materials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8D21710-A6E1-AC84-74B2-08933E5D2464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2014378" y="1638830"/>
              <a:ext cx="360848" cy="441985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BA3ACBF-D812-72F5-39F6-2B7405592B5C}"/>
              </a:ext>
            </a:extLst>
          </p:cNvPr>
          <p:cNvGrpSpPr/>
          <p:nvPr/>
        </p:nvGrpSpPr>
        <p:grpSpPr>
          <a:xfrm>
            <a:off x="2270107" y="4625220"/>
            <a:ext cx="7654527" cy="1684187"/>
            <a:chOff x="2270107" y="4625220"/>
            <a:chExt cx="7654527" cy="168418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BB765E-A12C-27A1-AFE1-495AF45B9CC8}"/>
                </a:ext>
              </a:extLst>
            </p:cNvPr>
            <p:cNvSpPr/>
            <p:nvPr/>
          </p:nvSpPr>
          <p:spPr>
            <a:xfrm>
              <a:off x="5181600" y="5568951"/>
              <a:ext cx="4743034" cy="740456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74FAD7E-EB94-6F37-29E6-BCEFB48431F2}"/>
                </a:ext>
              </a:extLst>
            </p:cNvPr>
            <p:cNvSpPr/>
            <p:nvPr/>
          </p:nvSpPr>
          <p:spPr>
            <a:xfrm>
              <a:off x="2270107" y="4625220"/>
              <a:ext cx="2907457" cy="1684186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287BE0-18F2-7579-8FE3-095269A4FA3E}"/>
              </a:ext>
            </a:extLst>
          </p:cNvPr>
          <p:cNvGrpSpPr/>
          <p:nvPr/>
        </p:nvGrpSpPr>
        <p:grpSpPr>
          <a:xfrm>
            <a:off x="9924634" y="5751972"/>
            <a:ext cx="1699899" cy="369332"/>
            <a:chOff x="8226895" y="3797145"/>
            <a:chExt cx="1699899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ED310D2-B0D9-4DEC-650F-3F5D26064D4B}"/>
                </a:ext>
              </a:extLst>
            </p:cNvPr>
            <p:cNvSpPr txBox="1"/>
            <p:nvPr/>
          </p:nvSpPr>
          <p:spPr>
            <a:xfrm>
              <a:off x="8625347" y="3797145"/>
              <a:ext cx="1301447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Title Block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22D3C48-67A2-E8BD-4069-604CE795E762}"/>
                </a:ext>
              </a:extLst>
            </p:cNvPr>
            <p:cNvCxnSpPr>
              <a:cxnSpLocks/>
              <a:stCxn id="25" idx="1"/>
              <a:endCxn id="31" idx="3"/>
            </p:cNvCxnSpPr>
            <p:nvPr/>
          </p:nvCxnSpPr>
          <p:spPr>
            <a:xfrm flipH="1">
              <a:off x="8226895" y="3981811"/>
              <a:ext cx="398452" cy="2541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B8B981A-375D-A015-736C-9025FC7EC690}"/>
              </a:ext>
            </a:extLst>
          </p:cNvPr>
          <p:cNvGrpSpPr/>
          <p:nvPr/>
        </p:nvGrpSpPr>
        <p:grpSpPr>
          <a:xfrm>
            <a:off x="7324725" y="3118691"/>
            <a:ext cx="4666966" cy="973290"/>
            <a:chOff x="7324725" y="3118691"/>
            <a:chExt cx="4666966" cy="97329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7E3D48D-51A3-05DA-9CB0-0BE289DE86EC}"/>
                </a:ext>
              </a:extLst>
            </p:cNvPr>
            <p:cNvGrpSpPr/>
            <p:nvPr/>
          </p:nvGrpSpPr>
          <p:grpSpPr>
            <a:xfrm>
              <a:off x="9671291" y="3538362"/>
              <a:ext cx="2320400" cy="553619"/>
              <a:chOff x="9490316" y="1048399"/>
              <a:chExt cx="2320400" cy="553619"/>
            </a:xfrm>
          </p:grpSpPr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B4285E55-B456-140E-98FF-F8D0C1BBB0C7}"/>
                  </a:ext>
                </a:extLst>
              </p:cNvPr>
              <p:cNvCxnSpPr>
                <a:cxnSpLocks/>
                <a:stCxn id="82" idx="1"/>
              </p:cNvCxnSpPr>
              <p:nvPr/>
            </p:nvCxnSpPr>
            <p:spPr>
              <a:xfrm flipH="1">
                <a:off x="9490316" y="1233065"/>
                <a:ext cx="434318" cy="36895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4067EB2-D75E-EE7F-4B74-6EE5390FBF75}"/>
                  </a:ext>
                </a:extLst>
              </p:cNvPr>
              <p:cNvSpPr txBox="1"/>
              <p:nvPr/>
            </p:nvSpPr>
            <p:spPr>
              <a:xfrm>
                <a:off x="9924634" y="1048399"/>
                <a:ext cx="1886082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Drawing Area</a:t>
                </a:r>
              </a:p>
            </p:txBody>
          </p:sp>
        </p:grp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46BDBA24-4071-CC35-DE40-016062004E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5300" y="3118691"/>
              <a:ext cx="1773150" cy="788813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A0FC852-FA5E-DEE3-7255-BFFE70E09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24725" y="3302815"/>
              <a:ext cx="1219200" cy="419896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hlinkClick r:id="rId4"/>
            <a:extLst>
              <a:ext uri="{FF2B5EF4-FFF2-40B4-BE49-F238E27FC236}">
                <a16:creationId xmlns:a16="http://schemas.microsoft.com/office/drawing/2014/main" id="{9E8BF616-8C2A-9CB9-04AB-7BC2F40C0A12}"/>
              </a:ext>
            </a:extLst>
          </p:cNvPr>
          <p:cNvSpPr txBox="1"/>
          <p:nvPr/>
        </p:nvSpPr>
        <p:spPr>
          <a:xfrm>
            <a:off x="7621080" y="6328328"/>
            <a:ext cx="2332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(PD) U.S. Gov – NAVEDTRA14040A, 2015 </a:t>
            </a:r>
          </a:p>
        </p:txBody>
      </p:sp>
    </p:spTree>
    <p:extLst>
      <p:ext uri="{BB962C8B-B14F-4D97-AF65-F5344CB8AC3E}">
        <p14:creationId xmlns:p14="http://schemas.microsoft.com/office/powerpoint/2010/main" val="140893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454AF-ED44-1023-8D3C-AFE91955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0AB0-F32D-54D7-60F7-207FDAC5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Blueprint “Standard Elements” 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(2 of 2)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CEA12-752F-01CC-C5EC-405B7C950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31" y="1369696"/>
            <a:ext cx="10958538" cy="3254259"/>
          </a:xfrm>
        </p:spPr>
        <p:txBody>
          <a:bodyPr>
            <a:normAutofit/>
          </a:bodyPr>
          <a:lstStyle/>
          <a:p>
            <a:r>
              <a:rPr lang="en-US" b="1" dirty="0"/>
              <a:t>Blueprint Lines</a:t>
            </a:r>
          </a:p>
          <a:p>
            <a:pPr lvl="1"/>
            <a:r>
              <a:rPr lang="en-US" dirty="0"/>
              <a:t>Shape of objects from top, front, and side views</a:t>
            </a:r>
          </a:p>
          <a:p>
            <a:pPr lvl="1"/>
            <a:r>
              <a:rPr lang="en-US" dirty="0"/>
              <a:t>Features hidden inside an object</a:t>
            </a:r>
          </a:p>
          <a:p>
            <a:pPr lvl="1"/>
            <a:r>
              <a:rPr lang="en-US" dirty="0"/>
              <a:t>Measurement and callout lines</a:t>
            </a:r>
          </a:p>
          <a:p>
            <a:r>
              <a:rPr lang="en-US" b="1" dirty="0"/>
              <a:t>Blueprint Symbols</a:t>
            </a:r>
          </a:p>
          <a:p>
            <a:pPr lvl="1"/>
            <a:r>
              <a:rPr lang="en-US" dirty="0"/>
              <a:t>Hundreds of specific symbols</a:t>
            </a:r>
          </a:p>
          <a:p>
            <a:pPr lvl="1"/>
            <a:r>
              <a:rPr lang="en-US" dirty="0"/>
              <a:t>Representing Machining, Fasteners, Electrical, Hydraulic, Welding, etc.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18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B7BD3-A4A3-2BAE-11D4-586AD842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4FB1-154A-AAAA-9DA2-1DEB3D040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Drawing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27E24-77FF-FDA0-41B4-E2D3E17BC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2" y="1483104"/>
            <a:ext cx="10958538" cy="1677928"/>
          </a:xfrm>
        </p:spPr>
        <p:txBody>
          <a:bodyPr>
            <a:normAutofit/>
          </a:bodyPr>
          <a:lstStyle/>
          <a:p>
            <a:r>
              <a:rPr lang="en-US" b="1" dirty="0"/>
              <a:t>Production Drawings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 Engineers’ Instructions how to build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Detail Drawings</a:t>
            </a:r>
            <a:r>
              <a:rPr lang="en-US" dirty="0"/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 How to fabricate a specific</a:t>
            </a: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part</a:t>
            </a:r>
            <a:endParaRPr lang="en-US" b="1" dirty="0">
              <a:solidFill>
                <a:srgbClr val="C0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Assembly Drawings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How an </a:t>
            </a:r>
            <a:r>
              <a:rPr lang="en-US" sz="2000" b="1" dirty="0">
                <a:solidFill>
                  <a:srgbClr val="C00000"/>
                </a:solidFill>
              </a:rPr>
              <a:t>assembly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is put together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Installation Drawings</a:t>
            </a:r>
            <a:r>
              <a:rPr lang="en-US" dirty="0"/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 Where parts &amp; assemblies located in </a:t>
            </a:r>
            <a:r>
              <a:rPr lang="en-US" sz="2000" b="1" dirty="0">
                <a:solidFill>
                  <a:srgbClr val="C00000"/>
                </a:solidFill>
              </a:rPr>
              <a:t>final product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40B5A-9C04-F65D-FDEE-44FA91F0F412}"/>
              </a:ext>
            </a:extLst>
          </p:cNvPr>
          <p:cNvSpPr txBox="1"/>
          <p:nvPr/>
        </p:nvSpPr>
        <p:spPr>
          <a:xfrm>
            <a:off x="10274157" y="180459"/>
            <a:ext cx="1767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3906BE-955F-8552-92D2-D525E9369544}"/>
              </a:ext>
            </a:extLst>
          </p:cNvPr>
          <p:cNvGrpSpPr/>
          <p:nvPr/>
        </p:nvGrpSpPr>
        <p:grpSpPr>
          <a:xfrm>
            <a:off x="514083" y="3607849"/>
            <a:ext cx="3610242" cy="2885026"/>
            <a:chOff x="161658" y="3675360"/>
            <a:chExt cx="3610242" cy="288502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035DE9A-41E4-BB6D-A19E-250A7F108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659" y="3970806"/>
              <a:ext cx="3610241" cy="258958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0FC9C6-7BE8-C817-C130-D7E8E8375DB2}"/>
                </a:ext>
              </a:extLst>
            </p:cNvPr>
            <p:cNvSpPr txBox="1"/>
            <p:nvPr/>
          </p:nvSpPr>
          <p:spPr>
            <a:xfrm>
              <a:off x="161658" y="3675360"/>
              <a:ext cx="3610241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Part</a:t>
              </a:r>
              <a:r>
                <a:rPr lang="en-US" b="1" dirty="0">
                  <a:solidFill>
                    <a:schemeClr val="bg1"/>
                  </a:solidFill>
                </a:rPr>
                <a:t> Detail Drawing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2084EDB-D16C-F4B9-C76D-D25CC0731436}"/>
              </a:ext>
            </a:extLst>
          </p:cNvPr>
          <p:cNvGrpSpPr/>
          <p:nvPr/>
        </p:nvGrpSpPr>
        <p:grpSpPr>
          <a:xfrm>
            <a:off x="4323271" y="3607849"/>
            <a:ext cx="3610241" cy="2885026"/>
            <a:chOff x="3970846" y="3675360"/>
            <a:chExt cx="3610241" cy="288502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AF12D55-7A6D-D990-43B7-4122ECCA5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70846" y="4044692"/>
              <a:ext cx="3610241" cy="251569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A99818-B9A7-E13E-D6BE-A49A4E8F4DC9}"/>
                </a:ext>
              </a:extLst>
            </p:cNvPr>
            <p:cNvSpPr txBox="1"/>
            <p:nvPr/>
          </p:nvSpPr>
          <p:spPr>
            <a:xfrm>
              <a:off x="3970846" y="3675360"/>
              <a:ext cx="3610241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Assembly </a:t>
              </a:r>
              <a:r>
                <a:rPr lang="en-US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of Parts</a:t>
              </a:r>
              <a:r>
                <a:rPr lang="en-US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 </a:t>
              </a:r>
              <a:r>
                <a:rPr lang="en-US" b="1" dirty="0">
                  <a:solidFill>
                    <a:schemeClr val="bg1"/>
                  </a:solidFill>
                </a:rPr>
                <a:t>Drawing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22845B8-C812-FBEE-40F4-41DF7AE3D826}"/>
              </a:ext>
            </a:extLst>
          </p:cNvPr>
          <p:cNvGrpSpPr/>
          <p:nvPr/>
        </p:nvGrpSpPr>
        <p:grpSpPr>
          <a:xfrm>
            <a:off x="8122698" y="3599378"/>
            <a:ext cx="3610241" cy="2893497"/>
            <a:chOff x="7770273" y="3666889"/>
            <a:chExt cx="3610241" cy="289349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ED6709F-2EAC-F08E-562D-A2D619789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80033" y="4044692"/>
              <a:ext cx="3600481" cy="251569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0E695F-5AD6-422A-1504-6597D4708D6B}"/>
                </a:ext>
              </a:extLst>
            </p:cNvPr>
            <p:cNvSpPr txBox="1"/>
            <p:nvPr/>
          </p:nvSpPr>
          <p:spPr>
            <a:xfrm>
              <a:off x="7770273" y="3666889"/>
              <a:ext cx="3610241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Installation Drawing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3323DC-29BF-3867-CC87-CF7B02D7F845}"/>
              </a:ext>
            </a:extLst>
          </p:cNvPr>
          <p:cNvSpPr/>
          <p:nvPr/>
        </p:nvSpPr>
        <p:spPr>
          <a:xfrm>
            <a:off x="1823903" y="3181350"/>
            <a:ext cx="990600" cy="24765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B146A57-0238-EED1-E753-4F3F844F4844}"/>
              </a:ext>
            </a:extLst>
          </p:cNvPr>
          <p:cNvSpPr/>
          <p:nvPr/>
        </p:nvSpPr>
        <p:spPr>
          <a:xfrm>
            <a:off x="5478853" y="3181350"/>
            <a:ext cx="1223156" cy="24765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05E0945-E308-082E-93DB-865216C36BB8}"/>
              </a:ext>
            </a:extLst>
          </p:cNvPr>
          <p:cNvSpPr/>
          <p:nvPr/>
        </p:nvSpPr>
        <p:spPr>
          <a:xfrm>
            <a:off x="9130631" y="3181350"/>
            <a:ext cx="1577419" cy="24765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Product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51A650-4240-FFBE-49EB-394E300E070A}"/>
              </a:ext>
            </a:extLst>
          </p:cNvPr>
          <p:cNvCxnSpPr>
            <a:stCxn id="17" idx="3"/>
          </p:cNvCxnSpPr>
          <p:nvPr/>
        </p:nvCxnSpPr>
        <p:spPr>
          <a:xfrm>
            <a:off x="2814503" y="3305175"/>
            <a:ext cx="2664350" cy="9525"/>
          </a:xfrm>
          <a:prstGeom prst="straightConnector1">
            <a:avLst/>
          </a:prstGeom>
          <a:ln w="44450">
            <a:solidFill>
              <a:schemeClr val="accent5">
                <a:lumMod val="40000"/>
                <a:lumOff val="60000"/>
              </a:schemeClr>
            </a:solidFill>
            <a:prstDash val="solid"/>
            <a:headEnd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A80051-7D74-A8B5-ADC0-68ED979FF7E6}"/>
              </a:ext>
            </a:extLst>
          </p:cNvPr>
          <p:cNvCxnSpPr>
            <a:cxnSpLocks/>
          </p:cNvCxnSpPr>
          <p:nvPr/>
        </p:nvCxnSpPr>
        <p:spPr>
          <a:xfrm>
            <a:off x="6702009" y="3305175"/>
            <a:ext cx="2428622" cy="0"/>
          </a:xfrm>
          <a:prstGeom prst="straightConnector1">
            <a:avLst/>
          </a:prstGeom>
          <a:ln w="44450">
            <a:solidFill>
              <a:schemeClr val="accent5">
                <a:lumMod val="40000"/>
                <a:lumOff val="60000"/>
              </a:schemeClr>
            </a:solidFill>
            <a:prstDash val="solid"/>
            <a:headEnd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0F0FD39-5714-AA01-159E-C277687D3B1F}"/>
              </a:ext>
            </a:extLst>
          </p:cNvPr>
          <p:cNvSpPr txBox="1"/>
          <p:nvPr/>
        </p:nvSpPr>
        <p:spPr>
          <a:xfrm>
            <a:off x="2535382" y="6490866"/>
            <a:ext cx="16112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5CBA01-58A7-8D6A-0F0F-114823DA886A}"/>
              </a:ext>
            </a:extLst>
          </p:cNvPr>
          <p:cNvSpPr txBox="1"/>
          <p:nvPr/>
        </p:nvSpPr>
        <p:spPr>
          <a:xfrm>
            <a:off x="6322216" y="6490866"/>
            <a:ext cx="16112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B0E881-8D79-1AF9-674E-FEC633BA80A4}"/>
              </a:ext>
            </a:extLst>
          </p:cNvPr>
          <p:cNvSpPr txBox="1"/>
          <p:nvPr/>
        </p:nvSpPr>
        <p:spPr>
          <a:xfrm>
            <a:off x="10109050" y="6503670"/>
            <a:ext cx="16223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5543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F49D3-F3B9-519F-90A6-E18D18CE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06D0-8D98-A0B8-2E46-1B0141D9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“Detail” Drawings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AEBBD-8EC6-C62C-D046-C1D39F7C7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2" y="1483103"/>
            <a:ext cx="10958538" cy="51231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“</a:t>
            </a:r>
            <a:r>
              <a:rPr lang="en-US" b="1" dirty="0">
                <a:solidFill>
                  <a:srgbClr val="0070C0"/>
                </a:solidFill>
              </a:rPr>
              <a:t>Part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Details</a:t>
            </a:r>
            <a:r>
              <a:rPr lang="en-US" dirty="0">
                <a:solidFill>
                  <a:srgbClr val="0070C0"/>
                </a:solidFill>
              </a:rPr>
              <a:t>” Drawing</a:t>
            </a:r>
          </a:p>
          <a:p>
            <a:r>
              <a:rPr lang="en-US" dirty="0"/>
              <a:t>Material Size Requirements</a:t>
            </a:r>
          </a:p>
          <a:p>
            <a:r>
              <a:rPr lang="en-US" dirty="0"/>
              <a:t>Heat-Treating Information</a:t>
            </a:r>
          </a:p>
          <a:p>
            <a:r>
              <a:rPr lang="en-US" dirty="0"/>
              <a:t>Machine Finish Requirements</a:t>
            </a:r>
          </a:p>
          <a:p>
            <a:r>
              <a:rPr lang="en-US" dirty="0"/>
              <a:t>Protective Finish Requirements</a:t>
            </a:r>
          </a:p>
          <a:p>
            <a:r>
              <a:rPr lang="en-US" dirty="0"/>
              <a:t>Process Specs &amp; Standards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7B5CD-D49A-4CB4-F5E1-EE71DD4EA1BD}"/>
              </a:ext>
            </a:extLst>
          </p:cNvPr>
          <p:cNvSpPr txBox="1"/>
          <p:nvPr/>
        </p:nvSpPr>
        <p:spPr>
          <a:xfrm>
            <a:off x="10222787" y="18045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D7495-64A0-5B46-7323-3EBAC8D59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101" y="2685555"/>
            <a:ext cx="3924848" cy="299126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2262CF1-4CFB-2E1E-767A-562BE6409166}"/>
              </a:ext>
            </a:extLst>
          </p:cNvPr>
          <p:cNvGrpSpPr/>
          <p:nvPr/>
        </p:nvGrpSpPr>
        <p:grpSpPr>
          <a:xfrm>
            <a:off x="8486775" y="3059668"/>
            <a:ext cx="3437458" cy="369332"/>
            <a:chOff x="8486775" y="3059668"/>
            <a:chExt cx="3437458" cy="3693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A4B251D-7488-A5F3-4244-04EB76201899}"/>
                </a:ext>
              </a:extLst>
            </p:cNvPr>
            <p:cNvGrpSpPr/>
            <p:nvPr/>
          </p:nvGrpSpPr>
          <p:grpSpPr>
            <a:xfrm>
              <a:off x="8801100" y="3059668"/>
              <a:ext cx="3123133" cy="369332"/>
              <a:chOff x="8801100" y="3059668"/>
              <a:chExt cx="3123133" cy="369332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5D89234-7B33-169B-3D01-6A66E18927E5}"/>
                  </a:ext>
                </a:extLst>
              </p:cNvPr>
              <p:cNvCxnSpPr>
                <a:cxnSpLocks/>
                <a:stCxn id="10" idx="1"/>
              </p:cNvCxnSpPr>
              <p:nvPr/>
            </p:nvCxnSpPr>
            <p:spPr>
              <a:xfrm flipH="1">
                <a:off x="8801100" y="3244334"/>
                <a:ext cx="1112942" cy="2291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B0C73A-31D1-A61D-4E16-5BB42004E9EF}"/>
                  </a:ext>
                </a:extLst>
              </p:cNvPr>
              <p:cNvSpPr txBox="1"/>
              <p:nvPr/>
            </p:nvSpPr>
            <p:spPr>
              <a:xfrm>
                <a:off x="9914042" y="3059668"/>
                <a:ext cx="2010191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Size &amp; Shape Info</a:t>
                </a: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3AAD5C6-2149-F28D-B8CD-6BDA732102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775" y="3267253"/>
              <a:ext cx="628650" cy="161747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A60616-CD29-6AA3-7268-7246A70AD24E}"/>
              </a:ext>
            </a:extLst>
          </p:cNvPr>
          <p:cNvGrpSpPr/>
          <p:nvPr/>
        </p:nvGrpSpPr>
        <p:grpSpPr>
          <a:xfrm>
            <a:off x="8972550" y="2191648"/>
            <a:ext cx="2722667" cy="868020"/>
            <a:chOff x="9542983" y="3247861"/>
            <a:chExt cx="2722667" cy="86802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37EB446-CFA7-B80C-5537-5D7C6AF04EA1}"/>
                </a:ext>
              </a:extLst>
            </p:cNvPr>
            <p:cNvSpPr txBox="1"/>
            <p:nvPr/>
          </p:nvSpPr>
          <p:spPr>
            <a:xfrm>
              <a:off x="10484475" y="3247861"/>
              <a:ext cx="1781175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Tolerance Info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E1FAE81-23B7-0A31-B9A8-E9150DCA7DC4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9542983" y="3432527"/>
              <a:ext cx="941492" cy="683354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9DB797-B95C-6F29-D0BB-4C8B799857FB}"/>
              </a:ext>
            </a:extLst>
          </p:cNvPr>
          <p:cNvGrpSpPr/>
          <p:nvPr/>
        </p:nvGrpSpPr>
        <p:grpSpPr>
          <a:xfrm>
            <a:off x="8229600" y="3485492"/>
            <a:ext cx="3465616" cy="662993"/>
            <a:chOff x="8800033" y="2967589"/>
            <a:chExt cx="3465616" cy="66299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9AFF05D-6A2D-F8DB-771B-7DCEB32A879C}"/>
                </a:ext>
              </a:extLst>
            </p:cNvPr>
            <p:cNvSpPr txBox="1"/>
            <p:nvPr/>
          </p:nvSpPr>
          <p:spPr>
            <a:xfrm>
              <a:off x="10484474" y="3261250"/>
              <a:ext cx="1781175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Hole Locations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E0530DF-0A4C-86A9-3FDE-25925A840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0033" y="2967589"/>
              <a:ext cx="1684441" cy="478327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CBEAC41-426C-761C-D596-6964D5E60FB0}"/>
              </a:ext>
            </a:extLst>
          </p:cNvPr>
          <p:cNvGrpSpPr/>
          <p:nvPr/>
        </p:nvGrpSpPr>
        <p:grpSpPr>
          <a:xfrm>
            <a:off x="9914041" y="5644405"/>
            <a:ext cx="2010191" cy="738664"/>
            <a:chOff x="10484474" y="2878680"/>
            <a:chExt cx="2010191" cy="73866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D7BCC4-C892-A849-04B2-2B887F6374E5}"/>
                </a:ext>
              </a:extLst>
            </p:cNvPr>
            <p:cNvSpPr txBox="1"/>
            <p:nvPr/>
          </p:nvSpPr>
          <p:spPr>
            <a:xfrm>
              <a:off x="10484474" y="3248012"/>
              <a:ext cx="2010191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Drawing Number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E35FAE7-E840-A5A8-80A6-EBD810E064B6}"/>
                </a:ext>
              </a:extLst>
            </p:cNvPr>
            <p:cNvCxnSpPr>
              <a:cxnSpLocks/>
              <a:stCxn id="40" idx="0"/>
            </p:cNvCxnSpPr>
            <p:nvPr/>
          </p:nvCxnSpPr>
          <p:spPr>
            <a:xfrm flipH="1" flipV="1">
              <a:off x="10924382" y="2878680"/>
              <a:ext cx="565188" cy="369332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E656E0-F8F2-4512-190E-E7337A13EF90}"/>
              </a:ext>
            </a:extLst>
          </p:cNvPr>
          <p:cNvGrpSpPr/>
          <p:nvPr/>
        </p:nvGrpSpPr>
        <p:grpSpPr>
          <a:xfrm>
            <a:off x="8724900" y="1582562"/>
            <a:ext cx="2970317" cy="1123970"/>
            <a:chOff x="9295333" y="3247861"/>
            <a:chExt cx="2970317" cy="112397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9003256-9F88-B1FA-3794-D115912241CD}"/>
                </a:ext>
              </a:extLst>
            </p:cNvPr>
            <p:cNvSpPr txBox="1"/>
            <p:nvPr/>
          </p:nvSpPr>
          <p:spPr>
            <a:xfrm>
              <a:off x="10484475" y="3247861"/>
              <a:ext cx="1781175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Part Number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8053BB9-ED89-287E-F652-F629FB96E46A}"/>
                </a:ext>
              </a:extLst>
            </p:cNvPr>
            <p:cNvCxnSpPr>
              <a:cxnSpLocks/>
              <a:stCxn id="46" idx="1"/>
            </p:cNvCxnSpPr>
            <p:nvPr/>
          </p:nvCxnSpPr>
          <p:spPr>
            <a:xfrm flipH="1">
              <a:off x="9295333" y="3432527"/>
              <a:ext cx="1189142" cy="939304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5CBAC45B-E47E-CF0F-CF4C-4D997FAC021C}"/>
              </a:ext>
            </a:extLst>
          </p:cNvPr>
          <p:cNvSpPr txBox="1"/>
          <p:nvPr/>
        </p:nvSpPr>
        <p:spPr>
          <a:xfrm>
            <a:off x="6429101" y="5676822"/>
            <a:ext cx="2184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(PD) U.S. Gov – NAVEDTRA14040A, 2015 </a:t>
            </a:r>
          </a:p>
        </p:txBody>
      </p:sp>
    </p:spTree>
    <p:extLst>
      <p:ext uri="{BB962C8B-B14F-4D97-AF65-F5344CB8AC3E}">
        <p14:creationId xmlns:p14="http://schemas.microsoft.com/office/powerpoint/2010/main" val="340858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446EB-879D-A9E6-54FD-AEFFA7CB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F966-C9A9-6BC1-91B1-3D831D78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“Assembly” Drawings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207AE-813C-C4A4-A322-5A521AC60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2" y="1483104"/>
            <a:ext cx="5776214" cy="38962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“</a:t>
            </a:r>
            <a:r>
              <a:rPr lang="en-US" b="1" dirty="0">
                <a:solidFill>
                  <a:srgbClr val="0070C0"/>
                </a:solidFill>
              </a:rPr>
              <a:t>Assembly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of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Parts</a:t>
            </a:r>
            <a:r>
              <a:rPr lang="en-US" dirty="0">
                <a:solidFill>
                  <a:srgbClr val="0070C0"/>
                </a:solidFill>
              </a:rPr>
              <a:t>” Drawing</a:t>
            </a:r>
          </a:p>
          <a:p>
            <a:r>
              <a:rPr lang="en-US" dirty="0"/>
              <a:t>Part List</a:t>
            </a:r>
          </a:p>
          <a:p>
            <a:r>
              <a:rPr lang="en-US" dirty="0"/>
              <a:t>Information How Parts Fit Together</a:t>
            </a:r>
          </a:p>
          <a:p>
            <a:r>
              <a:rPr lang="en-US" dirty="0"/>
              <a:t>Part Number and Instructions</a:t>
            </a:r>
          </a:p>
          <a:p>
            <a:r>
              <a:rPr lang="en-US" dirty="0"/>
              <a:t>Location dimensions</a:t>
            </a:r>
          </a:p>
          <a:p>
            <a:r>
              <a:rPr lang="en-US" dirty="0"/>
              <a:t>Fastening Methods</a:t>
            </a:r>
          </a:p>
          <a:p>
            <a:pPr lvl="1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7004E9-49CF-7E86-B132-52EABD8DB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5912" y="2090797"/>
            <a:ext cx="2476846" cy="389626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976060-D42A-E18F-2D62-6C19E7226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376" y="2090797"/>
            <a:ext cx="2705478" cy="205768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58E6A5-DD2E-F9B8-9A81-4AC2A5817E16}"/>
              </a:ext>
            </a:extLst>
          </p:cNvPr>
          <p:cNvSpPr txBox="1"/>
          <p:nvPr/>
        </p:nvSpPr>
        <p:spPr>
          <a:xfrm rot="16200000">
            <a:off x="11209373" y="5018644"/>
            <a:ext cx="17060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6" name="TextBox 5">
            <a:hlinkClick r:id="rId5"/>
            <a:extLst>
              <a:ext uri="{FF2B5EF4-FFF2-40B4-BE49-F238E27FC236}">
                <a16:creationId xmlns:a16="http://schemas.microsoft.com/office/drawing/2014/main" id="{9D6CB4E1-2076-ECB4-E002-310A574E484E}"/>
              </a:ext>
            </a:extLst>
          </p:cNvPr>
          <p:cNvSpPr txBox="1"/>
          <p:nvPr/>
        </p:nvSpPr>
        <p:spPr>
          <a:xfrm>
            <a:off x="6387376" y="4148484"/>
            <a:ext cx="2184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(PD) U.S. Gov – NAVEDTRA14040A, 2015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63347-1149-55DE-DCE0-C1ED9F3B2F15}"/>
              </a:ext>
            </a:extLst>
          </p:cNvPr>
          <p:cNvSpPr txBox="1"/>
          <p:nvPr/>
        </p:nvSpPr>
        <p:spPr>
          <a:xfrm>
            <a:off x="10222787" y="18045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</p:spTree>
    <p:extLst>
      <p:ext uri="{BB962C8B-B14F-4D97-AF65-F5344CB8AC3E}">
        <p14:creationId xmlns:p14="http://schemas.microsoft.com/office/powerpoint/2010/main" val="344415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935F3-415B-3CCE-3612-2314C7334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A1F4-ED7F-A313-96AA-F918B8AB6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“Installation” Drawings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CF875-E351-7C69-E17E-E45C8131E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2" y="1483104"/>
            <a:ext cx="9041993" cy="13336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“</a:t>
            </a:r>
            <a:r>
              <a:rPr lang="en-US" b="1" dirty="0">
                <a:solidFill>
                  <a:srgbClr val="0070C0"/>
                </a:solidFill>
              </a:rPr>
              <a:t>Final Installation of Assemblies and Parts</a:t>
            </a:r>
            <a:r>
              <a:rPr lang="en-US" dirty="0">
                <a:solidFill>
                  <a:srgbClr val="0070C0"/>
                </a:solidFill>
              </a:rPr>
              <a:t>” Drawing</a:t>
            </a:r>
          </a:p>
          <a:p>
            <a:r>
              <a:rPr lang="en-US" dirty="0"/>
              <a:t>List of Required Component Parts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184CA-C5DD-27D3-518E-F7541B1EB9D5}"/>
              </a:ext>
            </a:extLst>
          </p:cNvPr>
          <p:cNvSpPr txBox="1"/>
          <p:nvPr/>
        </p:nvSpPr>
        <p:spPr>
          <a:xfrm>
            <a:off x="10222787" y="18045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906E5A-0B74-9A36-E3F8-A1C32438FAB1}"/>
              </a:ext>
            </a:extLst>
          </p:cNvPr>
          <p:cNvGrpSpPr/>
          <p:nvPr/>
        </p:nvGrpSpPr>
        <p:grpSpPr>
          <a:xfrm>
            <a:off x="3621418" y="3047540"/>
            <a:ext cx="4581964" cy="3392051"/>
            <a:chOff x="3621418" y="3047540"/>
            <a:chExt cx="4581964" cy="339205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9BDC38-858C-9895-2416-3F5797287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21418" y="3047540"/>
              <a:ext cx="4524362" cy="316121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53A377-435A-D27F-010C-D7C475468BAE}"/>
                </a:ext>
              </a:extLst>
            </p:cNvPr>
            <p:cNvSpPr txBox="1"/>
            <p:nvPr/>
          </p:nvSpPr>
          <p:spPr>
            <a:xfrm>
              <a:off x="6580990" y="6208759"/>
              <a:ext cx="16223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0259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45667-F60C-09F7-1D40-C1DD8683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89CC-6FFF-1BFA-274F-DAC5F31ED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9109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839C2-7BF2-36AE-DF8B-9AD9A2AE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63DA-D582-3FF9-0739-41B56CC4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(Q1-Q8)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410E-01CE-A881-32E2-EC2E8F0A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43000"/>
            <a:ext cx="5650786" cy="5787736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Q1: General name covering the engineering drawings, technical drawing, or plans?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Blueprints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Q2:</a:t>
            </a:r>
            <a:r>
              <a:rPr lang="en-US" sz="2000" dirty="0"/>
              <a:t> </a:t>
            </a:r>
            <a:r>
              <a:rPr lang="en-US" sz="2000" b="1" dirty="0"/>
              <a:t>Modern blueprints are no longer hand drawn...what is the name of the software used?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CAD: Computer Aided Drafting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Q3: Both CAD and blueprints enabled duplicating drawings.  But what more can CAD do?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A1:</a:t>
            </a:r>
            <a:r>
              <a:rPr lang="en-US" sz="2000" dirty="0"/>
              <a:t> Send to 3D printer to create a part.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A2</a:t>
            </a:r>
            <a:r>
              <a:rPr lang="en-US" sz="2000" dirty="0"/>
              <a:t>: Send to NC machine to mill a part.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Q4: Name of blueprint section listing materials and parts used on the drawing?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Bill of Materials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DE07E9-686C-16E6-DE07-31A3DC967A79}"/>
              </a:ext>
            </a:extLst>
          </p:cNvPr>
          <p:cNvSpPr txBox="1">
            <a:spLocks/>
          </p:cNvSpPr>
          <p:nvPr/>
        </p:nvSpPr>
        <p:spPr>
          <a:xfrm>
            <a:off x="6236413" y="557176"/>
            <a:ext cx="5650786" cy="62237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Q5: Name of blueprint section listing changes made, by whom, etc.?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Revision Block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Q6: Name of blueprint section listing the drawing number, description, notes, scale, etc.?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Title Block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Q7: Name of blueprint section containing schematics, drawings, callouts, dimensions, etc.?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Drawing Area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Q8: Name encompassing the Details Drawings, and the Assembly Drawings, and the Installation Drawings?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Production Drawings</a:t>
            </a:r>
          </a:p>
        </p:txBody>
      </p:sp>
    </p:spTree>
    <p:extLst>
      <p:ext uri="{BB962C8B-B14F-4D97-AF65-F5344CB8AC3E}">
        <p14:creationId xmlns:p14="http://schemas.microsoft.com/office/powerpoint/2010/main" val="164679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3881A-440A-8251-B9B2-D27D7BB1E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BE65-D7CA-05C7-D1B1-386F68E3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(Q9-Q8)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5342-FA29-296A-ADE1-4C90C85CA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43000"/>
            <a:ext cx="5650786" cy="5787736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Q9: Type of drawing showing how to fabricate a specific part?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Detail Drawing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Q10:</a:t>
            </a:r>
            <a:r>
              <a:rPr lang="en-US" sz="2000" dirty="0"/>
              <a:t> </a:t>
            </a:r>
            <a:r>
              <a:rPr lang="en-US" sz="2000" b="1" dirty="0"/>
              <a:t>Type of drawing showing how to assemble the parts into a component?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Assembly Drawing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Q11: Type of drawing showing where parts and assemblies go in final product?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Installation Drawing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Q12: What type of drawing contains part list, part numbers, location dimensions, and fastening methods?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Assembly Drawings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134B545-90F2-F267-AFE0-90AD781C909D}"/>
              </a:ext>
            </a:extLst>
          </p:cNvPr>
          <p:cNvSpPr txBox="1">
            <a:spLocks/>
          </p:cNvSpPr>
          <p:nvPr/>
        </p:nvSpPr>
        <p:spPr>
          <a:xfrm>
            <a:off x="6236413" y="557176"/>
            <a:ext cx="5650786" cy="6223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Q13: When you put together Ikea furniture by following the instruction manual, what is it?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Installation Drawing because parts already created, and sub-assemblies like latches and hinges already built.  You are just installing it all together.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Q14: What type of drawing contains material size requirements, heat-treating info, and machine finish requirements?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Detail Drawings</a:t>
            </a:r>
          </a:p>
        </p:txBody>
      </p:sp>
    </p:spTree>
    <p:extLst>
      <p:ext uri="{BB962C8B-B14F-4D97-AF65-F5344CB8AC3E}">
        <p14:creationId xmlns:p14="http://schemas.microsoft.com/office/powerpoint/2010/main" val="10953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D309-79B3-0066-BB56-E79235F3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C3B1-808A-C5C9-BBB6-F06FDC830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696" y="1893712"/>
            <a:ext cx="8966607" cy="1535288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9C698-DE27-F888-6BAA-48C0C4FE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133" y="5258927"/>
            <a:ext cx="8966607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l"/>
            <a:r>
              <a:rPr lang="pl-PL" sz="2000" dirty="0">
                <a:solidFill>
                  <a:schemeClr val="bg1"/>
                </a:solidFill>
              </a:rPr>
              <a:t>Matt Pierce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mpierce710006@gmail.com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linkedin.com/in/mpiercead576/</a:t>
            </a:r>
          </a:p>
          <a:p>
            <a:pPr algn="l"/>
            <a:r>
              <a:rPr lang="pl-PL" sz="2000" dirty="0">
                <a:solidFill>
                  <a:schemeClr val="bg1"/>
                </a:solidFill>
                <a:hlinkClick r:id="rId3"/>
              </a:rPr>
              <a:t>https://github.com/DataResearchLabs/study_guide_intro_aerospace_mfg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439251-0FA5-4222-2534-EC4CD92AB89C}"/>
              </a:ext>
            </a:extLst>
          </p:cNvPr>
          <p:cNvCxnSpPr>
            <a:cxnSpLocks/>
          </p:cNvCxnSpPr>
          <p:nvPr/>
        </p:nvCxnSpPr>
        <p:spPr>
          <a:xfrm>
            <a:off x="0" y="472722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22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6912</TotalTime>
  <Words>1037</Words>
  <Application>Microsoft Office PowerPoint</Application>
  <PresentationFormat>Widescreen</PresentationFormat>
  <Paragraphs>148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Introduction to Blueprints</vt:lpstr>
      <vt:lpstr>Introduction to Blueprints</vt:lpstr>
      <vt:lpstr>Definition of a  Blueprint</vt:lpstr>
      <vt:lpstr>Blueprint “Standard Elements”  (1 of 2)</vt:lpstr>
      <vt:lpstr>Blueprint “Standard Elements”  (2 of 2)</vt:lpstr>
      <vt:lpstr>Drawing Types</vt:lpstr>
      <vt:lpstr>“Detail” Drawings</vt:lpstr>
      <vt:lpstr>“Assembly” Drawings</vt:lpstr>
      <vt:lpstr>“Installation” Drawings</vt:lpstr>
      <vt:lpstr>Q&amp;A</vt:lpstr>
      <vt:lpstr>Practice Q&amp;A’s  (Q1-Q8)</vt:lpstr>
      <vt:lpstr>Practice Q&amp;A’s  (Q9-Q8)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Pierce</dc:creator>
  <cp:lastModifiedBy>Matt Pierce</cp:lastModifiedBy>
  <cp:revision>251</cp:revision>
  <dcterms:created xsi:type="dcterms:W3CDTF">2026-02-02T22:48:01Z</dcterms:created>
  <dcterms:modified xsi:type="dcterms:W3CDTF">2026-02-27T02:49:12Z</dcterms:modified>
</cp:coreProperties>
</file>