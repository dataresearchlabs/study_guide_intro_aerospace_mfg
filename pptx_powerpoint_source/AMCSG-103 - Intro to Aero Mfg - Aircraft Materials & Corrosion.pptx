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97" r:id="rId2"/>
    <p:sldId id="270" r:id="rId3"/>
    <p:sldId id="271" r:id="rId4"/>
    <p:sldId id="272" r:id="rId5"/>
    <p:sldId id="274" r:id="rId6"/>
    <p:sldId id="276" r:id="rId7"/>
    <p:sldId id="275" r:id="rId8"/>
    <p:sldId id="278" r:id="rId9"/>
    <p:sldId id="279" r:id="rId10"/>
    <p:sldId id="288" r:id="rId11"/>
    <p:sldId id="289" r:id="rId12"/>
    <p:sldId id="290" r:id="rId13"/>
    <p:sldId id="291" r:id="rId14"/>
    <p:sldId id="293" r:id="rId15"/>
    <p:sldId id="292" r:id="rId16"/>
    <p:sldId id="294" r:id="rId17"/>
    <p:sldId id="295" r:id="rId18"/>
    <p:sldId id="302" r:id="rId19"/>
    <p:sldId id="303" r:id="rId20"/>
    <p:sldId id="304" r:id="rId21"/>
    <p:sldId id="305" r:id="rId22"/>
    <p:sldId id="306" r:id="rId23"/>
    <p:sldId id="307" r:id="rId24"/>
    <p:sldId id="30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805" autoAdjust="0"/>
  </p:normalViewPr>
  <p:slideViewPr>
    <p:cSldViewPr snapToGrid="0">
      <p:cViewPr varScale="1">
        <p:scale>
          <a:sx n="62" d="100"/>
          <a:sy n="62" d="100"/>
        </p:scale>
        <p:origin x="91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705C4F-A986-496F-A1F2-75FE2CBC5FB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6C5DC3-924D-4CCC-8AC2-C41F495DF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49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ron.com/resources/blog/4-examples-of-milling-aerospace-parts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627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03565-4541-5AD5-7993-CA81A0A1B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02DB30-8E10-F99C-D467-BF3B81683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B991B-5CDE-1233-9D47-DAB5F561E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u="sng" dirty="0"/>
              <a:t>Source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List of Materials + Metrics: Google “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are the primary materials used in commercial jets today</a:t>
            </a:r>
            <a:r>
              <a:rPr lang="en-US" dirty="0"/>
              <a:t>” &gt;&gt; AI tab  … Added up 20% Aluminum + 15% titanium + 10% steel for metals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507A4-3FE7-B319-08AD-DBD4C01FC6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382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4ADF3-7666-34DB-C0C8-6247AE9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78956D-B991-451C-6235-9E09E3BCE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1646D3-204E-FA21-5A45-4CF7A816A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6DA0F-1F8D-8196-5F0F-B155C4C886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912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8E18D-E72C-2084-CC52-8092837CF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07E3E9-A49A-3ADD-7926-8F9067544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2CC35A-930F-E67E-D438-8660B3B39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Dr. Google: “when is aluminum the best material to use on airplane”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Dr. Google: “Aluminum in aircraft manufacturing process”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Image Credits: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Google “B29” =  CC2 - https://upload.wikimedia.org/wikipedia/commons/3/30/Boeing_B-29_Superfortress_%2819926000422%29.jpg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Google “Picture of Datron milled aluminum part” = (Adv) </a:t>
            </a:r>
            <a:r>
              <a:rPr lang="en-US" dirty="0">
                <a:hlinkClick r:id="rId3"/>
              </a:rPr>
              <a:t>https://www.datron.com/resources/blog/4-examples-of-milling-aerospace-parts/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07BC6-47A5-5134-6618-287317C827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008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AD7B3-1422-7DC7-3A0E-69C07CEB1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2CA6BA-AC17-DF0A-D1CE-6475B4242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6A1AD4-94A5-B943-270E-A1E75FC9C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Dr. Google:  “when is composites the best material to use on airplane”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Dr. Google: “composites in aircraft manufacturing process”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Image Credits: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Google “Kawasaki 1000</a:t>
            </a:r>
            <a:r>
              <a:rPr lang="en-US" baseline="30000" dirty="0"/>
              <a:t>th</a:t>
            </a:r>
            <a:r>
              <a:rPr lang="en-US" dirty="0"/>
              <a:t> 787 Fuselage section” = (News) - https://global.kawasaki.com/en/corp/newsroom/news/detail/?f=20191216_8615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Google “carbon fiber wing spar 777x” = (News) - https://theaircurrent.com/dispatches/beyond-the-carrier-deck-a-glimpse-at-the-777x-folding-wingtip/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45E75-3C38-672C-9C72-3605944D64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399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8272B-7DC3-E6DA-5D53-E06E77053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D621D9-5942-FF0A-8F48-6C982B15A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BC43FE-10B1-C439-8D9A-9624842D7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Dr. Google:  “when is titanium the best material to use on airplane”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Dr. Google: “titanium alloy in aircraft manufacturing process”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Image Credits: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Google: “picture of titanium bolts” = (CC0) - https://pxhere.com/en/photo/1208085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Google: “777 landing gear </a:t>
            </a:r>
            <a:r>
              <a:rPr lang="en-US" dirty="0" err="1"/>
              <a:t>wikimedia</a:t>
            </a:r>
            <a:r>
              <a:rPr lang="en-US" dirty="0"/>
              <a:t>” = (CC3) - https://commons.wikimedia.org/wiki/File:Boeing-777-300_chassis.jpg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AC523-5173-4CD8-0F2F-626600380F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158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F97BF-6E3F-B389-49BC-47377FAEE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045D5C-614B-473C-0BBC-34090AB6EF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73D73B-C610-F28B-9772-E17F4CB472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Dr. Google:  “when is fiberglass the best material to use on airplane”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Dr. Google: “fiberglass in aircraft manufacturing process”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Image Credits: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Google “</a:t>
            </a:r>
            <a:r>
              <a:rPr lang="en-US" dirty="0" err="1"/>
              <a:t>Radome</a:t>
            </a:r>
            <a:r>
              <a:rPr lang="en-US" dirty="0"/>
              <a:t> for sale”: (Ad) - https://planereclaimers.aero/product/boeing-aircraft-radome/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Google “inside 737 boeing.com”: (CC4) - https://commons.wikimedia.org/wiki/File:WestJet_Boeing_737_MAX_8_Interior.jpg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124C1-A5A0-51E4-6274-35F1052F5E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466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F541-6C90-98D1-275E-A8F4F4C57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01AC92-C1CC-FED4-0CE2-C3D75E7A9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2AC35C-A110-3C4A-A154-4AC333DDD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Dr. Google:  “when is plastic the best material to use on airplane”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Dr. Google: “plastic in aircraft manufacturing process”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Image Credits: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Google “Picture of plastic overhead bins in 777” = (C) - https://runwaygirlnetwork.com/wp-content/uploads/2023/06/777X-header.-Image-John-Walton.jpg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Google “plastic seat tray” = (Ad) - https://dretloh.com/wp-content/uploads/2024/08/Traytable-e1488995091768-1024x893.jpg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Google “seat armrest” = (Ad) - https://dretloh.com/wp-content/uploads/2024/08/13430-31-URAL-Brice-7.jpg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6D994-D1B4-789A-FAB9-FA0770806A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244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006F4-CAA1-EBE1-5C07-8D7FB95E0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016E96-26CA-53F9-E2BB-667A442F4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8CF8D6-76D3-0CB8-4F8D-4BFADA302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Image Credits: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Rusty carcass = (CC0) - https://pxhere.com/en/photo/1106074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Chat GPT diagram = “diagram electrochemical reaction leading to corrosion in aircraft. show both chemical reaction and electrochemical reaction paths”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B6532-45FF-1A50-3ACE-D7B643D5E4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59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A3CE3-8BEA-C19F-2C07-628D174B8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281374-55C0-8AB5-479F-BC99CAE195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C1FEF-F14B-AF92-C6F8-D2D715DAB2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Excellent Source: https://www.ampp.org/technical-research/what-is-corrosion/forms-of-corrosion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Google AI: “aircraft corrosion types”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Image Credits: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Uniform Corrosion: ChatGPT “make a diagram showing uniform corrosion on a commercial aircraft part” + “Make better photo images”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Pitting Corrosion: ChatGPT “make a photo showing pitting corrosion on a commercial aircraft part”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94A7D-8739-45C4-A5A9-16FA969428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2664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6639E-5EC5-4B03-0110-1F7D9C7FA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6B0E44-F29A-B9FC-FFA2-04E09D5741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D020D5-3E50-03FD-4894-E4B299D27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Excellent Source: https://www.ampp.org/technical-research/what-is-corrosion/forms-of-corrosion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Google AI: “aircraft corrosion types”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Galvanic Corrosion: ChatGPT “make a photo showing galvanic corrosion on a commercial aircraft skin with stainless steel rivets”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Crevice Corrosion: ChatGPT “make a photo showing crevice corrosion on a commercial aircraft skin”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C33-D825-4D9C-D3A3-41104C1A76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1324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98F89-0004-2717-DAA5-ECC37010A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0B12F9-CDF2-687A-D3E1-D7C52AA40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263D6C-4420-EA3C-84E8-24AF3881E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Excellent Source: https://www.ampp.org/technical-research/what-is-corrosion/forms-of-corrosion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Google AI: “aircraft corrosion types”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Filiform Corrosion: ChatGPT “make a photo showing filiform corrosion on a commercial aircraft skin” </a:t>
            </a:r>
            <a:br>
              <a:rPr lang="en-US" dirty="0"/>
            </a:br>
            <a:r>
              <a:rPr lang="en-US" dirty="0"/>
              <a:t>+ “make the rust spider veins silver color and make them bubble out more from the skin”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1FEE7-13FE-6284-AC24-C9002AF10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766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A0617-5D92-1871-13B7-1B43A7595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AD8BAD-654D-D608-94B6-B413C4BDC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128AA0-6FE7-741D-017C-96BD59B2D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Excellent Source: https://www.ampp.org/technical-research/what-is-corrosion/forms-of-corrosion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Google AI: “aircraft corrosion types”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Intergranular Corrosion: ChatGPT “make a photo showing “intergranular” corrosion following grains under a magnifying glass on a high-strength aluminum alloy part of a commercial aircraft”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Aluminum Bar with Intergranular grains: ChatGPT: “make a diagram showing a 2" x 4" x 4' aluminum bar. Add 20 randomly patterned internal grains on each of the three surfaces. Label them "short longitudinal", "short transverse", and "longitudinal transverse".”</a:t>
            </a:r>
            <a:br>
              <a:rPr lang="en-US" dirty="0"/>
            </a:br>
            <a:r>
              <a:rPr lang="en-US" dirty="0"/>
              <a:t>+ “Convert this into a single clean presentation-ready image. Redraw it as an ASTM-style metallography diagram.”</a:t>
            </a:r>
            <a:br>
              <a:rPr lang="en-US" dirty="0"/>
            </a:br>
            <a:r>
              <a:rPr lang="en-US" dirty="0"/>
              <a:t>+ “Remove the dimensions. Remove titles. Only keep the longer bar.”</a:t>
            </a:r>
            <a:br>
              <a:rPr lang="en-US" dirty="0"/>
            </a:br>
            <a:r>
              <a:rPr lang="en-US" dirty="0"/>
              <a:t>+ “Remove titles “short longitudinal” and “short transverse and fix the bottom corner to tie in all three surfaces”</a:t>
            </a:r>
            <a:br>
              <a:rPr lang="en-US" dirty="0"/>
            </a:br>
            <a:r>
              <a:rPr lang="en-US" dirty="0"/>
              <a:t>+ “make the longitudinal sides have grains that are 5 time longer. Leave the short face grains the same size.”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Fretting Corrosion: ChatGPT “make a photo showing fretting corrosion between commercial airliner aluminum skin and the aluminum rivets vibrating against it. Show rust stains below each rivet.” </a:t>
            </a:r>
            <a:br>
              <a:rPr lang="en-US" dirty="0"/>
            </a:br>
            <a:r>
              <a:rPr lang="en-US" dirty="0"/>
              <a:t>+ “reduce the corrosion by half. reduce the number of fasteners by half”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ABBB2-EE31-48DA-C047-87CDCB720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568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EF9A0-861C-7E98-1797-058D262D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26FEA4-6C84-6977-299F-0E64336D8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4B3BC1-0B33-A5D3-124D-FE62E2637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Excellent Source: https://www.ampp.org/technical-research/what-is-corrosion/forms-of-corrosion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Google AI: “aircraft corrosion types”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Intergranular Corrosion: ChatGPT “make a photo showing “intergranular” corrosion following grains under a magnifying glass on a high-strength aluminum alloy part of a commercial aircraft”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Aluminum Bar with Intergranular grains: ChatGPT: “make a diagram showing a 2" x 4" x 4' aluminum bar. Add 20 randomly patterned internal grains on each of the three surfaces. Label them "short longitudinal", "short transverse", and "longitudinal transverse".”</a:t>
            </a:r>
            <a:br>
              <a:rPr lang="en-US" dirty="0"/>
            </a:br>
            <a:r>
              <a:rPr lang="en-US" dirty="0"/>
              <a:t>+ “Convert this into a single clean presentation-ready image. Redraw it as an ASTM-style metallography diagram.”</a:t>
            </a:r>
            <a:br>
              <a:rPr lang="en-US" dirty="0"/>
            </a:br>
            <a:r>
              <a:rPr lang="en-US" dirty="0"/>
              <a:t>+ “Remove the dimensions. Remove titles. Only keep the longer bar.”</a:t>
            </a:r>
            <a:br>
              <a:rPr lang="en-US" dirty="0"/>
            </a:br>
            <a:r>
              <a:rPr lang="en-US" dirty="0"/>
              <a:t>+ “Remove titles “short longitudinal” and “short transverse and fix the bottom corner to tie in all three surfaces”</a:t>
            </a:r>
            <a:br>
              <a:rPr lang="en-US" dirty="0"/>
            </a:br>
            <a:r>
              <a:rPr lang="en-US" dirty="0"/>
              <a:t>+ “make the longitudinal sides have grains that are 5 time longer. Leave the short face grains the same size.”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Fretting Corrosion: ChatGPT “make a photo showing fretting corrosion between commercial airliner aluminum skin and the aluminum rivets vibrating against it. Show rust stains below each rivet.” </a:t>
            </a:r>
            <a:br>
              <a:rPr lang="en-US" dirty="0"/>
            </a:br>
            <a:r>
              <a:rPr lang="en-US" dirty="0"/>
              <a:t>+ “reduce the corrosion by half. reduce the number of fasteners by half”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E4873-527B-C8E7-B786-173767262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3306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BD8E6-B682-14EE-EFFF-B77E05AC0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9722EE-824E-F241-F538-35294B3D5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820027-EF01-F3D0-864B-987581DF5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Excellent Source: https://www.ampp.org/technical-research/what-is-corrosion/forms-of-corrosion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Google AI: “aircraft corrosion types”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Intergranular Corrosion: ChatGPT “make a photo showing “intergranular” corrosion following grains under a magnifying glass on a high-strength aluminum alloy part of a commercial aircraft”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Aluminum Bar with Intergranular grains: ChatGPT: “make a diagram showing a 2" x 4" x 4' aluminum bar. Add 20 randomly patterned internal grains on each of the three surfaces. Label them "short longitudinal", "short transverse", and "longitudinal transverse".”</a:t>
            </a:r>
            <a:br>
              <a:rPr lang="en-US" dirty="0"/>
            </a:br>
            <a:r>
              <a:rPr lang="en-US" dirty="0"/>
              <a:t>+ “Convert this into a single clean presentation-ready image. Redraw it as an ASTM-style metallography diagram.”</a:t>
            </a:r>
            <a:br>
              <a:rPr lang="en-US" dirty="0"/>
            </a:br>
            <a:r>
              <a:rPr lang="en-US" dirty="0"/>
              <a:t>+ “Remove the dimensions. Remove titles. Only keep the longer bar.”</a:t>
            </a:r>
            <a:br>
              <a:rPr lang="en-US" dirty="0"/>
            </a:br>
            <a:r>
              <a:rPr lang="en-US" dirty="0"/>
              <a:t>+ “Remove titles “short longitudinal” and “short transverse and fix the bottom corner to tie in all three surfaces”</a:t>
            </a:r>
            <a:br>
              <a:rPr lang="en-US" dirty="0"/>
            </a:br>
            <a:r>
              <a:rPr lang="en-US" dirty="0"/>
              <a:t>+ “make the longitudinal sides have grains that are 5 time longer. Leave the short face grains the same size.”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Fretting Corrosion: ChatGPT “make a photo showing fretting corrosion between commercial airliner aluminum skin and the aluminum rivets vibrating against it. Show rust stains below each rivet.” </a:t>
            </a:r>
            <a:br>
              <a:rPr lang="en-US" dirty="0"/>
            </a:br>
            <a:r>
              <a:rPr lang="en-US" dirty="0"/>
              <a:t>+ “reduce the corrosion by half. reduce the number of fasteners by half”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25D75-8FF8-7FD7-27E1-94E1F72632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7915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EFE57-7CA1-1F08-40B4-7752B89CF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3B1B3-B826-C16C-582D-0AF1300AB1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4EF43A-92BE-B2AD-DE41-70701A517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BB0F8-DF6E-284F-F4D7-5190108C3E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1676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6F471-F4FA-3523-9D5A-4DC7B026B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78B5D0-438A-61B4-15EA-DED1FC501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C9C0C9-B8BD-773A-C1F3-14B9280213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4707F-2042-98A3-6DE9-99723DFAB7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9905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26239-054C-E8DB-9259-E893EC628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51D22-1649-FD69-8BA2-80DD958703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ED393A-741B-C719-7151-862243DFF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F175B1-AA53-5BD4-1C39-7D62065574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0084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F2B02-2724-E9B2-1EF6-53EA424C5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B1BE7-82EA-B86D-B09E-D18196248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24B9CC-E6F3-4E99-065D-821BF23892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635F1-9AE8-8CF1-6820-5F706A1011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0781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031D0-0082-D9E5-B432-E885013C7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89B9C7-B3E9-0ECB-3D46-453CADB0C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461E09-418B-9FF4-111D-F437C04AA1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C3277-E071-4D71-3591-E58A60BED7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0477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96A15-4627-A2B7-B23E-2AC252B87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A1D323-39FD-6977-01F7-412F0DE61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71F59-B048-3D2A-8AFA-5907E8E6E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92962-9A43-C2C2-7107-AD8564EA2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668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D15C1-84CC-EEE0-CBCB-C245AB267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64659B-F5CE-2C12-1D92-6E223AC109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2623B-81BF-990E-3ACB-5CA309299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CB3A-421F-449A-812E-48DCB561FD8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964EA-4612-FB8A-444F-5DC9FB116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02088-3C09-7104-29AD-731E04319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C4F-C79C-448A-ACAF-47782E3A9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30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EE48F-7ED2-80D8-BD90-C5526A198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2A3BB-ECB0-8233-8797-5CC5C49CB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D7609-6178-0D90-C28E-84CC3A2E4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CB3A-421F-449A-812E-48DCB561FD8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5B026-6539-D730-B2D8-84844CCB3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9CC90-E494-F299-B9B0-FC8AFCF8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C4F-C79C-448A-ACAF-47782E3A9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079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CF30B-7150-0ED7-E6E6-C9553BBBA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A37B4-D193-0C8A-B351-AA7E58A94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E401C-5DB6-97AD-D28B-5332BC79B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CB3A-421F-449A-812E-48DCB561FD8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E348D-563A-6A5F-8005-DE30889D7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C182C-2464-768F-8AA8-36F0598F3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C4F-C79C-448A-ACAF-47782E3A9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6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8B2CC-E001-6FEB-6064-D627425DB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17DF0-5737-9151-AC49-76A062E1FD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ABE207-8B94-E197-C0F9-42DC622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545BC8-3614-BE70-7726-BD22C4197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CB3A-421F-449A-812E-48DCB561FD8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DDDDBC-C94C-036C-B428-163471C10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08B396-78AC-7D5F-E37D-29559C9E2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C4F-C79C-448A-ACAF-47782E3A9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121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460E4-E6D7-914C-05FE-D3A4A0CC8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2A3F5-FB61-072B-4456-654D9BFA8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1B57AB-FBBA-07CE-376E-F2F05C800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0F9EDC-966D-C183-C4A3-ECEB970AE1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71FA8A-1F68-F92D-AE01-AF4521497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04EACD-A78D-DE92-67FD-EC32B61B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CB3A-421F-449A-812E-48DCB561FD8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4B9899-FED4-AD39-799A-EC10C7B38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547495-266A-D1B8-FE4C-CFA413268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C4F-C79C-448A-ACAF-47782E3A9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32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215D-CB87-3476-6855-21C4340E4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4404DB-D24F-72FC-6A8A-7656000A4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CB3A-421F-449A-812E-48DCB561FD8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F536A4-759F-382F-443B-DE2367556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50FAAD-D97A-B088-D2DC-C6240ADB8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C4F-C79C-448A-ACAF-47782E3A9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34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9B4158-A2F1-417D-F8CE-8FBC9884B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CB3A-421F-449A-812E-48DCB561FD8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0BB6CE-D0CA-B674-EB75-B42D58437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9C3D9-3489-A16A-FAB7-2ADF67B45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C4F-C79C-448A-ACAF-47782E3A9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22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AE513-380B-CFE8-B7CC-855015F38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78C4D-FC25-52C8-D73D-6BB49D354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716CED-64DB-CD88-625E-AFFD9E149C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281E7A-FBF3-F421-1FC5-A36B24B3F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CB3A-421F-449A-812E-48DCB561FD8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1ACAA6-181F-DC9B-00C0-FCEA6D2C1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5CFE6-631C-8BAF-DF37-44251EEE8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C4F-C79C-448A-ACAF-47782E3A9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96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D8A70-E034-DAFD-1DE9-87DF8280D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A60F12-8CD5-8461-E2F2-20FF52CE8E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D7241-8F22-12F0-FD06-5CCC0DECC2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9E5BDB-08A2-6A93-9FD3-1E0C0D458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CB3A-421F-449A-812E-48DCB561FD8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1B011-2E92-944F-AF0A-E68C37B13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5B038-2849-1F89-3164-3D92FE522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C4F-C79C-448A-ACAF-47782E3A9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57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3D89E-2CFF-BD9E-C535-723430D53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C0AF9D-365E-4617-6D43-0874F8742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0B06A-04D7-EA5F-7C46-B7EEE09DD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CB3A-421F-449A-812E-48DCB561FD8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5EB62-EDA9-9D63-F483-0230DB736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979AE-F45C-18C3-27EB-B505AB252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C4F-C79C-448A-ACAF-47782E3A9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305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051504-323D-A82A-B71D-6AE1C21B88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D35884-52DC-2C85-910E-C80C58066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032BF-7EA6-1641-97FC-D736EAE52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CB3A-421F-449A-812E-48DCB561FD8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90B22-51BF-FC5C-ABCE-9043DC760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E811A-D2F8-56F9-6D7B-5E23FDA14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C4F-C79C-448A-ACAF-47782E3A9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300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EC0D68-9060-9B0C-AB26-A675713C9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D701D-74CC-8F92-3467-3B0617CB4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EB3B4-CB27-7404-F86B-07BD203E9C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13CB3A-421F-449A-812E-48DCB561FD8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8AB55-A2AC-B783-4BA6-179DFECD66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30915-9A50-EF7F-BF0A-6DEA0AE48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D24C4F-C79C-448A-ACAF-47782E3A9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727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upload.wikimedia.org/wikipedia/commons/3/30/Boeing_B-29_Superfortress_%2819926000422%29.jpg" TargetMode="External"/><Relationship Id="rId5" Type="http://schemas.openxmlformats.org/officeDocument/2006/relationships/image" Target="../media/image2.png"/><Relationship Id="rId4" Type="http://schemas.openxmlformats.org/officeDocument/2006/relationships/hyperlink" Target="https://www.datron.com/resources/blog/4-examples-of-milling-aerospace-parts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theaircurrent.com/dispatches/beyond-the-carrier-deck-a-glimpse-at-the-777x-folding-wingtip/" TargetMode="External"/><Relationship Id="rId4" Type="http://schemas.openxmlformats.org/officeDocument/2006/relationships/hyperlink" Target="https://global.kawasaki.com/en/corp/newsroom/news/detail/?f=20191216_8615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hyperlink" Target="https://commons.wikimedia.org/wiki/File:Boeing-777-300_chassis.jpg" TargetMode="Externa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6.png"/><Relationship Id="rId5" Type="http://schemas.openxmlformats.org/officeDocument/2006/relationships/hyperlink" Target="https://pxhere.com/en/photo/1208085" TargetMode="Externa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hyperlink" Target="https://commons.wikimedia.org/wiki/File:WestJet_Boeing_737_MAX_8_Interior.jpg" TargetMode="External"/><Relationship Id="rId5" Type="http://schemas.openxmlformats.org/officeDocument/2006/relationships/hyperlink" Target="https://planereclaimers.aero/product/boeing-aircraft-radome/" TargetMode="Externa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hyperlink" Target="https://dretloh.com/wp-content/uploads/2024/08/13430-31-URAL-Brice-7.jp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hyperlink" Target="https://dretloh.com/wp-content/uploads/2024/08/Traytable-e1488995091768-1024x893.jpg" TargetMode="Externa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hyperlink" Target="https://pxhere.com/en/photo/1106074" TargetMode="Externa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taResearchLabs/study_guide_intro_aerospace_mfg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969CFF-BAE7-BF73-632D-A9101B28F0D2}"/>
              </a:ext>
            </a:extLst>
          </p:cNvPr>
          <p:cNvSpPr/>
          <p:nvPr/>
        </p:nvSpPr>
        <p:spPr>
          <a:xfrm>
            <a:off x="1488038" y="2242335"/>
            <a:ext cx="9215919" cy="237333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E0237A-1769-2D18-56A2-B36906319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340599"/>
            <a:ext cx="12192000" cy="1145996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Materials &amp; Corrosion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E83414-9557-9971-74AE-0E0F206E6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64882" y="768846"/>
            <a:ext cx="3862232" cy="1090775"/>
          </a:xfr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Aerospace Manufacturing Core 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Study Guide </a:t>
            </a:r>
          </a:p>
          <a:p>
            <a:r>
              <a:rPr lang="en-US" sz="2000" dirty="0">
                <a:solidFill>
                  <a:schemeClr val="bg1"/>
                </a:solidFill>
              </a:rPr>
              <a:t>“AMCSG-103”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2A361BB-91A4-6234-4565-06CC792AA8FE}"/>
              </a:ext>
            </a:extLst>
          </p:cNvPr>
          <p:cNvSpPr txBox="1">
            <a:spLocks/>
          </p:cNvSpPr>
          <p:nvPr/>
        </p:nvSpPr>
        <p:spPr>
          <a:xfrm>
            <a:off x="-1" y="2592083"/>
            <a:ext cx="12191999" cy="748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/>
                </a:solidFill>
              </a:rPr>
              <a:t>Introduction to Aerospace Manufacturing</a:t>
            </a:r>
          </a:p>
        </p:txBody>
      </p:sp>
    </p:spTree>
    <p:extLst>
      <p:ext uri="{BB962C8B-B14F-4D97-AF65-F5344CB8AC3E}">
        <p14:creationId xmlns:p14="http://schemas.microsoft.com/office/powerpoint/2010/main" val="764307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B8F0E3-5C93-E077-1105-67DA4CA83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1D953-1632-E20F-09D1-1324EF808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2512" y="3022775"/>
            <a:ext cx="10086975" cy="81245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Aircraft Materials</a:t>
            </a:r>
          </a:p>
        </p:txBody>
      </p:sp>
    </p:spTree>
    <p:extLst>
      <p:ext uri="{BB962C8B-B14F-4D97-AF65-F5344CB8AC3E}">
        <p14:creationId xmlns:p14="http://schemas.microsoft.com/office/powerpoint/2010/main" val="4219899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4B14F2-9AA7-4CFB-F93A-541350278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4E0E-BA43-C866-F9BC-55A6149D5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10515600" cy="878048"/>
          </a:xfrm>
        </p:spPr>
        <p:txBody>
          <a:bodyPr/>
          <a:lstStyle/>
          <a:p>
            <a:r>
              <a:rPr lang="en-US" dirty="0"/>
              <a:t>Primary Materials in Commercial Aircraft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D86F-AE84-8A31-6329-E80532CDF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8657"/>
            <a:ext cx="11049000" cy="50442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Using newer </a:t>
            </a:r>
            <a:r>
              <a:rPr lang="en-US" sz="3200" b="1" dirty="0"/>
              <a:t>Boeing 787 </a:t>
            </a:r>
            <a:r>
              <a:rPr lang="en-US" sz="3200" dirty="0"/>
              <a:t>or </a:t>
            </a:r>
            <a:r>
              <a:rPr lang="en-US" sz="3200" b="1" dirty="0"/>
              <a:t>Airbus A350 </a:t>
            </a:r>
            <a:r>
              <a:rPr lang="en-US" sz="3200" dirty="0"/>
              <a:t>as a reference…</a:t>
            </a:r>
          </a:p>
          <a:p>
            <a:pPr>
              <a:tabLst>
                <a:tab pos="1027113" algn="r"/>
                <a:tab pos="1254125" algn="l"/>
              </a:tabLst>
            </a:pPr>
            <a:r>
              <a:rPr lang="en-US" dirty="0"/>
              <a:t>	50%	</a:t>
            </a:r>
            <a:r>
              <a:rPr lang="en-US" b="1" dirty="0"/>
              <a:t>Composites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(carbon fiber, epoxy, fiberglass, aramid fibers, …)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1027113" algn="r"/>
                <a:tab pos="1254125" algn="l"/>
              </a:tabLst>
            </a:pPr>
            <a:r>
              <a:rPr lang="en-US" dirty="0"/>
              <a:t>	45%	</a:t>
            </a:r>
            <a:r>
              <a:rPr lang="en-US" b="1" dirty="0"/>
              <a:t>Metals</a:t>
            </a:r>
            <a:r>
              <a:rPr lang="en-US" dirty="0"/>
              <a:t>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(aluminum alloys, titanium, steel, ...)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1027113" algn="r"/>
                <a:tab pos="1254125" algn="l"/>
              </a:tabLst>
            </a:pPr>
            <a:r>
              <a:rPr lang="en-US" dirty="0"/>
              <a:t>	5%	</a:t>
            </a:r>
            <a:r>
              <a:rPr lang="en-US" b="1" dirty="0"/>
              <a:t>Other</a:t>
            </a:r>
            <a:r>
              <a:rPr lang="en-US" dirty="0"/>
              <a:t>  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(plastics, wood, copper wiring, ...)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sz="3200" dirty="0"/>
              <a:t>Using traditional jetliners like </a:t>
            </a:r>
            <a:r>
              <a:rPr lang="en-US" sz="3200" b="1" dirty="0"/>
              <a:t>737</a:t>
            </a:r>
            <a:r>
              <a:rPr lang="en-US" sz="3200" dirty="0"/>
              <a:t> or </a:t>
            </a:r>
            <a:r>
              <a:rPr lang="en-US" sz="3200" b="1" dirty="0"/>
              <a:t>747</a:t>
            </a:r>
            <a:r>
              <a:rPr lang="en-US" sz="3200" dirty="0"/>
              <a:t>…</a:t>
            </a:r>
          </a:p>
          <a:p>
            <a:pPr>
              <a:lnSpc>
                <a:spcPct val="100000"/>
              </a:lnSpc>
              <a:tabLst>
                <a:tab pos="1489075" algn="r"/>
                <a:tab pos="1716088" algn="l"/>
              </a:tabLst>
            </a:pPr>
            <a:r>
              <a:rPr lang="en-US" dirty="0"/>
              <a:t>	75-80%	</a:t>
            </a:r>
            <a:r>
              <a:rPr lang="en-US" b="1" dirty="0"/>
              <a:t>Aluminum Alloys</a:t>
            </a:r>
            <a:r>
              <a:rPr lang="en-US" dirty="0"/>
              <a:t>: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(most common alloys are 2024 &amp; 7075)</a:t>
            </a:r>
          </a:p>
          <a:p>
            <a:pPr>
              <a:lnSpc>
                <a:spcPct val="100000"/>
              </a:lnSpc>
              <a:tabLst>
                <a:tab pos="1489075" algn="r"/>
                <a:tab pos="1716088" algn="l"/>
              </a:tabLst>
            </a:pPr>
            <a:r>
              <a:rPr lang="en-US" dirty="0"/>
              <a:t>	10-15%	</a:t>
            </a:r>
            <a:r>
              <a:rPr lang="en-US" b="1" dirty="0"/>
              <a:t>Steel</a:t>
            </a:r>
          </a:p>
          <a:p>
            <a:pPr>
              <a:lnSpc>
                <a:spcPct val="100000"/>
              </a:lnSpc>
              <a:tabLst>
                <a:tab pos="1489075" algn="r"/>
                <a:tab pos="1716088" algn="l"/>
              </a:tabLst>
            </a:pPr>
            <a:r>
              <a:rPr lang="en-US" dirty="0"/>
              <a:t>	5-10%	</a:t>
            </a:r>
            <a:r>
              <a:rPr lang="en-US" b="1" dirty="0"/>
              <a:t>Titanium</a:t>
            </a:r>
          </a:p>
          <a:p>
            <a:pPr>
              <a:lnSpc>
                <a:spcPct val="100000"/>
              </a:lnSpc>
              <a:tabLst>
                <a:tab pos="1489075" algn="r"/>
                <a:tab pos="1716088" algn="l"/>
              </a:tabLst>
            </a:pPr>
            <a:r>
              <a:rPr lang="en-US" dirty="0"/>
              <a:t>	 &lt; 1-3%	</a:t>
            </a:r>
            <a:r>
              <a:rPr lang="en-US" b="1" dirty="0"/>
              <a:t>Other</a:t>
            </a:r>
          </a:p>
          <a:p>
            <a:endParaRPr lang="en-US" dirty="0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AE2F9949-808F-ACBA-DAF9-AF9986266FCF}"/>
              </a:ext>
            </a:extLst>
          </p:cNvPr>
          <p:cNvSpPr txBox="1"/>
          <p:nvPr/>
        </p:nvSpPr>
        <p:spPr>
          <a:xfrm>
            <a:off x="9698804" y="57348"/>
            <a:ext cx="22996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&amp; Stats from Google AI</a:t>
            </a:r>
          </a:p>
        </p:txBody>
      </p:sp>
    </p:spTree>
    <p:extLst>
      <p:ext uri="{BB962C8B-B14F-4D97-AF65-F5344CB8AC3E}">
        <p14:creationId xmlns:p14="http://schemas.microsoft.com/office/powerpoint/2010/main" val="877153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DEB5AF-DCA8-13A0-9A0D-E8B8720F1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B920C-069C-B88F-3EDA-F17A318C3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10515600" cy="877824"/>
          </a:xfrm>
        </p:spPr>
        <p:txBody>
          <a:bodyPr/>
          <a:lstStyle/>
          <a:p>
            <a:r>
              <a:rPr lang="en-US" dirty="0"/>
              <a:t>Material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FBCB6-EF4C-B41D-3E02-1C9AE9B28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381"/>
            <a:ext cx="11049000" cy="4802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Materials are selected based on properties &amp; performance</a:t>
            </a:r>
          </a:p>
          <a:p>
            <a:r>
              <a:rPr lang="en-US" b="1" dirty="0"/>
              <a:t>Strength: </a:t>
            </a:r>
            <a:r>
              <a:rPr lang="en-US" dirty="0"/>
              <a:t> </a:t>
            </a:r>
            <a:r>
              <a:rPr lang="en-US" sz="2400" dirty="0"/>
              <a:t>Stronger is better  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… four: tensile, shear, bearing, yield</a:t>
            </a:r>
          </a:p>
          <a:p>
            <a:r>
              <a:rPr lang="en-US" b="1" dirty="0"/>
              <a:t>Weight:</a:t>
            </a:r>
            <a:r>
              <a:rPr lang="en-US" dirty="0"/>
              <a:t>  </a:t>
            </a:r>
            <a:r>
              <a:rPr lang="en-US" sz="2400" dirty="0"/>
              <a:t>Lighter is better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b="1" dirty="0"/>
              <a:t>Cost:</a:t>
            </a:r>
            <a:r>
              <a:rPr lang="en-US" dirty="0"/>
              <a:t>  </a:t>
            </a:r>
            <a:r>
              <a:rPr lang="en-US" sz="2400" dirty="0"/>
              <a:t>Lower cost is better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---------------------------------------------------------------------------</a:t>
            </a:r>
          </a:p>
          <a:p>
            <a:r>
              <a:rPr lang="en-US" b="1" dirty="0"/>
              <a:t>Durability:</a:t>
            </a:r>
            <a:r>
              <a:rPr lang="en-US" dirty="0"/>
              <a:t>  </a:t>
            </a:r>
            <a:r>
              <a:rPr lang="en-US" sz="2400" dirty="0"/>
              <a:t>Longer life is better 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… corrosion is bad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b="1" dirty="0"/>
              <a:t>Usability:</a:t>
            </a:r>
            <a:r>
              <a:rPr lang="en-US" dirty="0"/>
              <a:t>  </a:t>
            </a:r>
            <a:r>
              <a:rPr lang="en-US" sz="2400" dirty="0"/>
              <a:t>Easier maintenance is better</a:t>
            </a:r>
            <a:endParaRPr lang="en-US" dirty="0"/>
          </a:p>
          <a:p>
            <a:r>
              <a:rPr lang="en-US" b="1" dirty="0"/>
              <a:t>Appearance:</a:t>
            </a:r>
            <a:r>
              <a:rPr lang="en-US" dirty="0"/>
              <a:t>  </a:t>
            </a:r>
            <a:r>
              <a:rPr lang="en-US" sz="2400" dirty="0"/>
              <a:t>You know it when you see it 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… avoid ugly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AE2F9949-808F-ACBA-DAF9-AF9986266FCF}"/>
              </a:ext>
            </a:extLst>
          </p:cNvPr>
          <p:cNvSpPr txBox="1"/>
          <p:nvPr/>
        </p:nvSpPr>
        <p:spPr>
          <a:xfrm>
            <a:off x="10169705" y="57349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Google AI</a:t>
            </a:r>
          </a:p>
        </p:txBody>
      </p:sp>
    </p:spTree>
    <p:extLst>
      <p:ext uri="{BB962C8B-B14F-4D97-AF65-F5344CB8AC3E}">
        <p14:creationId xmlns:p14="http://schemas.microsoft.com/office/powerpoint/2010/main" val="1500746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9801C3-A41A-E009-A69F-5698DC542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5B7ED-1CB6-3539-4966-D8E2064E2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4"/>
            <a:ext cx="10515600" cy="877824"/>
          </a:xfrm>
        </p:spPr>
        <p:txBody>
          <a:bodyPr/>
          <a:lstStyle/>
          <a:p>
            <a:r>
              <a:rPr lang="en-US" dirty="0"/>
              <a:t>Properties of Aluminum Alloys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616AF-2C78-6D0C-CCA7-309E8A16C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26842"/>
            <a:ext cx="8161962" cy="4802187"/>
          </a:xfrm>
        </p:spPr>
        <p:txBody>
          <a:bodyPr>
            <a:normAutofit/>
          </a:bodyPr>
          <a:lstStyle/>
          <a:p>
            <a:r>
              <a:rPr lang="en-US" dirty="0"/>
              <a:t>Aluminum alloys </a:t>
            </a:r>
            <a:r>
              <a:rPr lang="en-US" b="1" dirty="0"/>
              <a:t>win </a:t>
            </a:r>
            <a:r>
              <a:rPr lang="en-US" dirty="0"/>
              <a:t>when</a:t>
            </a:r>
          </a:p>
          <a:p>
            <a:pPr lvl="1"/>
            <a:r>
              <a:rPr lang="en-US" dirty="0"/>
              <a:t>Ease of Fabrication (</a:t>
            </a:r>
            <a:r>
              <a:rPr lang="en-US" b="1" dirty="0"/>
              <a:t>Usability</a:t>
            </a:r>
            <a:r>
              <a:rPr lang="en-US" dirty="0"/>
              <a:t>) and (</a:t>
            </a:r>
            <a:r>
              <a:rPr lang="en-US" b="1" dirty="0"/>
              <a:t>Cost</a:t>
            </a:r>
            <a:r>
              <a:rPr lang="en-US" dirty="0"/>
              <a:t>) are critical </a:t>
            </a:r>
            <a:br>
              <a:rPr lang="en-US" dirty="0"/>
            </a:b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(up to 80% by weight in traditional aircraft)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en-US" dirty="0"/>
              <a:t>Fatigue and Corrosion Resistance (</a:t>
            </a:r>
            <a:r>
              <a:rPr lang="en-US" b="1" dirty="0"/>
              <a:t>Durability</a:t>
            </a:r>
            <a:r>
              <a:rPr lang="en-US" dirty="0"/>
              <a:t>) is critical</a:t>
            </a:r>
          </a:p>
          <a:p>
            <a:pPr lvl="1"/>
            <a:endParaRPr lang="en-US" dirty="0"/>
          </a:p>
          <a:p>
            <a:r>
              <a:rPr lang="en-US" dirty="0"/>
              <a:t>Aluminum </a:t>
            </a:r>
            <a:r>
              <a:rPr lang="en-US" b="1" dirty="0"/>
              <a:t>is used in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Fuselage &amp; Wing Skins</a:t>
            </a:r>
            <a:r>
              <a:rPr lang="en-US" dirty="0"/>
              <a:t> for high strength, low weight, durability</a:t>
            </a:r>
          </a:p>
          <a:p>
            <a:pPr lvl="1"/>
            <a:r>
              <a:rPr lang="en-US" b="1" dirty="0"/>
              <a:t>Structural</a:t>
            </a:r>
            <a:r>
              <a:rPr lang="en-US" dirty="0"/>
              <a:t> components for strength in wing ribs, stringers, etc.</a:t>
            </a:r>
          </a:p>
          <a:p>
            <a:pPr lvl="1"/>
            <a:r>
              <a:rPr lang="en-US" b="1" dirty="0"/>
              <a:t>Other Components</a:t>
            </a:r>
            <a:r>
              <a:rPr lang="en-US" dirty="0"/>
              <a:t> like seat frames, cockpit/cabin furniture, etc.</a:t>
            </a:r>
          </a:p>
          <a:p>
            <a:pPr lvl="1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46434CC-34DF-74DE-B677-33A766166EB0}"/>
              </a:ext>
            </a:extLst>
          </p:cNvPr>
          <p:cNvGrpSpPr/>
          <p:nvPr/>
        </p:nvGrpSpPr>
        <p:grpSpPr>
          <a:xfrm>
            <a:off x="9079775" y="4215070"/>
            <a:ext cx="2751601" cy="1692315"/>
            <a:chOff x="9079775" y="4215070"/>
            <a:chExt cx="2751601" cy="169231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25024CE-29CE-DB94-4BB5-FE85EE121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79775" y="4215070"/>
              <a:ext cx="2751601" cy="1445203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" name="TextBox 8">
              <a:hlinkClick r:id="rId4"/>
              <a:extLst>
                <a:ext uri="{FF2B5EF4-FFF2-40B4-BE49-F238E27FC236}">
                  <a16:creationId xmlns:a16="http://schemas.microsoft.com/office/drawing/2014/main" id="{B0948550-DF77-5C1C-66D2-E76A7AD007D2}"/>
                </a:ext>
              </a:extLst>
            </p:cNvPr>
            <p:cNvSpPr txBox="1"/>
            <p:nvPr/>
          </p:nvSpPr>
          <p:spPr>
            <a:xfrm>
              <a:off x="9079775" y="5676553"/>
              <a:ext cx="275160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>
                <a:defRPr sz="900"/>
              </a:lvl1pPr>
            </a:lstStyle>
            <a:p>
              <a:r>
                <a:rPr lang="en-US" dirty="0"/>
                <a:t>(Ad) Datron Milled Aluminum Part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5DA37D-74B2-C390-4A39-13F4C9F0C639}"/>
              </a:ext>
            </a:extLst>
          </p:cNvPr>
          <p:cNvGrpSpPr/>
          <p:nvPr/>
        </p:nvGrpSpPr>
        <p:grpSpPr>
          <a:xfrm>
            <a:off x="9079775" y="1426842"/>
            <a:ext cx="2751601" cy="2351858"/>
            <a:chOff x="9079775" y="1426842"/>
            <a:chExt cx="2751601" cy="235185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AF02866-F668-57DF-C9D8-491149C4A4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79775" y="1426842"/>
              <a:ext cx="2751601" cy="2121026"/>
            </a:xfrm>
            <a:prstGeom prst="rect">
              <a:avLst/>
            </a:prstGeom>
            <a:noFill/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TextBox 6">
              <a:hlinkClick r:id="rId6"/>
              <a:extLst>
                <a:ext uri="{FF2B5EF4-FFF2-40B4-BE49-F238E27FC236}">
                  <a16:creationId xmlns:a16="http://schemas.microsoft.com/office/drawing/2014/main" id="{9F6DF3D3-0E20-B554-9336-68A15F531024}"/>
                </a:ext>
              </a:extLst>
            </p:cNvPr>
            <p:cNvSpPr txBox="1"/>
            <p:nvPr/>
          </p:nvSpPr>
          <p:spPr>
            <a:xfrm>
              <a:off x="9079775" y="3547868"/>
              <a:ext cx="275160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/>
                <a:t>(CC2)  Wikimedia Commons </a:t>
              </a:r>
            </a:p>
          </p:txBody>
        </p:sp>
      </p:grpSp>
      <p:sp>
        <p:nvSpPr>
          <p:cNvPr id="4" name="TextBox 7">
            <a:extLst>
              <a:ext uri="{FF2B5EF4-FFF2-40B4-BE49-F238E27FC236}">
                <a16:creationId xmlns:a16="http://schemas.microsoft.com/office/drawing/2014/main" id="{1DF2524E-27A8-1240-4E3E-5C4D2378F28D}"/>
              </a:ext>
            </a:extLst>
          </p:cNvPr>
          <p:cNvSpPr txBox="1"/>
          <p:nvPr/>
        </p:nvSpPr>
        <p:spPr>
          <a:xfrm>
            <a:off x="10169705" y="57349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Google AI</a:t>
            </a:r>
          </a:p>
        </p:txBody>
      </p:sp>
    </p:spTree>
    <p:extLst>
      <p:ext uri="{BB962C8B-B14F-4D97-AF65-F5344CB8AC3E}">
        <p14:creationId xmlns:p14="http://schemas.microsoft.com/office/powerpoint/2010/main" val="367428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39C4F9-B204-A9E2-4842-2B7D3058F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8EE4B-D768-82E1-520D-215F51926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10515600" cy="877824"/>
          </a:xfrm>
        </p:spPr>
        <p:txBody>
          <a:bodyPr/>
          <a:lstStyle/>
          <a:p>
            <a:r>
              <a:rPr lang="en-US" dirty="0"/>
              <a:t>Properties of Composites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015FE-D10D-4013-4B59-CD1566CE8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638" y="1575900"/>
            <a:ext cx="7938816" cy="3258928"/>
          </a:xfrm>
        </p:spPr>
        <p:txBody>
          <a:bodyPr>
            <a:normAutofit/>
          </a:bodyPr>
          <a:lstStyle/>
          <a:p>
            <a:r>
              <a:rPr lang="en-US" sz="2400" dirty="0"/>
              <a:t>Composites </a:t>
            </a:r>
            <a:r>
              <a:rPr lang="en-US" sz="2400" b="1" dirty="0"/>
              <a:t>win</a:t>
            </a:r>
            <a:r>
              <a:rPr lang="en-US" sz="2400" dirty="0"/>
              <a:t> when:</a:t>
            </a:r>
          </a:p>
          <a:p>
            <a:pPr lvl="1"/>
            <a:r>
              <a:rPr lang="en-US" sz="2000" b="1" dirty="0"/>
              <a:t>Cost</a:t>
            </a:r>
            <a:r>
              <a:rPr lang="en-US" sz="2000" dirty="0"/>
              <a:t>: Fuel Efficiency</a:t>
            </a:r>
          </a:p>
          <a:p>
            <a:pPr lvl="1"/>
            <a:r>
              <a:rPr lang="en-US" sz="2000" b="1" dirty="0"/>
              <a:t>Cost</a:t>
            </a:r>
            <a:r>
              <a:rPr lang="en-US" sz="2000" dirty="0"/>
              <a:t>: Fewer Parts / Molded Shape</a:t>
            </a:r>
          </a:p>
          <a:p>
            <a:pPr lvl="1"/>
            <a:r>
              <a:rPr lang="en-US" sz="2000" b="1" dirty="0"/>
              <a:t>Durability: </a:t>
            </a:r>
            <a:r>
              <a:rPr lang="en-US" sz="2000" dirty="0"/>
              <a:t>Fatigue and Corrosion Resistance</a:t>
            </a:r>
          </a:p>
          <a:p>
            <a:pPr lvl="1"/>
            <a:endParaRPr lang="en-US" sz="1200" dirty="0"/>
          </a:p>
          <a:p>
            <a:r>
              <a:rPr lang="en-US" sz="2400" dirty="0"/>
              <a:t>Composites </a:t>
            </a:r>
            <a:r>
              <a:rPr lang="en-US" sz="2400" b="1" dirty="0"/>
              <a:t>are used in</a:t>
            </a:r>
            <a:r>
              <a:rPr lang="en-US" sz="2400" dirty="0"/>
              <a:t>:</a:t>
            </a:r>
          </a:p>
          <a:p>
            <a:pPr lvl="1"/>
            <a:r>
              <a:rPr lang="en-US" sz="2000" b="1" dirty="0"/>
              <a:t>Fuselage </a:t>
            </a:r>
            <a:r>
              <a:rPr lang="en-US" sz="2000" dirty="0"/>
              <a:t>&amp;</a:t>
            </a:r>
            <a:r>
              <a:rPr lang="en-US" sz="2000" b="1" dirty="0"/>
              <a:t> Wing  Skins</a:t>
            </a:r>
            <a:r>
              <a:rPr lang="en-US" sz="2000" dirty="0"/>
              <a:t> for high strength, low weight, durability</a:t>
            </a:r>
          </a:p>
          <a:p>
            <a:pPr lvl="1"/>
            <a:r>
              <a:rPr lang="en-US" sz="2000" b="1" dirty="0"/>
              <a:t>Structural</a:t>
            </a:r>
            <a:r>
              <a:rPr lang="en-US" sz="2000" dirty="0"/>
              <a:t> components for strength in wing spars, stringers, etc.</a:t>
            </a:r>
          </a:p>
          <a:p>
            <a:pPr lvl="1"/>
            <a:r>
              <a:rPr lang="en-US" sz="2000" b="1" dirty="0"/>
              <a:t>Fairings</a:t>
            </a:r>
            <a:r>
              <a:rPr lang="en-US" sz="2000" dirty="0"/>
              <a:t> for high impact resistance 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(aramid fibers)</a:t>
            </a:r>
          </a:p>
          <a:p>
            <a:pPr lvl="1"/>
            <a:endParaRPr lang="en-US" sz="20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EB056C-EBA5-ABEF-4525-7D11F3F90CFE}"/>
              </a:ext>
            </a:extLst>
          </p:cNvPr>
          <p:cNvGrpSpPr/>
          <p:nvPr/>
        </p:nvGrpSpPr>
        <p:grpSpPr>
          <a:xfrm>
            <a:off x="8754330" y="1575900"/>
            <a:ext cx="3054418" cy="1779275"/>
            <a:chOff x="9125934" y="1690686"/>
            <a:chExt cx="3054418" cy="1779275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20E3C89-6575-E1E5-CB5D-B05A87EE46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5934" y="1690686"/>
              <a:ext cx="3054418" cy="1534845"/>
            </a:xfrm>
            <a:prstGeom prst="rect">
              <a:avLst/>
            </a:prstGeom>
            <a:noFill/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hlinkClick r:id="rId4"/>
              <a:extLst>
                <a:ext uri="{FF2B5EF4-FFF2-40B4-BE49-F238E27FC236}">
                  <a16:creationId xmlns:a16="http://schemas.microsoft.com/office/drawing/2014/main" id="{2E51A2DA-4048-6656-2CB5-AFCFA289B07F}"/>
                </a:ext>
              </a:extLst>
            </p:cNvPr>
            <p:cNvSpPr txBox="1"/>
            <p:nvPr/>
          </p:nvSpPr>
          <p:spPr>
            <a:xfrm>
              <a:off x="9349737" y="3239129"/>
              <a:ext cx="283061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/>
                <a:t>(News)  Kawaski.com, 2019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ED2D3DB-DEEA-B3B5-A88A-E808B8F7DE32}"/>
              </a:ext>
            </a:extLst>
          </p:cNvPr>
          <p:cNvGrpSpPr/>
          <p:nvPr/>
        </p:nvGrpSpPr>
        <p:grpSpPr>
          <a:xfrm>
            <a:off x="8754330" y="3802448"/>
            <a:ext cx="2353003" cy="2236516"/>
            <a:chOff x="8589944" y="4535856"/>
            <a:chExt cx="2353003" cy="2236516"/>
          </a:xfrm>
        </p:grpSpPr>
        <p:sp>
          <p:nvSpPr>
            <p:cNvPr id="5" name="TextBox 4">
              <a:hlinkClick r:id="rId5"/>
              <a:extLst>
                <a:ext uri="{FF2B5EF4-FFF2-40B4-BE49-F238E27FC236}">
                  <a16:creationId xmlns:a16="http://schemas.microsoft.com/office/drawing/2014/main" id="{F3F6A869-AA8A-A225-82EF-2C1B7C0AC8D9}"/>
                </a:ext>
              </a:extLst>
            </p:cNvPr>
            <p:cNvSpPr txBox="1"/>
            <p:nvPr/>
          </p:nvSpPr>
          <p:spPr>
            <a:xfrm>
              <a:off x="8589944" y="6541540"/>
              <a:ext cx="235300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/>
                <a:t>(News)  Composites World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D4FBCD0-8F12-25D3-9C12-FAC9C7964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589944" y="4535856"/>
              <a:ext cx="2353003" cy="1991003"/>
            </a:xfrm>
            <a:prstGeom prst="rect">
              <a:avLst/>
            </a:prstGeom>
            <a:noFill/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6" name="TextBox 7">
            <a:extLst>
              <a:ext uri="{FF2B5EF4-FFF2-40B4-BE49-F238E27FC236}">
                <a16:creationId xmlns:a16="http://schemas.microsoft.com/office/drawing/2014/main" id="{5FE0D9D4-4DFD-C912-EEBC-BC1DD90F3008}"/>
              </a:ext>
            </a:extLst>
          </p:cNvPr>
          <p:cNvSpPr txBox="1"/>
          <p:nvPr/>
        </p:nvSpPr>
        <p:spPr>
          <a:xfrm>
            <a:off x="10169705" y="57349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Google AI</a:t>
            </a:r>
          </a:p>
        </p:txBody>
      </p:sp>
    </p:spTree>
    <p:extLst>
      <p:ext uri="{BB962C8B-B14F-4D97-AF65-F5344CB8AC3E}">
        <p14:creationId xmlns:p14="http://schemas.microsoft.com/office/powerpoint/2010/main" val="3216302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6DCDC6-E78B-5FFD-5F8D-CFD15787E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7D63-6502-78BA-3C4B-06366D3BB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5"/>
            <a:ext cx="10515600" cy="877824"/>
          </a:xfrm>
        </p:spPr>
        <p:txBody>
          <a:bodyPr/>
          <a:lstStyle/>
          <a:p>
            <a:r>
              <a:rPr lang="en-US" dirty="0"/>
              <a:t>Properties of Titanium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B5633-2B6A-44B3-2E67-05D3E3DD3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48" y="1481328"/>
            <a:ext cx="7658100" cy="4802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Titanium </a:t>
            </a:r>
            <a:r>
              <a:rPr lang="en-US" b="1" dirty="0"/>
              <a:t>wins</a:t>
            </a:r>
            <a:r>
              <a:rPr lang="en-US" dirty="0"/>
              <a:t> when:</a:t>
            </a:r>
          </a:p>
          <a:p>
            <a:pPr lvl="1"/>
            <a:r>
              <a:rPr lang="en-US" b="1" dirty="0"/>
              <a:t>Strength</a:t>
            </a:r>
            <a:r>
              <a:rPr lang="en-US" dirty="0"/>
              <a:t>:</a:t>
            </a:r>
            <a:r>
              <a:rPr lang="en-US" b="1" dirty="0"/>
              <a:t> </a:t>
            </a:r>
            <a:r>
              <a:rPr lang="en-US" dirty="0"/>
              <a:t>High Stress</a:t>
            </a:r>
          </a:p>
          <a:p>
            <a:pPr lvl="1"/>
            <a:r>
              <a:rPr lang="en-US" b="1" dirty="0"/>
              <a:t>Durability</a:t>
            </a:r>
            <a:r>
              <a:rPr lang="en-US" dirty="0"/>
              <a:t>:</a:t>
            </a:r>
            <a:r>
              <a:rPr lang="en-US" b="1" dirty="0"/>
              <a:t> </a:t>
            </a:r>
            <a:r>
              <a:rPr lang="en-US" dirty="0"/>
              <a:t>Temperature Resistance</a:t>
            </a:r>
          </a:p>
          <a:p>
            <a:pPr lvl="1"/>
            <a:endParaRPr lang="en-US" dirty="0"/>
          </a:p>
          <a:p>
            <a:r>
              <a:rPr lang="en-US" dirty="0"/>
              <a:t>Titanium </a:t>
            </a:r>
            <a:r>
              <a:rPr lang="en-US" b="1" dirty="0"/>
              <a:t>is used in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Engine </a:t>
            </a:r>
            <a:r>
              <a:rPr lang="en-US" dirty="0"/>
              <a:t>components for high heat </a:t>
            </a:r>
          </a:p>
          <a:p>
            <a:pPr lvl="1"/>
            <a:r>
              <a:rPr lang="en-US" b="1" dirty="0"/>
              <a:t>Landing Gear &amp; Hydraulics</a:t>
            </a:r>
            <a:r>
              <a:rPr lang="en-US" dirty="0"/>
              <a:t> for high fatigue resistance and strength</a:t>
            </a:r>
          </a:p>
          <a:p>
            <a:pPr lvl="1"/>
            <a:r>
              <a:rPr lang="en-US" b="1" dirty="0"/>
              <a:t>Structural </a:t>
            </a:r>
            <a:r>
              <a:rPr lang="en-US" dirty="0"/>
              <a:t>airframes for strength in frames, splices, bolts, etc.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5D87A7C-E655-A5B4-CA6C-FBA042002230}"/>
              </a:ext>
            </a:extLst>
          </p:cNvPr>
          <p:cNvGrpSpPr/>
          <p:nvPr/>
        </p:nvGrpSpPr>
        <p:grpSpPr>
          <a:xfrm>
            <a:off x="8776804" y="4351694"/>
            <a:ext cx="2952751" cy="1782147"/>
            <a:chOff x="8848725" y="1690687"/>
            <a:chExt cx="2952751" cy="1782147"/>
          </a:xfrm>
        </p:grpSpPr>
        <p:pic>
          <p:nvPicPr>
            <p:cNvPr id="2050" name="Picture 2" descr="wheel, steel, screw, product, animation ...">
              <a:extLst>
                <a:ext uri="{FF2B5EF4-FFF2-40B4-BE49-F238E27FC236}">
                  <a16:creationId xmlns:a16="http://schemas.microsoft.com/office/drawing/2014/main" id="{97E840DD-A417-0DCE-CE54-9309D9F0DB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8725" y="1690687"/>
              <a:ext cx="2952750" cy="1543050"/>
            </a:xfrm>
            <a:prstGeom prst="rect">
              <a:avLst/>
            </a:prstGeom>
            <a:noFill/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hlinkClick r:id="rId5"/>
              <a:extLst>
                <a:ext uri="{FF2B5EF4-FFF2-40B4-BE49-F238E27FC236}">
                  <a16:creationId xmlns:a16="http://schemas.microsoft.com/office/drawing/2014/main" id="{57C1EE55-EFAE-3690-B07A-D5ACFA995CCD}"/>
                </a:ext>
              </a:extLst>
            </p:cNvPr>
            <p:cNvSpPr txBox="1"/>
            <p:nvPr/>
          </p:nvSpPr>
          <p:spPr>
            <a:xfrm>
              <a:off x="8848726" y="3242002"/>
              <a:ext cx="295275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/>
                <a:t>(CC0)  </a:t>
              </a:r>
              <a:r>
                <a:rPr lang="en-US" sz="900" dirty="0" err="1"/>
                <a:t>PxHere</a:t>
              </a:r>
              <a:endParaRPr lang="en-US" sz="9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031A8AA-B4FA-DC44-89A0-EAFC0C519FCF}"/>
              </a:ext>
            </a:extLst>
          </p:cNvPr>
          <p:cNvGrpSpPr/>
          <p:nvPr/>
        </p:nvGrpSpPr>
        <p:grpSpPr>
          <a:xfrm>
            <a:off x="8776804" y="1755966"/>
            <a:ext cx="2952750" cy="2082710"/>
            <a:chOff x="8848725" y="3942763"/>
            <a:chExt cx="2952750" cy="208271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A187FA5-6918-B0CC-8645-A37AE3BD6A0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8725" y="3942763"/>
              <a:ext cx="2952750" cy="1833561"/>
            </a:xfrm>
            <a:prstGeom prst="rect">
              <a:avLst/>
            </a:prstGeom>
            <a:noFill/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" name="TextBox 5">
              <a:hlinkClick r:id="rId7"/>
              <a:extLst>
                <a:ext uri="{FF2B5EF4-FFF2-40B4-BE49-F238E27FC236}">
                  <a16:creationId xmlns:a16="http://schemas.microsoft.com/office/drawing/2014/main" id="{A33D12B7-F697-4271-D258-1ED34DA7B4DB}"/>
                </a:ext>
              </a:extLst>
            </p:cNvPr>
            <p:cNvSpPr txBox="1"/>
            <p:nvPr/>
          </p:nvSpPr>
          <p:spPr>
            <a:xfrm>
              <a:off x="8970860" y="5794641"/>
              <a:ext cx="283061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/>
                <a:t>(CC3)  Wikimedia Commons </a:t>
              </a:r>
            </a:p>
          </p:txBody>
        </p:sp>
      </p:grpSp>
      <p:sp>
        <p:nvSpPr>
          <p:cNvPr id="9" name="TextBox 7">
            <a:extLst>
              <a:ext uri="{FF2B5EF4-FFF2-40B4-BE49-F238E27FC236}">
                <a16:creationId xmlns:a16="http://schemas.microsoft.com/office/drawing/2014/main" id="{C3E6B957-9A25-7B76-0E3E-F05F861CFC42}"/>
              </a:ext>
            </a:extLst>
          </p:cNvPr>
          <p:cNvSpPr txBox="1"/>
          <p:nvPr/>
        </p:nvSpPr>
        <p:spPr>
          <a:xfrm>
            <a:off x="10169705" y="57349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Google AI</a:t>
            </a:r>
          </a:p>
        </p:txBody>
      </p:sp>
    </p:spTree>
    <p:extLst>
      <p:ext uri="{BB962C8B-B14F-4D97-AF65-F5344CB8AC3E}">
        <p14:creationId xmlns:p14="http://schemas.microsoft.com/office/powerpoint/2010/main" val="16834471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3374D2-B120-5E56-2DBB-C227F7746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4683A-DE85-72EA-B28D-F40A219E6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4"/>
            <a:ext cx="10515600" cy="877824"/>
          </a:xfrm>
        </p:spPr>
        <p:txBody>
          <a:bodyPr/>
          <a:lstStyle/>
          <a:p>
            <a:r>
              <a:rPr lang="en-US" dirty="0"/>
              <a:t>Properties of Fiberglass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E63F6-1B81-2409-0681-F3601080F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162" y="1476804"/>
            <a:ext cx="8804953" cy="480218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Fiberglass </a:t>
            </a:r>
            <a:r>
              <a:rPr lang="en-US" b="1" dirty="0"/>
              <a:t>wins </a:t>
            </a:r>
            <a:r>
              <a:rPr lang="en-US" dirty="0"/>
              <a:t>when:</a:t>
            </a:r>
          </a:p>
          <a:p>
            <a:pPr lvl="1"/>
            <a:r>
              <a:rPr lang="en-US" b="1" dirty="0"/>
              <a:t>Usability</a:t>
            </a:r>
            <a:r>
              <a:rPr lang="en-US" dirty="0"/>
              <a:t>:</a:t>
            </a:r>
            <a:r>
              <a:rPr lang="en-US" b="1" dirty="0"/>
              <a:t> </a:t>
            </a:r>
            <a:r>
              <a:rPr lang="en-US" dirty="0"/>
              <a:t>Transparency to radar waves</a:t>
            </a:r>
          </a:p>
          <a:p>
            <a:pPr lvl="1"/>
            <a:r>
              <a:rPr lang="en-US" b="1" dirty="0"/>
              <a:t>Usability</a:t>
            </a:r>
            <a:r>
              <a:rPr lang="en-US" dirty="0"/>
              <a:t>:</a:t>
            </a:r>
            <a:r>
              <a:rPr lang="en-US" b="1" dirty="0"/>
              <a:t> </a:t>
            </a:r>
            <a:r>
              <a:rPr lang="en-US" dirty="0"/>
              <a:t>Ease of molding into complex aerodynamic shapes</a:t>
            </a:r>
          </a:p>
          <a:p>
            <a:pPr lvl="1"/>
            <a:r>
              <a:rPr lang="en-US" b="1" dirty="0"/>
              <a:t>Strength</a:t>
            </a:r>
            <a:r>
              <a:rPr lang="en-US" dirty="0"/>
              <a:t>:</a:t>
            </a:r>
            <a:r>
              <a:rPr lang="en-US" b="1" dirty="0"/>
              <a:t> </a:t>
            </a:r>
            <a:r>
              <a:rPr lang="en-US" dirty="0"/>
              <a:t>Impact resistance against bird-strikes, etc.</a:t>
            </a:r>
          </a:p>
          <a:p>
            <a:pPr lvl="1"/>
            <a:r>
              <a:rPr lang="en-US" b="1" dirty="0"/>
              <a:t>Durability</a:t>
            </a:r>
            <a:r>
              <a:rPr lang="en-US" dirty="0"/>
              <a:t>:</a:t>
            </a:r>
            <a:r>
              <a:rPr lang="en-US" b="1" dirty="0"/>
              <a:t> </a:t>
            </a:r>
            <a:r>
              <a:rPr lang="en-US" dirty="0"/>
              <a:t>Corrosion and fire resistance</a:t>
            </a:r>
          </a:p>
          <a:p>
            <a:pPr lvl="1"/>
            <a:r>
              <a:rPr lang="en-US" b="1" dirty="0"/>
              <a:t>Cost</a:t>
            </a:r>
            <a:r>
              <a:rPr lang="en-US" dirty="0"/>
              <a:t>: Much less than Carbon or Aramid fibers</a:t>
            </a:r>
            <a:endParaRPr lang="en-US" sz="1800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endParaRPr lang="en-US" sz="1800" dirty="0">
              <a:solidFill>
                <a:schemeClr val="bg1">
                  <a:lumMod val="65000"/>
                </a:schemeClr>
              </a:solidFill>
            </a:endParaRPr>
          </a:p>
          <a:p>
            <a:pPr marL="0" lvl="1" indent="0">
              <a:spcBef>
                <a:spcPts val="1000"/>
              </a:spcBef>
              <a:buNone/>
            </a:pPr>
            <a:r>
              <a:rPr lang="en-US" sz="2800" dirty="0"/>
              <a:t>Fiberglass </a:t>
            </a:r>
            <a:r>
              <a:rPr lang="en-US" sz="2800" b="1" dirty="0"/>
              <a:t>is used in</a:t>
            </a:r>
            <a:r>
              <a:rPr lang="en-US" sz="2800" dirty="0"/>
              <a:t>:</a:t>
            </a:r>
          </a:p>
          <a:p>
            <a:pPr lvl="1"/>
            <a:r>
              <a:rPr lang="en-US" b="1" dirty="0" err="1"/>
              <a:t>Radomes</a:t>
            </a:r>
            <a:r>
              <a:rPr lang="en-US" dirty="0"/>
              <a:t> and </a:t>
            </a:r>
            <a:r>
              <a:rPr lang="en-US" b="1" dirty="0"/>
              <a:t>antennas</a:t>
            </a:r>
            <a:r>
              <a:rPr lang="en-US" dirty="0"/>
              <a:t> for radar and signal transparency</a:t>
            </a:r>
          </a:p>
          <a:p>
            <a:pPr lvl="1"/>
            <a:r>
              <a:rPr lang="en-US" dirty="0"/>
              <a:t>Secondary structures like </a:t>
            </a:r>
            <a:r>
              <a:rPr lang="en-US" b="1" dirty="0"/>
              <a:t>engine cowlings</a:t>
            </a:r>
            <a:r>
              <a:rPr lang="en-US" dirty="0"/>
              <a:t>, </a:t>
            </a:r>
            <a:r>
              <a:rPr lang="en-US" b="1" dirty="0"/>
              <a:t>wingtips</a:t>
            </a:r>
            <a:r>
              <a:rPr lang="en-US" dirty="0"/>
              <a:t>, </a:t>
            </a:r>
            <a:r>
              <a:rPr lang="en-US" b="1" dirty="0"/>
              <a:t>fairings</a:t>
            </a:r>
            <a:r>
              <a:rPr lang="en-US" dirty="0"/>
              <a:t>, etc. for ease of molding and impact areas</a:t>
            </a:r>
          </a:p>
          <a:p>
            <a:pPr lvl="1"/>
            <a:r>
              <a:rPr lang="en-US" dirty="0"/>
              <a:t>Interior components like </a:t>
            </a:r>
            <a:r>
              <a:rPr lang="en-US" b="1" dirty="0"/>
              <a:t>cabin walls</a:t>
            </a:r>
            <a:r>
              <a:rPr lang="en-US" dirty="0"/>
              <a:t>, </a:t>
            </a:r>
            <a:r>
              <a:rPr lang="en-US" b="1" dirty="0"/>
              <a:t>overhead bins</a:t>
            </a:r>
            <a:r>
              <a:rPr lang="en-US" dirty="0"/>
              <a:t>, </a:t>
            </a:r>
            <a:r>
              <a:rPr lang="en-US" b="1" dirty="0"/>
              <a:t>flooring</a:t>
            </a:r>
            <a:r>
              <a:rPr lang="en-US" dirty="0"/>
              <a:t>, etc. for high durability and low cost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BAF2FCC-C513-9B35-F775-AF0A39D5E509}"/>
              </a:ext>
            </a:extLst>
          </p:cNvPr>
          <p:cNvGrpSpPr/>
          <p:nvPr/>
        </p:nvGrpSpPr>
        <p:grpSpPr>
          <a:xfrm>
            <a:off x="9178079" y="1405766"/>
            <a:ext cx="2626759" cy="2850573"/>
            <a:chOff x="9178079" y="1405766"/>
            <a:chExt cx="2626759" cy="285057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E1336D4-8ABA-6BF8-DD3E-636E706E0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78079" y="1405766"/>
              <a:ext cx="2619741" cy="2619741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" name="TextBox 3">
              <a:hlinkClick r:id="rId5"/>
              <a:extLst>
                <a:ext uri="{FF2B5EF4-FFF2-40B4-BE49-F238E27FC236}">
                  <a16:creationId xmlns:a16="http://schemas.microsoft.com/office/drawing/2014/main" id="{C39811C7-5F85-59AF-3E24-0C0961D7C853}"/>
                </a:ext>
              </a:extLst>
            </p:cNvPr>
            <p:cNvSpPr txBox="1"/>
            <p:nvPr/>
          </p:nvSpPr>
          <p:spPr>
            <a:xfrm>
              <a:off x="9178079" y="4025507"/>
              <a:ext cx="262675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/>
                <a:t>(Ad)  </a:t>
              </a:r>
              <a:r>
                <a:rPr lang="en-US" sz="900" dirty="0" err="1"/>
                <a:t>PlaneReclaimers</a:t>
              </a:r>
              <a:endParaRPr lang="en-US" sz="9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AA111B2-C0D9-C9D5-21FF-D8C7B0D92FF2}"/>
              </a:ext>
            </a:extLst>
          </p:cNvPr>
          <p:cNvGrpSpPr/>
          <p:nvPr/>
        </p:nvGrpSpPr>
        <p:grpSpPr>
          <a:xfrm>
            <a:off x="9178078" y="4551452"/>
            <a:ext cx="2626760" cy="2172254"/>
            <a:chOff x="9178078" y="4551452"/>
            <a:chExt cx="2626760" cy="2172254"/>
          </a:xfrm>
        </p:grpSpPr>
        <p:sp>
          <p:nvSpPr>
            <p:cNvPr id="6" name="TextBox 5">
              <a:hlinkClick r:id="rId6"/>
              <a:extLst>
                <a:ext uri="{FF2B5EF4-FFF2-40B4-BE49-F238E27FC236}">
                  <a16:creationId xmlns:a16="http://schemas.microsoft.com/office/drawing/2014/main" id="{A04FA3D4-E708-A366-C246-44BF43656155}"/>
                </a:ext>
              </a:extLst>
            </p:cNvPr>
            <p:cNvSpPr txBox="1"/>
            <p:nvPr/>
          </p:nvSpPr>
          <p:spPr>
            <a:xfrm>
              <a:off x="9178079" y="6492874"/>
              <a:ext cx="262675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/>
                <a:t>(CC4)  Wikimedia Commons 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90FD5EF-F415-A41B-7E15-AFBF49AA2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178078" y="4551452"/>
              <a:ext cx="2615193" cy="1961395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5" name="TextBox 7">
            <a:extLst>
              <a:ext uri="{FF2B5EF4-FFF2-40B4-BE49-F238E27FC236}">
                <a16:creationId xmlns:a16="http://schemas.microsoft.com/office/drawing/2014/main" id="{911100D5-84BA-6961-8A82-338C5555A45B}"/>
              </a:ext>
            </a:extLst>
          </p:cNvPr>
          <p:cNvSpPr txBox="1"/>
          <p:nvPr/>
        </p:nvSpPr>
        <p:spPr>
          <a:xfrm>
            <a:off x="10169705" y="57349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Google AI</a:t>
            </a:r>
          </a:p>
        </p:txBody>
      </p:sp>
    </p:spTree>
    <p:extLst>
      <p:ext uri="{BB962C8B-B14F-4D97-AF65-F5344CB8AC3E}">
        <p14:creationId xmlns:p14="http://schemas.microsoft.com/office/powerpoint/2010/main" val="3936832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97ED9E-ED0B-0859-CCFD-08A27284E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72D5E-B8DD-57F1-968E-E1F44820F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4"/>
            <a:ext cx="10515600" cy="877824"/>
          </a:xfrm>
        </p:spPr>
        <p:txBody>
          <a:bodyPr/>
          <a:lstStyle/>
          <a:p>
            <a:r>
              <a:rPr lang="en-US" dirty="0"/>
              <a:t>Properties of Plastics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41821-9E3D-2D4B-B056-3D4A0BCD3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47" y="1481329"/>
            <a:ext cx="8040761" cy="3682492"/>
          </a:xfrm>
        </p:spPr>
        <p:txBody>
          <a:bodyPr>
            <a:normAutofit/>
          </a:bodyPr>
          <a:lstStyle/>
          <a:p>
            <a:r>
              <a:rPr lang="en-US" dirty="0"/>
              <a:t>Plastics </a:t>
            </a:r>
            <a:r>
              <a:rPr lang="en-US" b="1" dirty="0"/>
              <a:t>win </a:t>
            </a:r>
            <a:r>
              <a:rPr lang="en-US" dirty="0"/>
              <a:t>when</a:t>
            </a:r>
          </a:p>
          <a:p>
            <a:pPr lvl="1"/>
            <a:r>
              <a:rPr lang="en-US" b="1" dirty="0"/>
              <a:t>Weight &amp; Cost</a:t>
            </a:r>
            <a:r>
              <a:rPr lang="en-US" dirty="0"/>
              <a:t>: Very light &amp; inexpensive</a:t>
            </a:r>
          </a:p>
          <a:p>
            <a:pPr lvl="1"/>
            <a:r>
              <a:rPr lang="en-US" b="1" dirty="0"/>
              <a:t>Durability</a:t>
            </a:r>
            <a:r>
              <a:rPr lang="en-US" dirty="0"/>
              <a:t>:</a:t>
            </a:r>
            <a:r>
              <a:rPr lang="en-US" b="1" dirty="0"/>
              <a:t> </a:t>
            </a:r>
            <a:r>
              <a:rPr lang="en-US" dirty="0"/>
              <a:t>Maximum lifespan</a:t>
            </a:r>
          </a:p>
          <a:p>
            <a:pPr lvl="1"/>
            <a:r>
              <a:rPr lang="en-US" b="1" dirty="0"/>
              <a:t>Usability</a:t>
            </a:r>
            <a:r>
              <a:rPr lang="en-US" dirty="0"/>
              <a:t>:</a:t>
            </a:r>
            <a:r>
              <a:rPr lang="en-US" b="1" dirty="0"/>
              <a:t> </a:t>
            </a:r>
            <a:r>
              <a:rPr lang="en-US" dirty="0"/>
              <a:t>Ease of manufacturing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en-US" sz="2800" dirty="0"/>
              <a:t>Plastics </a:t>
            </a:r>
            <a:r>
              <a:rPr lang="en-US" sz="2800" b="1" dirty="0"/>
              <a:t>are used in</a:t>
            </a:r>
            <a:r>
              <a:rPr lang="en-US" sz="2800" dirty="0"/>
              <a:t>:</a:t>
            </a:r>
          </a:p>
          <a:p>
            <a:pPr lvl="1"/>
            <a:r>
              <a:rPr lang="en-US" b="1" dirty="0"/>
              <a:t>Luggage Bins &amp; Panels</a:t>
            </a:r>
            <a:r>
              <a:rPr lang="en-US" dirty="0"/>
              <a:t> where low weight, low cost and reasonable strength is critical</a:t>
            </a:r>
          </a:p>
          <a:p>
            <a:pPr lvl="1"/>
            <a:r>
              <a:rPr lang="en-US" b="1" dirty="0"/>
              <a:t>Tray tables</a:t>
            </a:r>
            <a:r>
              <a:rPr lang="en-US" dirty="0"/>
              <a:t>, </a:t>
            </a:r>
            <a:r>
              <a:rPr lang="en-US" b="1" dirty="0"/>
              <a:t>armrests</a:t>
            </a:r>
            <a:r>
              <a:rPr lang="en-US" dirty="0"/>
              <a:t>, and </a:t>
            </a:r>
            <a:r>
              <a:rPr lang="en-US" b="1" dirty="0"/>
              <a:t>seat backs</a:t>
            </a:r>
            <a:r>
              <a:rPr lang="en-US" dirty="0"/>
              <a:t> for comfort are critical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0502B88-C7DC-E23A-0249-92CC8599C292}"/>
              </a:ext>
            </a:extLst>
          </p:cNvPr>
          <p:cNvGrpSpPr/>
          <p:nvPr/>
        </p:nvGrpSpPr>
        <p:grpSpPr>
          <a:xfrm>
            <a:off x="2569886" y="5330584"/>
            <a:ext cx="2441814" cy="1497834"/>
            <a:chOff x="9474119" y="759905"/>
            <a:chExt cx="2441814" cy="149783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2F0BAE5-6642-0717-D904-5EA5EAEFEF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77193" y="759905"/>
              <a:ext cx="2438740" cy="1267002"/>
            </a:xfrm>
            <a:prstGeom prst="rect">
              <a:avLst/>
            </a:prstGeom>
            <a:noFill/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8A618AA-08AC-55DA-1234-9B569867C89B}"/>
                </a:ext>
              </a:extLst>
            </p:cNvPr>
            <p:cNvSpPr txBox="1"/>
            <p:nvPr/>
          </p:nvSpPr>
          <p:spPr>
            <a:xfrm>
              <a:off x="9474119" y="2026907"/>
              <a:ext cx="244181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/>
                <a:t>(C)  John Walton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40C94F3-E2DC-6476-735B-96374C25B56D}"/>
              </a:ext>
            </a:extLst>
          </p:cNvPr>
          <p:cNvGrpSpPr/>
          <p:nvPr/>
        </p:nvGrpSpPr>
        <p:grpSpPr>
          <a:xfrm>
            <a:off x="9267297" y="4483580"/>
            <a:ext cx="2441814" cy="2344838"/>
            <a:chOff x="9474119" y="2257739"/>
            <a:chExt cx="2441814" cy="234483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02F9845-A131-25AC-945A-9C7F5AD966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77193" y="2257739"/>
              <a:ext cx="2438740" cy="2124371"/>
            </a:xfrm>
            <a:prstGeom prst="rect">
              <a:avLst/>
            </a:prstGeom>
            <a:noFill/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" name="TextBox 4">
              <a:hlinkClick r:id="rId5"/>
              <a:extLst>
                <a:ext uri="{FF2B5EF4-FFF2-40B4-BE49-F238E27FC236}">
                  <a16:creationId xmlns:a16="http://schemas.microsoft.com/office/drawing/2014/main" id="{DF59ED23-7D76-AF0E-4469-9470974D605B}"/>
                </a:ext>
              </a:extLst>
            </p:cNvPr>
            <p:cNvSpPr txBox="1"/>
            <p:nvPr/>
          </p:nvSpPr>
          <p:spPr>
            <a:xfrm>
              <a:off x="9474119" y="4371745"/>
              <a:ext cx="244181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/>
                <a:t>(Ad)  </a:t>
              </a:r>
              <a:r>
                <a:rPr lang="en-US" sz="900" dirty="0" err="1"/>
                <a:t>Dretloh</a:t>
              </a:r>
              <a:r>
                <a:rPr lang="en-US" sz="900" dirty="0"/>
                <a:t> Aircraft Supply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DE29914-4545-F00F-49B0-A91F8FDA8BFF}"/>
              </a:ext>
            </a:extLst>
          </p:cNvPr>
          <p:cNvGrpSpPr/>
          <p:nvPr/>
        </p:nvGrpSpPr>
        <p:grpSpPr>
          <a:xfrm>
            <a:off x="5857263" y="4766225"/>
            <a:ext cx="2441814" cy="2062193"/>
            <a:chOff x="9474119" y="4661513"/>
            <a:chExt cx="2441814" cy="206219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A3D188E-0CFF-5315-22C0-B472B96A0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74119" y="4661513"/>
              <a:ext cx="2441814" cy="1831361"/>
            </a:xfrm>
            <a:prstGeom prst="rect">
              <a:avLst/>
            </a:prstGeom>
            <a:noFill/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TextBox 6">
              <a:hlinkClick r:id="rId7"/>
              <a:extLst>
                <a:ext uri="{FF2B5EF4-FFF2-40B4-BE49-F238E27FC236}">
                  <a16:creationId xmlns:a16="http://schemas.microsoft.com/office/drawing/2014/main" id="{6C1BACD8-B502-AAF4-15F7-BF4B74A2F28B}"/>
                </a:ext>
              </a:extLst>
            </p:cNvPr>
            <p:cNvSpPr txBox="1"/>
            <p:nvPr/>
          </p:nvSpPr>
          <p:spPr>
            <a:xfrm>
              <a:off x="9474119" y="6492874"/>
              <a:ext cx="244181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/>
                <a:t>(Ad)  </a:t>
              </a:r>
              <a:r>
                <a:rPr lang="en-US" sz="900" dirty="0" err="1"/>
                <a:t>Dretloh</a:t>
              </a:r>
              <a:r>
                <a:rPr lang="en-US" sz="900" dirty="0"/>
                <a:t> Aircraft Supply</a:t>
              </a:r>
            </a:p>
          </p:txBody>
        </p:sp>
      </p:grpSp>
      <p:sp>
        <p:nvSpPr>
          <p:cNvPr id="13" name="TextBox 7">
            <a:extLst>
              <a:ext uri="{FF2B5EF4-FFF2-40B4-BE49-F238E27FC236}">
                <a16:creationId xmlns:a16="http://schemas.microsoft.com/office/drawing/2014/main" id="{0B8019FE-923F-457D-08BF-17AC943C942B}"/>
              </a:ext>
            </a:extLst>
          </p:cNvPr>
          <p:cNvSpPr txBox="1"/>
          <p:nvPr/>
        </p:nvSpPr>
        <p:spPr>
          <a:xfrm>
            <a:off x="10169705" y="57349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Google AI</a:t>
            </a:r>
          </a:p>
        </p:txBody>
      </p:sp>
    </p:spTree>
    <p:extLst>
      <p:ext uri="{BB962C8B-B14F-4D97-AF65-F5344CB8AC3E}">
        <p14:creationId xmlns:p14="http://schemas.microsoft.com/office/powerpoint/2010/main" val="2921846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683288-7554-BF3F-D21C-6438B71E8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8CB51-5DD4-73A9-94CC-46C075614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2512" y="3017638"/>
            <a:ext cx="10086975" cy="822724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Aircraft Corrosion</a:t>
            </a:r>
          </a:p>
        </p:txBody>
      </p:sp>
    </p:spTree>
    <p:extLst>
      <p:ext uri="{BB962C8B-B14F-4D97-AF65-F5344CB8AC3E}">
        <p14:creationId xmlns:p14="http://schemas.microsoft.com/office/powerpoint/2010/main" val="3572289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AFC90-3592-3BA0-77E3-5A8AB63E9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113CB46D-B486-E72E-B652-5B59501C9AD9}"/>
              </a:ext>
            </a:extLst>
          </p:cNvPr>
          <p:cNvGrpSpPr/>
          <p:nvPr/>
        </p:nvGrpSpPr>
        <p:grpSpPr>
          <a:xfrm>
            <a:off x="6299717" y="3246310"/>
            <a:ext cx="5723730" cy="3518881"/>
            <a:chOff x="6299717" y="2907268"/>
            <a:chExt cx="5723730" cy="351888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95369A3-01D1-F0D4-E07C-06D962DC878E}"/>
                </a:ext>
              </a:extLst>
            </p:cNvPr>
            <p:cNvGrpSpPr/>
            <p:nvPr/>
          </p:nvGrpSpPr>
          <p:grpSpPr>
            <a:xfrm>
              <a:off x="6658776" y="2907268"/>
              <a:ext cx="5364671" cy="3518881"/>
              <a:chOff x="6504666" y="2907268"/>
              <a:chExt cx="5364671" cy="3518881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11A950B-90B5-7650-E027-72650D2FA5AF}"/>
                  </a:ext>
                </a:extLst>
              </p:cNvPr>
              <p:cNvSpPr txBox="1"/>
              <p:nvPr/>
            </p:nvSpPr>
            <p:spPr>
              <a:xfrm>
                <a:off x="9750175" y="6195317"/>
                <a:ext cx="211916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l-PL" sz="900" dirty="0"/>
                  <a:t>ChatGPT </a:t>
                </a:r>
                <a:r>
                  <a:rPr lang="en-US" sz="900" dirty="0"/>
                  <a:t>/</a:t>
                </a:r>
                <a:r>
                  <a:rPr lang="pl-PL" sz="900" dirty="0"/>
                  <a:t> Matt Pierce, 2026</a:t>
                </a:r>
                <a:endParaRPr lang="en-US" sz="900" dirty="0"/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EFE78FC1-DF3D-6025-413A-5FF90DB07C46}"/>
                  </a:ext>
                </a:extLst>
              </p:cNvPr>
              <p:cNvGrpSpPr/>
              <p:nvPr/>
            </p:nvGrpSpPr>
            <p:grpSpPr>
              <a:xfrm>
                <a:off x="6504666" y="2907268"/>
                <a:ext cx="5356771" cy="3288049"/>
                <a:chOff x="6504666" y="2907268"/>
                <a:chExt cx="5356771" cy="3288049"/>
              </a:xfrm>
            </p:grpSpPr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D22DAE84-E66A-6AD8-A78E-9954209EFB90}"/>
                    </a:ext>
                  </a:extLst>
                </p:cNvPr>
                <p:cNvSpPr/>
                <p:nvPr/>
              </p:nvSpPr>
              <p:spPr>
                <a:xfrm>
                  <a:off x="6504666" y="2907268"/>
                  <a:ext cx="5356771" cy="3288049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65000"/>
                    </a:schemeClr>
                  </a:solidFill>
                </a:ln>
                <a:effectLst>
                  <a:outerShdw blurRad="50800" dist="889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5984DD48-5447-D766-4097-F5B36A20E0DD}"/>
                    </a:ext>
                  </a:extLst>
                </p:cNvPr>
                <p:cNvGrpSpPr/>
                <p:nvPr/>
              </p:nvGrpSpPr>
              <p:grpSpPr>
                <a:xfrm>
                  <a:off x="6504667" y="2907268"/>
                  <a:ext cx="5356770" cy="1665006"/>
                  <a:chOff x="6504667" y="2907268"/>
                  <a:chExt cx="5364670" cy="1665006"/>
                </a:xfrm>
              </p:grpSpPr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EEB1E52D-660F-319C-78B9-2469D355639D}"/>
                      </a:ext>
                    </a:extLst>
                  </p:cNvPr>
                  <p:cNvSpPr txBox="1"/>
                  <p:nvPr/>
                </p:nvSpPr>
                <p:spPr>
                  <a:xfrm>
                    <a:off x="6504667" y="2907268"/>
                    <a:ext cx="5364670" cy="369332"/>
                  </a:xfrm>
                  <a:prstGeom prst="rect">
                    <a:avLst/>
                  </a:prstGeom>
                  <a:solidFill>
                    <a:srgbClr val="00206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b="1" dirty="0">
                        <a:solidFill>
                          <a:schemeClr val="bg1"/>
                        </a:solidFill>
                      </a:rPr>
                      <a:t>Corrosion in Aircraft</a:t>
                    </a:r>
                  </a:p>
                </p:txBody>
              </p:sp>
              <p:pic>
                <p:nvPicPr>
                  <p:cNvPr id="18" name="Picture 17">
                    <a:extLst>
                      <a:ext uri="{FF2B5EF4-FFF2-40B4-BE49-F238E27FC236}">
                        <a16:creationId xmlns:a16="http://schemas.microsoft.com/office/drawing/2014/main" id="{5A8D00FA-EC4C-AF16-0DEB-B422AC69857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6525243" y="3276600"/>
                    <a:ext cx="5344093" cy="1295674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2D4B840-BC11-55BB-0042-A7EE5F4E0724}"/>
                </a:ext>
              </a:extLst>
            </p:cNvPr>
            <p:cNvSpPr txBox="1"/>
            <p:nvPr/>
          </p:nvSpPr>
          <p:spPr>
            <a:xfrm rot="16200000">
              <a:off x="5841683" y="3734634"/>
              <a:ext cx="1285400" cy="369332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Chemical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36AAD87-875A-8EE9-6D2D-C0C277E66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7536094" cy="877824"/>
          </a:xfrm>
        </p:spPr>
        <p:txBody>
          <a:bodyPr/>
          <a:lstStyle/>
          <a:p>
            <a:r>
              <a:rPr lang="en-US" dirty="0"/>
              <a:t>What is Corrosion?</a:t>
            </a:r>
            <a:endParaRPr lang="en-US" b="1" dirty="0"/>
          </a:p>
        </p:txBody>
      </p:sp>
      <p:sp>
        <p:nvSpPr>
          <p:cNvPr id="7" name="AutoShape 2" descr="Generated image">
            <a:extLst>
              <a:ext uri="{FF2B5EF4-FFF2-40B4-BE49-F238E27FC236}">
                <a16:creationId xmlns:a16="http://schemas.microsoft.com/office/drawing/2014/main" id="{BF2928BF-7F06-4173-F5B7-CE1FD80FBE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61564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3B5AE861-1E46-C00F-C941-D03941A89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453" y="1434561"/>
            <a:ext cx="7536094" cy="53306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“Corrosion turns metal to its natural state, a useless powder”</a:t>
            </a:r>
          </a:p>
          <a:p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Example: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000" dirty="0"/>
              <a:t>Rust</a:t>
            </a:r>
          </a:p>
          <a:p>
            <a:endParaRPr lang="en-US" sz="2000" dirty="0"/>
          </a:p>
          <a:p>
            <a:r>
              <a:rPr lang="en-US" sz="2000" b="1" dirty="0"/>
              <a:t>How:</a:t>
            </a:r>
            <a:r>
              <a:rPr lang="en-US" sz="2000" dirty="0"/>
              <a:t>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Chemical Reaction Path (Slow)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</a:p>
          <a:p>
            <a:pPr marL="457200" lvl="1" indent="0">
              <a:buNone/>
            </a:pPr>
            <a:r>
              <a:rPr lang="en-US" sz="1800" dirty="0"/>
              <a:t>	    Metal</a:t>
            </a:r>
            <a:br>
              <a:rPr lang="en-US" sz="1800" dirty="0"/>
            </a:br>
            <a:r>
              <a:rPr lang="en-US" sz="1800" dirty="0"/>
              <a:t>          +  Water</a:t>
            </a:r>
            <a:br>
              <a:rPr lang="en-US" sz="1800" dirty="0"/>
            </a:br>
            <a:r>
              <a:rPr lang="en-US" sz="1800" dirty="0"/>
              <a:t>	+  </a:t>
            </a:r>
            <a:r>
              <a:rPr lang="en-US" sz="1800" u="sng" dirty="0"/>
              <a:t>Oxygen</a:t>
            </a:r>
          </a:p>
          <a:p>
            <a:pPr marL="457200" lvl="1" indent="0">
              <a:buNone/>
            </a:pPr>
            <a:r>
              <a:rPr lang="en-US" sz="1800" dirty="0"/>
              <a:t>	</a:t>
            </a:r>
            <a:r>
              <a:rPr lang="en-US" sz="1800" dirty="0">
                <a:solidFill>
                  <a:srgbClr val="C00000"/>
                </a:solidFill>
              </a:rPr>
              <a:t>=  </a:t>
            </a:r>
            <a:r>
              <a:rPr lang="en-US" sz="1800" b="1" dirty="0">
                <a:solidFill>
                  <a:srgbClr val="C00000"/>
                </a:solidFill>
              </a:rPr>
              <a:t>Corrosion</a:t>
            </a:r>
            <a:br>
              <a:rPr lang="en-US" sz="1800" dirty="0">
                <a:solidFill>
                  <a:srgbClr val="C00000"/>
                </a:solidFill>
              </a:rPr>
            </a:b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	      ** Note: Thin, self-limiting layer on aluminum stops</a:t>
            </a:r>
            <a:b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endParaRPr lang="en-US" sz="18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marL="800100" lvl="1" indent="-342900">
              <a:buFont typeface="+mj-lt"/>
              <a:buAutoNum type="arabicPeriod" startAt="2"/>
            </a:pP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Electrochemical Reaction Path (Fast)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</a:p>
          <a:p>
            <a:pPr marL="457200" lvl="1" indent="0">
              <a:buNone/>
            </a:pPr>
            <a:r>
              <a:rPr lang="en-US" sz="1800" dirty="0"/>
              <a:t>	   Metal</a:t>
            </a:r>
          </a:p>
          <a:p>
            <a:pPr marL="457200" lvl="1" indent="0">
              <a:buNone/>
            </a:pPr>
            <a:r>
              <a:rPr lang="en-US" sz="1800" dirty="0"/>
              <a:t>	+ Different Metal </a:t>
            </a: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(far apart on galvanic corrosion chart)</a:t>
            </a:r>
          </a:p>
          <a:p>
            <a:pPr marL="457200" lvl="1" indent="0">
              <a:buNone/>
            </a:pPr>
            <a:r>
              <a:rPr lang="en-US" sz="1800" dirty="0"/>
              <a:t>	+ </a:t>
            </a:r>
            <a:r>
              <a:rPr lang="en-US" sz="1800" u="sng" dirty="0"/>
              <a:t>Moisture / Oxygen / Acids / Bases / Salts / Oils</a:t>
            </a:r>
          </a:p>
          <a:p>
            <a:pPr marL="457200" lvl="1" indent="0">
              <a:buNone/>
            </a:pPr>
            <a:r>
              <a:rPr lang="en-US" sz="1800" dirty="0"/>
              <a:t>	</a:t>
            </a:r>
            <a:r>
              <a:rPr lang="en-US" sz="1800" dirty="0">
                <a:solidFill>
                  <a:srgbClr val="C00000"/>
                </a:solidFill>
              </a:rPr>
              <a:t>= </a:t>
            </a:r>
            <a:r>
              <a:rPr lang="en-US" sz="1800" b="1" dirty="0">
                <a:solidFill>
                  <a:srgbClr val="C00000"/>
                </a:solidFill>
              </a:rPr>
              <a:t>Corrosion</a:t>
            </a:r>
          </a:p>
          <a:p>
            <a:endParaRPr lang="en-US" sz="2000" dirty="0"/>
          </a:p>
        </p:txBody>
      </p:sp>
      <p:sp>
        <p:nvSpPr>
          <p:cNvPr id="21" name="AutoShape 2" descr="Product Image 1 of 1">
            <a:extLst>
              <a:ext uri="{FF2B5EF4-FFF2-40B4-BE49-F238E27FC236}">
                <a16:creationId xmlns:a16="http://schemas.microsoft.com/office/drawing/2014/main" id="{90B24B08-1D9B-FE0A-2320-E946D62601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76804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D8E20EA-0461-D977-882A-B1878242F73F}"/>
              </a:ext>
            </a:extLst>
          </p:cNvPr>
          <p:cNvGrpSpPr/>
          <p:nvPr/>
        </p:nvGrpSpPr>
        <p:grpSpPr>
          <a:xfrm>
            <a:off x="8753582" y="847192"/>
            <a:ext cx="3261964" cy="2311362"/>
            <a:chOff x="6985769" y="223682"/>
            <a:chExt cx="3724301" cy="270160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6C1EC3B-B841-7AD4-FDF7-130842718F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85769" y="223682"/>
              <a:ext cx="3724301" cy="2478352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" name="TextBox 2">
              <a:hlinkClick r:id="rId5"/>
              <a:extLst>
                <a:ext uri="{FF2B5EF4-FFF2-40B4-BE49-F238E27FC236}">
                  <a16:creationId xmlns:a16="http://schemas.microsoft.com/office/drawing/2014/main" id="{2FD21BF5-2EE7-E0B1-C866-3B40833947AB}"/>
                </a:ext>
              </a:extLst>
            </p:cNvPr>
            <p:cNvSpPr txBox="1"/>
            <p:nvPr/>
          </p:nvSpPr>
          <p:spPr>
            <a:xfrm>
              <a:off x="8194304" y="2694459"/>
              <a:ext cx="25157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/>
                <a:t>(PD)  </a:t>
              </a:r>
              <a:r>
                <a:rPr lang="en-US" sz="900" dirty="0" err="1"/>
                <a:t>PxHere</a:t>
              </a:r>
              <a:endParaRPr lang="en-US" sz="90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A764533-94E9-768E-0795-5610DF08F2E1}"/>
              </a:ext>
            </a:extLst>
          </p:cNvPr>
          <p:cNvGrpSpPr/>
          <p:nvPr/>
        </p:nvGrpSpPr>
        <p:grpSpPr>
          <a:xfrm>
            <a:off x="6299718" y="4901040"/>
            <a:ext cx="5715829" cy="1623045"/>
            <a:chOff x="6299718" y="4561998"/>
            <a:chExt cx="5715829" cy="1623045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970151E-3EB4-4643-C588-6786C9C415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79323" y="4562000"/>
              <a:ext cx="5336224" cy="1623043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2AAB317-4F7E-9BD5-B175-AEEC58E215CC}"/>
                </a:ext>
              </a:extLst>
            </p:cNvPr>
            <p:cNvSpPr txBox="1"/>
            <p:nvPr/>
          </p:nvSpPr>
          <p:spPr>
            <a:xfrm rot="16200000">
              <a:off x="5672862" y="5188854"/>
              <a:ext cx="1623043" cy="369332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>
                  <a:solidFill>
                    <a:schemeClr val="bg1"/>
                  </a:solidFill>
                </a:rPr>
                <a:t>ElectroChem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0569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D365E6-46B3-ED04-6EBA-5AA6530B8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FB1E6-9F02-6896-EE76-BA8492D7D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10858500" cy="877824"/>
          </a:xfrm>
        </p:spPr>
        <p:txBody>
          <a:bodyPr/>
          <a:lstStyle/>
          <a:p>
            <a:r>
              <a:rPr lang="en-US" dirty="0"/>
              <a:t>Types of Corrosion </a:t>
            </a:r>
            <a:r>
              <a:rPr lang="en-US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(1 of 4)</a:t>
            </a:r>
            <a:endParaRPr lang="en-US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AutoShape 2" descr="Generated image">
            <a:extLst>
              <a:ext uri="{FF2B5EF4-FFF2-40B4-BE49-F238E27FC236}">
                <a16:creationId xmlns:a16="http://schemas.microsoft.com/office/drawing/2014/main" id="{CCA0B83C-E309-33CD-BB86-F8DC356263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B37CAC1F-60FA-CAFD-D64A-978C50BFA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352" y="1297781"/>
            <a:ext cx="7201767" cy="4249116"/>
          </a:xfrm>
        </p:spPr>
        <p:txBody>
          <a:bodyPr>
            <a:normAutofit/>
          </a:bodyPr>
          <a:lstStyle/>
          <a:p>
            <a:r>
              <a:rPr lang="en-US" sz="2000" b="1" dirty="0"/>
              <a:t>Uniform Corrosion </a:t>
            </a:r>
            <a:r>
              <a:rPr lang="en-US" sz="2000" dirty="0"/>
              <a:t>(Etching  / Surface)</a:t>
            </a:r>
          </a:p>
          <a:p>
            <a:pPr marL="461963" lvl="1"/>
            <a:r>
              <a:rPr lang="en-US" sz="1600" b="1" dirty="0"/>
              <a:t>Cause</a:t>
            </a:r>
            <a:r>
              <a:rPr lang="en-US" sz="1600" dirty="0"/>
              <a:t>: Direct exposure oxygen + chemicals at surface after paint wears off</a:t>
            </a:r>
          </a:p>
          <a:p>
            <a:pPr marL="461963" lvl="1"/>
            <a:r>
              <a:rPr lang="en-US" sz="1600" b="1" dirty="0"/>
              <a:t>Appearance</a:t>
            </a:r>
            <a:r>
              <a:rPr lang="en-US" sz="1600" dirty="0"/>
              <a:t>:</a:t>
            </a:r>
            <a:r>
              <a:rPr lang="en-US" sz="1600" b="1" dirty="0"/>
              <a:t> </a:t>
            </a:r>
            <a:r>
              <a:rPr lang="en-US" sz="1600" dirty="0"/>
              <a:t> General dulling</a:t>
            </a:r>
          </a:p>
          <a:p>
            <a:pPr marL="461963" lvl="1"/>
            <a:r>
              <a:rPr lang="en-US" sz="1600" dirty="0"/>
              <a:t>Most common; low risk of catastrophic failure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r>
              <a:rPr lang="en-US" sz="2000" b="1" dirty="0"/>
              <a:t>Pitting Corrosion</a:t>
            </a:r>
          </a:p>
          <a:p>
            <a:pPr marL="461963" lvl="1"/>
            <a:r>
              <a:rPr lang="en-US" sz="1600" b="1" dirty="0"/>
              <a:t>Cause</a:t>
            </a:r>
            <a:r>
              <a:rPr lang="en-US" sz="1600" dirty="0"/>
              <a:t>: Damaged oxide film + damaged paint + non-metallic inclusions</a:t>
            </a:r>
          </a:p>
          <a:p>
            <a:pPr marL="461963" lvl="1"/>
            <a:r>
              <a:rPr lang="en-US" sz="1600" b="1" dirty="0"/>
              <a:t>Appearance</a:t>
            </a:r>
            <a:r>
              <a:rPr lang="en-US" sz="1600" dirty="0"/>
              <a:t>: White/gray powder; localized holes or cavities after clean</a:t>
            </a:r>
          </a:p>
          <a:p>
            <a:pPr marL="461963" lvl="1"/>
            <a:r>
              <a:rPr lang="en-US" sz="1600" dirty="0"/>
              <a:t>Hard to detect, prevent, design against</a:t>
            </a:r>
          </a:p>
          <a:p>
            <a:pPr marL="461963" lvl="1"/>
            <a:r>
              <a:rPr lang="en-US" sz="1600" dirty="0"/>
              <a:t>High risk of catastrophic failure; especially magnesium &amp; aluminum</a:t>
            </a:r>
          </a:p>
        </p:txBody>
      </p:sp>
      <p:sp>
        <p:nvSpPr>
          <p:cNvPr id="21" name="AutoShape 2" descr="Product Image 1 of 1">
            <a:extLst>
              <a:ext uri="{FF2B5EF4-FFF2-40B4-BE49-F238E27FC236}">
                <a16:creationId xmlns:a16="http://schemas.microsoft.com/office/drawing/2014/main" id="{F0EAA372-5FA9-AB26-8BB2-3232C564D9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AB78030-2FD4-FFC1-B624-AB1606CFF628}"/>
              </a:ext>
            </a:extLst>
          </p:cNvPr>
          <p:cNvGrpSpPr/>
          <p:nvPr/>
        </p:nvGrpSpPr>
        <p:grpSpPr>
          <a:xfrm>
            <a:off x="6332861" y="5675007"/>
            <a:ext cx="1304925" cy="704850"/>
            <a:chOff x="3217648" y="5620360"/>
            <a:chExt cx="1304925" cy="70485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D56CB44-3E64-BB36-2B8F-F39F215EF03D}"/>
                </a:ext>
              </a:extLst>
            </p:cNvPr>
            <p:cNvSpPr/>
            <p:nvPr/>
          </p:nvSpPr>
          <p:spPr>
            <a:xfrm>
              <a:off x="3217648" y="5620360"/>
              <a:ext cx="1304925" cy="70485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15A8B0B-378A-8468-E5F9-0053C63600F7}"/>
                </a:ext>
              </a:extLst>
            </p:cNvPr>
            <p:cNvGrpSpPr/>
            <p:nvPr/>
          </p:nvGrpSpPr>
          <p:grpSpPr>
            <a:xfrm>
              <a:off x="3319089" y="5748471"/>
              <a:ext cx="1102042" cy="448628"/>
              <a:chOff x="2441258" y="6004560"/>
              <a:chExt cx="1102042" cy="448628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CAAA0BF-2D1C-8DD8-7B9F-AB0E0EC9051A}"/>
                  </a:ext>
                </a:extLst>
              </p:cNvPr>
              <p:cNvSpPr/>
              <p:nvPr/>
            </p:nvSpPr>
            <p:spPr>
              <a:xfrm>
                <a:off x="3090862" y="6010275"/>
                <a:ext cx="452437" cy="64294"/>
              </a:xfrm>
              <a:prstGeom prst="rect">
                <a:avLst/>
              </a:prstGeom>
              <a:pattFill prst="ltUpDiag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3CD32AD-5126-D18C-9B0E-A14A133EF42F}"/>
                  </a:ext>
                </a:extLst>
              </p:cNvPr>
              <p:cNvSpPr/>
              <p:nvPr/>
            </p:nvSpPr>
            <p:spPr>
              <a:xfrm>
                <a:off x="2441258" y="6019801"/>
                <a:ext cx="472440" cy="64294"/>
              </a:xfrm>
              <a:prstGeom prst="rect">
                <a:avLst/>
              </a:prstGeom>
              <a:pattFill prst="ltUpDiag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76B8707A-E89C-9017-E117-C0E4D30299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1258" y="6004560"/>
                <a:ext cx="47244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B8BB7B0B-94C3-9A03-D271-250F7159CC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0860" y="6004560"/>
                <a:ext cx="47244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E18C2E2D-7BA3-1786-C603-561EF5C32671}"/>
                  </a:ext>
                </a:extLst>
              </p:cNvPr>
              <p:cNvSpPr/>
              <p:nvPr/>
            </p:nvSpPr>
            <p:spPr>
              <a:xfrm>
                <a:off x="2871788" y="6010275"/>
                <a:ext cx="280987" cy="442913"/>
              </a:xfrm>
              <a:custGeom>
                <a:avLst/>
                <a:gdLst>
                  <a:gd name="csX0" fmla="*/ 47625 w 280987"/>
                  <a:gd name="csY0" fmla="*/ 23812 h 457200"/>
                  <a:gd name="csX1" fmla="*/ 66675 w 280987"/>
                  <a:gd name="csY1" fmla="*/ 95250 h 457200"/>
                  <a:gd name="csX2" fmla="*/ 0 w 280987"/>
                  <a:gd name="csY2" fmla="*/ 152400 h 457200"/>
                  <a:gd name="csX3" fmla="*/ 14287 w 280987"/>
                  <a:gd name="csY3" fmla="*/ 219075 h 457200"/>
                  <a:gd name="csX4" fmla="*/ 100012 w 280987"/>
                  <a:gd name="csY4" fmla="*/ 300037 h 457200"/>
                  <a:gd name="csX5" fmla="*/ 66675 w 280987"/>
                  <a:gd name="csY5" fmla="*/ 457200 h 457200"/>
                  <a:gd name="csX6" fmla="*/ 185737 w 280987"/>
                  <a:gd name="csY6" fmla="*/ 252412 h 457200"/>
                  <a:gd name="csX7" fmla="*/ 266700 w 280987"/>
                  <a:gd name="csY7" fmla="*/ 214312 h 457200"/>
                  <a:gd name="csX8" fmla="*/ 280987 w 280987"/>
                  <a:gd name="csY8" fmla="*/ 152400 h 457200"/>
                  <a:gd name="csX9" fmla="*/ 219075 w 280987"/>
                  <a:gd name="csY9" fmla="*/ 109537 h 457200"/>
                  <a:gd name="csX10" fmla="*/ 180975 w 280987"/>
                  <a:gd name="csY10" fmla="*/ 28575 h 457200"/>
                  <a:gd name="csX11" fmla="*/ 200025 w 280987"/>
                  <a:gd name="csY11" fmla="*/ 4762 h 457200"/>
                  <a:gd name="csX12" fmla="*/ 214312 w 280987"/>
                  <a:gd name="csY12" fmla="*/ 0 h 457200"/>
                  <a:gd name="csX0" fmla="*/ 47625 w 280987"/>
                  <a:gd name="csY0" fmla="*/ 19050 h 452438"/>
                  <a:gd name="csX1" fmla="*/ 66675 w 280987"/>
                  <a:gd name="csY1" fmla="*/ 90488 h 452438"/>
                  <a:gd name="csX2" fmla="*/ 0 w 280987"/>
                  <a:gd name="csY2" fmla="*/ 147638 h 452438"/>
                  <a:gd name="csX3" fmla="*/ 14287 w 280987"/>
                  <a:gd name="csY3" fmla="*/ 214313 h 452438"/>
                  <a:gd name="csX4" fmla="*/ 100012 w 280987"/>
                  <a:gd name="csY4" fmla="*/ 295275 h 452438"/>
                  <a:gd name="csX5" fmla="*/ 66675 w 280987"/>
                  <a:gd name="csY5" fmla="*/ 452438 h 452438"/>
                  <a:gd name="csX6" fmla="*/ 185737 w 280987"/>
                  <a:gd name="csY6" fmla="*/ 247650 h 452438"/>
                  <a:gd name="csX7" fmla="*/ 266700 w 280987"/>
                  <a:gd name="csY7" fmla="*/ 209550 h 452438"/>
                  <a:gd name="csX8" fmla="*/ 280987 w 280987"/>
                  <a:gd name="csY8" fmla="*/ 147638 h 452438"/>
                  <a:gd name="csX9" fmla="*/ 219075 w 280987"/>
                  <a:gd name="csY9" fmla="*/ 104775 h 452438"/>
                  <a:gd name="csX10" fmla="*/ 180975 w 280987"/>
                  <a:gd name="csY10" fmla="*/ 23813 h 452438"/>
                  <a:gd name="csX11" fmla="*/ 200025 w 280987"/>
                  <a:gd name="csY11" fmla="*/ 0 h 452438"/>
                  <a:gd name="csX0" fmla="*/ 47625 w 280987"/>
                  <a:gd name="csY0" fmla="*/ 0 h 433388"/>
                  <a:gd name="csX1" fmla="*/ 66675 w 280987"/>
                  <a:gd name="csY1" fmla="*/ 71438 h 433388"/>
                  <a:gd name="csX2" fmla="*/ 0 w 280987"/>
                  <a:gd name="csY2" fmla="*/ 128588 h 433388"/>
                  <a:gd name="csX3" fmla="*/ 14287 w 280987"/>
                  <a:gd name="csY3" fmla="*/ 195263 h 433388"/>
                  <a:gd name="csX4" fmla="*/ 100012 w 280987"/>
                  <a:gd name="csY4" fmla="*/ 276225 h 433388"/>
                  <a:gd name="csX5" fmla="*/ 66675 w 280987"/>
                  <a:gd name="csY5" fmla="*/ 433388 h 433388"/>
                  <a:gd name="csX6" fmla="*/ 185737 w 280987"/>
                  <a:gd name="csY6" fmla="*/ 228600 h 433388"/>
                  <a:gd name="csX7" fmla="*/ 266700 w 280987"/>
                  <a:gd name="csY7" fmla="*/ 190500 h 433388"/>
                  <a:gd name="csX8" fmla="*/ 280987 w 280987"/>
                  <a:gd name="csY8" fmla="*/ 128588 h 433388"/>
                  <a:gd name="csX9" fmla="*/ 219075 w 280987"/>
                  <a:gd name="csY9" fmla="*/ 85725 h 433388"/>
                  <a:gd name="csX10" fmla="*/ 180975 w 280987"/>
                  <a:gd name="csY10" fmla="*/ 4763 h 433388"/>
                  <a:gd name="csX0" fmla="*/ 47625 w 280987"/>
                  <a:gd name="csY0" fmla="*/ 4762 h 438150"/>
                  <a:gd name="csX1" fmla="*/ 66675 w 280987"/>
                  <a:gd name="csY1" fmla="*/ 76200 h 438150"/>
                  <a:gd name="csX2" fmla="*/ 0 w 280987"/>
                  <a:gd name="csY2" fmla="*/ 133350 h 438150"/>
                  <a:gd name="csX3" fmla="*/ 14287 w 280987"/>
                  <a:gd name="csY3" fmla="*/ 200025 h 438150"/>
                  <a:gd name="csX4" fmla="*/ 100012 w 280987"/>
                  <a:gd name="csY4" fmla="*/ 280987 h 438150"/>
                  <a:gd name="csX5" fmla="*/ 66675 w 280987"/>
                  <a:gd name="csY5" fmla="*/ 438150 h 438150"/>
                  <a:gd name="csX6" fmla="*/ 185737 w 280987"/>
                  <a:gd name="csY6" fmla="*/ 233362 h 438150"/>
                  <a:gd name="csX7" fmla="*/ 266700 w 280987"/>
                  <a:gd name="csY7" fmla="*/ 195262 h 438150"/>
                  <a:gd name="csX8" fmla="*/ 280987 w 280987"/>
                  <a:gd name="csY8" fmla="*/ 133350 h 438150"/>
                  <a:gd name="csX9" fmla="*/ 219075 w 280987"/>
                  <a:gd name="csY9" fmla="*/ 90487 h 438150"/>
                  <a:gd name="csX10" fmla="*/ 190500 w 280987"/>
                  <a:gd name="csY10" fmla="*/ 0 h 438150"/>
                  <a:gd name="csX0" fmla="*/ 47625 w 280987"/>
                  <a:gd name="csY0" fmla="*/ 4762 h 438150"/>
                  <a:gd name="csX1" fmla="*/ 66675 w 280987"/>
                  <a:gd name="csY1" fmla="*/ 76200 h 438150"/>
                  <a:gd name="csX2" fmla="*/ 0 w 280987"/>
                  <a:gd name="csY2" fmla="*/ 133350 h 438150"/>
                  <a:gd name="csX3" fmla="*/ 14287 w 280987"/>
                  <a:gd name="csY3" fmla="*/ 200025 h 438150"/>
                  <a:gd name="csX4" fmla="*/ 100012 w 280987"/>
                  <a:gd name="csY4" fmla="*/ 280987 h 438150"/>
                  <a:gd name="csX5" fmla="*/ 66675 w 280987"/>
                  <a:gd name="csY5" fmla="*/ 438150 h 438150"/>
                  <a:gd name="csX6" fmla="*/ 185737 w 280987"/>
                  <a:gd name="csY6" fmla="*/ 233362 h 438150"/>
                  <a:gd name="csX7" fmla="*/ 266700 w 280987"/>
                  <a:gd name="csY7" fmla="*/ 195262 h 438150"/>
                  <a:gd name="csX8" fmla="*/ 280987 w 280987"/>
                  <a:gd name="csY8" fmla="*/ 133350 h 438150"/>
                  <a:gd name="csX9" fmla="*/ 219075 w 280987"/>
                  <a:gd name="csY9" fmla="*/ 90487 h 438150"/>
                  <a:gd name="csX10" fmla="*/ 197644 w 280987"/>
                  <a:gd name="csY10" fmla="*/ 0 h 438150"/>
                  <a:gd name="csX0" fmla="*/ 47625 w 280987"/>
                  <a:gd name="csY0" fmla="*/ 2381 h 435769"/>
                  <a:gd name="csX1" fmla="*/ 66675 w 280987"/>
                  <a:gd name="csY1" fmla="*/ 73819 h 435769"/>
                  <a:gd name="csX2" fmla="*/ 0 w 280987"/>
                  <a:gd name="csY2" fmla="*/ 130969 h 435769"/>
                  <a:gd name="csX3" fmla="*/ 14287 w 280987"/>
                  <a:gd name="csY3" fmla="*/ 197644 h 435769"/>
                  <a:gd name="csX4" fmla="*/ 100012 w 280987"/>
                  <a:gd name="csY4" fmla="*/ 278606 h 435769"/>
                  <a:gd name="csX5" fmla="*/ 66675 w 280987"/>
                  <a:gd name="csY5" fmla="*/ 435769 h 435769"/>
                  <a:gd name="csX6" fmla="*/ 185737 w 280987"/>
                  <a:gd name="csY6" fmla="*/ 230981 h 435769"/>
                  <a:gd name="csX7" fmla="*/ 266700 w 280987"/>
                  <a:gd name="csY7" fmla="*/ 192881 h 435769"/>
                  <a:gd name="csX8" fmla="*/ 280987 w 280987"/>
                  <a:gd name="csY8" fmla="*/ 130969 h 435769"/>
                  <a:gd name="csX9" fmla="*/ 219075 w 280987"/>
                  <a:gd name="csY9" fmla="*/ 88106 h 435769"/>
                  <a:gd name="csX10" fmla="*/ 209551 w 280987"/>
                  <a:gd name="csY10" fmla="*/ 0 h 435769"/>
                  <a:gd name="csX0" fmla="*/ 33338 w 280987"/>
                  <a:gd name="csY0" fmla="*/ 0 h 442913"/>
                  <a:gd name="csX1" fmla="*/ 66675 w 280987"/>
                  <a:gd name="csY1" fmla="*/ 80963 h 442913"/>
                  <a:gd name="csX2" fmla="*/ 0 w 280987"/>
                  <a:gd name="csY2" fmla="*/ 138113 h 442913"/>
                  <a:gd name="csX3" fmla="*/ 14287 w 280987"/>
                  <a:gd name="csY3" fmla="*/ 204788 h 442913"/>
                  <a:gd name="csX4" fmla="*/ 100012 w 280987"/>
                  <a:gd name="csY4" fmla="*/ 285750 h 442913"/>
                  <a:gd name="csX5" fmla="*/ 66675 w 280987"/>
                  <a:gd name="csY5" fmla="*/ 442913 h 442913"/>
                  <a:gd name="csX6" fmla="*/ 185737 w 280987"/>
                  <a:gd name="csY6" fmla="*/ 238125 h 442913"/>
                  <a:gd name="csX7" fmla="*/ 266700 w 280987"/>
                  <a:gd name="csY7" fmla="*/ 200025 h 442913"/>
                  <a:gd name="csX8" fmla="*/ 280987 w 280987"/>
                  <a:gd name="csY8" fmla="*/ 138113 h 442913"/>
                  <a:gd name="csX9" fmla="*/ 219075 w 280987"/>
                  <a:gd name="csY9" fmla="*/ 95250 h 442913"/>
                  <a:gd name="csX10" fmla="*/ 209551 w 280987"/>
                  <a:gd name="csY10" fmla="*/ 7144 h 4429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80987" h="442913">
                    <a:moveTo>
                      <a:pt x="33338" y="0"/>
                    </a:moveTo>
                    <a:lnTo>
                      <a:pt x="66675" y="80963"/>
                    </a:lnTo>
                    <a:lnTo>
                      <a:pt x="0" y="138113"/>
                    </a:lnTo>
                    <a:lnTo>
                      <a:pt x="14287" y="204788"/>
                    </a:lnTo>
                    <a:lnTo>
                      <a:pt x="100012" y="285750"/>
                    </a:lnTo>
                    <a:lnTo>
                      <a:pt x="66675" y="442913"/>
                    </a:lnTo>
                    <a:lnTo>
                      <a:pt x="185737" y="238125"/>
                    </a:lnTo>
                    <a:lnTo>
                      <a:pt x="266700" y="200025"/>
                    </a:lnTo>
                    <a:lnTo>
                      <a:pt x="280987" y="138113"/>
                    </a:lnTo>
                    <a:lnTo>
                      <a:pt x="219075" y="95250"/>
                    </a:lnTo>
                    <a:lnTo>
                      <a:pt x="209551" y="7144"/>
                    </a:lnTo>
                  </a:path>
                </a:pathLst>
              </a:cu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C607ACC5-F9B1-FBAD-828F-122911776ECD}"/>
              </a:ext>
            </a:extLst>
          </p:cNvPr>
          <p:cNvGrpSpPr/>
          <p:nvPr/>
        </p:nvGrpSpPr>
        <p:grpSpPr>
          <a:xfrm>
            <a:off x="7815764" y="1245553"/>
            <a:ext cx="3449298" cy="2733264"/>
            <a:chOff x="8424427" y="1193313"/>
            <a:chExt cx="3449298" cy="273326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371B4E0-82CF-0AB9-1137-9C38201ED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24427" y="1193313"/>
              <a:ext cx="3449298" cy="2502432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A9ECF20-A1DA-5BE1-13DE-5C375EA93363}"/>
                </a:ext>
              </a:extLst>
            </p:cNvPr>
            <p:cNvSpPr txBox="1"/>
            <p:nvPr/>
          </p:nvSpPr>
          <p:spPr>
            <a:xfrm>
              <a:off x="10153356" y="3695745"/>
              <a:ext cx="171787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ED1D9D1-4E5A-AC67-1905-1519A8FA399C}"/>
              </a:ext>
            </a:extLst>
          </p:cNvPr>
          <p:cNvGrpSpPr/>
          <p:nvPr/>
        </p:nvGrpSpPr>
        <p:grpSpPr>
          <a:xfrm>
            <a:off x="7817008" y="4079488"/>
            <a:ext cx="3446809" cy="2537069"/>
            <a:chOff x="8424427" y="4192504"/>
            <a:chExt cx="3446809" cy="2537069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3107DD19-7A24-9C93-4124-6B47CD90F4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24427" y="4192504"/>
              <a:ext cx="3446809" cy="2300370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F74AC5C-8145-371F-D034-7B90C795EF07}"/>
                </a:ext>
              </a:extLst>
            </p:cNvPr>
            <p:cNvSpPr txBox="1"/>
            <p:nvPr/>
          </p:nvSpPr>
          <p:spPr>
            <a:xfrm>
              <a:off x="10152112" y="6492873"/>
              <a:ext cx="1719123" cy="2367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54FE2D9-5068-3252-2969-1F47492E9C1B}"/>
              </a:ext>
            </a:extLst>
          </p:cNvPr>
          <p:cNvSpPr txBox="1"/>
          <p:nvPr/>
        </p:nvSpPr>
        <p:spPr>
          <a:xfrm>
            <a:off x="10169705" y="57349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Google AI</a:t>
            </a:r>
          </a:p>
        </p:txBody>
      </p:sp>
    </p:spTree>
    <p:extLst>
      <p:ext uri="{BB962C8B-B14F-4D97-AF65-F5344CB8AC3E}">
        <p14:creationId xmlns:p14="http://schemas.microsoft.com/office/powerpoint/2010/main" val="93260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AE96CE-090F-0E59-6DAF-C72267EBE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1E367F5-7D6E-9AD7-3221-C6039469B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298448"/>
            <a:ext cx="7651054" cy="5255161"/>
          </a:xfrm>
        </p:spPr>
        <p:txBody>
          <a:bodyPr>
            <a:normAutofit/>
          </a:bodyPr>
          <a:lstStyle/>
          <a:p>
            <a:r>
              <a:rPr lang="en-US" sz="2000" b="1" dirty="0"/>
              <a:t>Galvanic Corrosion</a:t>
            </a:r>
          </a:p>
          <a:p>
            <a:pPr marL="461963" lvl="1"/>
            <a:r>
              <a:rPr lang="en-US" sz="1600" b="1" dirty="0"/>
              <a:t>Cause</a:t>
            </a:r>
            <a:r>
              <a:rPr lang="en-US" sz="1600" dirty="0"/>
              <a:t>: Two dissimilar metals touch; anode side corrodes rapidly</a:t>
            </a:r>
          </a:p>
          <a:p>
            <a:pPr marL="461963" lvl="1"/>
            <a:r>
              <a:rPr lang="en-US" sz="1600" b="1" dirty="0"/>
              <a:t>Appearance</a:t>
            </a:r>
            <a:r>
              <a:rPr lang="en-US" sz="1600" dirty="0"/>
              <a:t>: White, powdery or chalking deposit with pitting or flaking paint</a:t>
            </a:r>
          </a:p>
          <a:p>
            <a:pPr marL="461963" lvl="1"/>
            <a:r>
              <a:rPr lang="en-US" sz="1600" dirty="0">
                <a:solidFill>
                  <a:srgbClr val="0070C0"/>
                </a:solidFill>
              </a:rPr>
              <a:t>In AI picture, Aluminum aircraft skin is fastened with Stainless-Steel rivets</a:t>
            </a:r>
            <a:endParaRPr lang="en-US" sz="2000" b="1" dirty="0">
              <a:solidFill>
                <a:srgbClr val="0070C0"/>
              </a:solidFill>
            </a:endParaRPr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Concentration Cell Corrosion </a:t>
            </a:r>
            <a:r>
              <a:rPr lang="en-US" sz="2000" dirty="0"/>
              <a:t>(Crevice)</a:t>
            </a:r>
          </a:p>
          <a:p>
            <a:pPr lvl="1"/>
            <a:r>
              <a:rPr lang="en-US" sz="1600" b="1" dirty="0"/>
              <a:t>Cause</a:t>
            </a:r>
            <a:r>
              <a:rPr lang="en-US" sz="1600" dirty="0"/>
              <a:t>: Tight gap traps moisture &amp; pollutants; </a:t>
            </a:r>
            <a:br>
              <a:rPr lang="en-US" sz="1600" dirty="0"/>
            </a:br>
            <a:r>
              <a:rPr lang="en-US" sz="1600" dirty="0"/>
              <a:t>different concentrations / chemistry in crevice</a:t>
            </a:r>
          </a:p>
          <a:p>
            <a:pPr lvl="1"/>
            <a:r>
              <a:rPr lang="en-US" sz="1600" b="1" dirty="0"/>
              <a:t>Appearance</a:t>
            </a:r>
            <a:r>
              <a:rPr lang="en-US" sz="1600" dirty="0"/>
              <a:t>:</a:t>
            </a:r>
            <a:r>
              <a:rPr lang="en-US" sz="1600" b="1" dirty="0"/>
              <a:t> </a:t>
            </a:r>
            <a:r>
              <a:rPr lang="en-US" sz="1600" dirty="0"/>
              <a:t>Surface discoloration; </a:t>
            </a:r>
            <a:br>
              <a:rPr lang="en-US" sz="1600" dirty="0"/>
            </a:br>
            <a:r>
              <a:rPr lang="en-US" sz="1600" dirty="0"/>
              <a:t>at nameplates, riveted heads, lapped joints, etc.  </a:t>
            </a:r>
          </a:p>
          <a:p>
            <a:pPr lvl="1"/>
            <a:r>
              <a:rPr lang="en-US" sz="1600" dirty="0"/>
              <a:t>May not be visible until failure</a:t>
            </a:r>
          </a:p>
          <a:p>
            <a:pPr lvl="1"/>
            <a:r>
              <a:rPr lang="en-US" sz="1600" dirty="0">
                <a:solidFill>
                  <a:srgbClr val="0070C0"/>
                </a:solidFill>
              </a:rPr>
              <a:t>In AI picture, water and </a:t>
            </a:r>
            <a:r>
              <a:rPr lang="en-US" sz="1600" dirty="0" err="1">
                <a:solidFill>
                  <a:srgbClr val="0070C0"/>
                </a:solidFill>
              </a:rPr>
              <a:t>debri</a:t>
            </a:r>
            <a:r>
              <a:rPr lang="en-US" sz="1600" dirty="0">
                <a:solidFill>
                  <a:srgbClr val="0070C0"/>
                </a:solidFill>
              </a:rPr>
              <a:t> accumulate in crevices</a:t>
            </a:r>
          </a:p>
          <a:p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A1AB70-4612-AD23-B68D-42D63CCB3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4"/>
            <a:ext cx="10858500" cy="877824"/>
          </a:xfrm>
        </p:spPr>
        <p:txBody>
          <a:bodyPr/>
          <a:lstStyle/>
          <a:p>
            <a:r>
              <a:rPr lang="en-US" dirty="0"/>
              <a:t>Types of Corrosion </a:t>
            </a:r>
            <a:r>
              <a:rPr lang="en-US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(2 of 4)</a:t>
            </a:r>
            <a:endParaRPr lang="en-US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A116FA9-CB27-CD5E-1C2F-4D0ADB3B3825}"/>
              </a:ext>
            </a:extLst>
          </p:cNvPr>
          <p:cNvGrpSpPr/>
          <p:nvPr/>
        </p:nvGrpSpPr>
        <p:grpSpPr>
          <a:xfrm>
            <a:off x="5387909" y="5093518"/>
            <a:ext cx="2251237" cy="1460091"/>
            <a:chOff x="5464013" y="5032784"/>
            <a:chExt cx="2251237" cy="1460091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28AA512-25DA-6E13-2284-6086F0ECE2BA}"/>
                </a:ext>
              </a:extLst>
            </p:cNvPr>
            <p:cNvGrpSpPr/>
            <p:nvPr/>
          </p:nvGrpSpPr>
          <p:grpSpPr>
            <a:xfrm>
              <a:off x="7010400" y="5187950"/>
              <a:ext cx="704850" cy="1304925"/>
              <a:chOff x="3755340" y="5402260"/>
              <a:chExt cx="704850" cy="1304925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37C224EB-D90E-9A2A-84E9-AB7E8DABEF5E}"/>
                  </a:ext>
                </a:extLst>
              </p:cNvPr>
              <p:cNvGrpSpPr/>
              <p:nvPr/>
            </p:nvGrpSpPr>
            <p:grpSpPr>
              <a:xfrm rot="5400000">
                <a:off x="3455302" y="5702298"/>
                <a:ext cx="1304925" cy="704850"/>
                <a:chOff x="3217648" y="5620360"/>
                <a:chExt cx="1304925" cy="704850"/>
              </a:xfrm>
            </p:grpSpPr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3B6C8B05-0C4F-FF1E-1A6C-8C9D44719DDB}"/>
                    </a:ext>
                  </a:extLst>
                </p:cNvPr>
                <p:cNvSpPr/>
                <p:nvPr/>
              </p:nvSpPr>
              <p:spPr>
                <a:xfrm>
                  <a:off x="3217648" y="5620360"/>
                  <a:ext cx="1304925" cy="704850"/>
                </a:xfrm>
                <a:prstGeom prst="rect">
                  <a:avLst/>
                </a:prstGeom>
                <a:solidFill>
                  <a:schemeClr val="accent2">
                    <a:lumMod val="50000"/>
                  </a:schemeClr>
                </a:solidFill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51A9D85A-AF62-3639-32F2-237E5BDF9268}"/>
                    </a:ext>
                  </a:extLst>
                </p:cNvPr>
                <p:cNvGrpSpPr/>
                <p:nvPr/>
              </p:nvGrpSpPr>
              <p:grpSpPr>
                <a:xfrm>
                  <a:off x="3394814" y="5748471"/>
                  <a:ext cx="1026317" cy="408182"/>
                  <a:chOff x="2516983" y="6004560"/>
                  <a:chExt cx="1026317" cy="408182"/>
                </a:xfrm>
              </p:grpSpPr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D45B5846-9A3F-3F4D-03BD-96DFF3C52E12}"/>
                      </a:ext>
                    </a:extLst>
                  </p:cNvPr>
                  <p:cNvSpPr/>
                  <p:nvPr/>
                </p:nvSpPr>
                <p:spPr>
                  <a:xfrm>
                    <a:off x="3090862" y="6010275"/>
                    <a:ext cx="452437" cy="64294"/>
                  </a:xfrm>
                  <a:prstGeom prst="rect">
                    <a:avLst/>
                  </a:prstGeom>
                  <a:pattFill prst="ltUpDiag">
                    <a:fgClr>
                      <a:schemeClr val="accent1"/>
                    </a:fgClr>
                    <a:bgClr>
                      <a:schemeClr val="bg1"/>
                    </a:bgClr>
                  </a:patt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C363C5AD-4732-0E33-B308-B8DE62AF4664}"/>
                      </a:ext>
                    </a:extLst>
                  </p:cNvPr>
                  <p:cNvSpPr/>
                  <p:nvPr/>
                </p:nvSpPr>
                <p:spPr>
                  <a:xfrm>
                    <a:off x="2516983" y="6009339"/>
                    <a:ext cx="472440" cy="64294"/>
                  </a:xfrm>
                  <a:prstGeom prst="rect">
                    <a:avLst/>
                  </a:prstGeom>
                  <a:pattFill prst="ltUpDiag">
                    <a:fgClr>
                      <a:schemeClr val="accent1"/>
                    </a:fgClr>
                    <a:bgClr>
                      <a:schemeClr val="bg1"/>
                    </a:bgClr>
                  </a:patt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1" name="Straight Connector 10">
                    <a:extLst>
                      <a:ext uri="{FF2B5EF4-FFF2-40B4-BE49-F238E27FC236}">
                        <a16:creationId xmlns:a16="http://schemas.microsoft.com/office/drawing/2014/main" id="{C21BE169-05E0-D891-F81D-154BBE499B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17014" y="6006118"/>
                    <a:ext cx="47244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" name="Straight Connector 11">
                    <a:extLst>
                      <a:ext uri="{FF2B5EF4-FFF2-40B4-BE49-F238E27FC236}">
                        <a16:creationId xmlns:a16="http://schemas.microsoft.com/office/drawing/2014/main" id="{17F42CFF-E4FE-5F6A-92F9-CEB1841692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070860" y="6004560"/>
                    <a:ext cx="472440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" name="Freeform: Shape 12">
                    <a:extLst>
                      <a:ext uri="{FF2B5EF4-FFF2-40B4-BE49-F238E27FC236}">
                        <a16:creationId xmlns:a16="http://schemas.microsoft.com/office/drawing/2014/main" id="{88499E79-8AA3-85A2-4D93-FBA522E67143}"/>
                      </a:ext>
                    </a:extLst>
                  </p:cNvPr>
                  <p:cNvSpPr/>
                  <p:nvPr/>
                </p:nvSpPr>
                <p:spPr>
                  <a:xfrm>
                    <a:off x="2982285" y="6004578"/>
                    <a:ext cx="101453" cy="408164"/>
                  </a:xfrm>
                  <a:custGeom>
                    <a:avLst/>
                    <a:gdLst>
                      <a:gd name="csX0" fmla="*/ 47625 w 280987"/>
                      <a:gd name="csY0" fmla="*/ 23812 h 457200"/>
                      <a:gd name="csX1" fmla="*/ 66675 w 280987"/>
                      <a:gd name="csY1" fmla="*/ 95250 h 457200"/>
                      <a:gd name="csX2" fmla="*/ 0 w 280987"/>
                      <a:gd name="csY2" fmla="*/ 152400 h 457200"/>
                      <a:gd name="csX3" fmla="*/ 14287 w 280987"/>
                      <a:gd name="csY3" fmla="*/ 219075 h 457200"/>
                      <a:gd name="csX4" fmla="*/ 100012 w 280987"/>
                      <a:gd name="csY4" fmla="*/ 300037 h 457200"/>
                      <a:gd name="csX5" fmla="*/ 66675 w 280987"/>
                      <a:gd name="csY5" fmla="*/ 457200 h 457200"/>
                      <a:gd name="csX6" fmla="*/ 185737 w 280987"/>
                      <a:gd name="csY6" fmla="*/ 252412 h 457200"/>
                      <a:gd name="csX7" fmla="*/ 266700 w 280987"/>
                      <a:gd name="csY7" fmla="*/ 214312 h 457200"/>
                      <a:gd name="csX8" fmla="*/ 280987 w 280987"/>
                      <a:gd name="csY8" fmla="*/ 152400 h 457200"/>
                      <a:gd name="csX9" fmla="*/ 219075 w 280987"/>
                      <a:gd name="csY9" fmla="*/ 109537 h 457200"/>
                      <a:gd name="csX10" fmla="*/ 180975 w 280987"/>
                      <a:gd name="csY10" fmla="*/ 28575 h 457200"/>
                      <a:gd name="csX11" fmla="*/ 200025 w 280987"/>
                      <a:gd name="csY11" fmla="*/ 4762 h 457200"/>
                      <a:gd name="csX12" fmla="*/ 214312 w 280987"/>
                      <a:gd name="csY12" fmla="*/ 0 h 457200"/>
                      <a:gd name="csX0" fmla="*/ 47625 w 280987"/>
                      <a:gd name="csY0" fmla="*/ 19050 h 452438"/>
                      <a:gd name="csX1" fmla="*/ 66675 w 280987"/>
                      <a:gd name="csY1" fmla="*/ 90488 h 452438"/>
                      <a:gd name="csX2" fmla="*/ 0 w 280987"/>
                      <a:gd name="csY2" fmla="*/ 147638 h 452438"/>
                      <a:gd name="csX3" fmla="*/ 14287 w 280987"/>
                      <a:gd name="csY3" fmla="*/ 214313 h 452438"/>
                      <a:gd name="csX4" fmla="*/ 100012 w 280987"/>
                      <a:gd name="csY4" fmla="*/ 295275 h 452438"/>
                      <a:gd name="csX5" fmla="*/ 66675 w 280987"/>
                      <a:gd name="csY5" fmla="*/ 452438 h 452438"/>
                      <a:gd name="csX6" fmla="*/ 185737 w 280987"/>
                      <a:gd name="csY6" fmla="*/ 247650 h 452438"/>
                      <a:gd name="csX7" fmla="*/ 266700 w 280987"/>
                      <a:gd name="csY7" fmla="*/ 209550 h 452438"/>
                      <a:gd name="csX8" fmla="*/ 280987 w 280987"/>
                      <a:gd name="csY8" fmla="*/ 147638 h 452438"/>
                      <a:gd name="csX9" fmla="*/ 219075 w 280987"/>
                      <a:gd name="csY9" fmla="*/ 104775 h 452438"/>
                      <a:gd name="csX10" fmla="*/ 180975 w 280987"/>
                      <a:gd name="csY10" fmla="*/ 23813 h 452438"/>
                      <a:gd name="csX11" fmla="*/ 200025 w 280987"/>
                      <a:gd name="csY11" fmla="*/ 0 h 452438"/>
                      <a:gd name="csX0" fmla="*/ 47625 w 280987"/>
                      <a:gd name="csY0" fmla="*/ 0 h 433388"/>
                      <a:gd name="csX1" fmla="*/ 66675 w 280987"/>
                      <a:gd name="csY1" fmla="*/ 71438 h 433388"/>
                      <a:gd name="csX2" fmla="*/ 0 w 280987"/>
                      <a:gd name="csY2" fmla="*/ 128588 h 433388"/>
                      <a:gd name="csX3" fmla="*/ 14287 w 280987"/>
                      <a:gd name="csY3" fmla="*/ 195263 h 433388"/>
                      <a:gd name="csX4" fmla="*/ 100012 w 280987"/>
                      <a:gd name="csY4" fmla="*/ 276225 h 433388"/>
                      <a:gd name="csX5" fmla="*/ 66675 w 280987"/>
                      <a:gd name="csY5" fmla="*/ 433388 h 433388"/>
                      <a:gd name="csX6" fmla="*/ 185737 w 280987"/>
                      <a:gd name="csY6" fmla="*/ 228600 h 433388"/>
                      <a:gd name="csX7" fmla="*/ 266700 w 280987"/>
                      <a:gd name="csY7" fmla="*/ 190500 h 433388"/>
                      <a:gd name="csX8" fmla="*/ 280987 w 280987"/>
                      <a:gd name="csY8" fmla="*/ 128588 h 433388"/>
                      <a:gd name="csX9" fmla="*/ 219075 w 280987"/>
                      <a:gd name="csY9" fmla="*/ 85725 h 433388"/>
                      <a:gd name="csX10" fmla="*/ 180975 w 280987"/>
                      <a:gd name="csY10" fmla="*/ 4763 h 433388"/>
                      <a:gd name="csX0" fmla="*/ 47625 w 280987"/>
                      <a:gd name="csY0" fmla="*/ 4762 h 438150"/>
                      <a:gd name="csX1" fmla="*/ 66675 w 280987"/>
                      <a:gd name="csY1" fmla="*/ 76200 h 438150"/>
                      <a:gd name="csX2" fmla="*/ 0 w 280987"/>
                      <a:gd name="csY2" fmla="*/ 133350 h 438150"/>
                      <a:gd name="csX3" fmla="*/ 14287 w 280987"/>
                      <a:gd name="csY3" fmla="*/ 200025 h 438150"/>
                      <a:gd name="csX4" fmla="*/ 100012 w 280987"/>
                      <a:gd name="csY4" fmla="*/ 280987 h 438150"/>
                      <a:gd name="csX5" fmla="*/ 66675 w 280987"/>
                      <a:gd name="csY5" fmla="*/ 438150 h 438150"/>
                      <a:gd name="csX6" fmla="*/ 185737 w 280987"/>
                      <a:gd name="csY6" fmla="*/ 233362 h 438150"/>
                      <a:gd name="csX7" fmla="*/ 266700 w 280987"/>
                      <a:gd name="csY7" fmla="*/ 195262 h 438150"/>
                      <a:gd name="csX8" fmla="*/ 280987 w 280987"/>
                      <a:gd name="csY8" fmla="*/ 133350 h 438150"/>
                      <a:gd name="csX9" fmla="*/ 219075 w 280987"/>
                      <a:gd name="csY9" fmla="*/ 90487 h 438150"/>
                      <a:gd name="csX10" fmla="*/ 190500 w 280987"/>
                      <a:gd name="csY10" fmla="*/ 0 h 438150"/>
                      <a:gd name="csX0" fmla="*/ 47625 w 280987"/>
                      <a:gd name="csY0" fmla="*/ 4762 h 438150"/>
                      <a:gd name="csX1" fmla="*/ 66675 w 280987"/>
                      <a:gd name="csY1" fmla="*/ 76200 h 438150"/>
                      <a:gd name="csX2" fmla="*/ 0 w 280987"/>
                      <a:gd name="csY2" fmla="*/ 133350 h 438150"/>
                      <a:gd name="csX3" fmla="*/ 14287 w 280987"/>
                      <a:gd name="csY3" fmla="*/ 200025 h 438150"/>
                      <a:gd name="csX4" fmla="*/ 100012 w 280987"/>
                      <a:gd name="csY4" fmla="*/ 280987 h 438150"/>
                      <a:gd name="csX5" fmla="*/ 66675 w 280987"/>
                      <a:gd name="csY5" fmla="*/ 438150 h 438150"/>
                      <a:gd name="csX6" fmla="*/ 185737 w 280987"/>
                      <a:gd name="csY6" fmla="*/ 233362 h 438150"/>
                      <a:gd name="csX7" fmla="*/ 266700 w 280987"/>
                      <a:gd name="csY7" fmla="*/ 195262 h 438150"/>
                      <a:gd name="csX8" fmla="*/ 280987 w 280987"/>
                      <a:gd name="csY8" fmla="*/ 133350 h 438150"/>
                      <a:gd name="csX9" fmla="*/ 219075 w 280987"/>
                      <a:gd name="csY9" fmla="*/ 90487 h 438150"/>
                      <a:gd name="csX10" fmla="*/ 197644 w 280987"/>
                      <a:gd name="csY10" fmla="*/ 0 h 438150"/>
                      <a:gd name="csX0" fmla="*/ 47625 w 280987"/>
                      <a:gd name="csY0" fmla="*/ 2381 h 435769"/>
                      <a:gd name="csX1" fmla="*/ 66675 w 280987"/>
                      <a:gd name="csY1" fmla="*/ 73819 h 435769"/>
                      <a:gd name="csX2" fmla="*/ 0 w 280987"/>
                      <a:gd name="csY2" fmla="*/ 130969 h 435769"/>
                      <a:gd name="csX3" fmla="*/ 14287 w 280987"/>
                      <a:gd name="csY3" fmla="*/ 197644 h 435769"/>
                      <a:gd name="csX4" fmla="*/ 100012 w 280987"/>
                      <a:gd name="csY4" fmla="*/ 278606 h 435769"/>
                      <a:gd name="csX5" fmla="*/ 66675 w 280987"/>
                      <a:gd name="csY5" fmla="*/ 435769 h 435769"/>
                      <a:gd name="csX6" fmla="*/ 185737 w 280987"/>
                      <a:gd name="csY6" fmla="*/ 230981 h 435769"/>
                      <a:gd name="csX7" fmla="*/ 266700 w 280987"/>
                      <a:gd name="csY7" fmla="*/ 192881 h 435769"/>
                      <a:gd name="csX8" fmla="*/ 280987 w 280987"/>
                      <a:gd name="csY8" fmla="*/ 130969 h 435769"/>
                      <a:gd name="csX9" fmla="*/ 219075 w 280987"/>
                      <a:gd name="csY9" fmla="*/ 88106 h 435769"/>
                      <a:gd name="csX10" fmla="*/ 209551 w 280987"/>
                      <a:gd name="csY10" fmla="*/ 0 h 435769"/>
                      <a:gd name="csX0" fmla="*/ 33338 w 280987"/>
                      <a:gd name="csY0" fmla="*/ 0 h 442913"/>
                      <a:gd name="csX1" fmla="*/ 66675 w 280987"/>
                      <a:gd name="csY1" fmla="*/ 80963 h 442913"/>
                      <a:gd name="csX2" fmla="*/ 0 w 280987"/>
                      <a:gd name="csY2" fmla="*/ 138113 h 442913"/>
                      <a:gd name="csX3" fmla="*/ 14287 w 280987"/>
                      <a:gd name="csY3" fmla="*/ 204788 h 442913"/>
                      <a:gd name="csX4" fmla="*/ 100012 w 280987"/>
                      <a:gd name="csY4" fmla="*/ 285750 h 442913"/>
                      <a:gd name="csX5" fmla="*/ 66675 w 280987"/>
                      <a:gd name="csY5" fmla="*/ 442913 h 442913"/>
                      <a:gd name="csX6" fmla="*/ 185737 w 280987"/>
                      <a:gd name="csY6" fmla="*/ 238125 h 442913"/>
                      <a:gd name="csX7" fmla="*/ 266700 w 280987"/>
                      <a:gd name="csY7" fmla="*/ 200025 h 442913"/>
                      <a:gd name="csX8" fmla="*/ 280987 w 280987"/>
                      <a:gd name="csY8" fmla="*/ 138113 h 442913"/>
                      <a:gd name="csX9" fmla="*/ 219075 w 280987"/>
                      <a:gd name="csY9" fmla="*/ 95250 h 442913"/>
                      <a:gd name="csX10" fmla="*/ 209551 w 280987"/>
                      <a:gd name="csY10" fmla="*/ 7144 h 442913"/>
                      <a:gd name="csX0" fmla="*/ 33338 w 280987"/>
                      <a:gd name="csY0" fmla="*/ 0 h 285750"/>
                      <a:gd name="csX1" fmla="*/ 66675 w 280987"/>
                      <a:gd name="csY1" fmla="*/ 80963 h 285750"/>
                      <a:gd name="csX2" fmla="*/ 0 w 280987"/>
                      <a:gd name="csY2" fmla="*/ 138113 h 285750"/>
                      <a:gd name="csX3" fmla="*/ 14287 w 280987"/>
                      <a:gd name="csY3" fmla="*/ 204788 h 285750"/>
                      <a:gd name="csX4" fmla="*/ 100012 w 280987"/>
                      <a:gd name="csY4" fmla="*/ 285750 h 285750"/>
                      <a:gd name="csX5" fmla="*/ 185737 w 280987"/>
                      <a:gd name="csY5" fmla="*/ 238125 h 285750"/>
                      <a:gd name="csX6" fmla="*/ 266700 w 280987"/>
                      <a:gd name="csY6" fmla="*/ 200025 h 285750"/>
                      <a:gd name="csX7" fmla="*/ 280987 w 280987"/>
                      <a:gd name="csY7" fmla="*/ 138113 h 285750"/>
                      <a:gd name="csX8" fmla="*/ 219075 w 280987"/>
                      <a:gd name="csY8" fmla="*/ 95250 h 285750"/>
                      <a:gd name="csX9" fmla="*/ 209551 w 280987"/>
                      <a:gd name="csY9" fmla="*/ 7144 h 285750"/>
                      <a:gd name="csX0" fmla="*/ 19051 w 266700"/>
                      <a:gd name="csY0" fmla="*/ 0 h 285750"/>
                      <a:gd name="csX1" fmla="*/ 52388 w 266700"/>
                      <a:gd name="csY1" fmla="*/ 80963 h 285750"/>
                      <a:gd name="csX2" fmla="*/ 0 w 266700"/>
                      <a:gd name="csY2" fmla="*/ 204788 h 285750"/>
                      <a:gd name="csX3" fmla="*/ 85725 w 266700"/>
                      <a:gd name="csY3" fmla="*/ 285750 h 285750"/>
                      <a:gd name="csX4" fmla="*/ 171450 w 266700"/>
                      <a:gd name="csY4" fmla="*/ 238125 h 285750"/>
                      <a:gd name="csX5" fmla="*/ 252413 w 266700"/>
                      <a:gd name="csY5" fmla="*/ 200025 h 285750"/>
                      <a:gd name="csX6" fmla="*/ 266700 w 266700"/>
                      <a:gd name="csY6" fmla="*/ 138113 h 285750"/>
                      <a:gd name="csX7" fmla="*/ 204788 w 266700"/>
                      <a:gd name="csY7" fmla="*/ 95250 h 285750"/>
                      <a:gd name="csX8" fmla="*/ 195264 w 266700"/>
                      <a:gd name="csY8" fmla="*/ 7144 h 285750"/>
                      <a:gd name="csX0" fmla="*/ 0 w 247649"/>
                      <a:gd name="csY0" fmla="*/ 0 h 285750"/>
                      <a:gd name="csX1" fmla="*/ 33337 w 247649"/>
                      <a:gd name="csY1" fmla="*/ 80963 h 285750"/>
                      <a:gd name="csX2" fmla="*/ 66674 w 247649"/>
                      <a:gd name="csY2" fmla="*/ 285750 h 285750"/>
                      <a:gd name="csX3" fmla="*/ 152399 w 247649"/>
                      <a:gd name="csY3" fmla="*/ 238125 h 285750"/>
                      <a:gd name="csX4" fmla="*/ 233362 w 247649"/>
                      <a:gd name="csY4" fmla="*/ 200025 h 285750"/>
                      <a:gd name="csX5" fmla="*/ 247649 w 247649"/>
                      <a:gd name="csY5" fmla="*/ 138113 h 285750"/>
                      <a:gd name="csX6" fmla="*/ 185737 w 247649"/>
                      <a:gd name="csY6" fmla="*/ 95250 h 285750"/>
                      <a:gd name="csX7" fmla="*/ 176213 w 247649"/>
                      <a:gd name="csY7" fmla="*/ 7144 h 285750"/>
                      <a:gd name="csX0" fmla="*/ 0 w 247649"/>
                      <a:gd name="csY0" fmla="*/ 0 h 285750"/>
                      <a:gd name="csX1" fmla="*/ 4765 w 247649"/>
                      <a:gd name="csY1" fmla="*/ 90488 h 285750"/>
                      <a:gd name="csX2" fmla="*/ 66674 w 247649"/>
                      <a:gd name="csY2" fmla="*/ 285750 h 285750"/>
                      <a:gd name="csX3" fmla="*/ 152399 w 247649"/>
                      <a:gd name="csY3" fmla="*/ 238125 h 285750"/>
                      <a:gd name="csX4" fmla="*/ 233362 w 247649"/>
                      <a:gd name="csY4" fmla="*/ 200025 h 285750"/>
                      <a:gd name="csX5" fmla="*/ 247649 w 247649"/>
                      <a:gd name="csY5" fmla="*/ 138113 h 285750"/>
                      <a:gd name="csX6" fmla="*/ 185737 w 247649"/>
                      <a:gd name="csY6" fmla="*/ 95250 h 285750"/>
                      <a:gd name="csX7" fmla="*/ 176213 w 247649"/>
                      <a:gd name="csY7" fmla="*/ 7144 h 285750"/>
                      <a:gd name="csX0" fmla="*/ 0 w 247649"/>
                      <a:gd name="csY0" fmla="*/ 0 h 285750"/>
                      <a:gd name="csX1" fmla="*/ 4765 w 247649"/>
                      <a:gd name="csY1" fmla="*/ 90488 h 285750"/>
                      <a:gd name="csX2" fmla="*/ 66674 w 247649"/>
                      <a:gd name="csY2" fmla="*/ 285750 h 285750"/>
                      <a:gd name="csX3" fmla="*/ 152399 w 247649"/>
                      <a:gd name="csY3" fmla="*/ 238125 h 285750"/>
                      <a:gd name="csX4" fmla="*/ 233362 w 247649"/>
                      <a:gd name="csY4" fmla="*/ 200025 h 285750"/>
                      <a:gd name="csX5" fmla="*/ 247649 w 247649"/>
                      <a:gd name="csY5" fmla="*/ 138113 h 285750"/>
                      <a:gd name="csX6" fmla="*/ 178596 w 247649"/>
                      <a:gd name="csY6" fmla="*/ 59531 h 285750"/>
                      <a:gd name="csX7" fmla="*/ 176213 w 247649"/>
                      <a:gd name="csY7" fmla="*/ 7144 h 285750"/>
                      <a:gd name="csX0" fmla="*/ 0 w 247649"/>
                      <a:gd name="csY0" fmla="*/ 7145 h 292895"/>
                      <a:gd name="csX1" fmla="*/ 4765 w 247649"/>
                      <a:gd name="csY1" fmla="*/ 97633 h 292895"/>
                      <a:gd name="csX2" fmla="*/ 66674 w 247649"/>
                      <a:gd name="csY2" fmla="*/ 292895 h 292895"/>
                      <a:gd name="csX3" fmla="*/ 152399 w 247649"/>
                      <a:gd name="csY3" fmla="*/ 245270 h 292895"/>
                      <a:gd name="csX4" fmla="*/ 233362 w 247649"/>
                      <a:gd name="csY4" fmla="*/ 207170 h 292895"/>
                      <a:gd name="csX5" fmla="*/ 247649 w 247649"/>
                      <a:gd name="csY5" fmla="*/ 145258 h 292895"/>
                      <a:gd name="csX6" fmla="*/ 178596 w 247649"/>
                      <a:gd name="csY6" fmla="*/ 66676 h 292895"/>
                      <a:gd name="csX7" fmla="*/ 178597 w 247649"/>
                      <a:gd name="csY7" fmla="*/ 0 h 292895"/>
                      <a:gd name="csX0" fmla="*/ 0 w 233362"/>
                      <a:gd name="csY0" fmla="*/ 7145 h 292895"/>
                      <a:gd name="csX1" fmla="*/ 4765 w 233362"/>
                      <a:gd name="csY1" fmla="*/ 97633 h 292895"/>
                      <a:gd name="csX2" fmla="*/ 66674 w 233362"/>
                      <a:gd name="csY2" fmla="*/ 292895 h 292895"/>
                      <a:gd name="csX3" fmla="*/ 152399 w 233362"/>
                      <a:gd name="csY3" fmla="*/ 245270 h 292895"/>
                      <a:gd name="csX4" fmla="*/ 233362 w 233362"/>
                      <a:gd name="csY4" fmla="*/ 207170 h 292895"/>
                      <a:gd name="csX5" fmla="*/ 178596 w 233362"/>
                      <a:gd name="csY5" fmla="*/ 66676 h 292895"/>
                      <a:gd name="csX6" fmla="*/ 178597 w 233362"/>
                      <a:gd name="csY6" fmla="*/ 0 h 292895"/>
                      <a:gd name="csX0" fmla="*/ 0 w 178597"/>
                      <a:gd name="csY0" fmla="*/ 7145 h 292895"/>
                      <a:gd name="csX1" fmla="*/ 4765 w 178597"/>
                      <a:gd name="csY1" fmla="*/ 97633 h 292895"/>
                      <a:gd name="csX2" fmla="*/ 66674 w 178597"/>
                      <a:gd name="csY2" fmla="*/ 292895 h 292895"/>
                      <a:gd name="csX3" fmla="*/ 152399 w 178597"/>
                      <a:gd name="csY3" fmla="*/ 245270 h 292895"/>
                      <a:gd name="csX4" fmla="*/ 178596 w 178597"/>
                      <a:gd name="csY4" fmla="*/ 66676 h 292895"/>
                      <a:gd name="csX5" fmla="*/ 178597 w 178597"/>
                      <a:gd name="csY5" fmla="*/ 0 h 292895"/>
                      <a:gd name="csX0" fmla="*/ 0 w 178597"/>
                      <a:gd name="csY0" fmla="*/ 7145 h 292895"/>
                      <a:gd name="csX1" fmla="*/ 4765 w 178597"/>
                      <a:gd name="csY1" fmla="*/ 97633 h 292895"/>
                      <a:gd name="csX2" fmla="*/ 66674 w 178597"/>
                      <a:gd name="csY2" fmla="*/ 292895 h 292895"/>
                      <a:gd name="csX3" fmla="*/ 169068 w 178597"/>
                      <a:gd name="csY3" fmla="*/ 230983 h 292895"/>
                      <a:gd name="csX4" fmla="*/ 178596 w 178597"/>
                      <a:gd name="csY4" fmla="*/ 66676 h 292895"/>
                      <a:gd name="csX5" fmla="*/ 178597 w 178597"/>
                      <a:gd name="csY5" fmla="*/ 0 h 292895"/>
                      <a:gd name="csX0" fmla="*/ 0 w 178597"/>
                      <a:gd name="csY0" fmla="*/ 7145 h 400051"/>
                      <a:gd name="csX1" fmla="*/ 4765 w 178597"/>
                      <a:gd name="csY1" fmla="*/ 97633 h 400051"/>
                      <a:gd name="csX2" fmla="*/ 4761 w 178597"/>
                      <a:gd name="csY2" fmla="*/ 400051 h 400051"/>
                      <a:gd name="csX3" fmla="*/ 169068 w 178597"/>
                      <a:gd name="csY3" fmla="*/ 230983 h 400051"/>
                      <a:gd name="csX4" fmla="*/ 178596 w 178597"/>
                      <a:gd name="csY4" fmla="*/ 66676 h 400051"/>
                      <a:gd name="csX5" fmla="*/ 178597 w 178597"/>
                      <a:gd name="csY5" fmla="*/ 0 h 400051"/>
                      <a:gd name="csX0" fmla="*/ 0 w 178597"/>
                      <a:gd name="csY0" fmla="*/ 7145 h 409577"/>
                      <a:gd name="csX1" fmla="*/ 4765 w 178597"/>
                      <a:gd name="csY1" fmla="*/ 97633 h 409577"/>
                      <a:gd name="csX2" fmla="*/ 4761 w 178597"/>
                      <a:gd name="csY2" fmla="*/ 400051 h 409577"/>
                      <a:gd name="csX3" fmla="*/ 164306 w 178597"/>
                      <a:gd name="csY3" fmla="*/ 409577 h 409577"/>
                      <a:gd name="csX4" fmla="*/ 178596 w 178597"/>
                      <a:gd name="csY4" fmla="*/ 66676 h 409577"/>
                      <a:gd name="csX5" fmla="*/ 178597 w 178597"/>
                      <a:gd name="csY5" fmla="*/ 0 h 409577"/>
                      <a:gd name="csX0" fmla="*/ 0 w 178597"/>
                      <a:gd name="csY0" fmla="*/ 7145 h 409577"/>
                      <a:gd name="csX1" fmla="*/ 4765 w 178597"/>
                      <a:gd name="csY1" fmla="*/ 97633 h 409577"/>
                      <a:gd name="csX2" fmla="*/ 4761 w 178597"/>
                      <a:gd name="csY2" fmla="*/ 400051 h 409577"/>
                      <a:gd name="csX3" fmla="*/ 164306 w 178597"/>
                      <a:gd name="csY3" fmla="*/ 409577 h 409577"/>
                      <a:gd name="csX4" fmla="*/ 178597 w 178597"/>
                      <a:gd name="csY4" fmla="*/ 0 h 409577"/>
                      <a:gd name="csX0" fmla="*/ 0 w 178597"/>
                      <a:gd name="csY0" fmla="*/ 7145 h 409577"/>
                      <a:gd name="csX1" fmla="*/ 4761 w 178597"/>
                      <a:gd name="csY1" fmla="*/ 400051 h 409577"/>
                      <a:gd name="csX2" fmla="*/ 164306 w 178597"/>
                      <a:gd name="csY2" fmla="*/ 409577 h 409577"/>
                      <a:gd name="csX3" fmla="*/ 178597 w 178597"/>
                      <a:gd name="csY3" fmla="*/ 0 h 409577"/>
                      <a:gd name="csX0" fmla="*/ 1 w 192122"/>
                      <a:gd name="csY0" fmla="*/ 7145 h 409577"/>
                      <a:gd name="csX1" fmla="*/ 18286 w 192122"/>
                      <a:gd name="csY1" fmla="*/ 400051 h 409577"/>
                      <a:gd name="csX2" fmla="*/ 177831 w 192122"/>
                      <a:gd name="csY2" fmla="*/ 409577 h 409577"/>
                      <a:gd name="csX3" fmla="*/ 192122 w 192122"/>
                      <a:gd name="csY3" fmla="*/ 0 h 409577"/>
                      <a:gd name="csX0" fmla="*/ -1 w 192120"/>
                      <a:gd name="csY0" fmla="*/ 7145 h 409577"/>
                      <a:gd name="csX1" fmla="*/ 4760 w 192120"/>
                      <a:gd name="csY1" fmla="*/ 407220 h 409577"/>
                      <a:gd name="csX2" fmla="*/ 177829 w 192120"/>
                      <a:gd name="csY2" fmla="*/ 409577 h 409577"/>
                      <a:gd name="csX3" fmla="*/ 192120 w 192120"/>
                      <a:gd name="csY3" fmla="*/ 0 h 409577"/>
                      <a:gd name="csX0" fmla="*/ 8765 w 200886"/>
                      <a:gd name="csY0" fmla="*/ 7145 h 409577"/>
                      <a:gd name="csX1" fmla="*/ 0 w 200886"/>
                      <a:gd name="csY1" fmla="*/ 407220 h 409577"/>
                      <a:gd name="csX2" fmla="*/ 186595 w 200886"/>
                      <a:gd name="csY2" fmla="*/ 409577 h 409577"/>
                      <a:gd name="csX3" fmla="*/ 200886 w 200886"/>
                      <a:gd name="csY3" fmla="*/ 0 h 409577"/>
                      <a:gd name="csX0" fmla="*/ -1 w 192120"/>
                      <a:gd name="csY0" fmla="*/ 7145 h 409609"/>
                      <a:gd name="csX1" fmla="*/ 256 w 192120"/>
                      <a:gd name="csY1" fmla="*/ 409609 h 409609"/>
                      <a:gd name="csX2" fmla="*/ 177829 w 192120"/>
                      <a:gd name="csY2" fmla="*/ 409577 h 409609"/>
                      <a:gd name="csX3" fmla="*/ 192120 w 192120"/>
                      <a:gd name="csY3" fmla="*/ 0 h 409609"/>
                      <a:gd name="csX0" fmla="*/ 1 w 192122"/>
                      <a:gd name="csY0" fmla="*/ 7145 h 409609"/>
                      <a:gd name="csX1" fmla="*/ 258 w 192122"/>
                      <a:gd name="csY1" fmla="*/ 409609 h 409609"/>
                      <a:gd name="csX2" fmla="*/ 191359 w 192122"/>
                      <a:gd name="csY2" fmla="*/ 409577 h 409609"/>
                      <a:gd name="csX3" fmla="*/ 192122 w 192122"/>
                      <a:gd name="csY3" fmla="*/ 0 h 409609"/>
                      <a:gd name="csX0" fmla="*/ -1 w 204893"/>
                      <a:gd name="csY0" fmla="*/ 7145 h 409609"/>
                      <a:gd name="csX1" fmla="*/ 256 w 204893"/>
                      <a:gd name="csY1" fmla="*/ 409609 h 409609"/>
                      <a:gd name="csX2" fmla="*/ 204890 w 204893"/>
                      <a:gd name="csY2" fmla="*/ 409576 h 409609"/>
                      <a:gd name="csX3" fmla="*/ 192120 w 204893"/>
                      <a:gd name="csY3" fmla="*/ 0 h 409609"/>
                      <a:gd name="csX0" fmla="*/ 1 w 192122"/>
                      <a:gd name="csY0" fmla="*/ 7145 h 411966"/>
                      <a:gd name="csX1" fmla="*/ 258 w 192122"/>
                      <a:gd name="csY1" fmla="*/ 409609 h 411966"/>
                      <a:gd name="csX2" fmla="*/ 191367 w 192122"/>
                      <a:gd name="csY2" fmla="*/ 411966 h 411966"/>
                      <a:gd name="csX3" fmla="*/ 192122 w 192122"/>
                      <a:gd name="csY3" fmla="*/ 0 h 411966"/>
                      <a:gd name="csX0" fmla="*/ -1 w 200388"/>
                      <a:gd name="csY0" fmla="*/ 7145 h 411966"/>
                      <a:gd name="csX1" fmla="*/ 256 w 200388"/>
                      <a:gd name="csY1" fmla="*/ 409609 h 411966"/>
                      <a:gd name="csX2" fmla="*/ 200382 w 200388"/>
                      <a:gd name="csY2" fmla="*/ 411966 h 411966"/>
                      <a:gd name="csX3" fmla="*/ 192120 w 200388"/>
                      <a:gd name="csY3" fmla="*/ 0 h 411966"/>
                      <a:gd name="csX0" fmla="*/ 1 w 192122"/>
                      <a:gd name="csY0" fmla="*/ 7145 h 414355"/>
                      <a:gd name="csX1" fmla="*/ 258 w 192122"/>
                      <a:gd name="csY1" fmla="*/ 409609 h 414355"/>
                      <a:gd name="csX2" fmla="*/ 177843 w 192122"/>
                      <a:gd name="csY2" fmla="*/ 414355 h 414355"/>
                      <a:gd name="csX3" fmla="*/ 192122 w 192122"/>
                      <a:gd name="csY3" fmla="*/ 0 h 414355"/>
                      <a:gd name="csX0" fmla="*/ -1 w 192120"/>
                      <a:gd name="csY0" fmla="*/ 7145 h 409609"/>
                      <a:gd name="csX1" fmla="*/ 256 w 192120"/>
                      <a:gd name="csY1" fmla="*/ 409609 h 409609"/>
                      <a:gd name="csX2" fmla="*/ 191373 w 192120"/>
                      <a:gd name="csY2" fmla="*/ 407185 h 409609"/>
                      <a:gd name="csX3" fmla="*/ 192120 w 192120"/>
                      <a:gd name="csY3" fmla="*/ 0 h 409609"/>
                      <a:gd name="csX0" fmla="*/ 1 w 200405"/>
                      <a:gd name="csY0" fmla="*/ 7145 h 409609"/>
                      <a:gd name="csX1" fmla="*/ 258 w 200405"/>
                      <a:gd name="csY1" fmla="*/ 409609 h 409609"/>
                      <a:gd name="csX2" fmla="*/ 200400 w 200405"/>
                      <a:gd name="csY2" fmla="*/ 409575 h 409609"/>
                      <a:gd name="csX3" fmla="*/ 192122 w 200405"/>
                      <a:gd name="csY3" fmla="*/ 0 h 409609"/>
                      <a:gd name="csX0" fmla="*/ -1 w 192120"/>
                      <a:gd name="csY0" fmla="*/ 7145 h 409609"/>
                      <a:gd name="csX1" fmla="*/ 256 w 192120"/>
                      <a:gd name="csY1" fmla="*/ 409609 h 409609"/>
                      <a:gd name="csX2" fmla="*/ 186871 w 192120"/>
                      <a:gd name="csY2" fmla="*/ 409575 h 409609"/>
                      <a:gd name="csX3" fmla="*/ 192120 w 192120"/>
                      <a:gd name="csY3" fmla="*/ 0 h 40960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192120" h="409609">
                        <a:moveTo>
                          <a:pt x="-1" y="7145"/>
                        </a:moveTo>
                        <a:cubicBezTo>
                          <a:pt x="85" y="141300"/>
                          <a:pt x="170" y="275454"/>
                          <a:pt x="256" y="409609"/>
                        </a:cubicBezTo>
                        <a:lnTo>
                          <a:pt x="186871" y="409575"/>
                        </a:lnTo>
                        <a:cubicBezTo>
                          <a:pt x="187125" y="273049"/>
                          <a:pt x="191866" y="136526"/>
                          <a:pt x="192120" y="0"/>
                        </a:cubicBezTo>
                      </a:path>
                    </a:pathLst>
                  </a:custGeom>
                  <a:noFill/>
                  <a:ln w="190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2D94780-9847-CDDC-EA5C-2F2D3E9675C4}"/>
                  </a:ext>
                </a:extLst>
              </p:cNvPr>
              <p:cNvSpPr/>
              <p:nvPr/>
            </p:nvSpPr>
            <p:spPr>
              <a:xfrm>
                <a:off x="3934486" y="6051867"/>
                <a:ext cx="269483" cy="81437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hought Bubble: Cloud 14">
                <a:extLst>
                  <a:ext uri="{FF2B5EF4-FFF2-40B4-BE49-F238E27FC236}">
                    <a16:creationId xmlns:a16="http://schemas.microsoft.com/office/drawing/2014/main" id="{3F848F30-A8DF-1AA7-86DF-41CCD7DC0159}"/>
                  </a:ext>
                </a:extLst>
              </p:cNvPr>
              <p:cNvSpPr/>
              <p:nvPr/>
            </p:nvSpPr>
            <p:spPr>
              <a:xfrm>
                <a:off x="4208299" y="6054958"/>
                <a:ext cx="109397" cy="74314"/>
              </a:xfrm>
              <a:prstGeom prst="cloudCallout">
                <a:avLst>
                  <a:gd name="adj1" fmla="val -14302"/>
                  <a:gd name="adj2" fmla="val 40069"/>
                </a:avLst>
              </a:prstGeom>
              <a:solidFill>
                <a:srgbClr val="FF0000"/>
              </a:solidFill>
              <a:ln w="127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0A5D940-0A78-F5EC-F28C-1760882F28F3}"/>
                </a:ext>
              </a:extLst>
            </p:cNvPr>
            <p:cNvGrpSpPr/>
            <p:nvPr/>
          </p:nvGrpSpPr>
          <p:grpSpPr>
            <a:xfrm>
              <a:off x="5464013" y="5929100"/>
              <a:ext cx="1714978" cy="515200"/>
              <a:chOff x="8231394" y="2311407"/>
              <a:chExt cx="1714978" cy="515200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D58BAF3-6E52-9BD9-BC32-D1CC5AEB8ED7}"/>
                  </a:ext>
                </a:extLst>
              </p:cNvPr>
              <p:cNvSpPr txBox="1"/>
              <p:nvPr/>
            </p:nvSpPr>
            <p:spPr>
              <a:xfrm>
                <a:off x="8231394" y="2518830"/>
                <a:ext cx="14097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Water in crevice</a:t>
                </a: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8A0CBE56-B3E6-C733-BD9B-520F414D99BB}"/>
                  </a:ext>
                </a:extLst>
              </p:cNvPr>
              <p:cNvCxnSpPr>
                <a:cxnSpLocks/>
                <a:stCxn id="18" idx="3"/>
                <a:endCxn id="13" idx="2"/>
              </p:cNvCxnSpPr>
              <p:nvPr/>
            </p:nvCxnSpPr>
            <p:spPr>
              <a:xfrm flipV="1">
                <a:off x="9641094" y="2311407"/>
                <a:ext cx="305278" cy="36131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8BB0973-1FC7-4191-08BD-BF8608C479C6}"/>
                </a:ext>
              </a:extLst>
            </p:cNvPr>
            <p:cNvGrpSpPr/>
            <p:nvPr/>
          </p:nvGrpSpPr>
          <p:grpSpPr>
            <a:xfrm>
              <a:off x="5802148" y="5032784"/>
              <a:ext cx="1661211" cy="777230"/>
              <a:chOff x="8568141" y="2518830"/>
              <a:chExt cx="1661211" cy="777230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CB9A1A9-1D41-3DA3-DD0D-9024DC3E5679}"/>
                  </a:ext>
                </a:extLst>
              </p:cNvPr>
              <p:cNvSpPr txBox="1"/>
              <p:nvPr/>
            </p:nvSpPr>
            <p:spPr>
              <a:xfrm>
                <a:off x="8568141" y="2518830"/>
                <a:ext cx="107295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Corrosion products</a:t>
                </a:r>
              </a:p>
            </p:txBody>
          </p: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FCDF4DD-4A59-9E63-E0AF-984940D227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52768" y="2834253"/>
                <a:ext cx="876584" cy="46180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E2D5CA9-9909-914E-382D-46321CF87A53}"/>
              </a:ext>
            </a:extLst>
          </p:cNvPr>
          <p:cNvGrpSpPr/>
          <p:nvPr/>
        </p:nvGrpSpPr>
        <p:grpSpPr>
          <a:xfrm>
            <a:off x="7818120" y="1301203"/>
            <a:ext cx="3356035" cy="2466513"/>
            <a:chOff x="8574505" y="1677238"/>
            <a:chExt cx="3356035" cy="246651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5FD43DC-62A6-E9E5-2EF2-564960E0F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74505" y="1677238"/>
              <a:ext cx="3356035" cy="2237356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E6712FD-09DC-6805-0577-851EF590FB78}"/>
                </a:ext>
              </a:extLst>
            </p:cNvPr>
            <p:cNvSpPr txBox="1"/>
            <p:nvPr/>
          </p:nvSpPr>
          <p:spPr>
            <a:xfrm>
              <a:off x="10356352" y="3912919"/>
              <a:ext cx="157418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2A5C857-96C1-7405-6A20-C1187564944F}"/>
              </a:ext>
            </a:extLst>
          </p:cNvPr>
          <p:cNvGrpSpPr/>
          <p:nvPr/>
        </p:nvGrpSpPr>
        <p:grpSpPr>
          <a:xfrm>
            <a:off x="7818120" y="4321787"/>
            <a:ext cx="3356036" cy="2470019"/>
            <a:chOff x="8574504" y="4323540"/>
            <a:chExt cx="3356036" cy="2470019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9765CFC0-6F73-BC1C-39EA-C574D172B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74504" y="4323540"/>
              <a:ext cx="3356036" cy="2230069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E4452FF-0975-6EEA-B8E5-9E8740FEA0FE}"/>
                </a:ext>
              </a:extLst>
            </p:cNvPr>
            <p:cNvSpPr txBox="1"/>
            <p:nvPr/>
          </p:nvSpPr>
          <p:spPr>
            <a:xfrm>
              <a:off x="10356351" y="6562727"/>
              <a:ext cx="157418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</p:grpSp>
      <p:sp>
        <p:nvSpPr>
          <p:cNvPr id="24" name="TextBox 7">
            <a:extLst>
              <a:ext uri="{FF2B5EF4-FFF2-40B4-BE49-F238E27FC236}">
                <a16:creationId xmlns:a16="http://schemas.microsoft.com/office/drawing/2014/main" id="{BB97252C-425D-10D1-0A63-B16A24F58AAB}"/>
              </a:ext>
            </a:extLst>
          </p:cNvPr>
          <p:cNvSpPr txBox="1"/>
          <p:nvPr/>
        </p:nvSpPr>
        <p:spPr>
          <a:xfrm>
            <a:off x="10169705" y="57349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Google AI</a:t>
            </a:r>
          </a:p>
        </p:txBody>
      </p:sp>
    </p:spTree>
    <p:extLst>
      <p:ext uri="{BB962C8B-B14F-4D97-AF65-F5344CB8AC3E}">
        <p14:creationId xmlns:p14="http://schemas.microsoft.com/office/powerpoint/2010/main" val="4062391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9B1246-E154-439C-3BF0-4A9168467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206E4-C07A-73C4-C61C-5683D3BA1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4"/>
            <a:ext cx="10858500" cy="877824"/>
          </a:xfrm>
        </p:spPr>
        <p:txBody>
          <a:bodyPr/>
          <a:lstStyle/>
          <a:p>
            <a:r>
              <a:rPr lang="en-US" dirty="0"/>
              <a:t>Types of Corrosion </a:t>
            </a:r>
            <a:r>
              <a:rPr lang="en-US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(3 of 4)</a:t>
            </a:r>
            <a:endParaRPr lang="en-US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AutoShape 2" descr="Generated image">
            <a:extLst>
              <a:ext uri="{FF2B5EF4-FFF2-40B4-BE49-F238E27FC236}">
                <a16:creationId xmlns:a16="http://schemas.microsoft.com/office/drawing/2014/main" id="{BC7556E1-3FC9-A85C-274D-C53EA63FA7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270A74BF-3A00-A800-E3BD-E2C572054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298448"/>
            <a:ext cx="6697443" cy="5287287"/>
          </a:xfrm>
        </p:spPr>
        <p:txBody>
          <a:bodyPr>
            <a:normAutofit/>
          </a:bodyPr>
          <a:lstStyle/>
          <a:p>
            <a:r>
              <a:rPr lang="en-US" sz="2000" b="1" dirty="0"/>
              <a:t>Filiform Corrosion</a:t>
            </a:r>
          </a:p>
          <a:p>
            <a:pPr lvl="1"/>
            <a:r>
              <a:rPr lang="en-US" sz="1600" b="1" dirty="0"/>
              <a:t>Cause: </a:t>
            </a:r>
            <a:r>
              <a:rPr lang="en-US" sz="1600" dirty="0"/>
              <a:t>Humidity 78 to 90; surface slightly acidic; </a:t>
            </a:r>
            <a:br>
              <a:rPr lang="en-US" sz="1600" dirty="0"/>
            </a:br>
            <a:r>
              <a:rPr lang="en-US" sz="1600" dirty="0"/>
              <a:t>starts at breaks in protective coating</a:t>
            </a:r>
          </a:p>
          <a:p>
            <a:pPr lvl="1"/>
            <a:r>
              <a:rPr lang="en-US" sz="1600" b="1" dirty="0"/>
              <a:t>Appearance:</a:t>
            </a:r>
            <a:r>
              <a:rPr lang="en-US" sz="1600" dirty="0"/>
              <a:t> Worm-like trace under painted or plated surfaces</a:t>
            </a:r>
          </a:p>
          <a:p>
            <a:pPr lvl="1"/>
            <a:r>
              <a:rPr lang="en-US" sz="1600" dirty="0"/>
              <a:t>Special form of “Crevice Corrosion”</a:t>
            </a:r>
          </a:p>
          <a:p>
            <a:pPr lvl="1"/>
            <a:r>
              <a:rPr lang="en-US" sz="1600" dirty="0"/>
              <a:t>Lacquers and quick-dry paints most susceptible</a:t>
            </a:r>
            <a:endParaRPr lang="en-US" sz="1600" b="1" dirty="0"/>
          </a:p>
          <a:p>
            <a:pPr lvl="1"/>
            <a:r>
              <a:rPr lang="en-US" sz="1600" dirty="0"/>
              <a:t>If left untreated, leads to intergranular corrosion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b="1" dirty="0"/>
              <a:t>Fretting Corrosion</a:t>
            </a:r>
          </a:p>
          <a:p>
            <a:pPr lvl="1"/>
            <a:r>
              <a:rPr lang="en-US" sz="1600" b="1" dirty="0"/>
              <a:t>Cause</a:t>
            </a:r>
            <a:r>
              <a:rPr lang="en-US" sz="1600" dirty="0"/>
              <a:t>: Debris between two tight vibrating surfaces = abrasive and corrosive</a:t>
            </a:r>
          </a:p>
          <a:p>
            <a:pPr lvl="1"/>
            <a:r>
              <a:rPr lang="en-US" sz="1600" b="1" dirty="0"/>
              <a:t>Appearance</a:t>
            </a:r>
            <a:r>
              <a:rPr lang="en-US" sz="1600" dirty="0"/>
              <a:t>: Difficult to spot until late; pits and black debris</a:t>
            </a:r>
          </a:p>
          <a:p>
            <a:pPr lvl="1"/>
            <a:r>
              <a:rPr lang="en-US" sz="1600" dirty="0"/>
              <a:t>Located at bolted joints, splined shafts, bearings, and other clamped surfaces prone to tiny rubbing</a:t>
            </a:r>
          </a:p>
          <a:p>
            <a:endParaRPr lang="en-US" sz="2000" dirty="0"/>
          </a:p>
        </p:txBody>
      </p:sp>
      <p:sp>
        <p:nvSpPr>
          <p:cNvPr id="21" name="AutoShape 2" descr="Product Image 1 of 1">
            <a:extLst>
              <a:ext uri="{FF2B5EF4-FFF2-40B4-BE49-F238E27FC236}">
                <a16:creationId xmlns:a16="http://schemas.microsoft.com/office/drawing/2014/main" id="{9551D8C8-D8F4-ED56-4319-0080519919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E9BFE4C-2719-7B02-CFE0-98CE7DF8F051}"/>
              </a:ext>
            </a:extLst>
          </p:cNvPr>
          <p:cNvGrpSpPr/>
          <p:nvPr/>
        </p:nvGrpSpPr>
        <p:grpSpPr>
          <a:xfrm>
            <a:off x="7818120" y="1510011"/>
            <a:ext cx="3321844" cy="2447801"/>
            <a:chOff x="8489461" y="1546852"/>
            <a:chExt cx="3321844" cy="244780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CB27869-ABBF-B519-874A-914EAF595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89461" y="1546852"/>
              <a:ext cx="3321844" cy="2216970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67B1587-6DE4-78F4-2F51-E23DED598CF2}"/>
                </a:ext>
              </a:extLst>
            </p:cNvPr>
            <p:cNvSpPr txBox="1"/>
            <p:nvPr/>
          </p:nvSpPr>
          <p:spPr>
            <a:xfrm>
              <a:off x="10140594" y="3763821"/>
              <a:ext cx="167071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563F42A-0587-44EA-1E92-83A1E8D6EAB9}"/>
              </a:ext>
            </a:extLst>
          </p:cNvPr>
          <p:cNvGrpSpPr/>
          <p:nvPr/>
        </p:nvGrpSpPr>
        <p:grpSpPr>
          <a:xfrm>
            <a:off x="7818120" y="4224877"/>
            <a:ext cx="3321844" cy="2453265"/>
            <a:chOff x="8489461" y="4224877"/>
            <a:chExt cx="3321844" cy="2453265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EB6E1C42-C6E1-37DF-BC79-38AA9E6FE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89461" y="4224877"/>
              <a:ext cx="3321844" cy="2214562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93F423B-6A56-996A-4402-2B3E5216BA16}"/>
                </a:ext>
              </a:extLst>
            </p:cNvPr>
            <p:cNvSpPr txBox="1"/>
            <p:nvPr/>
          </p:nvSpPr>
          <p:spPr>
            <a:xfrm>
              <a:off x="10140593" y="6447310"/>
              <a:ext cx="167071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</p:grpSp>
      <p:sp>
        <p:nvSpPr>
          <p:cNvPr id="9" name="TextBox 7">
            <a:extLst>
              <a:ext uri="{FF2B5EF4-FFF2-40B4-BE49-F238E27FC236}">
                <a16:creationId xmlns:a16="http://schemas.microsoft.com/office/drawing/2014/main" id="{D557A576-6D3C-49EE-2108-582903A094B4}"/>
              </a:ext>
            </a:extLst>
          </p:cNvPr>
          <p:cNvSpPr txBox="1"/>
          <p:nvPr/>
        </p:nvSpPr>
        <p:spPr>
          <a:xfrm>
            <a:off x="10169705" y="57349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Google AI</a:t>
            </a:r>
          </a:p>
        </p:txBody>
      </p:sp>
    </p:spTree>
    <p:extLst>
      <p:ext uri="{BB962C8B-B14F-4D97-AF65-F5344CB8AC3E}">
        <p14:creationId xmlns:p14="http://schemas.microsoft.com/office/powerpoint/2010/main" val="3302822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C0B5C7-3FB7-EE0B-7A58-946054019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D2317-5D53-12E1-A537-5498D3F26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10858500" cy="877824"/>
          </a:xfrm>
        </p:spPr>
        <p:txBody>
          <a:bodyPr/>
          <a:lstStyle/>
          <a:p>
            <a:r>
              <a:rPr lang="en-US" dirty="0"/>
              <a:t>Types of Corrosion </a:t>
            </a:r>
            <a:r>
              <a:rPr lang="en-US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(4 of 4)</a:t>
            </a:r>
            <a:endParaRPr lang="en-US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AutoShape 2" descr="Generated image">
            <a:extLst>
              <a:ext uri="{FF2B5EF4-FFF2-40B4-BE49-F238E27FC236}">
                <a16:creationId xmlns:a16="http://schemas.microsoft.com/office/drawing/2014/main" id="{4F006B80-7A40-EF3C-7D88-3306E1179A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B86065BF-9D90-9101-4DDE-CBABB8C36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298448"/>
            <a:ext cx="7502465" cy="4872039"/>
          </a:xfrm>
        </p:spPr>
        <p:txBody>
          <a:bodyPr>
            <a:normAutofit/>
          </a:bodyPr>
          <a:lstStyle/>
          <a:p>
            <a:r>
              <a:rPr lang="en-US" sz="2000" b="1" dirty="0"/>
              <a:t>Intergranular Corrosion</a:t>
            </a:r>
            <a:r>
              <a:rPr lang="en-US" sz="2000" dirty="0"/>
              <a:t> (Exfoliation)</a:t>
            </a:r>
          </a:p>
          <a:p>
            <a:pPr lvl="1"/>
            <a:r>
              <a:rPr lang="en-US" sz="1600" b="1" dirty="0" err="1"/>
              <a:t>Levelset</a:t>
            </a:r>
            <a:r>
              <a:rPr lang="en-US" sz="1600" dirty="0"/>
              <a:t>: Microstructure of metals and alloys comprised of grains</a:t>
            </a:r>
          </a:p>
          <a:p>
            <a:pPr lvl="1"/>
            <a:r>
              <a:rPr lang="en-US" sz="1600" b="1" dirty="0"/>
              <a:t>Cause:</a:t>
            </a:r>
            <a:r>
              <a:rPr lang="en-US" sz="1600" dirty="0"/>
              <a:t> Corrosion follows weak internal grain boundaries deep inside</a:t>
            </a:r>
          </a:p>
          <a:p>
            <a:pPr lvl="1"/>
            <a:r>
              <a:rPr lang="en-US" sz="1600" b="1" dirty="0"/>
              <a:t>Appearance</a:t>
            </a:r>
            <a:r>
              <a:rPr lang="en-US" sz="1600" dirty="0"/>
              <a:t>: Difficult to spot until late exfoliation begins</a:t>
            </a:r>
          </a:p>
          <a:p>
            <a:pPr lvl="1"/>
            <a:r>
              <a:rPr lang="en-US" sz="1600" dirty="0"/>
              <a:t>Extremely dangerous / major hazard of high-strength aluminum alloys</a:t>
            </a:r>
          </a:p>
          <a:p>
            <a:pPr lvl="1"/>
            <a:r>
              <a:rPr lang="en-US" sz="1600" dirty="0"/>
              <a:t>Heat treating changes grain structure inside part</a:t>
            </a:r>
          </a:p>
          <a:p>
            <a:pPr lvl="1"/>
            <a:r>
              <a:rPr lang="en-US" sz="1600" dirty="0"/>
              <a:t>Requires ultrasonic or x-ray inspection to detect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</p:txBody>
      </p:sp>
      <p:sp>
        <p:nvSpPr>
          <p:cNvPr id="21" name="AutoShape 2" descr="Product Image 1 of 1">
            <a:extLst>
              <a:ext uri="{FF2B5EF4-FFF2-40B4-BE49-F238E27FC236}">
                <a16:creationId xmlns:a16="http://schemas.microsoft.com/office/drawing/2014/main" id="{24379ED4-9CC3-E1A5-A63B-0772DF5846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C2A4DB9-24EF-A948-B1F8-B5BD246FD265}"/>
              </a:ext>
            </a:extLst>
          </p:cNvPr>
          <p:cNvGrpSpPr/>
          <p:nvPr/>
        </p:nvGrpSpPr>
        <p:grpSpPr>
          <a:xfrm>
            <a:off x="1574253" y="3429000"/>
            <a:ext cx="3166898" cy="1716637"/>
            <a:chOff x="4925458" y="4542834"/>
            <a:chExt cx="2642190" cy="1336141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D8BE2DE-35C8-29DA-5344-2C32EC4AE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25458" y="4612852"/>
              <a:ext cx="2580571" cy="1266123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890815A-E05E-B92E-48A5-DDD48A61F90C}"/>
                </a:ext>
              </a:extLst>
            </p:cNvPr>
            <p:cNvSpPr txBox="1"/>
            <p:nvPr/>
          </p:nvSpPr>
          <p:spPr>
            <a:xfrm>
              <a:off x="4972586" y="4542834"/>
              <a:ext cx="1209072" cy="2474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Internal Grains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4688D3C-E4B0-F26C-6CBD-5DA1F71634D2}"/>
                </a:ext>
              </a:extLst>
            </p:cNvPr>
            <p:cNvCxnSpPr>
              <a:cxnSpLocks/>
            </p:cNvCxnSpPr>
            <p:nvPr/>
          </p:nvCxnSpPr>
          <p:spPr>
            <a:xfrm>
              <a:off x="5424722" y="5001110"/>
              <a:ext cx="304800" cy="166202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3C67941-FF11-A9C5-54A5-142B54AD4A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70714" y="4762985"/>
              <a:ext cx="406408" cy="554925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E8F05BBC-E228-01F0-39C5-69F5C99D4FD2}"/>
                </a:ext>
              </a:extLst>
            </p:cNvPr>
            <p:cNvCxnSpPr>
              <a:cxnSpLocks/>
            </p:cNvCxnSpPr>
            <p:nvPr/>
          </p:nvCxnSpPr>
          <p:spPr>
            <a:xfrm>
              <a:off x="5424722" y="5001110"/>
              <a:ext cx="304800" cy="554925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747B4AF-2E68-5CE5-5AC6-F321D1D33930}"/>
                </a:ext>
              </a:extLst>
            </p:cNvPr>
            <p:cNvSpPr txBox="1"/>
            <p:nvPr/>
          </p:nvSpPr>
          <p:spPr>
            <a:xfrm rot="20348751">
              <a:off x="6151968" y="5335551"/>
              <a:ext cx="1415680" cy="1796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C58698D1-DB8A-7F90-2254-8E6D55B39443}"/>
              </a:ext>
            </a:extLst>
          </p:cNvPr>
          <p:cNvGrpSpPr/>
          <p:nvPr/>
        </p:nvGrpSpPr>
        <p:grpSpPr>
          <a:xfrm>
            <a:off x="6400800" y="3518957"/>
            <a:ext cx="4345189" cy="3127623"/>
            <a:chOff x="8385748" y="1690688"/>
            <a:chExt cx="3321844" cy="239103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0CA0A44-F88C-6B7F-0C50-0384F15B92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5748" y="1690688"/>
              <a:ext cx="3321844" cy="2214562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63D64DB-11D9-6BEF-C17E-49EA91113CC6}"/>
                </a:ext>
              </a:extLst>
            </p:cNvPr>
            <p:cNvSpPr txBox="1"/>
            <p:nvPr/>
          </p:nvSpPr>
          <p:spPr>
            <a:xfrm>
              <a:off x="10448832" y="3905250"/>
              <a:ext cx="1258760" cy="1764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</p:grpSp>
      <p:sp>
        <p:nvSpPr>
          <p:cNvPr id="6" name="TextBox 7">
            <a:extLst>
              <a:ext uri="{FF2B5EF4-FFF2-40B4-BE49-F238E27FC236}">
                <a16:creationId xmlns:a16="http://schemas.microsoft.com/office/drawing/2014/main" id="{549776B4-6E2F-5882-FB92-5405EFB7CDFE}"/>
              </a:ext>
            </a:extLst>
          </p:cNvPr>
          <p:cNvSpPr txBox="1"/>
          <p:nvPr/>
        </p:nvSpPr>
        <p:spPr>
          <a:xfrm>
            <a:off x="10169705" y="57349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Google AI</a:t>
            </a:r>
          </a:p>
        </p:txBody>
      </p:sp>
    </p:spTree>
    <p:extLst>
      <p:ext uri="{BB962C8B-B14F-4D97-AF65-F5344CB8AC3E}">
        <p14:creationId xmlns:p14="http://schemas.microsoft.com/office/powerpoint/2010/main" val="4133264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6D1C10-FF3C-41B5-DD1F-08DC06017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B8647-7B3F-95F2-F683-36062B0A5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10858500" cy="877824"/>
          </a:xfrm>
        </p:spPr>
        <p:txBody>
          <a:bodyPr/>
          <a:lstStyle/>
          <a:p>
            <a:r>
              <a:rPr lang="en-US" dirty="0"/>
              <a:t>Corrosion Prevention</a:t>
            </a:r>
            <a:endParaRPr 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AutoShape 2" descr="Generated image">
            <a:extLst>
              <a:ext uri="{FF2B5EF4-FFF2-40B4-BE49-F238E27FC236}">
                <a16:creationId xmlns:a16="http://schemas.microsoft.com/office/drawing/2014/main" id="{A375C6EC-428B-453C-56C1-78566D6666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E67C97BA-BB0E-8C82-3B5B-02EB5B410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99032"/>
            <a:ext cx="11382375" cy="4872039"/>
          </a:xfrm>
        </p:spPr>
        <p:txBody>
          <a:bodyPr>
            <a:normAutofit/>
          </a:bodyPr>
          <a:lstStyle/>
          <a:p>
            <a:r>
              <a:rPr lang="en-US" sz="2400" dirty="0"/>
              <a:t>Use of </a:t>
            </a:r>
            <a:r>
              <a:rPr lang="en-US" sz="2400" b="1" dirty="0"/>
              <a:t>coatings</a:t>
            </a:r>
            <a:r>
              <a:rPr lang="en-US" sz="2400" dirty="0"/>
              <a:t> to protect metals</a:t>
            </a:r>
          </a:p>
          <a:p>
            <a:pPr lvl="1"/>
            <a:r>
              <a:rPr lang="en-US" sz="2000" b="1" dirty="0"/>
              <a:t>Anodizing </a:t>
            </a:r>
            <a:r>
              <a:rPr lang="en-US" sz="2000" dirty="0"/>
              <a:t>for Aluminum</a:t>
            </a:r>
          </a:p>
          <a:p>
            <a:pPr lvl="1"/>
            <a:r>
              <a:rPr lang="en-US" sz="2000" b="1" dirty="0"/>
              <a:t>Zinc-</a:t>
            </a:r>
            <a:r>
              <a:rPr lang="en-US" sz="2000" dirty="0"/>
              <a:t> or </a:t>
            </a:r>
            <a:r>
              <a:rPr lang="en-US" sz="2000" b="1" dirty="0"/>
              <a:t>Cadmium-plating</a:t>
            </a:r>
            <a:r>
              <a:rPr lang="en-US" sz="2000" dirty="0"/>
              <a:t> for Steel</a:t>
            </a:r>
          </a:p>
          <a:p>
            <a:pPr lvl="1"/>
            <a:r>
              <a:rPr lang="en-US" sz="2000" b="1" dirty="0"/>
              <a:t>Special Treatments</a:t>
            </a:r>
            <a:r>
              <a:rPr lang="en-US" sz="2000" dirty="0"/>
              <a:t> for Magnesium and Titanium</a:t>
            </a:r>
          </a:p>
          <a:p>
            <a:pPr lvl="2"/>
            <a:r>
              <a:rPr lang="en-US" sz="1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Magnesium is most anodic metal – highly susceptible to corrosion</a:t>
            </a:r>
          </a:p>
          <a:p>
            <a:pPr lvl="2"/>
            <a:r>
              <a:rPr lang="en-US" sz="1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Titanium is most cathodic metal – highly corrosion resistant, but contact will corrode other metals</a:t>
            </a:r>
          </a:p>
          <a:p>
            <a:r>
              <a:rPr lang="en-US" sz="2400" dirty="0"/>
              <a:t>Use of more </a:t>
            </a:r>
            <a:r>
              <a:rPr lang="en-US" sz="2400" b="1" dirty="0"/>
              <a:t>corrosion-resistant materials</a:t>
            </a:r>
          </a:p>
          <a:p>
            <a:r>
              <a:rPr lang="en-US" sz="2400" dirty="0"/>
              <a:t>Improved </a:t>
            </a:r>
            <a:r>
              <a:rPr lang="en-US" sz="2400" b="1" dirty="0"/>
              <a:t>adhesive bonding</a:t>
            </a:r>
            <a:r>
              <a:rPr lang="en-US" sz="2400" dirty="0"/>
              <a:t> processes</a:t>
            </a:r>
          </a:p>
          <a:p>
            <a:r>
              <a:rPr lang="en-US" sz="2400" dirty="0"/>
              <a:t>Use of </a:t>
            </a:r>
            <a:r>
              <a:rPr lang="en-US" sz="2400" b="1" dirty="0"/>
              <a:t>sealants in fastener holes</a:t>
            </a:r>
            <a:r>
              <a:rPr lang="en-US" sz="2400" dirty="0"/>
              <a:t> and </a:t>
            </a:r>
            <a:r>
              <a:rPr lang="en-US" sz="2400" b="1" dirty="0"/>
              <a:t>faying surfaces</a:t>
            </a:r>
          </a:p>
          <a:p>
            <a:r>
              <a:rPr lang="en-US" sz="2400" b="1" dirty="0"/>
              <a:t>Control of fluid spillage</a:t>
            </a:r>
            <a:r>
              <a:rPr lang="en-US" sz="2400" dirty="0"/>
              <a:t> in galleys and lavatories</a:t>
            </a:r>
          </a:p>
        </p:txBody>
      </p:sp>
      <p:sp>
        <p:nvSpPr>
          <p:cNvPr id="21" name="AutoShape 2" descr="Product Image 1 of 1">
            <a:extLst>
              <a:ext uri="{FF2B5EF4-FFF2-40B4-BE49-F238E27FC236}">
                <a16:creationId xmlns:a16="http://schemas.microsoft.com/office/drawing/2014/main" id="{D4EF5D97-30FD-3A46-2870-3C6CA106A8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434855EC-FCF9-FEA4-DB0D-9410E45FFFB2}"/>
              </a:ext>
            </a:extLst>
          </p:cNvPr>
          <p:cNvSpPr txBox="1"/>
          <p:nvPr/>
        </p:nvSpPr>
        <p:spPr>
          <a:xfrm>
            <a:off x="10169705" y="57349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Google AI</a:t>
            </a:r>
          </a:p>
        </p:txBody>
      </p:sp>
    </p:spTree>
    <p:extLst>
      <p:ext uri="{BB962C8B-B14F-4D97-AF65-F5344CB8AC3E}">
        <p14:creationId xmlns:p14="http://schemas.microsoft.com/office/powerpoint/2010/main" val="4146123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2EDE94-3747-BC6A-EFCA-384647E41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58CA9-23A4-0728-BB34-7AF297C6C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4"/>
            <a:ext cx="10858500" cy="877824"/>
          </a:xfrm>
        </p:spPr>
        <p:txBody>
          <a:bodyPr/>
          <a:lstStyle/>
          <a:p>
            <a:r>
              <a:rPr lang="en-US" dirty="0"/>
              <a:t>Corrosion Prone Areas</a:t>
            </a:r>
            <a:endParaRPr lang="en-US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AutoShape 2" descr="Generated image">
            <a:extLst>
              <a:ext uri="{FF2B5EF4-FFF2-40B4-BE49-F238E27FC236}">
                <a16:creationId xmlns:a16="http://schemas.microsoft.com/office/drawing/2014/main" id="{5844FB32-81DA-A5BA-F7CB-3BF490E36E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2A1C626A-B321-9B97-9E93-7806424C1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03012"/>
            <a:ext cx="11382375" cy="4872039"/>
          </a:xfrm>
        </p:spPr>
        <p:txBody>
          <a:bodyPr>
            <a:normAutofit/>
          </a:bodyPr>
          <a:lstStyle/>
          <a:p>
            <a:r>
              <a:rPr lang="en-US" sz="2400" b="1" dirty="0"/>
              <a:t>Exhaust Trail </a:t>
            </a:r>
            <a:r>
              <a:rPr lang="en-US" sz="2400" dirty="0"/>
              <a:t>Area</a:t>
            </a:r>
            <a:r>
              <a:rPr lang="en-US" sz="2400" b="1" dirty="0"/>
              <a:t> </a:t>
            </a:r>
            <a:r>
              <a:rPr lang="en-US" sz="2400" dirty="0"/>
              <a:t>behind engines </a:t>
            </a:r>
            <a:r>
              <a:rPr lang="en-US" sz="2400" dirty="0">
                <a:solidFill>
                  <a:srgbClr val="0070C0"/>
                </a:solidFill>
              </a:rPr>
              <a:t>(highly corrosive gases)</a:t>
            </a:r>
          </a:p>
          <a:p>
            <a:r>
              <a:rPr lang="en-US" sz="2400" b="1" dirty="0"/>
              <a:t>Battery Compartment</a:t>
            </a:r>
            <a:r>
              <a:rPr lang="en-US" sz="2400" dirty="0"/>
              <a:t> Areas </a:t>
            </a:r>
            <a:r>
              <a:rPr lang="en-US" sz="2400" dirty="0">
                <a:solidFill>
                  <a:srgbClr val="0070C0"/>
                </a:solidFill>
              </a:rPr>
              <a:t>(highly corrosive fumes, needs venting)</a:t>
            </a:r>
            <a:endParaRPr lang="en-US" sz="2400" b="1" dirty="0">
              <a:solidFill>
                <a:srgbClr val="0070C0"/>
              </a:solidFill>
            </a:endParaRPr>
          </a:p>
          <a:p>
            <a:r>
              <a:rPr lang="en-US" sz="2400" b="1" dirty="0"/>
              <a:t>Lavatories, Buffets, and Galleys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70C0"/>
                </a:solidFill>
              </a:rPr>
              <a:t>(spilled water, food, and garbage)</a:t>
            </a:r>
          </a:p>
          <a:p>
            <a:r>
              <a:rPr lang="en-US" sz="2400" b="1" dirty="0"/>
              <a:t>Bilge</a:t>
            </a:r>
            <a:r>
              <a:rPr lang="en-US" sz="2400" dirty="0"/>
              <a:t> Areas </a:t>
            </a:r>
            <a:r>
              <a:rPr lang="en-US" sz="2400" dirty="0">
                <a:solidFill>
                  <a:srgbClr val="0070C0"/>
                </a:solidFill>
              </a:rPr>
              <a:t>(designed to collect waste, fluids, dirt, loose fasteners, paint chips…)</a:t>
            </a:r>
          </a:p>
          <a:p>
            <a:r>
              <a:rPr lang="en-US" sz="2400" b="1" dirty="0"/>
              <a:t>Wheel Wells</a:t>
            </a:r>
            <a:r>
              <a:rPr lang="en-US" sz="2400" dirty="0"/>
              <a:t> and </a:t>
            </a:r>
            <a:r>
              <a:rPr lang="en-US" sz="2400" b="1" dirty="0"/>
              <a:t>Landing Gear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70C0"/>
                </a:solidFill>
              </a:rPr>
              <a:t>(high exposure to elements: mud, water, salt, gravels, whatever comes up from runway)</a:t>
            </a:r>
          </a:p>
        </p:txBody>
      </p:sp>
      <p:sp>
        <p:nvSpPr>
          <p:cNvPr id="21" name="AutoShape 2" descr="Product Image 1 of 1">
            <a:extLst>
              <a:ext uri="{FF2B5EF4-FFF2-40B4-BE49-F238E27FC236}">
                <a16:creationId xmlns:a16="http://schemas.microsoft.com/office/drawing/2014/main" id="{31F1FAC6-8B1C-5AB4-A453-A577BDCABB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0A6D2A7F-6D0C-CA9A-F4DF-DB17347A7AFE}"/>
              </a:ext>
            </a:extLst>
          </p:cNvPr>
          <p:cNvSpPr txBox="1"/>
          <p:nvPr/>
        </p:nvSpPr>
        <p:spPr>
          <a:xfrm>
            <a:off x="10169705" y="57349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Google AI</a:t>
            </a:r>
          </a:p>
        </p:txBody>
      </p:sp>
    </p:spTree>
    <p:extLst>
      <p:ext uri="{BB962C8B-B14F-4D97-AF65-F5344CB8AC3E}">
        <p14:creationId xmlns:p14="http://schemas.microsoft.com/office/powerpoint/2010/main" val="272802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B45667-F60C-09F7-1D40-C1DD86832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089CC-6FFF-1BFA-274F-DAC5F31ED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2512" y="3033049"/>
            <a:ext cx="10086975" cy="791902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948603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6839C2-7BF2-36AE-DF8B-9AD9A2AED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63DA-D582-3FF9-0739-41B56CC47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10515600" cy="877824"/>
          </a:xfrm>
        </p:spPr>
        <p:txBody>
          <a:bodyPr/>
          <a:lstStyle/>
          <a:p>
            <a:r>
              <a:rPr lang="en-US" dirty="0"/>
              <a:t>Practice Q&amp;A’s 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(Q1-Q8)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5410E-01CE-A881-32E2-EC2E8F0AC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27" y="1130157"/>
            <a:ext cx="5650786" cy="5465851"/>
          </a:xfrm>
        </p:spPr>
        <p:txBody>
          <a:bodyPr>
            <a:normAutofit lnSpcReduction="10000"/>
          </a:bodyPr>
          <a:lstStyle/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Q1: What are currently (2026) the two most common materials used in aircraft?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Aluminum alloys and composites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Q2:</a:t>
            </a:r>
            <a:r>
              <a:rPr lang="en-US" sz="2000" dirty="0"/>
              <a:t> </a:t>
            </a:r>
            <a:r>
              <a:rPr lang="en-US" sz="2000" b="1" dirty="0"/>
              <a:t>What are the most common metals used in aircraft?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Aluminum, titanium and steel 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Q3: What are the most common aluminum alloys used in aircraft?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2024 and 7075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Q4: What are the three most important material properties in aircraft design?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Strength, weight, and cost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DE07E9-686C-16E6-DE07-31A3DC967A79}"/>
              </a:ext>
            </a:extLst>
          </p:cNvPr>
          <p:cNvSpPr txBox="1">
            <a:spLocks/>
          </p:cNvSpPr>
          <p:nvPr/>
        </p:nvSpPr>
        <p:spPr>
          <a:xfrm>
            <a:off x="6236413" y="557176"/>
            <a:ext cx="5650786" cy="61312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Q5: What are three secondary material properties that also factor into aircraft design?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Durability, usability, and appearance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endParaRPr lang="en-US" sz="2000" b="1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Q6: What material is best for ease of fabrication (usability), cost, and fatigue/corrosion resistance (durability)?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Aluminum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Q7: Aluminum can be used in skins, structural components (ribs, stringers), seat frames, etc.?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True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Q8:What material is best for fuel efficiency, simplicity (fewer parts), and high fatigue and corrosion resistance (durability)?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Composites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46794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934CC4-9879-D562-A824-3B1B830BE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43F8C-FCFB-3AD0-46A7-C2BD88C47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10515600" cy="877824"/>
          </a:xfrm>
        </p:spPr>
        <p:txBody>
          <a:bodyPr/>
          <a:lstStyle/>
          <a:p>
            <a:r>
              <a:rPr lang="en-US" dirty="0"/>
              <a:t>Practice Q&amp;A’s 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(Q9-Q16)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1132E-3A5A-6DE3-0B6B-D426C64F4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27" y="1130157"/>
            <a:ext cx="5650786" cy="5558318"/>
          </a:xfrm>
        </p:spPr>
        <p:txBody>
          <a:bodyPr>
            <a:normAutofit lnSpcReduction="10000"/>
          </a:bodyPr>
          <a:lstStyle/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Q9: Composites can be used in skins and structural components (spars, stringers, etc.)?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True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Q10:</a:t>
            </a:r>
            <a:r>
              <a:rPr lang="en-US" sz="2000" dirty="0"/>
              <a:t> </a:t>
            </a:r>
            <a:r>
              <a:rPr lang="en-US" sz="2000" b="1" dirty="0"/>
              <a:t>What material is best for high strength, high stress, and temperature resistance?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Titanium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Q11: Titanium can be used in engine parts, landing gear, hydraulics, and structural airframes for high strength splices and bolts?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True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b="1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Q12: Fiberglass is used in </a:t>
            </a:r>
            <a:r>
              <a:rPr lang="en-US" sz="2000" b="1" dirty="0" err="1"/>
              <a:t>radomes</a:t>
            </a:r>
            <a:r>
              <a:rPr lang="en-US" sz="2000" b="1" dirty="0"/>
              <a:t>, antennas, engine cowlings, and wingtips.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True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F4D1D0F-F6DB-1320-278A-ED4340D38DA5}"/>
              </a:ext>
            </a:extLst>
          </p:cNvPr>
          <p:cNvSpPr txBox="1">
            <a:spLocks/>
          </p:cNvSpPr>
          <p:nvPr/>
        </p:nvSpPr>
        <p:spPr>
          <a:xfrm>
            <a:off x="6236413" y="408201"/>
            <a:ext cx="5650786" cy="6449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Q13: What material is best for transparency to radar waves, impact resistance against bird strikes, is corrosion and fire resistant, and is the lower cost?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Fiberglass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Q14: What material is best for very lightweight, very inexpensive, very easy to manufacture, very long-lasting, but least strong 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Plastic</a:t>
            </a:r>
            <a:endParaRPr lang="en-US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Q15: Plastic can be used for structural elements (spars, strings, etc.) and skins?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False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Q16: Chemical corrosion can occur slowly with metal + water + oxygen.</a:t>
            </a:r>
          </a:p>
          <a:p>
            <a:pPr marL="0" indent="0">
              <a:buNone/>
            </a:pPr>
            <a:r>
              <a:rPr lang="en-US" sz="2000" dirty="0"/>
              <a:t>A: True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18094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F9E3FC-742B-DFFB-0374-B354DD0C8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18BD4-AC91-E595-91F8-CDBA66C4E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10515600" cy="877824"/>
          </a:xfrm>
        </p:spPr>
        <p:txBody>
          <a:bodyPr/>
          <a:lstStyle/>
          <a:p>
            <a:r>
              <a:rPr lang="en-US" dirty="0"/>
              <a:t>Practice Q&amp;A’s 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(Q17-Q24)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3E9E1-793E-959D-CE97-A665A8E44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27" y="1130157"/>
            <a:ext cx="5650786" cy="5558318"/>
          </a:xfrm>
        </p:spPr>
        <p:txBody>
          <a:bodyPr>
            <a:normAutofit lnSpcReduction="10000"/>
          </a:bodyPr>
          <a:lstStyle/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Q17: Chemical corrosion can occur with </a:t>
            </a:r>
            <a:br>
              <a:rPr lang="en-US" sz="2000" b="1" dirty="0"/>
            </a:br>
            <a:r>
              <a:rPr lang="en-US" sz="2000" b="1" dirty="0"/>
              <a:t>metal + acid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True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Q18:</a:t>
            </a:r>
            <a:r>
              <a:rPr lang="en-US" sz="2000" dirty="0"/>
              <a:t> </a:t>
            </a:r>
            <a:r>
              <a:rPr lang="en-US" sz="2000" b="1" dirty="0"/>
              <a:t>What is another name for electrochemical corrosion?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Galvanic corrosion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Q19: What is required to make galvanic corrosion?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Two different metals conducting electrical charge thru moisture, acid, base, salt, or oil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b="1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Q20: What type of corrosion is the most common, has a general dulling, and is low risk?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Uniform corrosion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1DC17FD-37C1-A6CA-3DCD-09B482DCB548}"/>
              </a:ext>
            </a:extLst>
          </p:cNvPr>
          <p:cNvSpPr txBox="1">
            <a:spLocks/>
          </p:cNvSpPr>
          <p:nvPr/>
        </p:nvSpPr>
        <p:spPr>
          <a:xfrm>
            <a:off x="6236413" y="408201"/>
            <a:ext cx="5650786" cy="6449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Q21: What type of corrosion looks like cavities after cleaned, is hard to detect, prevent and design against, and is high risk?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Pitting corrosion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Q22: What type of corrosion involves two dissimilar metals touching, where anode side corrodes rapidly?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Galvanic corrosion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Q23: What type of corrosion occurs at tight gaps of the same overlapping material?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Concentration cell corrosion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Q24: What type of corrosion occurs at humidity 78 to 90 and looks like work-likes tunnels?</a:t>
            </a:r>
          </a:p>
          <a:p>
            <a:pPr marL="0" indent="0">
              <a:buNone/>
            </a:pPr>
            <a:r>
              <a:rPr lang="en-US" sz="2000" dirty="0"/>
              <a:t>A: </a:t>
            </a:r>
            <a:r>
              <a:rPr lang="it-IT" sz="2000" dirty="0"/>
              <a:t>Filiform corrosion (aka crevice corrosion)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23254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0E132A-E076-78BF-16DA-CF0CE07E8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90F2E-BFC4-E626-E066-8C632DEAE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10515600" cy="877824"/>
          </a:xfrm>
        </p:spPr>
        <p:txBody>
          <a:bodyPr/>
          <a:lstStyle/>
          <a:p>
            <a:r>
              <a:rPr lang="en-US" dirty="0"/>
              <a:t>Practice Q&amp;A’s  </a:t>
            </a:r>
            <a:r>
              <a:rPr lang="en-US" sz="2800">
                <a:solidFill>
                  <a:schemeClr val="accent2">
                    <a:lumMod val="75000"/>
                  </a:schemeClr>
                </a:solidFill>
              </a:rPr>
              <a:t>(Q25-Q32)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23755-8373-1051-1826-DAEF39126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27" y="1130157"/>
            <a:ext cx="5650786" cy="5558318"/>
          </a:xfrm>
        </p:spPr>
        <p:txBody>
          <a:bodyPr>
            <a:normAutofit lnSpcReduction="10000"/>
          </a:bodyPr>
          <a:lstStyle/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Q25: What type of corrosion occurs between two tight vibrating surfaces (abrasive &amp; corrosive)?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Fretting corrosion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Q26:</a:t>
            </a:r>
            <a:r>
              <a:rPr lang="en-US" sz="2000" dirty="0"/>
              <a:t> </a:t>
            </a:r>
            <a:r>
              <a:rPr lang="en-US" sz="2000" b="1" dirty="0"/>
              <a:t>What type of corrosion occurs microscopically at the grains inside the allow (like wood grains), and is extremely dangerous?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Intergranular corrosion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Q27: Anodizing is a process to protect aluminum from corrosion.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True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b="1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Q28: Zinc- or Cadmium-plating is a process to protect steel from corrosion.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True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D3D8029-2652-3BED-04BE-C9A7B87633AE}"/>
              </a:ext>
            </a:extLst>
          </p:cNvPr>
          <p:cNvSpPr txBox="1">
            <a:spLocks/>
          </p:cNvSpPr>
          <p:nvPr/>
        </p:nvSpPr>
        <p:spPr>
          <a:xfrm>
            <a:off x="6236413" y="169525"/>
            <a:ext cx="5650786" cy="6688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Q29: Using sealants at joints and penetrations protects metal from corrosion.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True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Q30: What exterior facing surfaces are prone to corrosion?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Wheel wells, landing gear, and exhaust trail (behind engines)...anywhere dirt, debris and hot chemicals accumulate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Q31: What interior facing surfaces are prone to corrosion?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Battery compartment, lavatories, buffets, galleys, and bilge areas...anywhere water can collect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Q32: What is the biggest threat to metal on an aircraft?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Corrosion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25464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285C44-8C3B-C466-6FC4-77A9B1488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B55FE-596E-6F47-266B-70CD71E86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10515600" cy="877824"/>
          </a:xfrm>
        </p:spPr>
        <p:txBody>
          <a:bodyPr/>
          <a:lstStyle/>
          <a:p>
            <a:r>
              <a:rPr lang="en-US" dirty="0"/>
              <a:t>Practice Q&amp;A’s 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(Q33-Q37)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050E6-5628-9B72-ACCF-9787F84E5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27" y="1130157"/>
            <a:ext cx="5650786" cy="5558318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Q33: What are plastics primarily used for?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Interior cabin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Q34:</a:t>
            </a:r>
            <a:r>
              <a:rPr lang="en-US" sz="2000" dirty="0"/>
              <a:t> </a:t>
            </a:r>
            <a:r>
              <a:rPr lang="en-US" sz="2000" b="1" dirty="0"/>
              <a:t>What material is lightest and strongest?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Composites (esp. carbon fiber)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Q35: What is the primary disadvantage to using aluminum components?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Labor cost to assemble and rivet or bolt it all together.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b="1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Q36: What type of metal is a combination of two or more pure metals into a single new stronger, better metal?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Alloy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76EC82E-1B75-0DCC-BB4B-C1AEC3383EC6}"/>
              </a:ext>
            </a:extLst>
          </p:cNvPr>
          <p:cNvSpPr txBox="1">
            <a:spLocks/>
          </p:cNvSpPr>
          <p:nvPr/>
        </p:nvSpPr>
        <p:spPr>
          <a:xfrm>
            <a:off x="6236413" y="1130157"/>
            <a:ext cx="5650786" cy="5727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Q37: What is a more important criteria than strength, weight, cost, durability, usability, and appearance?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Safety!!!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56584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C2D309-79B3-0066-BB56-E79235F32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AC3B1-808A-C5C9-BBB6-F06FDC830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2696" y="1893712"/>
            <a:ext cx="8966607" cy="1535288"/>
          </a:xfrm>
        </p:spPr>
        <p:txBody>
          <a:bodyPr>
            <a:noAutofit/>
          </a:bodyPr>
          <a:lstStyle/>
          <a:p>
            <a:r>
              <a:rPr lang="en-US" sz="96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9C698-DE27-F888-6BAA-48C0C4FED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0133" y="5258927"/>
            <a:ext cx="8966607" cy="1090775"/>
          </a:xfr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pPr algn="l"/>
            <a:r>
              <a:rPr lang="pl-PL" sz="2000" dirty="0">
                <a:solidFill>
                  <a:schemeClr val="bg1"/>
                </a:solidFill>
              </a:rPr>
              <a:t>Matt Pierce  </a:t>
            </a:r>
            <a:r>
              <a:rPr lang="en-US" sz="2000" dirty="0">
                <a:solidFill>
                  <a:schemeClr val="bg1"/>
                </a:solidFill>
              </a:rPr>
              <a:t> - </a:t>
            </a:r>
            <a:r>
              <a:rPr lang="pl-PL" sz="2000" dirty="0">
                <a:solidFill>
                  <a:schemeClr val="bg1"/>
                </a:solidFill>
              </a:rPr>
              <a:t>  mpierce710006@gmail.com  </a:t>
            </a:r>
            <a:r>
              <a:rPr lang="en-US" sz="2000" dirty="0">
                <a:solidFill>
                  <a:schemeClr val="bg1"/>
                </a:solidFill>
              </a:rPr>
              <a:t> - </a:t>
            </a:r>
            <a:r>
              <a:rPr lang="pl-PL" sz="2000" dirty="0">
                <a:solidFill>
                  <a:schemeClr val="bg1"/>
                </a:solidFill>
              </a:rPr>
              <a:t>  linkedin.com/in/mpiercead576/</a:t>
            </a:r>
          </a:p>
          <a:p>
            <a:pPr algn="l"/>
            <a:r>
              <a:rPr lang="pl-PL" sz="2000" dirty="0">
                <a:solidFill>
                  <a:schemeClr val="bg1"/>
                </a:solidFill>
                <a:hlinkClick r:id="rId3"/>
              </a:rPr>
              <a:t>https://github.com/DataResearchLabs/study_guide_intro_aerospace_mfg</a:t>
            </a:r>
            <a:endParaRPr lang="en-US" sz="2000" dirty="0">
              <a:solidFill>
                <a:schemeClr val="bg1"/>
              </a:solidFill>
            </a:endParaRPr>
          </a:p>
          <a:p>
            <a:pPr algn="l"/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439251-0FA5-4222-2534-EC4CD92AB89C}"/>
              </a:ext>
            </a:extLst>
          </p:cNvPr>
          <p:cNvCxnSpPr>
            <a:cxnSpLocks/>
          </p:cNvCxnSpPr>
          <p:nvPr/>
        </p:nvCxnSpPr>
        <p:spPr>
          <a:xfrm>
            <a:off x="0" y="472722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227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4740</TotalTime>
  <Words>3715</Words>
  <Application>Microsoft Office PowerPoint</Application>
  <PresentationFormat>Widescreen</PresentationFormat>
  <Paragraphs>397</Paragraphs>
  <Slides>24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Materials &amp; Corrosion</vt:lpstr>
      <vt:lpstr>Aircraft Materials</vt:lpstr>
      <vt:lpstr>Primary Materials in Commercial Aircraft</vt:lpstr>
      <vt:lpstr>Material Properties</vt:lpstr>
      <vt:lpstr>Properties of Aluminum Alloys</vt:lpstr>
      <vt:lpstr>Properties of Composites</vt:lpstr>
      <vt:lpstr>Properties of Titanium</vt:lpstr>
      <vt:lpstr>Properties of Fiberglass</vt:lpstr>
      <vt:lpstr>Properties of Plastics</vt:lpstr>
      <vt:lpstr>Aircraft Corrosion</vt:lpstr>
      <vt:lpstr>What is Corrosion?</vt:lpstr>
      <vt:lpstr>Types of Corrosion (1 of 4)</vt:lpstr>
      <vt:lpstr>Types of Corrosion (2 of 4)</vt:lpstr>
      <vt:lpstr>Types of Corrosion (3 of 4)</vt:lpstr>
      <vt:lpstr>Types of Corrosion (4 of 4)</vt:lpstr>
      <vt:lpstr>Corrosion Prevention</vt:lpstr>
      <vt:lpstr>Corrosion Prone Areas</vt:lpstr>
      <vt:lpstr>Q&amp;A</vt:lpstr>
      <vt:lpstr>Practice Q&amp;A’s  (Q1-Q8)</vt:lpstr>
      <vt:lpstr>Practice Q&amp;A’s  (Q9-Q16)</vt:lpstr>
      <vt:lpstr>Practice Q&amp;A’s  (Q17-Q24)</vt:lpstr>
      <vt:lpstr>Practice Q&amp;A’s  (Q25-Q32)</vt:lpstr>
      <vt:lpstr>Practice Q&amp;A’s  (Q33-Q37)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Pierce</dc:creator>
  <cp:lastModifiedBy>Matt Pierce</cp:lastModifiedBy>
  <cp:revision>158</cp:revision>
  <dcterms:created xsi:type="dcterms:W3CDTF">2026-01-28T23:37:40Z</dcterms:created>
  <dcterms:modified xsi:type="dcterms:W3CDTF">2026-02-27T02:47:08Z</dcterms:modified>
</cp:coreProperties>
</file>