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15" r:id="rId2"/>
    <p:sldId id="270" r:id="rId3"/>
    <p:sldId id="292" r:id="rId4"/>
    <p:sldId id="301" r:id="rId5"/>
    <p:sldId id="302" r:id="rId6"/>
    <p:sldId id="303" r:id="rId7"/>
    <p:sldId id="314" r:id="rId8"/>
    <p:sldId id="317" r:id="rId9"/>
    <p:sldId id="318" r:id="rId10"/>
    <p:sldId id="319" r:id="rId11"/>
    <p:sldId id="30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61" autoAdjust="0"/>
    <p:restoredTop sz="89691" autoAdjust="0"/>
  </p:normalViewPr>
  <p:slideViewPr>
    <p:cSldViewPr snapToGrid="0">
      <p:cViewPr varScale="1">
        <p:scale>
          <a:sx n="62" d="100"/>
          <a:sy n="62" d="100"/>
        </p:scale>
        <p:origin x="834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C98CB6-2C88-401C-AAD5-2FFED2D64E9F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5D55C3-6A65-407E-9BFF-B66438A652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187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627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8DB60-F194-68D3-910C-D9D07C153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033E34-2139-87AE-855F-83E3211CDC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6C67B2-C972-E90D-B600-C4532AAF82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817BF2-719A-6A63-BB90-F38A7B16DF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4887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B51FF-B1D3-66C4-6DF2-649B8C208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2AAE90-9850-EC2D-B4B6-DCA6E9B902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A25E31-A5A7-6D5D-0689-20771618E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Metallic Surface bonding = Assemble metal-to-metal so electricity can flow out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Equipment bonding = Attach equipment to metal airframe of body to prevent static electricity building / interfere radio and nav equip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Static bonding = Attach isolated parts to the rest of the metallic bond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Three Types Bonding Pic:  ChatGPT: “make a picture of three type of bonding in an airplane: metallic surface bonding, equipment bonding, and static bonding”</a:t>
            </a:r>
            <a:br>
              <a:rPr lang="en-US" dirty="0"/>
            </a:br>
            <a:r>
              <a:rPr lang="en-US" dirty="0"/>
              <a:t>+ “Combine these into one single composite image with three sections.  Tune it specifically for maintenance training.  Make examples in aluminum.”</a:t>
            </a:r>
            <a:br>
              <a:rPr lang="en-US" dirty="0"/>
            </a:br>
            <a:r>
              <a:rPr lang="en-US" dirty="0"/>
              <a:t>+ “Making it one continuous fuselage scene with three highlighted zones” </a:t>
            </a:r>
            <a:br>
              <a:rPr lang="en-US" dirty="0"/>
            </a:br>
            <a:r>
              <a:rPr lang="en-US" dirty="0"/>
              <a:t>+ “Adding subtle cues for inspection points (fasteners, straps, contact areas)“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BDB43-015B-63FB-8654-484703776F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7603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82231-8494-F9EF-5491-6B942A2E8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1CAC9A-EC2B-4A9A-1F6A-151A304B62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1B805F-10DA-D1C8-C778-97CD20160E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Grounding Pic:  ChatGPT: “make a single picture of electrical grounding in airplane from a circuit to airframe then out external discharge point.“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AB326-1F31-9E43-D717-068E70EDA1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6926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A1611-99C0-8DA0-84E3-F2C00325A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7597E3-4724-ABC1-D0E3-53766983B4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5812B0-904C-0C3D-A749-19BFEBD258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b="0" dirty="0"/>
              <a:t>Image Credits: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/>
              <a:t>Voltmeter: </a:t>
            </a:r>
            <a:r>
              <a:rPr lang="en-US" b="0" dirty="0"/>
              <a:t>Google = (PD) - https://freesvg.org/analog-gauge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/>
              <a:t>Ohmmeter: </a:t>
            </a:r>
            <a:r>
              <a:rPr lang="en-US" b="0" dirty="0"/>
              <a:t>RS Products  = (Ad) - https://africa.rsdelivers.com/product/gossen-metrawatt/m630a/gossen-metrawatt-ohmmeter-10-m%CF%89/4375932</a:t>
            </a: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/>
              <a:t>Ammeter: </a:t>
            </a:r>
            <a:r>
              <a:rPr lang="en-US" b="0" dirty="0"/>
              <a:t>Google = (Ad) - https://www.walmart.com/ip/Hyper-Tough-New-Digital-Clamp-Meter-TD35074B-6-4-oz-1-Count-1-25-in/410005314?wl13=2317&amp;selectedSellerId=0&amp;wmlspartner=wlpa</a:t>
            </a: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b="1" dirty="0"/>
              <a:t>Multimeter:</a:t>
            </a:r>
            <a:r>
              <a:rPr lang="en-US" dirty="0"/>
              <a:t> For Sale / Public – https://static.grainger.com/rp/s/is/image/Grainger/F-15b-plus-01c__FHFE_v2?$adapimg$&amp;hei=804&amp;wid=804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6179A-5D9B-FBA5-96B4-2D1209B2C7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8962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0CA4E-FCF1-735E-8EE2-80CD8217B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8E43C2-003A-6E6A-4EB3-6ABF2FE2BD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2E7C56-C8C7-ABB3-9539-E3ADB3BFE3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Credits: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ChatGPT - make a diagram explaining how the decimals move left or right for megaohms to kiloohms to ohms to milliohms to microohms</a:t>
            </a:r>
            <a:br>
              <a:rPr lang="en-US" dirty="0"/>
            </a:br>
            <a:r>
              <a:rPr lang="en-US" dirty="0"/>
              <a:t>+ Change the "+ 1,000" labels all to "÷ 1,000“</a:t>
            </a:r>
            <a:br>
              <a:rPr lang="en-US" dirty="0"/>
            </a:br>
            <a:r>
              <a:rPr lang="en-US" dirty="0"/>
              <a:t>+ Add an example below the blue arrows (but above the green arrows) demonstrating how 5.4 ohms = 0.0054 kiloohms Add an example below the green arrows demonstrating how 5.4 ohms = 5,400 milliohms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0B5F2-14BC-2E53-806F-6C2A5ED351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716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EFE57-7CA1-1F08-40B4-7752B89CF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93B1B3-B826-C16C-582D-0AF1300AB1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4EF43A-92BE-B2AD-DE41-70701A5179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BB0F8-DF6E-284F-F4D7-5190108C3E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1676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22FC5-13CB-D39A-EB9E-17C3DC3F8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247BF4-EF63-E014-069C-D99FD4DAB5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DE2C5C-A816-3B06-037E-433BB3B111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13803-F59E-E7E0-5855-333FEA22D9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3886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96A15-4627-A2B7-B23E-2AC252B87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A1D323-39FD-6977-01F7-412F0DE61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A71F59-B048-3D2A-8AFA-5907E8E6EC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F92962-9A43-C2C2-7107-AD8564EA22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668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38604-8C4F-A976-286B-E17FB7C14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DD2EB9-B6C1-80A3-7C6D-D35E38A03F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B8A0F-A558-BEB7-6231-6925F33CD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1166D-3B41-FC46-B527-118F3460E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153BE-7379-C725-CF26-CC6B4582A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967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079D-5F59-ED52-BFF6-108D0B4B7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464D4-320F-5BA1-287F-1810736AB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F46D3-7E3E-A3F7-278E-3551B22E9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261CB-A869-1544-C0A7-CC8604F47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4C245-FC94-FA83-E5F4-3A9F814E9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838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6ABCD-A3C6-53C0-24E3-954C9A82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5E699-7560-7EDA-7B99-F59CD0C3A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B2B8C-062D-E298-1EAA-A52D35FA2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F3F7A-D347-901F-0C3A-87475B634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49654-0078-975F-CED4-0DEF4EBA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14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B5F63-6558-5286-61E4-A54909772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9B79C-BB11-0D88-C0DC-1C491C75A1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FEF498-1470-A152-8DBA-089FF3635D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EFBD9-D87E-39CB-A355-14D4BB93B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8A95F7-406E-D075-8B39-623D2BBE1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5CC82C-F922-EC87-9017-EF7F35AA4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905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76EFA-DCF2-0F96-3716-78160812E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353F8-35CE-B547-928A-196E0C4D5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A65914-9D20-1CD8-A86D-5F4A2F02E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B884EB-0E59-5F47-4379-943FF84F97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FCA68-CFD3-9870-4F97-476B9FC182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F52665-A037-02EF-95D2-5C9DFE8C3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FB38FF-5536-D966-C235-F1789960D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F1FCDF-1DBF-2AA3-93C1-61400BA1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093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6DE56-0CE0-D5B3-0EDA-8FADF7BAA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CBFB5-D851-3D9D-F332-47B436089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3273FA-2457-4385-2E37-2A2729051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12ED07-57CD-AF06-DD3A-2454B3CDA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842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96715A-586C-FF87-D16B-76C507D12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48C50A-ACA0-E39C-BF1E-1AB606A2E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AEB16-9EB9-619F-5C07-329C76637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816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FD819-C7CB-8577-D68F-9DDA148B1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950A4-3F7D-2D71-A9D4-740363302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A536D9-2523-D955-F38D-FE976F44EB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D2DA0F-A8B3-4CF1-B679-C5B0D39B9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69CA2-A42A-833D-BC7C-967D1EFF9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00A10A-141E-2590-DD32-0F38164C0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88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D238C-F95A-85C6-EF95-6192D4551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EBEC10-9D21-E83F-7164-A85385A8D9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A3150E-BFB2-B49D-B13D-37BFAC11E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422970-B70C-CFBD-3CC4-D601161A0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7D507F-6489-85D6-C731-7346630A9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88480-DC24-2467-A79D-746222779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023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3787E-C838-836F-52EE-50D8BB587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31598B-9911-A386-F7AA-97913A488C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5A08D-38E1-D7DC-F94F-51768EFD8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7829E-AB80-5C6B-0D61-A0DFC1090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A7A8F-5B78-B4B6-09FE-0993C94C9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285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D9024B-25BF-EA72-BD35-65EF808FFF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5796C1-A9AD-51B1-9E18-4C96802598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D1A7B-3E4E-45E3-2613-EBBE7B7AE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20DA0-1A51-9958-DA38-0E0EC8FF4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7903E-BE2A-59C5-B220-A6582E616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567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B8F4C7-2F11-26ED-32BD-E758D1900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9DBA8-3E2E-A76B-065E-87B759776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6856E-F249-64F9-2B63-8358883D77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7F6DA9-0E89-4647-B2B7-665A6AE171E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75684-5E0C-B3A4-431A-05A0108263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B5A29-6651-182C-206F-17AE0616C4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AF9D7E-22CD-4029-926F-9304E46059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654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africa.rsdelivers.com/product/gossen-metrawatt/m630a/gossen-metrawatt-ohmmeter-10-m%CF%89/4375932" TargetMode="External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tatic.grainger.com/rp/s/is/image/Grainger/F-15b-plus-01c__FHFE_v2?$adapimg$&amp;hei=804&amp;wid=804" TargetMode="External"/><Relationship Id="rId5" Type="http://schemas.openxmlformats.org/officeDocument/2006/relationships/image" Target="../media/image6.png"/><Relationship Id="rId10" Type="http://schemas.openxmlformats.org/officeDocument/2006/relationships/hyperlink" Target="https://www.walmart.com/ip/Hyper-Tough-New-Digital-Clamp-Meter-TD35074B-6-4-oz-1-Count-1-25-in/410005314?wl13=2317&amp;selectedSellerId=0&amp;wmlspartner=wlpa" TargetMode="External"/><Relationship Id="rId4" Type="http://schemas.openxmlformats.org/officeDocument/2006/relationships/hyperlink" Target="https://upload.wikimedia.org/wikipedia/commons/3/30/Boeing_B-29_Superfortress_%2819926000422%29.jpg" TargetMode="External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taResearchLabs/study_guide_intro_aerospace_mfg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B969CFF-BAE7-BF73-632D-A9101B28F0D2}"/>
              </a:ext>
            </a:extLst>
          </p:cNvPr>
          <p:cNvSpPr/>
          <p:nvPr/>
        </p:nvSpPr>
        <p:spPr>
          <a:xfrm>
            <a:off x="3388757" y="2242335"/>
            <a:ext cx="5414481" cy="237333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E0237A-1769-2D18-56A2-B369063196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340599"/>
            <a:ext cx="12192000" cy="1145996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chemeClr val="bg1"/>
                </a:solidFill>
              </a:rPr>
              <a:t>Electricity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E83414-9557-9971-74AE-0E0F206E6A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64882" y="768846"/>
            <a:ext cx="3862232" cy="1090775"/>
          </a:xfr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Aerospace Manufacturing Core 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Study Guide </a:t>
            </a:r>
          </a:p>
          <a:p>
            <a:r>
              <a:rPr lang="en-US" sz="2000" dirty="0">
                <a:solidFill>
                  <a:schemeClr val="bg1"/>
                </a:solidFill>
              </a:rPr>
              <a:t>“AMCSG-204”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2A361BB-91A4-6234-4565-06CC792AA8FE}"/>
              </a:ext>
            </a:extLst>
          </p:cNvPr>
          <p:cNvSpPr txBox="1">
            <a:spLocks/>
          </p:cNvSpPr>
          <p:nvPr/>
        </p:nvSpPr>
        <p:spPr>
          <a:xfrm>
            <a:off x="-1" y="2592083"/>
            <a:ext cx="12191999" cy="748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schemeClr val="bg1"/>
                </a:solidFill>
              </a:rPr>
              <a:t>Tools &amp; Processes</a:t>
            </a:r>
          </a:p>
        </p:txBody>
      </p:sp>
    </p:spTree>
    <p:extLst>
      <p:ext uri="{BB962C8B-B14F-4D97-AF65-F5344CB8AC3E}">
        <p14:creationId xmlns:p14="http://schemas.microsoft.com/office/powerpoint/2010/main" val="1241290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8EE8AE-AE93-D93A-E154-B04712F82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6A0A6-3C52-0BF1-59E8-9A1E678218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0319" y="3022775"/>
            <a:ext cx="10086975" cy="81245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Electricity</a:t>
            </a:r>
          </a:p>
        </p:txBody>
      </p:sp>
    </p:spTree>
    <p:extLst>
      <p:ext uri="{BB962C8B-B14F-4D97-AF65-F5344CB8AC3E}">
        <p14:creationId xmlns:p14="http://schemas.microsoft.com/office/powerpoint/2010/main" val="1735986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88D143-213D-6CF1-554A-725D01F87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0C3A01D-D14A-495B-3371-E4EF8B297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515" y="1825625"/>
            <a:ext cx="11342669" cy="4351338"/>
          </a:xfrm>
        </p:spPr>
        <p:txBody>
          <a:bodyPr/>
          <a:lstStyle/>
          <a:p>
            <a:r>
              <a:rPr lang="en-US" b="1" dirty="0"/>
              <a:t>Electricity</a:t>
            </a:r>
            <a:r>
              <a:rPr lang="en-US" dirty="0"/>
              <a:t> = essential part of airplane</a:t>
            </a:r>
          </a:p>
          <a:p>
            <a:r>
              <a:rPr lang="en-US" dirty="0"/>
              <a:t>Airplanes </a:t>
            </a:r>
            <a:r>
              <a:rPr lang="en-US" b="1" dirty="0"/>
              <a:t>use electricity </a:t>
            </a:r>
            <a:r>
              <a:rPr lang="en-US" dirty="0"/>
              <a:t>for flight controls, safety equipment, cabin amenities, avionics, hydraulic pumps, lighting, etc.</a:t>
            </a:r>
          </a:p>
          <a:p>
            <a:r>
              <a:rPr lang="en-US" dirty="0"/>
              <a:t>Airplanes </a:t>
            </a:r>
            <a:r>
              <a:rPr lang="en-US" b="1" dirty="0"/>
              <a:t>use 40+ miles of wiring</a:t>
            </a:r>
            <a:r>
              <a:rPr lang="en-US" dirty="0"/>
              <a:t> to move electricity where it is needed</a:t>
            </a:r>
          </a:p>
          <a:p>
            <a:r>
              <a:rPr lang="en-US" b="1" dirty="0"/>
              <a:t>Bonding</a:t>
            </a:r>
            <a:r>
              <a:rPr lang="en-US" dirty="0"/>
              <a:t> and </a:t>
            </a:r>
            <a:r>
              <a:rPr lang="en-US" b="1" dirty="0"/>
              <a:t>Grounding </a:t>
            </a:r>
            <a:r>
              <a:rPr lang="en-US" dirty="0"/>
              <a:t>control flow of all electricity </a:t>
            </a:r>
            <a:br>
              <a:rPr lang="en-US" dirty="0"/>
            </a:b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(wanted power and unwanted static)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2FE153-8C7C-4316-03A4-0DDF77052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5"/>
            <a:ext cx="10515600" cy="877824"/>
          </a:xfrm>
        </p:spPr>
        <p:txBody>
          <a:bodyPr/>
          <a:lstStyle/>
          <a:p>
            <a:r>
              <a:rPr lang="en-US" dirty="0"/>
              <a:t>Level Set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A8EEACF2-49E2-4635-2F1B-B8A65A65D620}"/>
              </a:ext>
            </a:extLst>
          </p:cNvPr>
          <p:cNvSpPr txBox="1"/>
          <p:nvPr/>
        </p:nvSpPr>
        <p:spPr>
          <a:xfrm>
            <a:off x="10179979" y="59236"/>
            <a:ext cx="1818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Text from Google AI</a:t>
            </a:r>
          </a:p>
        </p:txBody>
      </p:sp>
    </p:spTree>
    <p:extLst>
      <p:ext uri="{BB962C8B-B14F-4D97-AF65-F5344CB8AC3E}">
        <p14:creationId xmlns:p14="http://schemas.microsoft.com/office/powerpoint/2010/main" val="3138473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A79A15-3A4F-DC9F-F98D-FD43DC694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21E6762-70BF-0158-45AB-A071A66DB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515" y="1825625"/>
            <a:ext cx="11342669" cy="4351338"/>
          </a:xfrm>
        </p:spPr>
        <p:txBody>
          <a:bodyPr/>
          <a:lstStyle/>
          <a:p>
            <a:r>
              <a:rPr lang="en-US" b="1" dirty="0"/>
              <a:t>Electrical Bonding</a:t>
            </a:r>
            <a:r>
              <a:rPr lang="en-US" dirty="0"/>
              <a:t> = connecting all non-power carrying metallic objects in the airplane and airframe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Three Types:</a:t>
            </a:r>
          </a:p>
          <a:p>
            <a:pPr lvl="1"/>
            <a:r>
              <a:rPr lang="en-US" b="1" dirty="0"/>
              <a:t>Metallic Surface Bonding</a:t>
            </a:r>
          </a:p>
          <a:p>
            <a:pPr lvl="1"/>
            <a:r>
              <a:rPr lang="en-US" b="1" dirty="0"/>
              <a:t>Equipment Bonding</a:t>
            </a:r>
          </a:p>
          <a:p>
            <a:pPr lvl="1"/>
            <a:r>
              <a:rPr lang="en-US" b="1" dirty="0"/>
              <a:t>Static Bonding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E01C32-1BEB-11C2-21CD-D14BB1F31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788" y="3060807"/>
            <a:ext cx="1933845" cy="2810267"/>
          </a:xfrm>
          <a:prstGeom prst="rect">
            <a:avLst/>
          </a:prstGeom>
          <a:noFill/>
          <a:ln>
            <a:noFill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DDD8763-B2D0-A973-0595-ACD5BE95E2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0928" y="3060807"/>
            <a:ext cx="1924319" cy="2810267"/>
          </a:xfrm>
          <a:prstGeom prst="rect">
            <a:avLst/>
          </a:prstGeom>
          <a:noFill/>
          <a:ln>
            <a:noFill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6FB64DC-231C-731F-A252-7969F15976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4499" y="3060807"/>
            <a:ext cx="2038635" cy="2810267"/>
          </a:xfrm>
          <a:prstGeom prst="rect">
            <a:avLst/>
          </a:prstGeom>
          <a:noFill/>
          <a:ln>
            <a:noFill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040C7B-A694-3CEF-4611-F87CD13F8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5"/>
            <a:ext cx="10515600" cy="877824"/>
          </a:xfrm>
        </p:spPr>
        <p:txBody>
          <a:bodyPr/>
          <a:lstStyle/>
          <a:p>
            <a:r>
              <a:rPr lang="en-US" dirty="0"/>
              <a:t>Electrical Bonding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49811C4-1841-82CA-77E1-EC81DCB74BC2}"/>
              </a:ext>
            </a:extLst>
          </p:cNvPr>
          <p:cNvCxnSpPr>
            <a:cxnSpLocks/>
          </p:cNvCxnSpPr>
          <p:nvPr/>
        </p:nvCxnSpPr>
        <p:spPr>
          <a:xfrm>
            <a:off x="4720909" y="3771340"/>
            <a:ext cx="880163" cy="0"/>
          </a:xfrm>
          <a:prstGeom prst="straightConnector1">
            <a:avLst/>
          </a:prstGeom>
          <a:ln>
            <a:solidFill>
              <a:srgbClr val="FF0000"/>
            </a:solidFill>
            <a:tailEnd type="oval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BC1CAD4-D4D4-80F4-B196-927EFB36B35E}"/>
              </a:ext>
            </a:extLst>
          </p:cNvPr>
          <p:cNvGrpSpPr/>
          <p:nvPr/>
        </p:nvGrpSpPr>
        <p:grpSpPr>
          <a:xfrm>
            <a:off x="3974878" y="4130128"/>
            <a:ext cx="3802603" cy="1921351"/>
            <a:chOff x="3974878" y="4130128"/>
            <a:chExt cx="3802603" cy="1921351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0BF6B62-5BE2-4889-0828-481F5B3947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84378" y="5351848"/>
              <a:ext cx="493103" cy="699631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29BD951-F502-0DBF-5B3B-533151469D16}"/>
                </a:ext>
              </a:extLst>
            </p:cNvPr>
            <p:cNvCxnSpPr>
              <a:cxnSpLocks/>
            </p:cNvCxnSpPr>
            <p:nvPr/>
          </p:nvCxnSpPr>
          <p:spPr>
            <a:xfrm>
              <a:off x="5160990" y="6051479"/>
              <a:ext cx="2123388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7E939BF-2AC8-8A92-4D49-DBB804DF18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0990" y="4130128"/>
              <a:ext cx="0" cy="1921351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9030DEA-CF7B-311D-9C17-16DFF452D9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74878" y="4130128"/>
              <a:ext cx="1186112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9F0B88B-A2C9-1C8A-A735-25D7DA81FEAF}"/>
              </a:ext>
            </a:extLst>
          </p:cNvPr>
          <p:cNvGrpSpPr/>
          <p:nvPr/>
        </p:nvGrpSpPr>
        <p:grpSpPr>
          <a:xfrm>
            <a:off x="3384683" y="4571524"/>
            <a:ext cx="6269633" cy="1740376"/>
            <a:chOff x="3384683" y="4571524"/>
            <a:chExt cx="6269633" cy="1740376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84DFAA81-BD4D-03A7-7459-829B004BCD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36178" y="5351847"/>
              <a:ext cx="618138" cy="960053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A07B0DC-3934-8DCC-6981-AC3A1A39FDFD}"/>
                </a:ext>
              </a:extLst>
            </p:cNvPr>
            <p:cNvCxnSpPr>
              <a:cxnSpLocks/>
            </p:cNvCxnSpPr>
            <p:nvPr/>
          </p:nvCxnSpPr>
          <p:spPr>
            <a:xfrm>
              <a:off x="4567934" y="6311900"/>
              <a:ext cx="446824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588E195E-2CD0-5AA9-793F-B114A9DC41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70795" y="4571524"/>
              <a:ext cx="0" cy="1740376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176D4746-4CCB-D8DA-9876-D25ADA0E22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84683" y="4571524"/>
              <a:ext cx="1186112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801DFFA-CC1B-6E90-C6C3-716A5488EF6F}"/>
              </a:ext>
            </a:extLst>
          </p:cNvPr>
          <p:cNvSpPr txBox="1"/>
          <p:nvPr/>
        </p:nvSpPr>
        <p:spPr>
          <a:xfrm>
            <a:off x="9692346" y="5830716"/>
            <a:ext cx="16569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900" dirty="0"/>
              <a:t>ChatGPT </a:t>
            </a:r>
            <a:r>
              <a:rPr lang="en-US" sz="900" dirty="0"/>
              <a:t>/</a:t>
            </a:r>
            <a:r>
              <a:rPr lang="pl-PL" sz="900" dirty="0"/>
              <a:t> Matt Pierce, 2026</a:t>
            </a:r>
            <a:endParaRPr lang="en-US" sz="900" dirty="0"/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AE2F9949-808F-ACBA-DAF9-AF9986266FCF}"/>
              </a:ext>
            </a:extLst>
          </p:cNvPr>
          <p:cNvSpPr txBox="1"/>
          <p:nvPr/>
        </p:nvSpPr>
        <p:spPr>
          <a:xfrm>
            <a:off x="10179979" y="59236"/>
            <a:ext cx="1818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Text from ChatGPT</a:t>
            </a:r>
          </a:p>
        </p:txBody>
      </p:sp>
    </p:spTree>
    <p:extLst>
      <p:ext uri="{BB962C8B-B14F-4D97-AF65-F5344CB8AC3E}">
        <p14:creationId xmlns:p14="http://schemas.microsoft.com/office/powerpoint/2010/main" val="481417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FF1AC6-0385-74E6-52BB-A0855035B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9C22963-76BA-9D9A-3017-C57809CD3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665" y="1690688"/>
            <a:ext cx="11342669" cy="4351338"/>
          </a:xfrm>
        </p:spPr>
        <p:txBody>
          <a:bodyPr/>
          <a:lstStyle/>
          <a:p>
            <a:r>
              <a:rPr lang="en-US" b="1" dirty="0"/>
              <a:t>Electrical Grounding</a:t>
            </a:r>
            <a:r>
              <a:rPr lang="en-US" dirty="0"/>
              <a:t> = redirecting power spikes to airframe,</a:t>
            </a:r>
            <a:br>
              <a:rPr lang="en-US" dirty="0"/>
            </a:br>
            <a:r>
              <a:rPr lang="en-US" dirty="0"/>
              <a:t>then out external discharge points to atmosphere</a:t>
            </a:r>
            <a:br>
              <a:rPr lang="en-US" dirty="0"/>
            </a:br>
            <a:endParaRPr lang="en-US" dirty="0"/>
          </a:p>
          <a:p>
            <a:r>
              <a:rPr lang="en-US" dirty="0"/>
              <a:t>Grounding Prevents… </a:t>
            </a:r>
          </a:p>
          <a:p>
            <a:pPr lvl="1"/>
            <a:r>
              <a:rPr lang="en-US" sz="2000" b="1" dirty="0"/>
              <a:t>Arcs</a:t>
            </a:r>
            <a:r>
              <a:rPr lang="en-US" sz="2000" dirty="0"/>
              <a:t> thru air between electrodes</a:t>
            </a:r>
          </a:p>
          <a:p>
            <a:pPr lvl="1"/>
            <a:r>
              <a:rPr lang="en-US" sz="2000" b="1" dirty="0"/>
              <a:t>Static Electricity</a:t>
            </a:r>
            <a:r>
              <a:rPr lang="en-US" sz="2000" dirty="0"/>
              <a:t>; safe discharge</a:t>
            </a:r>
          </a:p>
          <a:p>
            <a:pPr lvl="1"/>
            <a:r>
              <a:rPr lang="en-US" sz="2000" b="1" dirty="0"/>
              <a:t>Coupling</a:t>
            </a:r>
            <a:r>
              <a:rPr lang="en-US" sz="2000" dirty="0"/>
              <a:t> between circuits </a:t>
            </a:r>
          </a:p>
          <a:p>
            <a:pPr lvl="1"/>
            <a:r>
              <a:rPr lang="en-US" sz="2000" b="1" dirty="0"/>
              <a:t>EMP</a:t>
            </a:r>
            <a:r>
              <a:rPr lang="en-US" sz="2000" dirty="0"/>
              <a:t> (only Faraday cage withstands)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0AB74D-153C-A757-956F-6C55E5CEA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5"/>
            <a:ext cx="10515600" cy="877824"/>
          </a:xfrm>
        </p:spPr>
        <p:txBody>
          <a:bodyPr/>
          <a:lstStyle/>
          <a:p>
            <a:r>
              <a:rPr lang="en-US" dirty="0"/>
              <a:t>Electrical Grounding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54793F-4DEB-4906-C886-F4A6A7317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168" y="2596606"/>
            <a:ext cx="5849166" cy="389626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B1E3F5-115B-95FD-DC2B-BCB1155F7211}"/>
              </a:ext>
            </a:extLst>
          </p:cNvPr>
          <p:cNvSpPr txBox="1"/>
          <p:nvPr/>
        </p:nvSpPr>
        <p:spPr>
          <a:xfrm>
            <a:off x="10130318" y="6489765"/>
            <a:ext cx="16370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900" dirty="0"/>
              <a:t>ChatGPT </a:t>
            </a:r>
            <a:r>
              <a:rPr lang="en-US" sz="900" dirty="0"/>
              <a:t>/</a:t>
            </a:r>
            <a:r>
              <a:rPr lang="pl-PL" sz="900" dirty="0"/>
              <a:t> Matt Pierce, 2026</a:t>
            </a:r>
            <a:endParaRPr lang="en-US" sz="900" dirty="0"/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CFDBE932-4490-AD73-3B4B-FE86A0FAF89E}"/>
              </a:ext>
            </a:extLst>
          </p:cNvPr>
          <p:cNvSpPr txBox="1"/>
          <p:nvPr/>
        </p:nvSpPr>
        <p:spPr>
          <a:xfrm>
            <a:off x="10179979" y="59236"/>
            <a:ext cx="1818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Text from ChatGPT</a:t>
            </a:r>
          </a:p>
        </p:txBody>
      </p:sp>
    </p:spTree>
    <p:extLst>
      <p:ext uri="{BB962C8B-B14F-4D97-AF65-F5344CB8AC3E}">
        <p14:creationId xmlns:p14="http://schemas.microsoft.com/office/powerpoint/2010/main" val="4003912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B701FA-0869-D929-6EED-A9F654E0F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B70DF95-0267-3AFA-EAE2-382F9DC6E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665" y="1491197"/>
            <a:ext cx="5462427" cy="500167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Electricity can be measured as</a:t>
            </a:r>
          </a:p>
          <a:p>
            <a:pPr lvl="1"/>
            <a:r>
              <a:rPr lang="en-US" b="1" dirty="0"/>
              <a:t>Volts</a:t>
            </a:r>
            <a:r>
              <a:rPr lang="en-US" dirty="0"/>
              <a:t> (pressure)</a:t>
            </a:r>
          </a:p>
          <a:p>
            <a:pPr lvl="1"/>
            <a:r>
              <a:rPr lang="en-US" b="1" dirty="0"/>
              <a:t>Amps</a:t>
            </a:r>
            <a:r>
              <a:rPr lang="en-US" dirty="0"/>
              <a:t> (flow rate)</a:t>
            </a:r>
          </a:p>
          <a:p>
            <a:pPr lvl="1"/>
            <a:r>
              <a:rPr lang="en-US" b="1" dirty="0"/>
              <a:t>Ohms</a:t>
            </a:r>
            <a:r>
              <a:rPr lang="en-US" dirty="0"/>
              <a:t> (resistance/pipe size)</a:t>
            </a:r>
          </a:p>
          <a:p>
            <a:pPr lvl="1"/>
            <a:r>
              <a:rPr lang="en-US" dirty="0"/>
              <a:t>V = I x R</a:t>
            </a:r>
          </a:p>
          <a:p>
            <a:pPr lvl="1"/>
            <a:r>
              <a:rPr lang="en-US" dirty="0"/>
              <a:t>1volt = 1amp  x  1ohm  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There is a meter for each, </a:t>
            </a:r>
            <a:br>
              <a:rPr lang="en-US" dirty="0"/>
            </a:br>
            <a:r>
              <a:rPr lang="en-US" dirty="0"/>
              <a:t>or all in one:</a:t>
            </a:r>
          </a:p>
          <a:p>
            <a:pPr lvl="1"/>
            <a:r>
              <a:rPr lang="en-US" dirty="0"/>
              <a:t>Voltmeter</a:t>
            </a:r>
          </a:p>
          <a:p>
            <a:pPr lvl="1"/>
            <a:r>
              <a:rPr lang="en-US" dirty="0"/>
              <a:t>Ohmmeter</a:t>
            </a:r>
          </a:p>
          <a:p>
            <a:pPr lvl="1"/>
            <a:r>
              <a:rPr lang="en-US" dirty="0"/>
              <a:t>Ammeter</a:t>
            </a:r>
          </a:p>
          <a:p>
            <a:pPr lvl="1"/>
            <a:r>
              <a:rPr lang="en-US" b="1" dirty="0"/>
              <a:t>Multimeter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398B3-EC85-1927-642E-9E6DF0048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5"/>
            <a:ext cx="10515600" cy="877824"/>
          </a:xfrm>
        </p:spPr>
        <p:txBody>
          <a:bodyPr/>
          <a:lstStyle/>
          <a:p>
            <a:r>
              <a:rPr lang="en-US" dirty="0"/>
              <a:t>Electrical Testing Equipment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9C45B06-E07C-B705-40E2-ADEEFCF784FC}"/>
              </a:ext>
            </a:extLst>
          </p:cNvPr>
          <p:cNvGrpSpPr/>
          <p:nvPr/>
        </p:nvGrpSpPr>
        <p:grpSpPr>
          <a:xfrm>
            <a:off x="6487892" y="1121865"/>
            <a:ext cx="2476941" cy="2252511"/>
            <a:chOff x="6487892" y="1121865"/>
            <a:chExt cx="2476941" cy="225251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2F877880-E2AB-420F-DF1B-E513DBEC85E4}"/>
                </a:ext>
              </a:extLst>
            </p:cNvPr>
            <p:cNvGrpSpPr/>
            <p:nvPr/>
          </p:nvGrpSpPr>
          <p:grpSpPr>
            <a:xfrm>
              <a:off x="6487892" y="1824061"/>
              <a:ext cx="1479372" cy="1550315"/>
              <a:chOff x="6487892" y="1824061"/>
              <a:chExt cx="1479372" cy="1550315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0F7117F4-A0D1-886E-FF55-3F210A0CB8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58563" y="1824061"/>
                <a:ext cx="1408701" cy="1319483"/>
              </a:xfrm>
              <a:prstGeom prst="rect">
                <a:avLst/>
              </a:prstGeom>
            </p:spPr>
          </p:pic>
          <p:sp>
            <p:nvSpPr>
              <p:cNvPr id="5" name="TextBox 4">
                <a:hlinkClick r:id="rId4"/>
                <a:extLst>
                  <a:ext uri="{FF2B5EF4-FFF2-40B4-BE49-F238E27FC236}">
                    <a16:creationId xmlns:a16="http://schemas.microsoft.com/office/drawing/2014/main" id="{146A64C3-3DF0-DAF4-D974-93A5FE6A955D}"/>
                  </a:ext>
                </a:extLst>
              </p:cNvPr>
              <p:cNvSpPr txBox="1"/>
              <p:nvPr/>
            </p:nvSpPr>
            <p:spPr>
              <a:xfrm>
                <a:off x="6487892" y="3143544"/>
                <a:ext cx="147937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900" dirty="0"/>
                  <a:t>(PD) FreeSVG.org, 2017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F402901-14B7-303B-2CE6-B8D1300F8A57}"/>
                </a:ext>
              </a:extLst>
            </p:cNvPr>
            <p:cNvGrpSpPr/>
            <p:nvPr/>
          </p:nvGrpSpPr>
          <p:grpSpPr>
            <a:xfrm>
              <a:off x="7732552" y="1121865"/>
              <a:ext cx="1232281" cy="861047"/>
              <a:chOff x="5343730" y="664694"/>
              <a:chExt cx="1232281" cy="861047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8575307-23D6-0942-9116-8DBB2C983F95}"/>
                  </a:ext>
                </a:extLst>
              </p:cNvPr>
              <p:cNvSpPr txBox="1"/>
              <p:nvPr/>
            </p:nvSpPr>
            <p:spPr>
              <a:xfrm>
                <a:off x="5343730" y="664694"/>
                <a:ext cx="1232281" cy="369332"/>
              </a:xfrm>
              <a:prstGeom prst="rect">
                <a:avLst/>
              </a:prstGeom>
              <a:solidFill>
                <a:srgbClr val="0070C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</a:rPr>
                  <a:t>Voltmeter</a:t>
                </a:r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6FFEDD3C-626E-3AFA-EFAA-5D02A0B5F4C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83924" y="1034026"/>
                <a:ext cx="229231" cy="491715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oval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820941D-F1D7-1C8D-C930-D4F07178EA6F}"/>
              </a:ext>
            </a:extLst>
          </p:cNvPr>
          <p:cNvGrpSpPr/>
          <p:nvPr/>
        </p:nvGrpSpPr>
        <p:grpSpPr>
          <a:xfrm>
            <a:off x="4759928" y="3495471"/>
            <a:ext cx="2672146" cy="2512563"/>
            <a:chOff x="4759928" y="3495471"/>
            <a:chExt cx="2672146" cy="2512563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54F7AA76-9549-6234-8959-218F9657D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14528" y="3495471"/>
              <a:ext cx="1217546" cy="2327887"/>
            </a:xfrm>
            <a:prstGeom prst="rect">
              <a:avLst/>
            </a:prstGeom>
          </p:spPr>
        </p:pic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566EAA3-68EE-B37D-9096-68C634BF808F}"/>
                </a:ext>
              </a:extLst>
            </p:cNvPr>
            <p:cNvGrpSpPr/>
            <p:nvPr/>
          </p:nvGrpSpPr>
          <p:grpSpPr>
            <a:xfrm>
              <a:off x="4759928" y="4607225"/>
              <a:ext cx="2661501" cy="1400809"/>
              <a:chOff x="4759928" y="4607225"/>
              <a:chExt cx="2661501" cy="1400809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FB6C2EF8-1150-0131-11E1-97B7A6FEB5EE}"/>
                  </a:ext>
                </a:extLst>
              </p:cNvPr>
              <p:cNvGrpSpPr/>
              <p:nvPr/>
            </p:nvGrpSpPr>
            <p:grpSpPr>
              <a:xfrm>
                <a:off x="4759928" y="4607225"/>
                <a:ext cx="1544982" cy="1045964"/>
                <a:chOff x="5343729" y="-11938"/>
                <a:chExt cx="1544982" cy="1045964"/>
              </a:xfrm>
            </p:grpSpPr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734681FB-2A70-EB1B-306C-1E2E4ED7D8CE}"/>
                    </a:ext>
                  </a:extLst>
                </p:cNvPr>
                <p:cNvSpPr txBox="1"/>
                <p:nvPr/>
              </p:nvSpPr>
              <p:spPr>
                <a:xfrm>
                  <a:off x="5343729" y="664694"/>
                  <a:ext cx="1431925" cy="369332"/>
                </a:xfrm>
                <a:prstGeom prst="rect">
                  <a:avLst/>
                </a:prstGeom>
                <a:solidFill>
                  <a:srgbClr val="0070C0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chemeClr val="bg1"/>
                      </a:solidFill>
                    </a:rPr>
                    <a:t>Multimeter</a:t>
                  </a:r>
                </a:p>
              </p:txBody>
            </p:sp>
            <p:cxnSp>
              <p:nvCxnSpPr>
                <p:cNvPr id="42" name="Straight Arrow Connector 41">
                  <a:extLst>
                    <a:ext uri="{FF2B5EF4-FFF2-40B4-BE49-F238E27FC236}">
                      <a16:creationId xmlns:a16="http://schemas.microsoft.com/office/drawing/2014/main" id="{84E9A32A-B8F6-8F2F-BF2B-CA3DEAA0F5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470893" y="-11938"/>
                  <a:ext cx="417818" cy="672496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oval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" name="TextBox 2">
                <a:hlinkClick r:id="rId6"/>
                <a:extLst>
                  <a:ext uri="{FF2B5EF4-FFF2-40B4-BE49-F238E27FC236}">
                    <a16:creationId xmlns:a16="http://schemas.microsoft.com/office/drawing/2014/main" id="{404E7F75-DBDA-CFC7-1C30-545200AA5F5F}"/>
                  </a:ext>
                </a:extLst>
              </p:cNvPr>
              <p:cNvSpPr txBox="1"/>
              <p:nvPr/>
            </p:nvSpPr>
            <p:spPr>
              <a:xfrm>
                <a:off x="6234403" y="5777202"/>
                <a:ext cx="118702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900" dirty="0"/>
                  <a:t>(Ad) Grainger, 2026</a:t>
                </a:r>
              </a:p>
            </p:txBody>
          </p: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AB91FE2-580B-0219-405E-A1EC7D6AB890}"/>
              </a:ext>
            </a:extLst>
          </p:cNvPr>
          <p:cNvGrpSpPr/>
          <p:nvPr/>
        </p:nvGrpSpPr>
        <p:grpSpPr>
          <a:xfrm>
            <a:off x="8621729" y="696162"/>
            <a:ext cx="2897484" cy="3823613"/>
            <a:chOff x="8621729" y="696162"/>
            <a:chExt cx="2897484" cy="3823613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C7E13F7-51D4-C18E-A615-015A952AA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062457" y="696162"/>
              <a:ext cx="1408700" cy="3823613"/>
            </a:xfrm>
            <a:prstGeom prst="rect">
              <a:avLst/>
            </a:prstGeom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2999E8BA-8E5E-5F4A-594A-999EF4573C2E}"/>
                </a:ext>
              </a:extLst>
            </p:cNvPr>
            <p:cNvGrpSpPr/>
            <p:nvPr/>
          </p:nvGrpSpPr>
          <p:grpSpPr>
            <a:xfrm>
              <a:off x="8621729" y="2008580"/>
              <a:ext cx="1570235" cy="899007"/>
              <a:chOff x="5336195" y="982586"/>
              <a:chExt cx="1570235" cy="899007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528518F-07D9-BCB2-FA51-8D9A2DAA0718}"/>
                  </a:ext>
                </a:extLst>
              </p:cNvPr>
              <p:cNvSpPr txBox="1"/>
              <p:nvPr/>
            </p:nvSpPr>
            <p:spPr>
              <a:xfrm>
                <a:off x="5336195" y="982586"/>
                <a:ext cx="1313034" cy="369332"/>
              </a:xfrm>
              <a:prstGeom prst="rect">
                <a:avLst/>
              </a:prstGeom>
              <a:solidFill>
                <a:srgbClr val="0070C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</a:rPr>
                  <a:t>Ohmmeter</a:t>
                </a:r>
              </a:p>
            </p:txBody>
          </p: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7E0053A8-F977-B0FD-CD6C-565034908D11}"/>
                  </a:ext>
                </a:extLst>
              </p:cNvPr>
              <p:cNvCxnSpPr>
                <a:cxnSpLocks/>
                <a:stCxn id="24" idx="2"/>
              </p:cNvCxnSpPr>
              <p:nvPr/>
            </p:nvCxnSpPr>
            <p:spPr>
              <a:xfrm>
                <a:off x="5992712" y="1351918"/>
                <a:ext cx="913718" cy="529675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oval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TextBox 5">
              <a:hlinkClick r:id="rId8"/>
              <a:extLst>
                <a:ext uri="{FF2B5EF4-FFF2-40B4-BE49-F238E27FC236}">
                  <a16:creationId xmlns:a16="http://schemas.microsoft.com/office/drawing/2014/main" id="{9311D3EB-5AB0-1155-8ED7-62E362EAB4EE}"/>
                </a:ext>
              </a:extLst>
            </p:cNvPr>
            <p:cNvSpPr txBox="1"/>
            <p:nvPr/>
          </p:nvSpPr>
          <p:spPr>
            <a:xfrm rot="16200000">
              <a:off x="10701886" y="2504469"/>
              <a:ext cx="1405029" cy="2296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/>
                <a:t>(Ad) RS Products, 2026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B690509-C532-726B-D3D3-BAFEC37B5A48}"/>
              </a:ext>
            </a:extLst>
          </p:cNvPr>
          <p:cNvGrpSpPr/>
          <p:nvPr/>
        </p:nvGrpSpPr>
        <p:grpSpPr>
          <a:xfrm>
            <a:off x="8234859" y="3307257"/>
            <a:ext cx="2592150" cy="2700777"/>
            <a:chOff x="8234859" y="3307257"/>
            <a:chExt cx="2592150" cy="2700777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CB5C3B79-8611-36D7-1F4D-BF25B14C855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234859" y="3307257"/>
              <a:ext cx="1111565" cy="2516101"/>
            </a:xfrm>
            <a:prstGeom prst="rect">
              <a:avLst/>
            </a:prstGeom>
          </p:spPr>
        </p:pic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47BE15E7-BA5C-6E34-171B-00AD18BC2AE5}"/>
                </a:ext>
              </a:extLst>
            </p:cNvPr>
            <p:cNvGrpSpPr/>
            <p:nvPr/>
          </p:nvGrpSpPr>
          <p:grpSpPr>
            <a:xfrm>
              <a:off x="9257016" y="4530903"/>
              <a:ext cx="1569993" cy="1118150"/>
              <a:chOff x="4966843" y="-84124"/>
              <a:chExt cx="1569993" cy="1118150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7749638-59D6-B53D-C0C3-F75280906258}"/>
                  </a:ext>
                </a:extLst>
              </p:cNvPr>
              <p:cNvSpPr txBox="1"/>
              <p:nvPr/>
            </p:nvSpPr>
            <p:spPr>
              <a:xfrm>
                <a:off x="5343729" y="664694"/>
                <a:ext cx="1193107" cy="369332"/>
              </a:xfrm>
              <a:prstGeom prst="rect">
                <a:avLst/>
              </a:prstGeom>
              <a:solidFill>
                <a:srgbClr val="0070C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</a:rPr>
                  <a:t>Ammeter</a:t>
                </a:r>
              </a:p>
            </p:txBody>
          </p: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8D139565-E546-9AE4-EB06-9186671321C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966843" y="-84124"/>
                <a:ext cx="694137" cy="748818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oval" w="lg" len="lg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TextBox 13">
              <a:hlinkClick r:id="rId10"/>
              <a:extLst>
                <a:ext uri="{FF2B5EF4-FFF2-40B4-BE49-F238E27FC236}">
                  <a16:creationId xmlns:a16="http://schemas.microsoft.com/office/drawing/2014/main" id="{9E17C58C-59D8-DFD0-B915-7370E1FD1582}"/>
                </a:ext>
              </a:extLst>
            </p:cNvPr>
            <p:cNvSpPr txBox="1"/>
            <p:nvPr/>
          </p:nvSpPr>
          <p:spPr>
            <a:xfrm>
              <a:off x="8234859" y="5777202"/>
              <a:ext cx="118702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/>
                <a:t>(Ad) Walmart, 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2041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C0AB96-71C6-739F-0682-FEDCE6C4C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671DD5-AA81-9858-11B5-820A76FD7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821" y="173548"/>
            <a:ext cx="7382905" cy="273405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69157BAA-675B-87AF-7130-A3378EB731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821" y="4898543"/>
            <a:ext cx="9105800" cy="162227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62F1C1D-2926-FDC5-E561-FACBACE9D7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821" y="3074717"/>
            <a:ext cx="9082355" cy="165671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C355D27-60CF-79DE-CF3E-E88EB8BD1493}"/>
              </a:ext>
            </a:extLst>
          </p:cNvPr>
          <p:cNvCxnSpPr>
            <a:cxnSpLocks/>
          </p:cNvCxnSpPr>
          <p:nvPr/>
        </p:nvCxnSpPr>
        <p:spPr>
          <a:xfrm flipH="1" flipV="1">
            <a:off x="6256962" y="4048018"/>
            <a:ext cx="154112" cy="390418"/>
          </a:xfrm>
          <a:prstGeom prst="straightConnector1">
            <a:avLst/>
          </a:prstGeom>
          <a:ln>
            <a:solidFill>
              <a:srgbClr val="FF0000"/>
            </a:solidFill>
            <a:tailEnd type="oval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1B58EE6-579C-505B-2AAE-A2DEE2973AE3}"/>
              </a:ext>
            </a:extLst>
          </p:cNvPr>
          <p:cNvCxnSpPr>
            <a:cxnSpLocks/>
          </p:cNvCxnSpPr>
          <p:nvPr/>
        </p:nvCxnSpPr>
        <p:spPr>
          <a:xfrm>
            <a:off x="6411074" y="4048018"/>
            <a:ext cx="1273996" cy="390418"/>
          </a:xfrm>
          <a:prstGeom prst="straightConnector1">
            <a:avLst/>
          </a:prstGeom>
          <a:ln>
            <a:solidFill>
              <a:srgbClr val="FF0000"/>
            </a:solidFill>
            <a:tailEnd type="oval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ADB9EB4-19AC-8FE9-EEB1-E08202BFAA7C}"/>
              </a:ext>
            </a:extLst>
          </p:cNvPr>
          <p:cNvSpPr txBox="1"/>
          <p:nvPr/>
        </p:nvSpPr>
        <p:spPr>
          <a:xfrm rot="16200000">
            <a:off x="541797" y="3718408"/>
            <a:ext cx="1656716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Example #1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234C0F5-2068-BFEC-72FC-1E1D763C63CE}"/>
              </a:ext>
            </a:extLst>
          </p:cNvPr>
          <p:cNvSpPr txBox="1"/>
          <p:nvPr/>
        </p:nvSpPr>
        <p:spPr>
          <a:xfrm rot="16200000">
            <a:off x="559019" y="5525015"/>
            <a:ext cx="1622272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Example #2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FB32FDA-8DC6-CF02-B50C-18920157BB57}"/>
              </a:ext>
            </a:extLst>
          </p:cNvPr>
          <p:cNvCxnSpPr>
            <a:cxnSpLocks/>
          </p:cNvCxnSpPr>
          <p:nvPr/>
        </p:nvCxnSpPr>
        <p:spPr>
          <a:xfrm flipH="1">
            <a:off x="5250094" y="5823735"/>
            <a:ext cx="845904" cy="422953"/>
          </a:xfrm>
          <a:prstGeom prst="straightConnector1">
            <a:avLst/>
          </a:prstGeom>
          <a:ln>
            <a:solidFill>
              <a:srgbClr val="FF0000"/>
            </a:solidFill>
            <a:tailEnd type="oval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83CC194-6442-D188-89E8-6B33BFC4C448}"/>
              </a:ext>
            </a:extLst>
          </p:cNvPr>
          <p:cNvCxnSpPr>
            <a:cxnSpLocks/>
          </p:cNvCxnSpPr>
          <p:nvPr/>
        </p:nvCxnSpPr>
        <p:spPr>
          <a:xfrm flipV="1">
            <a:off x="6334018" y="5823735"/>
            <a:ext cx="0" cy="422953"/>
          </a:xfrm>
          <a:prstGeom prst="straightConnector1">
            <a:avLst/>
          </a:prstGeom>
          <a:ln>
            <a:solidFill>
              <a:srgbClr val="FF0000"/>
            </a:solidFill>
            <a:tailEnd type="oval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015030AA-77D4-B63B-0B82-F9C251B95ED4}"/>
              </a:ext>
            </a:extLst>
          </p:cNvPr>
          <p:cNvSpPr txBox="1"/>
          <p:nvPr/>
        </p:nvSpPr>
        <p:spPr>
          <a:xfrm>
            <a:off x="9072081" y="6520816"/>
            <a:ext cx="15885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900" dirty="0"/>
              <a:t>ChatGPT </a:t>
            </a:r>
            <a:r>
              <a:rPr lang="en-US" sz="900" dirty="0"/>
              <a:t>/</a:t>
            </a:r>
            <a:r>
              <a:rPr lang="pl-PL" sz="900" dirty="0"/>
              <a:t> Matt Pierce, 2026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621513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B45667-F60C-09F7-1D40-C1DD86832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089CC-6FFF-1BFA-274F-DAC5F31ED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2512" y="3033049"/>
            <a:ext cx="10086975" cy="791902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291099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6839C2-7BF2-36AE-DF8B-9AD9A2AED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63DA-D582-3FF9-0739-41B56CC47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6"/>
            <a:ext cx="5730240" cy="877824"/>
          </a:xfrm>
        </p:spPr>
        <p:txBody>
          <a:bodyPr/>
          <a:lstStyle/>
          <a:p>
            <a:r>
              <a:rPr lang="en-US" dirty="0"/>
              <a:t>Practice Q&amp;A’s 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(Q1-Q8)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5410E-01CE-A881-32E2-EC2E8F0AC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627" y="1242950"/>
            <a:ext cx="5650786" cy="535305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Q1: What is essential to an airplane for flight controls, pumps, equipment, lighting, etc.?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Electricity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Q2:</a:t>
            </a:r>
            <a:r>
              <a:rPr lang="en-US" sz="2000" dirty="0"/>
              <a:t> </a:t>
            </a:r>
            <a:r>
              <a:rPr lang="en-US" sz="2000" b="1" dirty="0"/>
              <a:t>Name of design that connects all non-power carrying metallic objects in an airplane to the airframe?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Bonding 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Q3: Name of design that redirects spikes in power carrying equipment and lines to the airframe?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Grounding</a:t>
            </a:r>
            <a:br>
              <a:rPr lang="en-US" sz="2000" dirty="0"/>
            </a:b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Q4: How does electrical bonding work?</a:t>
            </a:r>
          </a:p>
          <a:p>
            <a:pPr marL="0" indent="0">
              <a:buNone/>
            </a:pPr>
            <a:r>
              <a:rPr lang="en-US" sz="2000" b="1" dirty="0"/>
              <a:t>A:</a:t>
            </a:r>
            <a:r>
              <a:rPr lang="en-US" sz="2000" dirty="0"/>
              <a:t> Wire straps connect to provide circuit between different metal surfaces, isolated metallic equipment, etc.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DE07E9-686C-16E6-DE07-31A3DC967A79}"/>
              </a:ext>
            </a:extLst>
          </p:cNvPr>
          <p:cNvSpPr txBox="1">
            <a:spLocks/>
          </p:cNvSpPr>
          <p:nvPr/>
        </p:nvSpPr>
        <p:spPr>
          <a:xfrm>
            <a:off x="6236413" y="557176"/>
            <a:ext cx="5650786" cy="6223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Q5: What four dangers does electrical grounding prevent?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1. Arcs, 2. Static Electricity, 3. Coupling (between circuits), and 4. EMP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574675" algn="l"/>
              </a:tabLst>
            </a:pPr>
            <a:endParaRPr lang="en-US" sz="2000" b="1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Q6: What is the formula representing the relationship between voltage, current, and resistance?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V = I x R;  Voltage = Current x Resistance;  1 volt = 1 amp x 1 ohm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Q7: What is the measure of current?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Amperes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Q8: What is the measure of resistance?</a:t>
            </a:r>
          </a:p>
          <a:p>
            <a:pPr marL="0" indent="0">
              <a:buNone/>
            </a:pPr>
            <a:r>
              <a:rPr lang="en-US" sz="2000" b="1" dirty="0"/>
              <a:t>A:</a:t>
            </a:r>
            <a:r>
              <a:rPr lang="en-US" sz="2000" dirty="0"/>
              <a:t> Ohms</a:t>
            </a:r>
          </a:p>
        </p:txBody>
      </p:sp>
    </p:spTree>
    <p:extLst>
      <p:ext uri="{BB962C8B-B14F-4D97-AF65-F5344CB8AC3E}">
        <p14:creationId xmlns:p14="http://schemas.microsoft.com/office/powerpoint/2010/main" val="1646794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302DFC-EB15-A245-5AB1-43C79A6B7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36260-08A6-20ED-8BE1-B6B90923D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6"/>
            <a:ext cx="5730240" cy="877824"/>
          </a:xfrm>
        </p:spPr>
        <p:txBody>
          <a:bodyPr/>
          <a:lstStyle/>
          <a:p>
            <a:r>
              <a:rPr lang="en-US" dirty="0"/>
              <a:t>Practice Q&amp;A’s 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(Q9-Q10)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A90C7-BCAE-6DB7-B601-A5BEBD004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627" y="1242950"/>
            <a:ext cx="6770670" cy="5353058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Q9: What is the measure of voltage?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Volts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Q10:</a:t>
            </a:r>
            <a:r>
              <a:rPr lang="en-US" sz="2000" dirty="0"/>
              <a:t> </a:t>
            </a:r>
            <a:r>
              <a:rPr lang="en-US" sz="2000" b="1" dirty="0"/>
              <a:t>What are the six size buckets for Ohms from left (largest) to right (smallest)?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Mega-ohms,  Kilo-ohms, Ohms, Milli-ohms, Micro-ohms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dirty="0"/>
              <a:t>Divide by 1,000 to shift right 1 (smaller units)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dirty="0"/>
              <a:t>Multiple by 1,000 to shift left 1 (larger units)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98554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C2D309-79B3-0066-BB56-E79235F32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AC3B1-808A-C5C9-BBB6-F06FDC830E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2696" y="1893712"/>
            <a:ext cx="8966607" cy="1535288"/>
          </a:xfrm>
        </p:spPr>
        <p:txBody>
          <a:bodyPr>
            <a:noAutofit/>
          </a:bodyPr>
          <a:lstStyle/>
          <a:p>
            <a:r>
              <a:rPr lang="en-US" sz="96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C9C698-DE27-F888-6BAA-48C0C4FED2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0133" y="5258927"/>
            <a:ext cx="8966607" cy="1090775"/>
          </a:xfr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pPr algn="l"/>
            <a:r>
              <a:rPr lang="pl-PL" sz="2000" dirty="0">
                <a:solidFill>
                  <a:schemeClr val="bg1"/>
                </a:solidFill>
              </a:rPr>
              <a:t>Matt Pierce  </a:t>
            </a:r>
            <a:r>
              <a:rPr lang="en-US" sz="2000" dirty="0">
                <a:solidFill>
                  <a:schemeClr val="bg1"/>
                </a:solidFill>
              </a:rPr>
              <a:t> - </a:t>
            </a:r>
            <a:r>
              <a:rPr lang="pl-PL" sz="2000" dirty="0">
                <a:solidFill>
                  <a:schemeClr val="bg1"/>
                </a:solidFill>
              </a:rPr>
              <a:t>  mpierce710006@gmail.com  </a:t>
            </a:r>
            <a:r>
              <a:rPr lang="en-US" sz="2000" dirty="0">
                <a:solidFill>
                  <a:schemeClr val="bg1"/>
                </a:solidFill>
              </a:rPr>
              <a:t> - </a:t>
            </a:r>
            <a:r>
              <a:rPr lang="pl-PL" sz="2000" dirty="0">
                <a:solidFill>
                  <a:schemeClr val="bg1"/>
                </a:solidFill>
              </a:rPr>
              <a:t>  linkedin.com/in/mpiercead576/</a:t>
            </a:r>
          </a:p>
          <a:p>
            <a:pPr algn="l"/>
            <a:r>
              <a:rPr lang="pl-PL" sz="2000" dirty="0">
                <a:solidFill>
                  <a:schemeClr val="bg1"/>
                </a:solidFill>
                <a:hlinkClick r:id="rId3"/>
              </a:rPr>
              <a:t>https://github.com/DataResearchLabs/study_guide_intro_aerospace_mfg</a:t>
            </a:r>
            <a:endParaRPr lang="en-US" sz="2000" dirty="0">
              <a:solidFill>
                <a:schemeClr val="bg1"/>
              </a:solidFill>
            </a:endParaRPr>
          </a:p>
          <a:p>
            <a:pPr algn="l"/>
            <a:endParaRPr lang="en-US" sz="2000" dirty="0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439251-0FA5-4222-2534-EC4CD92AB89C}"/>
              </a:ext>
            </a:extLst>
          </p:cNvPr>
          <p:cNvCxnSpPr>
            <a:cxnSpLocks/>
          </p:cNvCxnSpPr>
          <p:nvPr/>
        </p:nvCxnSpPr>
        <p:spPr>
          <a:xfrm>
            <a:off x="0" y="472722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7227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3659</TotalTime>
  <Words>928</Words>
  <Application>Microsoft Office PowerPoint</Application>
  <PresentationFormat>Widescreen</PresentationFormat>
  <Paragraphs>108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Electricity</vt:lpstr>
      <vt:lpstr>Electricity</vt:lpstr>
      <vt:lpstr>Level Set</vt:lpstr>
      <vt:lpstr>Electrical Bonding</vt:lpstr>
      <vt:lpstr>Electrical Grounding</vt:lpstr>
      <vt:lpstr>Electrical Testing Equipment</vt:lpstr>
      <vt:lpstr>PowerPoint Presentation</vt:lpstr>
      <vt:lpstr>Q&amp;A</vt:lpstr>
      <vt:lpstr>Practice Q&amp;A’s  (Q1-Q8)</vt:lpstr>
      <vt:lpstr>Practice Q&amp;A’s  (Q9-Q10)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Pierce</dc:creator>
  <cp:lastModifiedBy>Matt Pierce</cp:lastModifiedBy>
  <cp:revision>129</cp:revision>
  <dcterms:created xsi:type="dcterms:W3CDTF">2026-02-02T22:48:01Z</dcterms:created>
  <dcterms:modified xsi:type="dcterms:W3CDTF">2026-02-27T02:48:35Z</dcterms:modified>
</cp:coreProperties>
</file>